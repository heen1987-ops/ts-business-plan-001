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04a4f06a3440d1" /><Relationship Type="http://schemas.openxmlformats.org/officeDocument/2006/relationships/extended-properties" Target="/docProps/app.xml" Id="R3058d90fa1ec4ced" /><Relationship Type="http://schemas.openxmlformats.org/officeDocument/2006/relationships/officeDocument" Target="/ppt/presentation.xml" Id="R40b2228ebe7b4b68" /></Relationships>
</file>

<file path=ppt/presentation.xml><?xml version="1.0" encoding="utf-8"?>
<p:presentation xmlns:p="http://schemas.openxmlformats.org/presentationml/2006/main">
  <p:sldMasterIdLst>
    <p:sldMasterId xmlns:r="http://schemas.openxmlformats.org/officeDocument/2006/relationships" id="2147483648" r:id="R8e44a906ea9d4c42"/>
  </p:sldMasterIdLst>
  <p:notesMasterIdLst>
    <p:notesMasterId xmlns:r="http://schemas.openxmlformats.org/officeDocument/2006/relationships" r:id="R0420f2b96fb2439a"/>
  </p:notesMasterIdLst>
  <p:sldIdLst>
    <p:sldId xmlns:r="http://schemas.openxmlformats.org/officeDocument/2006/relationships" id="256" r:id="Re3c025a069b1474b"/>
    <p:sldId xmlns:r="http://schemas.openxmlformats.org/officeDocument/2006/relationships" id="257" r:id="R7836521d93fb45ff"/>
    <p:sldId xmlns:r="http://schemas.openxmlformats.org/officeDocument/2006/relationships" id="258" r:id="R21ffa8bf3a3c4313"/>
    <p:sldId xmlns:r="http://schemas.openxmlformats.org/officeDocument/2006/relationships" id="259" r:id="Rcee17782a5394b78"/>
    <p:sldId xmlns:r="http://schemas.openxmlformats.org/officeDocument/2006/relationships" id="260" r:id="R515b08c8283c4f0e"/>
    <p:sldId xmlns:r="http://schemas.openxmlformats.org/officeDocument/2006/relationships" id="261" r:id="Rceb559d601274893"/>
    <p:sldId xmlns:r="http://schemas.openxmlformats.org/officeDocument/2006/relationships" id="262" r:id="R287f945fe85d492e"/>
    <p:sldId xmlns:r="http://schemas.openxmlformats.org/officeDocument/2006/relationships" id="263" r:id="R5b3d21a0ac7d4e7e"/>
    <p:sldId xmlns:r="http://schemas.openxmlformats.org/officeDocument/2006/relationships" id="264" r:id="R1e197e4380ca40a5"/>
    <p:sldId xmlns:r="http://schemas.openxmlformats.org/officeDocument/2006/relationships" id="265" r:id="R54f0e997d99f4c54"/>
    <p:sldId xmlns:r="http://schemas.openxmlformats.org/officeDocument/2006/relationships" id="266" r:id="R2ab3d24d5496440a"/>
    <p:sldId xmlns:r="http://schemas.openxmlformats.org/officeDocument/2006/relationships" id="267" r:id="R56090dfb98044479"/>
    <p:sldId xmlns:r="http://schemas.openxmlformats.org/officeDocument/2006/relationships" id="268" r:id="Rbc9f6173cdc64c9a"/>
    <p:sldId xmlns:r="http://schemas.openxmlformats.org/officeDocument/2006/relationships" id="269" r:id="R9b7a5bea6959434f"/>
    <p:sldId xmlns:r="http://schemas.openxmlformats.org/officeDocument/2006/relationships" id="270" r:id="Rfec32ffeea094dc9"/>
    <p:sldId xmlns:r="http://schemas.openxmlformats.org/officeDocument/2006/relationships" id="271" r:id="Rf5cf631e5932470b"/>
    <p:sldId xmlns:r="http://schemas.openxmlformats.org/officeDocument/2006/relationships" id="272" r:id="R9532b3e525f94fec"/>
    <p:sldId xmlns:r="http://schemas.openxmlformats.org/officeDocument/2006/relationships" id="273" r:id="R2927384cd1a74eb7"/>
    <p:sldId xmlns:r="http://schemas.openxmlformats.org/officeDocument/2006/relationships" id="274" r:id="R2c372a59b4f847d2"/>
    <p:sldId xmlns:r="http://schemas.openxmlformats.org/officeDocument/2006/relationships" id="275" r:id="Ra51ccc35dc0c48c0"/>
    <p:sldId xmlns:r="http://schemas.openxmlformats.org/officeDocument/2006/relationships" id="276" r:id="Reca3b3538e8e44b8"/>
    <p:sldId xmlns:r="http://schemas.openxmlformats.org/officeDocument/2006/relationships" id="277" r:id="R89366de68f2045c2"/>
    <p:sldId xmlns:r="http://schemas.openxmlformats.org/officeDocument/2006/relationships" id="278" r:id="R289e65e7ceef4cda"/>
    <p:sldId xmlns:r="http://schemas.openxmlformats.org/officeDocument/2006/relationships" id="279" r:id="R7178d7c184664f1a"/>
    <p:sldId xmlns:r="http://schemas.openxmlformats.org/officeDocument/2006/relationships" id="280" r:id="Rb4e531e093ac425f"/>
    <p:sldId xmlns:r="http://schemas.openxmlformats.org/officeDocument/2006/relationships" id="281" r:id="R53c8fce7071b4def"/>
    <p:sldId xmlns:r="http://schemas.openxmlformats.org/officeDocument/2006/relationships" id="282" r:id="Rbbea6ab4dee14272"/>
    <p:sldId xmlns:r="http://schemas.openxmlformats.org/officeDocument/2006/relationships" id="283" r:id="Re6a925c5807e4364"/>
    <p:sldId xmlns:r="http://schemas.openxmlformats.org/officeDocument/2006/relationships" id="284" r:id="R930b6890bc1e4126"/>
    <p:sldId xmlns:r="http://schemas.openxmlformats.org/officeDocument/2006/relationships" id="285" r:id="R780cdeaebe3b4e5d"/>
    <p:sldId xmlns:r="http://schemas.openxmlformats.org/officeDocument/2006/relationships" id="286" r:id="R9eefeeebad4b42ae"/>
    <p:sldId xmlns:r="http://schemas.openxmlformats.org/officeDocument/2006/relationships" id="287" r:id="R823df571b7b74bc3"/>
    <p:sldId xmlns:r="http://schemas.openxmlformats.org/officeDocument/2006/relationships" id="288" r:id="Rec7e4acd637b4859"/>
    <p:sldId xmlns:r="http://schemas.openxmlformats.org/officeDocument/2006/relationships" id="289" r:id="Rb81e97acfe4c47a9"/>
    <p:sldId xmlns:r="http://schemas.openxmlformats.org/officeDocument/2006/relationships" id="290" r:id="R0d56389f919949ff"/>
    <p:sldId xmlns:r="http://schemas.openxmlformats.org/officeDocument/2006/relationships" id="291" r:id="R45b95bff431a474d"/>
    <p:sldId xmlns:r="http://schemas.openxmlformats.org/officeDocument/2006/relationships" id="292" r:id="Re393bf9b422a41b9"/>
    <p:sldId xmlns:r="http://schemas.openxmlformats.org/officeDocument/2006/relationships" id="293" r:id="R356cf51694034807"/>
    <p:sldId xmlns:r="http://schemas.openxmlformats.org/officeDocument/2006/relationships" id="294" r:id="R68bbf0b06c314058"/>
    <p:sldId xmlns:r="http://schemas.openxmlformats.org/officeDocument/2006/relationships" id="295" r:id="R207f13e74cdd4cd0"/>
    <p:sldId xmlns:r="http://schemas.openxmlformats.org/officeDocument/2006/relationships" id="296" r:id="R7b969d4b965f44b8"/>
    <p:sldId xmlns:r="http://schemas.openxmlformats.org/officeDocument/2006/relationships" id="297" r:id="R2c97795cec914f1e"/>
    <p:sldId xmlns:r="http://schemas.openxmlformats.org/officeDocument/2006/relationships" id="298" r:id="R9f3c8a21cbf3465f"/>
    <p:sldId xmlns:r="http://schemas.openxmlformats.org/officeDocument/2006/relationships" id="299" r:id="Rb7c08cd159344f52"/>
    <p:sldId xmlns:r="http://schemas.openxmlformats.org/officeDocument/2006/relationships" id="300" r:id="R3351d811e51a4f13"/>
    <p:sldId xmlns:r="http://schemas.openxmlformats.org/officeDocument/2006/relationships" id="301" r:id="R2ebd91575c304a40"/>
    <p:sldId xmlns:r="http://schemas.openxmlformats.org/officeDocument/2006/relationships" id="302" r:id="R1df65be798a44b1b"/>
    <p:sldId xmlns:r="http://schemas.openxmlformats.org/officeDocument/2006/relationships" id="303" r:id="Rc7ce83b51a784826"/>
    <p:sldId xmlns:r="http://schemas.openxmlformats.org/officeDocument/2006/relationships" id="304" r:id="R9be9029914db43b5"/>
    <p:sldId xmlns:r="http://schemas.openxmlformats.org/officeDocument/2006/relationships" id="305" r:id="R3b29787642e64e2a"/>
    <p:sldId xmlns:r="http://schemas.openxmlformats.org/officeDocument/2006/relationships" id="306" r:id="R3685f5797aee4d96"/>
    <p:sldId xmlns:r="http://schemas.openxmlformats.org/officeDocument/2006/relationships" id="307" r:id="Ra749c0dfa0b14536"/>
    <p:sldId xmlns:r="http://schemas.openxmlformats.org/officeDocument/2006/relationships" id="308" r:id="R0dc22a956c1f4cfa"/>
    <p:sldId xmlns:r="http://schemas.openxmlformats.org/officeDocument/2006/relationships" id="309" r:id="Rd5528e0be17f495a"/>
    <p:sldId xmlns:r="http://schemas.openxmlformats.org/officeDocument/2006/relationships" id="310" r:id="R0d27618cb7e44ef6"/>
    <p:sldId xmlns:r="http://schemas.openxmlformats.org/officeDocument/2006/relationships" id="311" r:id="Rac439566e8a9484e"/>
    <p:sldId xmlns:r="http://schemas.openxmlformats.org/officeDocument/2006/relationships" id="312" r:id="R06acdcfed939406f"/>
    <p:sldId xmlns:r="http://schemas.openxmlformats.org/officeDocument/2006/relationships" id="313" r:id="Rec91c0c5ebbb422a"/>
    <p:sldId xmlns:r="http://schemas.openxmlformats.org/officeDocument/2006/relationships" id="314" r:id="R5346e5f445094393"/>
    <p:sldId xmlns:r="http://schemas.openxmlformats.org/officeDocument/2006/relationships" id="315" r:id="Ra6e013663ab74793"/>
    <p:sldId xmlns:r="http://schemas.openxmlformats.org/officeDocument/2006/relationships" id="316" r:id="R008ce2e9f5d74a62"/>
    <p:sldId xmlns:r="http://schemas.openxmlformats.org/officeDocument/2006/relationships" id="317" r:id="Ra7faaa222ff3415e"/>
    <p:sldId xmlns:r="http://schemas.openxmlformats.org/officeDocument/2006/relationships" id="318" r:id="R8ab8f076744946f9"/>
    <p:sldId xmlns:r="http://schemas.openxmlformats.org/officeDocument/2006/relationships" id="319" r:id="R6ed2cecb971c49fa"/>
    <p:sldId xmlns:r="http://schemas.openxmlformats.org/officeDocument/2006/relationships" id="320" r:id="Rb1d00ce897ac44b2"/>
    <p:sldId xmlns:r="http://schemas.openxmlformats.org/officeDocument/2006/relationships" id="321" r:id="R5116c896985045e5"/>
    <p:sldId xmlns:r="http://schemas.openxmlformats.org/officeDocument/2006/relationships" id="322" r:id="Rc1e765aaee374f49"/>
    <p:sldId xmlns:r="http://schemas.openxmlformats.org/officeDocument/2006/relationships" id="323" r:id="R944ab8efceb74a42"/>
    <p:sldId xmlns:r="http://schemas.openxmlformats.org/officeDocument/2006/relationships" id="324" r:id="R967166d81752465f"/>
    <p:sldId xmlns:r="http://schemas.openxmlformats.org/officeDocument/2006/relationships" id="325" r:id="R408d698ffb904f58"/>
    <p:sldId xmlns:r="http://schemas.openxmlformats.org/officeDocument/2006/relationships" id="326" r:id="R84176bdc96e346a6"/>
    <p:sldId xmlns:r="http://schemas.openxmlformats.org/officeDocument/2006/relationships" id="327" r:id="R39712bb283ae4d4d"/>
    <p:sldId xmlns:r="http://schemas.openxmlformats.org/officeDocument/2006/relationships" id="328" r:id="R847e2850c6c947e4"/>
    <p:sldId xmlns:r="http://schemas.openxmlformats.org/officeDocument/2006/relationships" id="329" r:id="R9b01ade72df64efc"/>
    <p:sldId xmlns:r="http://schemas.openxmlformats.org/officeDocument/2006/relationships" id="330" r:id="Rd8acb6c52d9d49ba"/>
    <p:sldId xmlns:r="http://schemas.openxmlformats.org/officeDocument/2006/relationships" id="331" r:id="R5d9c603c99244488"/>
    <p:sldId xmlns:r="http://schemas.openxmlformats.org/officeDocument/2006/relationships" id="332" r:id="R4191e9580ae74fa0"/>
    <p:sldId xmlns:r="http://schemas.openxmlformats.org/officeDocument/2006/relationships" id="333" r:id="Rf1b045a58f9d41b6"/>
    <p:sldId xmlns:r="http://schemas.openxmlformats.org/officeDocument/2006/relationships" id="334" r:id="R0bcf6a4efed04a8c"/>
    <p:sldId xmlns:r="http://schemas.openxmlformats.org/officeDocument/2006/relationships" id="335" r:id="R559640f01aee472d"/>
    <p:sldId xmlns:r="http://schemas.openxmlformats.org/officeDocument/2006/relationships" id="336" r:id="R93738f0a494e4bbb"/>
    <p:sldId xmlns:r="http://schemas.openxmlformats.org/officeDocument/2006/relationships" id="337" r:id="Rc30ca87189164dd1"/>
    <p:sldId xmlns:r="http://schemas.openxmlformats.org/officeDocument/2006/relationships" id="338" r:id="R77f0bb75ad774466"/>
    <p:sldId xmlns:r="http://schemas.openxmlformats.org/officeDocument/2006/relationships" id="339" r:id="R9f198560de8b4245"/>
    <p:sldId xmlns:r="http://schemas.openxmlformats.org/officeDocument/2006/relationships" id="340" r:id="R7cd61d9687444325"/>
    <p:sldId xmlns:r="http://schemas.openxmlformats.org/officeDocument/2006/relationships" id="341" r:id="Rb326bdf44b1d4c69"/>
    <p:sldId xmlns:r="http://schemas.openxmlformats.org/officeDocument/2006/relationships" id="342" r:id="R84b4febf096d40c9"/>
    <p:sldId xmlns:r="http://schemas.openxmlformats.org/officeDocument/2006/relationships" id="343" r:id="R3110f0b7764548de"/>
    <p:sldId xmlns:r="http://schemas.openxmlformats.org/officeDocument/2006/relationships" id="344" r:id="R72cbfce67cd84425"/>
    <p:sldId xmlns:r="http://schemas.openxmlformats.org/officeDocument/2006/relationships" id="345" r:id="R39f537b0063b4892"/>
    <p:sldId xmlns:r="http://schemas.openxmlformats.org/officeDocument/2006/relationships" id="346" r:id="Rf6b6f16022e84846"/>
    <p:sldId xmlns:r="http://schemas.openxmlformats.org/officeDocument/2006/relationships" id="347" r:id="R7b023cfb41664b48"/>
    <p:sldId xmlns:r="http://schemas.openxmlformats.org/officeDocument/2006/relationships" id="348" r:id="R891dbb3103864bed"/>
    <p:sldId xmlns:r="http://schemas.openxmlformats.org/officeDocument/2006/relationships" id="349" r:id="Ra82c3939954247b1"/>
    <p:sldId xmlns:r="http://schemas.openxmlformats.org/officeDocument/2006/relationships" id="350" r:id="Re0fda9fb34244a31"/>
    <p:sldId xmlns:r="http://schemas.openxmlformats.org/officeDocument/2006/relationships" id="351" r:id="Rc64589b88ef84e08"/>
    <p:sldId xmlns:r="http://schemas.openxmlformats.org/officeDocument/2006/relationships" id="352" r:id="Re9fef73ffae44d2b"/>
    <p:sldId xmlns:r="http://schemas.openxmlformats.org/officeDocument/2006/relationships" id="353" r:id="R3094fdeb7fc34d9c"/>
    <p:sldId xmlns:r="http://schemas.openxmlformats.org/officeDocument/2006/relationships" id="354" r:id="R83006b19fcba4e93"/>
    <p:sldId xmlns:r="http://schemas.openxmlformats.org/officeDocument/2006/relationships" id="355" r:id="Rd5dfe911e2784677"/>
    <p:sldId xmlns:r="http://schemas.openxmlformats.org/officeDocument/2006/relationships" id="356" r:id="R0f9e51d13c724ca3"/>
    <p:sldId xmlns:r="http://schemas.openxmlformats.org/officeDocument/2006/relationships" id="357" r:id="R78d6c9b2fefc48ad"/>
    <p:sldId xmlns:r="http://schemas.openxmlformats.org/officeDocument/2006/relationships" id="358" r:id="Rf5e8f489ae93459e"/>
    <p:sldId xmlns:r="http://schemas.openxmlformats.org/officeDocument/2006/relationships" id="359" r:id="Rc0ac7605bc5d4279"/>
    <p:sldId xmlns:r="http://schemas.openxmlformats.org/officeDocument/2006/relationships" id="360" r:id="R818fb72e14984815"/>
    <p:sldId xmlns:r="http://schemas.openxmlformats.org/officeDocument/2006/relationships" id="361" r:id="R6bcb666ab3fa49b8"/>
    <p:sldId xmlns:r="http://schemas.openxmlformats.org/officeDocument/2006/relationships" id="362" r:id="R49f3bca483934734"/>
    <p:sldId xmlns:r="http://schemas.openxmlformats.org/officeDocument/2006/relationships" id="363" r:id="Reeab125ba147477c"/>
    <p:sldId xmlns:r="http://schemas.openxmlformats.org/officeDocument/2006/relationships" id="364" r:id="Raf183a95bddd4877"/>
    <p:sldId xmlns:r="http://schemas.openxmlformats.org/officeDocument/2006/relationships" id="365" r:id="R84ad4ee9c25e40b2"/>
    <p:sldId xmlns:r="http://schemas.openxmlformats.org/officeDocument/2006/relationships" id="366" r:id="R6d38a39dd4d44358"/>
    <p:sldId xmlns:r="http://schemas.openxmlformats.org/officeDocument/2006/relationships" id="367" r:id="Rd6b7b28ca90540d9"/>
    <p:sldId xmlns:r="http://schemas.openxmlformats.org/officeDocument/2006/relationships" id="368" r:id="Re72c0bfef7564ca9"/>
    <p:sldId xmlns:r="http://schemas.openxmlformats.org/officeDocument/2006/relationships" id="369" r:id="Rf9cd2b42d28a4c9b"/>
    <p:sldId xmlns:r="http://schemas.openxmlformats.org/officeDocument/2006/relationships" id="370" r:id="Rf0fc54e98e8143b1"/>
    <p:sldId xmlns:r="http://schemas.openxmlformats.org/officeDocument/2006/relationships" id="371" r:id="R87e32dae5fdf4a77"/>
    <p:sldId xmlns:r="http://schemas.openxmlformats.org/officeDocument/2006/relationships" id="372" r:id="Rd034a1cf016d408b"/>
    <p:sldId xmlns:r="http://schemas.openxmlformats.org/officeDocument/2006/relationships" id="373" r:id="R0bcefe39106b4567"/>
    <p:sldId xmlns:r="http://schemas.openxmlformats.org/officeDocument/2006/relationships" id="374" r:id="R0033c06819044ede"/>
    <p:sldId xmlns:r="http://schemas.openxmlformats.org/officeDocument/2006/relationships" id="375" r:id="Rcef5403465b3432f"/>
    <p:sldId xmlns:r="http://schemas.openxmlformats.org/officeDocument/2006/relationships" id="376" r:id="R4d78879cf3d84e52"/>
    <p:sldId xmlns:r="http://schemas.openxmlformats.org/officeDocument/2006/relationships" id="377" r:id="R7dd1b67456e4459c"/>
    <p:sldId xmlns:r="http://schemas.openxmlformats.org/officeDocument/2006/relationships" id="378" r:id="R8604096bb4504e2e"/>
    <p:sldId xmlns:r="http://schemas.openxmlformats.org/officeDocument/2006/relationships" id="379" r:id="R109041da477a451c"/>
    <p:sldId xmlns:r="http://schemas.openxmlformats.org/officeDocument/2006/relationships" id="380" r:id="Rc133b67661684ff8"/>
    <p:sldId xmlns:r="http://schemas.openxmlformats.org/officeDocument/2006/relationships" id="381" r:id="R07477347705247d3"/>
    <p:sldId xmlns:r="http://schemas.openxmlformats.org/officeDocument/2006/relationships" id="382" r:id="R2cdf7799d3df442a"/>
    <p:sldId xmlns:r="http://schemas.openxmlformats.org/officeDocument/2006/relationships" id="383" r:id="R7270dcb74a6842a1"/>
    <p:sldId xmlns:r="http://schemas.openxmlformats.org/officeDocument/2006/relationships" id="384" r:id="Radd98829c0524f4b"/>
    <p:sldId xmlns:r="http://schemas.openxmlformats.org/officeDocument/2006/relationships" id="385" r:id="R79470f9d3d824fc0"/>
    <p:sldId xmlns:r="http://schemas.openxmlformats.org/officeDocument/2006/relationships" id="386" r:id="R4b475d82ccd0419e"/>
    <p:sldId xmlns:r="http://schemas.openxmlformats.org/officeDocument/2006/relationships" id="387" r:id="Rf3065713361e4e31"/>
    <p:sldId xmlns:r="http://schemas.openxmlformats.org/officeDocument/2006/relationships" id="388" r:id="R1647cebc985e496f"/>
    <p:sldId xmlns:r="http://schemas.openxmlformats.org/officeDocument/2006/relationships" id="389" r:id="Rc9599189d1444eb4"/>
    <p:sldId xmlns:r="http://schemas.openxmlformats.org/officeDocument/2006/relationships" id="390" r:id="Rb4810653d6e54c4f"/>
    <p:sldId xmlns:r="http://schemas.openxmlformats.org/officeDocument/2006/relationships" id="391" r:id="Rcbb614d20e7c4184"/>
    <p:sldId xmlns:r="http://schemas.openxmlformats.org/officeDocument/2006/relationships" id="392" r:id="R5a4be5680a034daa"/>
    <p:sldId xmlns:r="http://schemas.openxmlformats.org/officeDocument/2006/relationships" id="393" r:id="R15f5a322de8245df"/>
    <p:sldId xmlns:r="http://schemas.openxmlformats.org/officeDocument/2006/relationships" id="394" r:id="R9b07c606b90c4cea"/>
    <p:sldId xmlns:r="http://schemas.openxmlformats.org/officeDocument/2006/relationships" id="395" r:id="Rcb05e261d4fa46df"/>
    <p:sldId xmlns:r="http://schemas.openxmlformats.org/officeDocument/2006/relationships" id="396" r:id="Ra236b6d9dffc4031"/>
    <p:sldId xmlns:r="http://schemas.openxmlformats.org/officeDocument/2006/relationships" id="397" r:id="R209ac802e9334926"/>
    <p:sldId xmlns:r="http://schemas.openxmlformats.org/officeDocument/2006/relationships" id="398" r:id="R117d436072384491"/>
    <p:sldId xmlns:r="http://schemas.openxmlformats.org/officeDocument/2006/relationships" id="399" r:id="R8fe44c4647ab4087"/>
    <p:sldId xmlns:r="http://schemas.openxmlformats.org/officeDocument/2006/relationships" id="400" r:id="Re036399cb1d4463c"/>
    <p:sldId xmlns:r="http://schemas.openxmlformats.org/officeDocument/2006/relationships" id="401" r:id="Rbf0939eeb06e4467"/>
    <p:sldId xmlns:r="http://schemas.openxmlformats.org/officeDocument/2006/relationships" id="402" r:id="R87277ab2e9bb476e"/>
    <p:sldId xmlns:r="http://schemas.openxmlformats.org/officeDocument/2006/relationships" id="403" r:id="R70683f1c5f1a4a1c"/>
    <p:sldId xmlns:r="http://schemas.openxmlformats.org/officeDocument/2006/relationships" id="404" r:id="Rf40f64aed1fd45fb"/>
    <p:sldId xmlns:r="http://schemas.openxmlformats.org/officeDocument/2006/relationships" id="405" r:id="R1963bbb10a3d4fd2"/>
    <p:sldId xmlns:r="http://schemas.openxmlformats.org/officeDocument/2006/relationships" id="406" r:id="R43bbba842e57493e"/>
    <p:sldId xmlns:r="http://schemas.openxmlformats.org/officeDocument/2006/relationships" id="407" r:id="R10eb3afff65b41b9"/>
    <p:sldId xmlns:r="http://schemas.openxmlformats.org/officeDocument/2006/relationships" id="408" r:id="R6f983215ae644ceb"/>
    <p:sldId xmlns:r="http://schemas.openxmlformats.org/officeDocument/2006/relationships" id="409" r:id="Rcb7265a1a7af452c"/>
    <p:sldId xmlns:r="http://schemas.openxmlformats.org/officeDocument/2006/relationships" id="410" r:id="R0173d8e5d8844a85"/>
    <p:sldId xmlns:r="http://schemas.openxmlformats.org/officeDocument/2006/relationships" id="411" r:id="Ra3651c402d394ed6"/>
    <p:sldId xmlns:r="http://schemas.openxmlformats.org/officeDocument/2006/relationships" id="412" r:id="Rf213ba2be9f14f08"/>
    <p:sldId xmlns:r="http://schemas.openxmlformats.org/officeDocument/2006/relationships" id="413" r:id="R57a7834c47da4c94"/>
    <p:sldId xmlns:r="http://schemas.openxmlformats.org/officeDocument/2006/relationships" id="414" r:id="R03c83cfa820a43c8"/>
    <p:sldId xmlns:r="http://schemas.openxmlformats.org/officeDocument/2006/relationships" id="415" r:id="R054c9ceb0e284318"/>
    <p:sldId xmlns:r="http://schemas.openxmlformats.org/officeDocument/2006/relationships" id="416" r:id="Rdd4c57ebeb0442b5"/>
    <p:sldId xmlns:r="http://schemas.openxmlformats.org/officeDocument/2006/relationships" id="417" r:id="R2108a1efa3d14e4c"/>
    <p:sldId xmlns:r="http://schemas.openxmlformats.org/officeDocument/2006/relationships" id="418" r:id="R2de57426d2284e3c"/>
    <p:sldId xmlns:r="http://schemas.openxmlformats.org/officeDocument/2006/relationships" id="419" r:id="R793d245e250e4866"/>
    <p:sldId xmlns:r="http://schemas.openxmlformats.org/officeDocument/2006/relationships" id="420" r:id="R0216b5c7bedf42dc"/>
    <p:sldId xmlns:r="http://schemas.openxmlformats.org/officeDocument/2006/relationships" id="421" r:id="R2fd36b22cc3d4132"/>
    <p:sldId xmlns:r="http://schemas.openxmlformats.org/officeDocument/2006/relationships" id="422" r:id="R979a110d260843f7"/>
    <p:sldId xmlns:r="http://schemas.openxmlformats.org/officeDocument/2006/relationships" id="423" r:id="Ra08f1e3d3a3f4acb"/>
    <p:sldId xmlns:r="http://schemas.openxmlformats.org/officeDocument/2006/relationships" id="424" r:id="Ra32fad8ac7ee4a04"/>
    <p:sldId xmlns:r="http://schemas.openxmlformats.org/officeDocument/2006/relationships" id="425" r:id="R38e11644a3c44d76"/>
    <p:sldId xmlns:r="http://schemas.openxmlformats.org/officeDocument/2006/relationships" id="426" r:id="Rc70dd922a1a8418e"/>
    <p:sldId xmlns:r="http://schemas.openxmlformats.org/officeDocument/2006/relationships" id="427" r:id="R0318890f3e7e4175"/>
    <p:sldId xmlns:r="http://schemas.openxmlformats.org/officeDocument/2006/relationships" id="428" r:id="R53fcd4331ef04c7d"/>
    <p:sldId xmlns:r="http://schemas.openxmlformats.org/officeDocument/2006/relationships" id="429" r:id="Rc095d975e4434ca7"/>
    <p:sldId xmlns:r="http://schemas.openxmlformats.org/officeDocument/2006/relationships" id="430" r:id="Rc0566ec4df934f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7a36983a45404a" /><Relationship Type="http://schemas.openxmlformats.org/officeDocument/2006/relationships/slideMaster" Target="/ppt/slideMasters/slideMaster1.xml" Id="R8e44a906ea9d4c42" /><Relationship Type="http://schemas.openxmlformats.org/officeDocument/2006/relationships/notesMaster" Target="/ppt/notesMasters/notesMaster1.xml" Id="R0420f2b96fb2439a" /><Relationship Type="http://schemas.openxmlformats.org/officeDocument/2006/relationships/presProps" Target="/ppt/presProps.xml" Id="Rb2d69100dcdc47c2" /><Relationship Type="http://schemas.openxmlformats.org/officeDocument/2006/relationships/tableStyles" Target="/ppt/tableStyles.xml" Id="Rab7cf01d7cd44668" /><Relationship Type="http://schemas.openxmlformats.org/officeDocument/2006/relationships/slide" Target="/ppt/slides/slide1.xml" Id="Re3c025a069b1474b" /><Relationship Type="http://schemas.openxmlformats.org/officeDocument/2006/relationships/slide" Target="/ppt/slides/slide2.xml" Id="R7836521d93fb45ff" /><Relationship Type="http://schemas.openxmlformats.org/officeDocument/2006/relationships/slide" Target="/ppt/slides/slide3.xml" Id="R21ffa8bf3a3c4313" /><Relationship Type="http://schemas.openxmlformats.org/officeDocument/2006/relationships/slide" Target="/ppt/slides/slide4.xml" Id="Rcee17782a5394b78" /><Relationship Type="http://schemas.openxmlformats.org/officeDocument/2006/relationships/slide" Target="/ppt/slides/slide5.xml" Id="R515b08c8283c4f0e" /><Relationship Type="http://schemas.openxmlformats.org/officeDocument/2006/relationships/slide" Target="/ppt/slides/slide6.xml" Id="Rceb559d601274893" /><Relationship Type="http://schemas.openxmlformats.org/officeDocument/2006/relationships/slide" Target="/ppt/slides/slide7.xml" Id="R287f945fe85d492e" /><Relationship Type="http://schemas.openxmlformats.org/officeDocument/2006/relationships/slide" Target="/ppt/slides/slide8.xml" Id="R5b3d21a0ac7d4e7e" /><Relationship Type="http://schemas.openxmlformats.org/officeDocument/2006/relationships/slide" Target="/ppt/slides/slide9.xml" Id="R1e197e4380ca40a5" /><Relationship Type="http://schemas.openxmlformats.org/officeDocument/2006/relationships/slide" Target="/ppt/slides/slide10.xml" Id="R54f0e997d99f4c54" /><Relationship Type="http://schemas.openxmlformats.org/officeDocument/2006/relationships/slide" Target="/ppt/slides/slide11.xml" Id="R2ab3d24d5496440a" /><Relationship Type="http://schemas.openxmlformats.org/officeDocument/2006/relationships/slide" Target="/ppt/slides/slide12.xml" Id="R56090dfb98044479" /><Relationship Type="http://schemas.openxmlformats.org/officeDocument/2006/relationships/slide" Target="/ppt/slides/slide13.xml" Id="Rbc9f6173cdc64c9a" /><Relationship Type="http://schemas.openxmlformats.org/officeDocument/2006/relationships/slide" Target="/ppt/slides/slide14.xml" Id="R9b7a5bea6959434f" /><Relationship Type="http://schemas.openxmlformats.org/officeDocument/2006/relationships/slide" Target="/ppt/slides/slide15.xml" Id="Rfec32ffeea094dc9" /><Relationship Type="http://schemas.openxmlformats.org/officeDocument/2006/relationships/slide" Target="/ppt/slides/slide16.xml" Id="Rf5cf631e5932470b" /><Relationship Type="http://schemas.openxmlformats.org/officeDocument/2006/relationships/slide" Target="/ppt/slides/slide17.xml" Id="R9532b3e525f94fec" /><Relationship Type="http://schemas.openxmlformats.org/officeDocument/2006/relationships/slide" Target="/ppt/slides/slide18.xml" Id="R2927384cd1a74eb7" /><Relationship Type="http://schemas.openxmlformats.org/officeDocument/2006/relationships/slide" Target="/ppt/slides/slide19.xml" Id="R2c372a59b4f847d2" /><Relationship Type="http://schemas.openxmlformats.org/officeDocument/2006/relationships/slide" Target="/ppt/slides/slide20.xml" Id="Ra51ccc35dc0c48c0" /><Relationship Type="http://schemas.openxmlformats.org/officeDocument/2006/relationships/slide" Target="/ppt/slides/slide21.xml" Id="Reca3b3538e8e44b8" /><Relationship Type="http://schemas.openxmlformats.org/officeDocument/2006/relationships/slide" Target="/ppt/slides/slide22.xml" Id="R89366de68f2045c2" /><Relationship Type="http://schemas.openxmlformats.org/officeDocument/2006/relationships/slide" Target="/ppt/slides/slide23.xml" Id="R289e65e7ceef4cda" /><Relationship Type="http://schemas.openxmlformats.org/officeDocument/2006/relationships/slide" Target="/ppt/slides/slide24.xml" Id="R7178d7c184664f1a" /><Relationship Type="http://schemas.openxmlformats.org/officeDocument/2006/relationships/slide" Target="/ppt/slides/slide25.xml" Id="Rb4e531e093ac425f" /><Relationship Type="http://schemas.openxmlformats.org/officeDocument/2006/relationships/slide" Target="/ppt/slides/slide26.xml" Id="R53c8fce7071b4def" /><Relationship Type="http://schemas.openxmlformats.org/officeDocument/2006/relationships/slide" Target="/ppt/slides/slide27.xml" Id="Rbbea6ab4dee14272" /><Relationship Type="http://schemas.openxmlformats.org/officeDocument/2006/relationships/slide" Target="/ppt/slides/slide28.xml" Id="Re6a925c5807e4364" /><Relationship Type="http://schemas.openxmlformats.org/officeDocument/2006/relationships/slide" Target="/ppt/slides/slide29.xml" Id="R930b6890bc1e4126" /><Relationship Type="http://schemas.openxmlformats.org/officeDocument/2006/relationships/slide" Target="/ppt/slides/slide30.xml" Id="R780cdeaebe3b4e5d" /><Relationship Type="http://schemas.openxmlformats.org/officeDocument/2006/relationships/slide" Target="/ppt/slides/slide31.xml" Id="R9eefeeebad4b42ae" /><Relationship Type="http://schemas.openxmlformats.org/officeDocument/2006/relationships/slide" Target="/ppt/slides/slide32.xml" Id="R823df571b7b74bc3" /><Relationship Type="http://schemas.openxmlformats.org/officeDocument/2006/relationships/slide" Target="/ppt/slides/slide33.xml" Id="Rec7e4acd637b4859" /><Relationship Type="http://schemas.openxmlformats.org/officeDocument/2006/relationships/slide" Target="/ppt/slides/slide34.xml" Id="Rb81e97acfe4c47a9" /><Relationship Type="http://schemas.openxmlformats.org/officeDocument/2006/relationships/slide" Target="/ppt/slides/slide35.xml" Id="R0d56389f919949ff" /><Relationship Type="http://schemas.openxmlformats.org/officeDocument/2006/relationships/slide" Target="/ppt/slides/slide36.xml" Id="R45b95bff431a474d" /><Relationship Type="http://schemas.openxmlformats.org/officeDocument/2006/relationships/slide" Target="/ppt/slides/slide37.xml" Id="Re393bf9b422a41b9" /><Relationship Type="http://schemas.openxmlformats.org/officeDocument/2006/relationships/slide" Target="/ppt/slides/slide38.xml" Id="R356cf51694034807" /><Relationship Type="http://schemas.openxmlformats.org/officeDocument/2006/relationships/slide" Target="/ppt/slides/slide39.xml" Id="R68bbf0b06c314058" /><Relationship Type="http://schemas.openxmlformats.org/officeDocument/2006/relationships/slide" Target="/ppt/slides/slide40.xml" Id="R207f13e74cdd4cd0" /><Relationship Type="http://schemas.openxmlformats.org/officeDocument/2006/relationships/slide" Target="/ppt/slides/slide41.xml" Id="R7b969d4b965f44b8" /><Relationship Type="http://schemas.openxmlformats.org/officeDocument/2006/relationships/slide" Target="/ppt/slides/slide42.xml" Id="R2c97795cec914f1e" /><Relationship Type="http://schemas.openxmlformats.org/officeDocument/2006/relationships/slide" Target="/ppt/slides/slide43.xml" Id="R9f3c8a21cbf3465f" /><Relationship Type="http://schemas.openxmlformats.org/officeDocument/2006/relationships/slide" Target="/ppt/slides/slide44.xml" Id="Rb7c08cd159344f52" /><Relationship Type="http://schemas.openxmlformats.org/officeDocument/2006/relationships/slide" Target="/ppt/slides/slide45.xml" Id="R3351d811e51a4f13" /><Relationship Type="http://schemas.openxmlformats.org/officeDocument/2006/relationships/slide" Target="/ppt/slides/slide46.xml" Id="R2ebd91575c304a40" /><Relationship Type="http://schemas.openxmlformats.org/officeDocument/2006/relationships/slide" Target="/ppt/slides/slide47.xml" Id="R1df65be798a44b1b" /><Relationship Type="http://schemas.openxmlformats.org/officeDocument/2006/relationships/slide" Target="/ppt/slides/slide48.xml" Id="Rc7ce83b51a784826" /><Relationship Type="http://schemas.openxmlformats.org/officeDocument/2006/relationships/slide" Target="/ppt/slides/slide49.xml" Id="R9be9029914db43b5" /><Relationship Type="http://schemas.openxmlformats.org/officeDocument/2006/relationships/slide" Target="/ppt/slides/slide50.xml" Id="R3b29787642e64e2a" /><Relationship Type="http://schemas.openxmlformats.org/officeDocument/2006/relationships/slide" Target="/ppt/slides/slide51.xml" Id="R3685f5797aee4d96" /><Relationship Type="http://schemas.openxmlformats.org/officeDocument/2006/relationships/slide" Target="/ppt/slides/slide52.xml" Id="Ra749c0dfa0b14536" /><Relationship Type="http://schemas.openxmlformats.org/officeDocument/2006/relationships/slide" Target="/ppt/slides/slide53.xml" Id="R0dc22a956c1f4cfa" /><Relationship Type="http://schemas.openxmlformats.org/officeDocument/2006/relationships/slide" Target="/ppt/slides/slide54.xml" Id="Rd5528e0be17f495a" /><Relationship Type="http://schemas.openxmlformats.org/officeDocument/2006/relationships/slide" Target="/ppt/slides/slide55.xml" Id="R0d27618cb7e44ef6" /><Relationship Type="http://schemas.openxmlformats.org/officeDocument/2006/relationships/slide" Target="/ppt/slides/slide56.xml" Id="Rac439566e8a9484e" /><Relationship Type="http://schemas.openxmlformats.org/officeDocument/2006/relationships/slide" Target="/ppt/slides/slide57.xml" Id="R06acdcfed939406f" /><Relationship Type="http://schemas.openxmlformats.org/officeDocument/2006/relationships/slide" Target="/ppt/slides/slide58.xml" Id="Rec91c0c5ebbb422a" /><Relationship Type="http://schemas.openxmlformats.org/officeDocument/2006/relationships/slide" Target="/ppt/slides/slide59.xml" Id="R5346e5f445094393" /><Relationship Type="http://schemas.openxmlformats.org/officeDocument/2006/relationships/slide" Target="/ppt/slides/slide60.xml" Id="Ra6e013663ab74793" /><Relationship Type="http://schemas.openxmlformats.org/officeDocument/2006/relationships/slide" Target="/ppt/slides/slide61.xml" Id="R008ce2e9f5d74a62" /><Relationship Type="http://schemas.openxmlformats.org/officeDocument/2006/relationships/slide" Target="/ppt/slides/slide62.xml" Id="Ra7faaa222ff3415e" /><Relationship Type="http://schemas.openxmlformats.org/officeDocument/2006/relationships/slide" Target="/ppt/slides/slide63.xml" Id="R8ab8f076744946f9" /><Relationship Type="http://schemas.openxmlformats.org/officeDocument/2006/relationships/slide" Target="/ppt/slides/slide64.xml" Id="R6ed2cecb971c49fa" /><Relationship Type="http://schemas.openxmlformats.org/officeDocument/2006/relationships/slide" Target="/ppt/slides/slide65.xml" Id="Rb1d00ce897ac44b2" /><Relationship Type="http://schemas.openxmlformats.org/officeDocument/2006/relationships/slide" Target="/ppt/slides/slide66.xml" Id="R5116c896985045e5" /><Relationship Type="http://schemas.openxmlformats.org/officeDocument/2006/relationships/slide" Target="/ppt/slides/slide67.xml" Id="Rc1e765aaee374f49" /><Relationship Type="http://schemas.openxmlformats.org/officeDocument/2006/relationships/slide" Target="/ppt/slides/slide68.xml" Id="R944ab8efceb74a42" /><Relationship Type="http://schemas.openxmlformats.org/officeDocument/2006/relationships/slide" Target="/ppt/slides/slide69.xml" Id="R967166d81752465f" /><Relationship Type="http://schemas.openxmlformats.org/officeDocument/2006/relationships/slide" Target="/ppt/slides/slide70.xml" Id="R408d698ffb904f58" /><Relationship Type="http://schemas.openxmlformats.org/officeDocument/2006/relationships/slide" Target="/ppt/slides/slide71.xml" Id="R84176bdc96e346a6" /><Relationship Type="http://schemas.openxmlformats.org/officeDocument/2006/relationships/slide" Target="/ppt/slides/slide72.xml" Id="R39712bb283ae4d4d" /><Relationship Type="http://schemas.openxmlformats.org/officeDocument/2006/relationships/slide" Target="/ppt/slides/slide73.xml" Id="R847e2850c6c947e4" /><Relationship Type="http://schemas.openxmlformats.org/officeDocument/2006/relationships/slide" Target="/ppt/slides/slide74.xml" Id="R9b01ade72df64efc" /><Relationship Type="http://schemas.openxmlformats.org/officeDocument/2006/relationships/slide" Target="/ppt/slides/slide75.xml" Id="Rd8acb6c52d9d49ba" /><Relationship Type="http://schemas.openxmlformats.org/officeDocument/2006/relationships/slide" Target="/ppt/slides/slide76.xml" Id="R5d9c603c99244488" /><Relationship Type="http://schemas.openxmlformats.org/officeDocument/2006/relationships/slide" Target="/ppt/slides/slide77.xml" Id="R4191e9580ae74fa0" /><Relationship Type="http://schemas.openxmlformats.org/officeDocument/2006/relationships/slide" Target="/ppt/slides/slide78.xml" Id="Rf1b045a58f9d41b6" /><Relationship Type="http://schemas.openxmlformats.org/officeDocument/2006/relationships/slide" Target="/ppt/slides/slide79.xml" Id="R0bcf6a4efed04a8c" /><Relationship Type="http://schemas.openxmlformats.org/officeDocument/2006/relationships/slide" Target="/ppt/slides/slide80.xml" Id="R559640f01aee472d" /><Relationship Type="http://schemas.openxmlformats.org/officeDocument/2006/relationships/slide" Target="/ppt/slides/slide81.xml" Id="R93738f0a494e4bbb" /><Relationship Type="http://schemas.openxmlformats.org/officeDocument/2006/relationships/slide" Target="/ppt/slides/slide82.xml" Id="Rc30ca87189164dd1" /><Relationship Type="http://schemas.openxmlformats.org/officeDocument/2006/relationships/slide" Target="/ppt/slides/slide83.xml" Id="R77f0bb75ad774466" /><Relationship Type="http://schemas.openxmlformats.org/officeDocument/2006/relationships/slide" Target="/ppt/slides/slide84.xml" Id="R9f198560de8b4245" /><Relationship Type="http://schemas.openxmlformats.org/officeDocument/2006/relationships/slide" Target="/ppt/slides/slide85.xml" Id="R7cd61d9687444325" /><Relationship Type="http://schemas.openxmlformats.org/officeDocument/2006/relationships/slide" Target="/ppt/slides/slide86.xml" Id="Rb326bdf44b1d4c69" /><Relationship Type="http://schemas.openxmlformats.org/officeDocument/2006/relationships/slide" Target="/ppt/slides/slide87.xml" Id="R84b4febf096d40c9" /><Relationship Type="http://schemas.openxmlformats.org/officeDocument/2006/relationships/slide" Target="/ppt/slides/slide88.xml" Id="R3110f0b7764548de" /><Relationship Type="http://schemas.openxmlformats.org/officeDocument/2006/relationships/slide" Target="/ppt/slides/slide89.xml" Id="R72cbfce67cd84425" /><Relationship Type="http://schemas.openxmlformats.org/officeDocument/2006/relationships/slide" Target="/ppt/slides/slide90.xml" Id="R39f537b0063b4892" /><Relationship Type="http://schemas.openxmlformats.org/officeDocument/2006/relationships/slide" Target="/ppt/slides/slide91.xml" Id="Rf6b6f16022e84846" /><Relationship Type="http://schemas.openxmlformats.org/officeDocument/2006/relationships/slide" Target="/ppt/slides/slide92.xml" Id="R7b023cfb41664b48" /><Relationship Type="http://schemas.openxmlformats.org/officeDocument/2006/relationships/slide" Target="/ppt/slides/slide93.xml" Id="R891dbb3103864bed" /><Relationship Type="http://schemas.openxmlformats.org/officeDocument/2006/relationships/slide" Target="/ppt/slides/slide94.xml" Id="Ra82c3939954247b1" /><Relationship Type="http://schemas.openxmlformats.org/officeDocument/2006/relationships/slide" Target="/ppt/slides/slide95.xml" Id="Re0fda9fb34244a31" /><Relationship Type="http://schemas.openxmlformats.org/officeDocument/2006/relationships/slide" Target="/ppt/slides/slide96.xml" Id="Rc64589b88ef84e08" /><Relationship Type="http://schemas.openxmlformats.org/officeDocument/2006/relationships/slide" Target="/ppt/slides/slide97.xml" Id="Re9fef73ffae44d2b" /><Relationship Type="http://schemas.openxmlformats.org/officeDocument/2006/relationships/slide" Target="/ppt/slides/slide98.xml" Id="R3094fdeb7fc34d9c" /><Relationship Type="http://schemas.openxmlformats.org/officeDocument/2006/relationships/slide" Target="/ppt/slides/slide99.xml" Id="R83006b19fcba4e93" /><Relationship Type="http://schemas.openxmlformats.org/officeDocument/2006/relationships/slide" Target="/ppt/slides/slide100.xml" Id="Rd5dfe911e2784677" /><Relationship Type="http://schemas.openxmlformats.org/officeDocument/2006/relationships/slide" Target="/ppt/slides/slide101.xml" Id="R0f9e51d13c724ca3" /><Relationship Type="http://schemas.openxmlformats.org/officeDocument/2006/relationships/slide" Target="/ppt/slides/slide102.xml" Id="R78d6c9b2fefc48ad" /><Relationship Type="http://schemas.openxmlformats.org/officeDocument/2006/relationships/slide" Target="/ppt/slides/slide103.xml" Id="Rf5e8f489ae93459e" /><Relationship Type="http://schemas.openxmlformats.org/officeDocument/2006/relationships/slide" Target="/ppt/slides/slide104.xml" Id="Rc0ac7605bc5d4279" /><Relationship Type="http://schemas.openxmlformats.org/officeDocument/2006/relationships/slide" Target="/ppt/slides/slide105.xml" Id="R818fb72e14984815" /><Relationship Type="http://schemas.openxmlformats.org/officeDocument/2006/relationships/slide" Target="/ppt/slides/slide106.xml" Id="R6bcb666ab3fa49b8" /><Relationship Type="http://schemas.openxmlformats.org/officeDocument/2006/relationships/slide" Target="/ppt/slides/slide107.xml" Id="R49f3bca483934734" /><Relationship Type="http://schemas.openxmlformats.org/officeDocument/2006/relationships/slide" Target="/ppt/slides/slide108.xml" Id="Reeab125ba147477c" /><Relationship Type="http://schemas.openxmlformats.org/officeDocument/2006/relationships/slide" Target="/ppt/slides/slide109.xml" Id="Raf183a95bddd4877" /><Relationship Type="http://schemas.openxmlformats.org/officeDocument/2006/relationships/slide" Target="/ppt/slides/slide110.xml" Id="R84ad4ee9c25e40b2" /><Relationship Type="http://schemas.openxmlformats.org/officeDocument/2006/relationships/slide" Target="/ppt/slides/slide111.xml" Id="R6d38a39dd4d44358" /><Relationship Type="http://schemas.openxmlformats.org/officeDocument/2006/relationships/slide" Target="/ppt/slides/slide112.xml" Id="Rd6b7b28ca90540d9" /><Relationship Type="http://schemas.openxmlformats.org/officeDocument/2006/relationships/slide" Target="/ppt/slides/slide113.xml" Id="Re72c0bfef7564ca9" /><Relationship Type="http://schemas.openxmlformats.org/officeDocument/2006/relationships/slide" Target="/ppt/slides/slide114.xml" Id="Rf9cd2b42d28a4c9b" /><Relationship Type="http://schemas.openxmlformats.org/officeDocument/2006/relationships/slide" Target="/ppt/slides/slide115.xml" Id="Rf0fc54e98e8143b1" /><Relationship Type="http://schemas.openxmlformats.org/officeDocument/2006/relationships/slide" Target="/ppt/slides/slide116.xml" Id="R87e32dae5fdf4a77" /><Relationship Type="http://schemas.openxmlformats.org/officeDocument/2006/relationships/slide" Target="/ppt/slides/slide117.xml" Id="Rd034a1cf016d408b" /><Relationship Type="http://schemas.openxmlformats.org/officeDocument/2006/relationships/slide" Target="/ppt/slides/slide118.xml" Id="R0bcefe39106b4567" /><Relationship Type="http://schemas.openxmlformats.org/officeDocument/2006/relationships/slide" Target="/ppt/slides/slide119.xml" Id="R0033c06819044ede" /><Relationship Type="http://schemas.openxmlformats.org/officeDocument/2006/relationships/slide" Target="/ppt/slides/slide120.xml" Id="Rcef5403465b3432f" /><Relationship Type="http://schemas.openxmlformats.org/officeDocument/2006/relationships/slide" Target="/ppt/slides/slide121.xml" Id="R4d78879cf3d84e52" /><Relationship Type="http://schemas.openxmlformats.org/officeDocument/2006/relationships/slide" Target="/ppt/slides/slide122.xml" Id="R7dd1b67456e4459c" /><Relationship Type="http://schemas.openxmlformats.org/officeDocument/2006/relationships/slide" Target="/ppt/slides/slide123.xml" Id="R8604096bb4504e2e" /><Relationship Type="http://schemas.openxmlformats.org/officeDocument/2006/relationships/slide" Target="/ppt/slides/slide124.xml" Id="R109041da477a451c" /><Relationship Type="http://schemas.openxmlformats.org/officeDocument/2006/relationships/slide" Target="/ppt/slides/slide125.xml" Id="Rc133b67661684ff8" /><Relationship Type="http://schemas.openxmlformats.org/officeDocument/2006/relationships/slide" Target="/ppt/slides/slide126.xml" Id="R07477347705247d3" /><Relationship Type="http://schemas.openxmlformats.org/officeDocument/2006/relationships/slide" Target="/ppt/slides/slide127.xml" Id="R2cdf7799d3df442a" /><Relationship Type="http://schemas.openxmlformats.org/officeDocument/2006/relationships/slide" Target="/ppt/slides/slide128.xml" Id="R7270dcb74a6842a1" /><Relationship Type="http://schemas.openxmlformats.org/officeDocument/2006/relationships/slide" Target="/ppt/slides/slide129.xml" Id="Radd98829c0524f4b" /><Relationship Type="http://schemas.openxmlformats.org/officeDocument/2006/relationships/slide" Target="/ppt/slides/slide130.xml" Id="R79470f9d3d824fc0" /><Relationship Type="http://schemas.openxmlformats.org/officeDocument/2006/relationships/slide" Target="/ppt/slides/slide131.xml" Id="R4b475d82ccd0419e" /><Relationship Type="http://schemas.openxmlformats.org/officeDocument/2006/relationships/slide" Target="/ppt/slides/slide132.xml" Id="Rf3065713361e4e31" /><Relationship Type="http://schemas.openxmlformats.org/officeDocument/2006/relationships/slide" Target="/ppt/slides/slide133.xml" Id="R1647cebc985e496f" /><Relationship Type="http://schemas.openxmlformats.org/officeDocument/2006/relationships/slide" Target="/ppt/slides/slide134.xml" Id="Rc9599189d1444eb4" /><Relationship Type="http://schemas.openxmlformats.org/officeDocument/2006/relationships/slide" Target="/ppt/slides/slide135.xml" Id="Rb4810653d6e54c4f" /><Relationship Type="http://schemas.openxmlformats.org/officeDocument/2006/relationships/slide" Target="/ppt/slides/slide136.xml" Id="Rcbb614d20e7c4184" /><Relationship Type="http://schemas.openxmlformats.org/officeDocument/2006/relationships/slide" Target="/ppt/slides/slide137.xml" Id="R5a4be5680a034daa" /><Relationship Type="http://schemas.openxmlformats.org/officeDocument/2006/relationships/slide" Target="/ppt/slides/slide138.xml" Id="R15f5a322de8245df" /><Relationship Type="http://schemas.openxmlformats.org/officeDocument/2006/relationships/slide" Target="/ppt/slides/slide139.xml" Id="R9b07c606b90c4cea" /><Relationship Type="http://schemas.openxmlformats.org/officeDocument/2006/relationships/slide" Target="/ppt/slides/slide140.xml" Id="Rcb05e261d4fa46df" /><Relationship Type="http://schemas.openxmlformats.org/officeDocument/2006/relationships/slide" Target="/ppt/slides/slide141.xml" Id="Ra236b6d9dffc4031" /><Relationship Type="http://schemas.openxmlformats.org/officeDocument/2006/relationships/slide" Target="/ppt/slides/slide142.xml" Id="R209ac802e9334926" /><Relationship Type="http://schemas.openxmlformats.org/officeDocument/2006/relationships/slide" Target="/ppt/slides/slide143.xml" Id="R117d436072384491" /><Relationship Type="http://schemas.openxmlformats.org/officeDocument/2006/relationships/slide" Target="/ppt/slides/slide144.xml" Id="R8fe44c4647ab4087" /><Relationship Type="http://schemas.openxmlformats.org/officeDocument/2006/relationships/slide" Target="/ppt/slides/slide145.xml" Id="Re036399cb1d4463c" /><Relationship Type="http://schemas.openxmlformats.org/officeDocument/2006/relationships/slide" Target="/ppt/slides/slide146.xml" Id="Rbf0939eeb06e4467" /><Relationship Type="http://schemas.openxmlformats.org/officeDocument/2006/relationships/slide" Target="/ppt/slides/slide147.xml" Id="R87277ab2e9bb476e" /><Relationship Type="http://schemas.openxmlformats.org/officeDocument/2006/relationships/slide" Target="/ppt/slides/slide148.xml" Id="R70683f1c5f1a4a1c" /><Relationship Type="http://schemas.openxmlformats.org/officeDocument/2006/relationships/slide" Target="/ppt/slides/slide149.xml" Id="Rf40f64aed1fd45fb" /><Relationship Type="http://schemas.openxmlformats.org/officeDocument/2006/relationships/slide" Target="/ppt/slides/slide150.xml" Id="R1963bbb10a3d4fd2" /><Relationship Type="http://schemas.openxmlformats.org/officeDocument/2006/relationships/slide" Target="/ppt/slides/slide151.xml" Id="R43bbba842e57493e" /><Relationship Type="http://schemas.openxmlformats.org/officeDocument/2006/relationships/slide" Target="/ppt/slides/slide152.xml" Id="R10eb3afff65b41b9" /><Relationship Type="http://schemas.openxmlformats.org/officeDocument/2006/relationships/slide" Target="/ppt/slides/slide153.xml" Id="R6f983215ae644ceb" /><Relationship Type="http://schemas.openxmlformats.org/officeDocument/2006/relationships/slide" Target="/ppt/slides/slide154.xml" Id="Rcb7265a1a7af452c" /><Relationship Type="http://schemas.openxmlformats.org/officeDocument/2006/relationships/slide" Target="/ppt/slides/slide155.xml" Id="R0173d8e5d8844a85" /><Relationship Type="http://schemas.openxmlformats.org/officeDocument/2006/relationships/slide" Target="/ppt/slides/slide156.xml" Id="Ra3651c402d394ed6" /><Relationship Type="http://schemas.openxmlformats.org/officeDocument/2006/relationships/slide" Target="/ppt/slides/slide157.xml" Id="Rf213ba2be9f14f08" /><Relationship Type="http://schemas.openxmlformats.org/officeDocument/2006/relationships/slide" Target="/ppt/slides/slide158.xml" Id="R57a7834c47da4c94" /><Relationship Type="http://schemas.openxmlformats.org/officeDocument/2006/relationships/slide" Target="/ppt/slides/slide159.xml" Id="R03c83cfa820a43c8" /><Relationship Type="http://schemas.openxmlformats.org/officeDocument/2006/relationships/slide" Target="/ppt/slides/slide160.xml" Id="R054c9ceb0e284318" /><Relationship Type="http://schemas.openxmlformats.org/officeDocument/2006/relationships/slide" Target="/ppt/slides/slide161.xml" Id="Rdd4c57ebeb0442b5" /><Relationship Type="http://schemas.openxmlformats.org/officeDocument/2006/relationships/slide" Target="/ppt/slides/slide162.xml" Id="R2108a1efa3d14e4c" /><Relationship Type="http://schemas.openxmlformats.org/officeDocument/2006/relationships/slide" Target="/ppt/slides/slide163.xml" Id="R2de57426d2284e3c" /><Relationship Type="http://schemas.openxmlformats.org/officeDocument/2006/relationships/slide" Target="/ppt/slides/slide164.xml" Id="R793d245e250e4866" /><Relationship Type="http://schemas.openxmlformats.org/officeDocument/2006/relationships/slide" Target="/ppt/slides/slide165.xml" Id="R0216b5c7bedf42dc" /><Relationship Type="http://schemas.openxmlformats.org/officeDocument/2006/relationships/slide" Target="/ppt/slides/slide166.xml" Id="R2fd36b22cc3d4132" /><Relationship Type="http://schemas.openxmlformats.org/officeDocument/2006/relationships/slide" Target="/ppt/slides/slide167.xml" Id="R979a110d260843f7" /><Relationship Type="http://schemas.openxmlformats.org/officeDocument/2006/relationships/slide" Target="/ppt/slides/slide168.xml" Id="Ra08f1e3d3a3f4acb" /><Relationship Type="http://schemas.openxmlformats.org/officeDocument/2006/relationships/slide" Target="/ppt/slides/slide169.xml" Id="Ra32fad8ac7ee4a04" /><Relationship Type="http://schemas.openxmlformats.org/officeDocument/2006/relationships/slide" Target="/ppt/slides/slide170.xml" Id="R38e11644a3c44d76" /><Relationship Type="http://schemas.openxmlformats.org/officeDocument/2006/relationships/slide" Target="/ppt/slides/slide171.xml" Id="Rc70dd922a1a8418e" /><Relationship Type="http://schemas.openxmlformats.org/officeDocument/2006/relationships/slide" Target="/ppt/slides/slide172.xml" Id="R0318890f3e7e4175" /><Relationship Type="http://schemas.openxmlformats.org/officeDocument/2006/relationships/slide" Target="/ppt/slides/slide173.xml" Id="R53fcd4331ef04c7d" /><Relationship Type="http://schemas.openxmlformats.org/officeDocument/2006/relationships/slide" Target="/ppt/slides/slide174.xml" Id="Rc095d975e4434ca7" /><Relationship Type="http://schemas.openxmlformats.org/officeDocument/2006/relationships/slide" Target="/ppt/slides/slide175.xml" Id="Rc0566ec4df934f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d29bbba5d34f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d27a966a544a4a" /><Relationship Type="http://schemas.openxmlformats.org/officeDocument/2006/relationships/notesMaster" Target="/ppt/notesMasters/notesMaster1.xml" Id="R00be8adbdb2341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2a7025a2fb4cc9" /><Relationship Type="http://schemas.openxmlformats.org/officeDocument/2006/relationships/notesMaster" Target="/ppt/notesMasters/notesMaster1.xml" Id="Rec36c19a8bce47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0e40e2c8f74962" /><Relationship Type="http://schemas.openxmlformats.org/officeDocument/2006/relationships/notesMaster" Target="/ppt/notesMasters/notesMaster1.xml" Id="Rbe764b50d7e642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3b5c7f675543cf" /><Relationship Type="http://schemas.openxmlformats.org/officeDocument/2006/relationships/notesMaster" Target="/ppt/notesMasters/notesMaster1.xml" Id="R1913cc060d064b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670352b2164384" /><Relationship Type="http://schemas.openxmlformats.org/officeDocument/2006/relationships/notesMaster" Target="/ppt/notesMasters/notesMaster1.xml" Id="Rbc46915bed1f42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f014c084e54395" /><Relationship Type="http://schemas.openxmlformats.org/officeDocument/2006/relationships/notesMaster" Target="/ppt/notesMasters/notesMaster1.xml" Id="R61f7148143f543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817b9792fd4e92" /><Relationship Type="http://schemas.openxmlformats.org/officeDocument/2006/relationships/notesMaster" Target="/ppt/notesMasters/notesMaster1.xml" Id="Rc581afd74a5d41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eecee675f3400f" /><Relationship Type="http://schemas.openxmlformats.org/officeDocument/2006/relationships/notesMaster" Target="/ppt/notesMasters/notesMaster1.xml" Id="R2db5688cd84a4f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53a3f9ecad440d" /><Relationship Type="http://schemas.openxmlformats.org/officeDocument/2006/relationships/notesMaster" Target="/ppt/notesMasters/notesMaster1.xml" Id="Rd3f0468cafa243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b10be7b1f54653" /><Relationship Type="http://schemas.openxmlformats.org/officeDocument/2006/relationships/notesMaster" Target="/ppt/notesMasters/notesMaster1.xml" Id="R7d784e2664e5459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67955561c240c9" /><Relationship Type="http://schemas.openxmlformats.org/officeDocument/2006/relationships/notesMaster" Target="/ppt/notesMasters/notesMaster1.xml" Id="R0541dc1aad2042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50c6c9aabe94c7a" /><Relationship Type="http://schemas.openxmlformats.org/officeDocument/2006/relationships/notesMaster" Target="/ppt/notesMasters/notesMaster1.xml" Id="R19ca56089e764e7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cdad1682a1b400b" /><Relationship Type="http://schemas.openxmlformats.org/officeDocument/2006/relationships/notesMaster" Target="/ppt/notesMasters/notesMaster1.xml" Id="Rf10811bc0e1b41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7d0ee7b90b243d0" /><Relationship Type="http://schemas.openxmlformats.org/officeDocument/2006/relationships/notesMaster" Target="/ppt/notesMasters/notesMaster1.xml" Id="R7e6b1b03567542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812627d99dc45f7" /><Relationship Type="http://schemas.openxmlformats.org/officeDocument/2006/relationships/notesMaster" Target="/ppt/notesMasters/notesMaster1.xml" Id="R22b1b9bc17c74bd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60a191efa50493f" /><Relationship Type="http://schemas.openxmlformats.org/officeDocument/2006/relationships/notesMaster" Target="/ppt/notesMasters/notesMaster1.xml" Id="R50b5563272f8462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7827a7a9ad4e56" /><Relationship Type="http://schemas.openxmlformats.org/officeDocument/2006/relationships/notesMaster" Target="/ppt/notesMasters/notesMaster1.xml" Id="R9af7902d462942c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ea62adce69c4cf3" /><Relationship Type="http://schemas.openxmlformats.org/officeDocument/2006/relationships/notesMaster" Target="/ppt/notesMasters/notesMaster1.xml" Id="Ra556d9cf8b9644b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59708757f9f4bfb" /><Relationship Type="http://schemas.openxmlformats.org/officeDocument/2006/relationships/notesMaster" Target="/ppt/notesMasters/notesMaster1.xml" Id="Rc9593b165b6448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b4d63fe2dd74238" /><Relationship Type="http://schemas.openxmlformats.org/officeDocument/2006/relationships/notesMaster" Target="/ppt/notesMasters/notesMaster1.xml" Id="R8f374f95d03448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75f8cc54a4940d9" /><Relationship Type="http://schemas.openxmlformats.org/officeDocument/2006/relationships/notesMaster" Target="/ppt/notesMasters/notesMaster1.xml" Id="Rc59f93d2630c4e9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8f8849ae69d4dd1" /><Relationship Type="http://schemas.openxmlformats.org/officeDocument/2006/relationships/notesMaster" Target="/ppt/notesMasters/notesMaster1.xml" Id="R60b73aadf2d344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197c84875fd470d" /><Relationship Type="http://schemas.openxmlformats.org/officeDocument/2006/relationships/notesMaster" Target="/ppt/notesMasters/notesMaster1.xml" Id="R8cbb5cff9cec42c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ead94eb63f3483a" /><Relationship Type="http://schemas.openxmlformats.org/officeDocument/2006/relationships/notesMaster" Target="/ppt/notesMasters/notesMaster1.xml" Id="R54b26742844c4ac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c0692c93d2844c0" /><Relationship Type="http://schemas.openxmlformats.org/officeDocument/2006/relationships/notesMaster" Target="/ppt/notesMasters/notesMaster1.xml" Id="Rfac7f4a86b23469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264f56798884f12" /><Relationship Type="http://schemas.openxmlformats.org/officeDocument/2006/relationships/notesMaster" Target="/ppt/notesMasters/notesMaster1.xml" Id="R4cbad64410cc487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4dccd9248b9490b" /><Relationship Type="http://schemas.openxmlformats.org/officeDocument/2006/relationships/notesMaster" Target="/ppt/notesMasters/notesMaster1.xml" Id="R8988a60a540a41f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357c1f81933459f" /><Relationship Type="http://schemas.openxmlformats.org/officeDocument/2006/relationships/notesMaster" Target="/ppt/notesMasters/notesMaster1.xml" Id="R29d3891b940441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3fd693f85d64714" /><Relationship Type="http://schemas.openxmlformats.org/officeDocument/2006/relationships/notesMaster" Target="/ppt/notesMasters/notesMaster1.xml" Id="R92ac5d6993ec413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714704d37c14bdc" /><Relationship Type="http://schemas.openxmlformats.org/officeDocument/2006/relationships/notesMaster" Target="/ppt/notesMasters/notesMaster1.xml" Id="Rce251e3411734c9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ee6b5bae84345de" /><Relationship Type="http://schemas.openxmlformats.org/officeDocument/2006/relationships/notesMaster" Target="/ppt/notesMasters/notesMaster1.xml" Id="Re1f6e265927e4f0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5b60cbb5d1f45ac" /><Relationship Type="http://schemas.openxmlformats.org/officeDocument/2006/relationships/notesMaster" Target="/ppt/notesMasters/notesMaster1.xml" Id="Rd348b230de544c3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d013189624d4497" /><Relationship Type="http://schemas.openxmlformats.org/officeDocument/2006/relationships/notesMaster" Target="/ppt/notesMasters/notesMaster1.xml" Id="R1ca1a6c5cb0a414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228e23f792f4a5f" /><Relationship Type="http://schemas.openxmlformats.org/officeDocument/2006/relationships/notesMaster" Target="/ppt/notesMasters/notesMaster1.xml" Id="R89117ea826484a0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1f51534a54f4c2d" /><Relationship Type="http://schemas.openxmlformats.org/officeDocument/2006/relationships/notesMaster" Target="/ppt/notesMasters/notesMaster1.xml" Id="R90ae24f1f993414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ee22d7e23564dca" /><Relationship Type="http://schemas.openxmlformats.org/officeDocument/2006/relationships/notesMaster" Target="/ppt/notesMasters/notesMaster1.xml" Id="R20fd6704baba4e7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042289f75f54c2a" /><Relationship Type="http://schemas.openxmlformats.org/officeDocument/2006/relationships/notesMaster" Target="/ppt/notesMasters/notesMaster1.xml" Id="Rbc57a229ca4141b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8dcc913c1ff4a93" /><Relationship Type="http://schemas.openxmlformats.org/officeDocument/2006/relationships/notesMaster" Target="/ppt/notesMasters/notesMaster1.xml" Id="Rd8ae3b12a78f4a3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7c7db8810d74994" /><Relationship Type="http://schemas.openxmlformats.org/officeDocument/2006/relationships/notesMaster" Target="/ppt/notesMasters/notesMaster1.xml" Id="R6bfca7fd8982417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7e28496095d4a17" /><Relationship Type="http://schemas.openxmlformats.org/officeDocument/2006/relationships/notesMaster" Target="/ppt/notesMasters/notesMaster1.xml" Id="Re20d62d7236545c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977e415cf6f4a09" /><Relationship Type="http://schemas.openxmlformats.org/officeDocument/2006/relationships/notesMaster" Target="/ppt/notesMasters/notesMaster1.xml" Id="Rf8bd2e6b5abd42a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6e8911659844ea4" /><Relationship Type="http://schemas.openxmlformats.org/officeDocument/2006/relationships/notesMaster" Target="/ppt/notesMasters/notesMaster1.xml" Id="R7c390ac838be44e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1a061933d9549a2" /><Relationship Type="http://schemas.openxmlformats.org/officeDocument/2006/relationships/notesMaster" Target="/ppt/notesMasters/notesMaster1.xml" Id="R72f4e976b36b4e2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9c0e1aaf9854cd8" /><Relationship Type="http://schemas.openxmlformats.org/officeDocument/2006/relationships/notesMaster" Target="/ppt/notesMasters/notesMaster1.xml" Id="R1e57a5ad4ca74cb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64a3da96d6a4c44" /><Relationship Type="http://schemas.openxmlformats.org/officeDocument/2006/relationships/notesMaster" Target="/ppt/notesMasters/notesMaster1.xml" Id="R6e62c19f53f64af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a99a495a4614dd0" /><Relationship Type="http://schemas.openxmlformats.org/officeDocument/2006/relationships/notesMaster" Target="/ppt/notesMasters/notesMaster1.xml" Id="Ra7103deb46224c5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6c540deeb204e08" /><Relationship Type="http://schemas.openxmlformats.org/officeDocument/2006/relationships/notesMaster" Target="/ppt/notesMasters/notesMaster1.xml" Id="R9ac8548ece34473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f665e8a2df84664" /><Relationship Type="http://schemas.openxmlformats.org/officeDocument/2006/relationships/notesMaster" Target="/ppt/notesMasters/notesMaster1.xml" Id="R0af164c453eb403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92248ebca4940a4" /><Relationship Type="http://schemas.openxmlformats.org/officeDocument/2006/relationships/notesMaster" Target="/ppt/notesMasters/notesMaster1.xml" Id="R71895a32b72f425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dd2e76a575b448f" /><Relationship Type="http://schemas.openxmlformats.org/officeDocument/2006/relationships/notesMaster" Target="/ppt/notesMasters/notesMaster1.xml" Id="Ra57d76945471499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b8e13bde77c4366" /><Relationship Type="http://schemas.openxmlformats.org/officeDocument/2006/relationships/notesMaster" Target="/ppt/notesMasters/notesMaster1.xml" Id="R97c8eeb4a6274a5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230406ba53d4300" /><Relationship Type="http://schemas.openxmlformats.org/officeDocument/2006/relationships/notesMaster" Target="/ppt/notesMasters/notesMaster1.xml" Id="R189f2e396e1047b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fe3a1dca90c4cb6" /><Relationship Type="http://schemas.openxmlformats.org/officeDocument/2006/relationships/notesMaster" Target="/ppt/notesMasters/notesMaster1.xml" Id="R8832c13e8b974a1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1b0398e8e4f4b4b" /><Relationship Type="http://schemas.openxmlformats.org/officeDocument/2006/relationships/notesMaster" Target="/ppt/notesMasters/notesMaster1.xml" Id="R3a1441ac5d47436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ccdccc6cf0b4117" /><Relationship Type="http://schemas.openxmlformats.org/officeDocument/2006/relationships/notesMaster" Target="/ppt/notesMasters/notesMaster1.xml" Id="Rb22e2c9192124c4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70027e76a5b4680" /><Relationship Type="http://schemas.openxmlformats.org/officeDocument/2006/relationships/notesMaster" Target="/ppt/notesMasters/notesMaster1.xml" Id="R7473b4ca2b7e4cd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b886489bd0d4626" /><Relationship Type="http://schemas.openxmlformats.org/officeDocument/2006/relationships/notesMaster" Target="/ppt/notesMasters/notesMaster1.xml" Id="Rc9393f92749441e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0df418532db4647" /><Relationship Type="http://schemas.openxmlformats.org/officeDocument/2006/relationships/notesMaster" Target="/ppt/notesMasters/notesMaster1.xml" Id="R190f05f401ad4d9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9721c679a464956" /><Relationship Type="http://schemas.openxmlformats.org/officeDocument/2006/relationships/notesMaster" Target="/ppt/notesMasters/notesMaster1.xml" Id="Ref65d09bcfce48d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4b20aac72334ac1" /><Relationship Type="http://schemas.openxmlformats.org/officeDocument/2006/relationships/notesMaster" Target="/ppt/notesMasters/notesMaster1.xml" Id="R284960f7e1e3436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2f82cffa47a4795" /><Relationship Type="http://schemas.openxmlformats.org/officeDocument/2006/relationships/notesMaster" Target="/ppt/notesMasters/notesMaster1.xml" Id="Rf720feb2525c481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aca1b0fe2ac4ddd" /><Relationship Type="http://schemas.openxmlformats.org/officeDocument/2006/relationships/notesMaster" Target="/ppt/notesMasters/notesMaster1.xml" Id="R46db513e5a1541f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3992f6148fd4113" /><Relationship Type="http://schemas.openxmlformats.org/officeDocument/2006/relationships/notesMaster" Target="/ppt/notesMasters/notesMaster1.xml" Id="R8e811545f1884d2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afc461262ae4950" /><Relationship Type="http://schemas.openxmlformats.org/officeDocument/2006/relationships/notesMaster" Target="/ppt/notesMasters/notesMaster1.xml" Id="R4b1464eeef04473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9df7def670546e8" /><Relationship Type="http://schemas.openxmlformats.org/officeDocument/2006/relationships/notesMaster" Target="/ppt/notesMasters/notesMaster1.xml" Id="R276edfb11c11471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fe6426673144c33" /><Relationship Type="http://schemas.openxmlformats.org/officeDocument/2006/relationships/notesMaster" Target="/ppt/notesMasters/notesMaster1.xml" Id="R1aeced908d5d4ab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09137a2770d42ac" /><Relationship Type="http://schemas.openxmlformats.org/officeDocument/2006/relationships/notesMaster" Target="/ppt/notesMasters/notesMaster1.xml" Id="Raa5e463a297b470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2c6baa125bd4312" /><Relationship Type="http://schemas.openxmlformats.org/officeDocument/2006/relationships/notesMaster" Target="/ppt/notesMasters/notesMaster1.xml" Id="Racc645da9e24466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3323f84023448a5" /><Relationship Type="http://schemas.openxmlformats.org/officeDocument/2006/relationships/notesMaster" Target="/ppt/notesMasters/notesMaster1.xml" Id="R82ac98630ce546c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b9f90df74fa4fc6" /><Relationship Type="http://schemas.openxmlformats.org/officeDocument/2006/relationships/notesMaster" Target="/ppt/notesMasters/notesMaster1.xml" Id="Red431aad1e574af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c4df4e0de5e417c" /><Relationship Type="http://schemas.openxmlformats.org/officeDocument/2006/relationships/notesMaster" Target="/ppt/notesMasters/notesMaster1.xml" Id="R67f37394da3547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d1c7dc79a0d4aac" /><Relationship Type="http://schemas.openxmlformats.org/officeDocument/2006/relationships/notesMaster" Target="/ppt/notesMasters/notesMaster1.xml" Id="Ref3ba3073fbd4c3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b04f327d30e4952" /><Relationship Type="http://schemas.openxmlformats.org/officeDocument/2006/relationships/notesMaster" Target="/ppt/notesMasters/notesMaster1.xml" Id="Rbea0ab9d6713447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aa6c441bdc44c00" /><Relationship Type="http://schemas.openxmlformats.org/officeDocument/2006/relationships/notesMaster" Target="/ppt/notesMasters/notesMaster1.xml" Id="R35b124d75e5e445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e89cd069f8a4580" /><Relationship Type="http://schemas.openxmlformats.org/officeDocument/2006/relationships/notesMaster" Target="/ppt/notesMasters/notesMaster1.xml" Id="R1bf99f2fb2b5427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61c1504dc924bb8" /><Relationship Type="http://schemas.openxmlformats.org/officeDocument/2006/relationships/notesMaster" Target="/ppt/notesMasters/notesMaster1.xml" Id="R84a22714e6214bd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a8056f486554c8c" /><Relationship Type="http://schemas.openxmlformats.org/officeDocument/2006/relationships/notesMaster" Target="/ppt/notesMasters/notesMaster1.xml" Id="R86a3dc93b91b42e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c7d75a058e04f7b" /><Relationship Type="http://schemas.openxmlformats.org/officeDocument/2006/relationships/notesMaster" Target="/ppt/notesMasters/notesMaster1.xml" Id="R8db5d79e9381442b"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fe5c038a92c4719" /><Relationship Type="http://schemas.openxmlformats.org/officeDocument/2006/relationships/notesMaster" Target="/ppt/notesMasters/notesMaster1.xml" Id="R1a0430e1e3ad4df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6a77c15df9242e8" /><Relationship Type="http://schemas.openxmlformats.org/officeDocument/2006/relationships/notesMaster" Target="/ppt/notesMasters/notesMaster1.xml" Id="R1dcd629ea34844b7"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c93a6101422402a" /><Relationship Type="http://schemas.openxmlformats.org/officeDocument/2006/relationships/notesMaster" Target="/ppt/notesMasters/notesMaster1.xml" Id="Rdd6c17423b9b4cd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c4d756e033845ad" /><Relationship Type="http://schemas.openxmlformats.org/officeDocument/2006/relationships/notesMaster" Target="/ppt/notesMasters/notesMaster1.xml" Id="R73e38b28944646d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c094b73697c473f" /><Relationship Type="http://schemas.openxmlformats.org/officeDocument/2006/relationships/notesMaster" Target="/ppt/notesMasters/notesMaster1.xml" Id="R5221884fe93e4b44"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b607f90fefa46f3" /><Relationship Type="http://schemas.openxmlformats.org/officeDocument/2006/relationships/notesMaster" Target="/ppt/notesMasters/notesMaster1.xml" Id="R6cea7d2b875042aa"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0970fa3f1c1147d2" /><Relationship Type="http://schemas.openxmlformats.org/officeDocument/2006/relationships/notesMaster" Target="/ppt/notesMasters/notesMaster1.xml" Id="R6c49fdf2ba56479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b6cbe57d9974c4d" /><Relationship Type="http://schemas.openxmlformats.org/officeDocument/2006/relationships/notesMaster" Target="/ppt/notesMasters/notesMaster1.xml" Id="Rbfabd2190f2d42c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bb908d5bea14535" /><Relationship Type="http://schemas.openxmlformats.org/officeDocument/2006/relationships/notesMaster" Target="/ppt/notesMasters/notesMaster1.xml" Id="R448d9fb72e39445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aff165b46844384" /><Relationship Type="http://schemas.openxmlformats.org/officeDocument/2006/relationships/notesMaster" Target="/ppt/notesMasters/notesMaster1.xml" Id="R5db4c0482d51406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71e646f607984647" /><Relationship Type="http://schemas.openxmlformats.org/officeDocument/2006/relationships/notesMaster" Target="/ppt/notesMasters/notesMaster1.xml" Id="R47ba1600adcb493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57682b5b2984b72" /><Relationship Type="http://schemas.openxmlformats.org/officeDocument/2006/relationships/notesMaster" Target="/ppt/notesMasters/notesMaster1.xml" Id="R12ccd5997c474e7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9d2431c9b8049aa" /><Relationship Type="http://schemas.openxmlformats.org/officeDocument/2006/relationships/notesMaster" Target="/ppt/notesMasters/notesMaster1.xml" Id="R96e37368c9e745b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7dcd13c832e4ede" /><Relationship Type="http://schemas.openxmlformats.org/officeDocument/2006/relationships/notesMaster" Target="/ppt/notesMasters/notesMaster1.xml" Id="Recb3024dea9d4da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39ec3cdb1294f82" /><Relationship Type="http://schemas.openxmlformats.org/officeDocument/2006/relationships/notesMaster" Target="/ppt/notesMasters/notesMaster1.xml" Id="R5895db4f8d46478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159afa43997044bf" /><Relationship Type="http://schemas.openxmlformats.org/officeDocument/2006/relationships/notesMaster" Target="/ppt/notesMasters/notesMaster1.xml" Id="Rbf8c5d2727c841db"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d1fc49d38c824d0f" /><Relationship Type="http://schemas.openxmlformats.org/officeDocument/2006/relationships/notesMaster" Target="/ppt/notesMasters/notesMaster1.xml" Id="R6c9aed22df44477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7b07f98ff2ab4b45" /><Relationship Type="http://schemas.openxmlformats.org/officeDocument/2006/relationships/notesMaster" Target="/ppt/notesMasters/notesMaster1.xml" Id="Rc0e04c7d64f14182"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fd5f94f3fa54e2e" /><Relationship Type="http://schemas.openxmlformats.org/officeDocument/2006/relationships/notesMaster" Target="/ppt/notesMasters/notesMaster1.xml" Id="R0a1fbb5e74a64c5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8ebc5992866496f" /><Relationship Type="http://schemas.openxmlformats.org/officeDocument/2006/relationships/notesMaster" Target="/ppt/notesMasters/notesMaster1.xml" Id="Rf00da7ad329e46d2"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6a16ddb5011e4ac1" /><Relationship Type="http://schemas.openxmlformats.org/officeDocument/2006/relationships/notesMaster" Target="/ppt/notesMasters/notesMaster1.xml" Id="Ree4edefc76d44fae"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182bd179fde24086" /><Relationship Type="http://schemas.openxmlformats.org/officeDocument/2006/relationships/notesMaster" Target="/ppt/notesMasters/notesMaster1.xml" Id="R86c5bdf1e4a244c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8f65d0460928410c" /><Relationship Type="http://schemas.openxmlformats.org/officeDocument/2006/relationships/notesMaster" Target="/ppt/notesMasters/notesMaster1.xml" Id="R3230ac9fb55140ea"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2050452caf474e89" /><Relationship Type="http://schemas.openxmlformats.org/officeDocument/2006/relationships/notesMaster" Target="/ppt/notesMasters/notesMaster1.xml" Id="R2574c49252164252"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ccae27275a854a72" /><Relationship Type="http://schemas.openxmlformats.org/officeDocument/2006/relationships/notesMaster" Target="/ppt/notesMasters/notesMaster1.xml" Id="Raf11f247e16c4928"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26e7604b33c45a8" /><Relationship Type="http://schemas.openxmlformats.org/officeDocument/2006/relationships/notesMaster" Target="/ppt/notesMasters/notesMaster1.xml" Id="Rd7f291cfa14e4cff"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fa0fc6ef85bc416c" /><Relationship Type="http://schemas.openxmlformats.org/officeDocument/2006/relationships/notesMaster" Target="/ppt/notesMasters/notesMaster1.xml" Id="Rd5051dd4e9444dc1"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4d93e3c4adf84030" /><Relationship Type="http://schemas.openxmlformats.org/officeDocument/2006/relationships/notesMaster" Target="/ppt/notesMasters/notesMaster1.xml" Id="R18c7f6247ed84df1"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469207c6f5484c8c" /><Relationship Type="http://schemas.openxmlformats.org/officeDocument/2006/relationships/notesMaster" Target="/ppt/notesMasters/notesMaster1.xml" Id="R38cad7cf0a1b43c1"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c43d2d7187924098" /><Relationship Type="http://schemas.openxmlformats.org/officeDocument/2006/relationships/notesMaster" Target="/ppt/notesMasters/notesMaster1.xml" Id="Rf00ee85aea364bb0"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142b79c57e0542ac" /><Relationship Type="http://schemas.openxmlformats.org/officeDocument/2006/relationships/notesMaster" Target="/ppt/notesMasters/notesMaster1.xml" Id="R9735d911bd904b92"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d3499a441e594f78" /><Relationship Type="http://schemas.openxmlformats.org/officeDocument/2006/relationships/notesMaster" Target="/ppt/notesMasters/notesMaster1.xml" Id="Re1ce483aec794349"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558627408f64e46" /><Relationship Type="http://schemas.openxmlformats.org/officeDocument/2006/relationships/notesMaster" Target="/ppt/notesMasters/notesMaster1.xml" Id="Rb367e59dcf474d76"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b70e12d718844aad" /><Relationship Type="http://schemas.openxmlformats.org/officeDocument/2006/relationships/notesMaster" Target="/ppt/notesMasters/notesMaster1.xml" Id="Re1e781f1379342b4"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11b833bb94354544" /><Relationship Type="http://schemas.openxmlformats.org/officeDocument/2006/relationships/notesMaster" Target="/ppt/notesMasters/notesMaster1.xml" Id="Rbe7d4e5c76a04b02"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63976f6aa01a4e2e" /><Relationship Type="http://schemas.openxmlformats.org/officeDocument/2006/relationships/notesMaster" Target="/ppt/notesMasters/notesMaster1.xml" Id="R78017442ae2f4ae3"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3ba1acb4f67b4068" /><Relationship Type="http://schemas.openxmlformats.org/officeDocument/2006/relationships/notesMaster" Target="/ppt/notesMasters/notesMaster1.xml" Id="R1d3a3578b9564688"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21fac531a8794864" /><Relationship Type="http://schemas.openxmlformats.org/officeDocument/2006/relationships/notesMaster" Target="/ppt/notesMasters/notesMaster1.xml" Id="Rc63508c38438466f"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f401b814404c423a" /><Relationship Type="http://schemas.openxmlformats.org/officeDocument/2006/relationships/notesMaster" Target="/ppt/notesMasters/notesMaster1.xml" Id="Red962bc9fa2d4a9d"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a00cb1ffe25544d6" /><Relationship Type="http://schemas.openxmlformats.org/officeDocument/2006/relationships/notesMaster" Target="/ppt/notesMasters/notesMaster1.xml" Id="Rbdf07e4f41fb4528"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b3b1c5adb40b4bef" /><Relationship Type="http://schemas.openxmlformats.org/officeDocument/2006/relationships/notesMaster" Target="/ppt/notesMasters/notesMaster1.xml" Id="R23363c10a838454f"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e1fc6000fea54296" /><Relationship Type="http://schemas.openxmlformats.org/officeDocument/2006/relationships/notesMaster" Target="/ppt/notesMasters/notesMaster1.xml" Id="R8298ac1e5db249be"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c2f8896d07ed4080" /><Relationship Type="http://schemas.openxmlformats.org/officeDocument/2006/relationships/notesMaster" Target="/ppt/notesMasters/notesMaster1.xml" Id="R2dbdab82c3b34653"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7c8f95d463064d87" /><Relationship Type="http://schemas.openxmlformats.org/officeDocument/2006/relationships/notesMaster" Target="/ppt/notesMasters/notesMaster1.xml" Id="Rb847ef9d1a844a91"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fc62716ee3f54311" /><Relationship Type="http://schemas.openxmlformats.org/officeDocument/2006/relationships/notesMaster" Target="/ppt/notesMasters/notesMaster1.xml" Id="Rc6667065cda24440"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8bea658342454553" /><Relationship Type="http://schemas.openxmlformats.org/officeDocument/2006/relationships/notesMaster" Target="/ppt/notesMasters/notesMaster1.xml" Id="Rfb68cbea68e24c69"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2befe607e6d54b47" /><Relationship Type="http://schemas.openxmlformats.org/officeDocument/2006/relationships/notesMaster" Target="/ppt/notesMasters/notesMaster1.xml" Id="Rfce847ebcf774089"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6fc8ad3e24a548d1" /><Relationship Type="http://schemas.openxmlformats.org/officeDocument/2006/relationships/notesMaster" Target="/ppt/notesMasters/notesMaster1.xml" Id="R23bfb923d6034761"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06ca0ba1b25746fb" /><Relationship Type="http://schemas.openxmlformats.org/officeDocument/2006/relationships/notesMaster" Target="/ppt/notesMasters/notesMaster1.xml" Id="R11cc1a8576514327"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3d4fc159e08c4034" /><Relationship Type="http://schemas.openxmlformats.org/officeDocument/2006/relationships/notesMaster" Target="/ppt/notesMasters/notesMaster1.xml" Id="Recac371237ee4c62"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fc0796f988974331" /><Relationship Type="http://schemas.openxmlformats.org/officeDocument/2006/relationships/notesMaster" Target="/ppt/notesMasters/notesMaster1.xml" Id="R60838f06953e49a8"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3eb049c297c043ce" /><Relationship Type="http://schemas.openxmlformats.org/officeDocument/2006/relationships/notesMaster" Target="/ppt/notesMasters/notesMaster1.xml" Id="Ra0c72938c27845e3"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869015380e5641fd" /><Relationship Type="http://schemas.openxmlformats.org/officeDocument/2006/relationships/notesMaster" Target="/ppt/notesMasters/notesMaster1.xml" Id="Re6ddac92c0bd49b4"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f632cdfcc483485b" /><Relationship Type="http://schemas.openxmlformats.org/officeDocument/2006/relationships/notesMaster" Target="/ppt/notesMasters/notesMaster1.xml" Id="R2097a7d7c70d4683"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9420b53594ad4b65" /><Relationship Type="http://schemas.openxmlformats.org/officeDocument/2006/relationships/notesMaster" Target="/ppt/notesMasters/notesMaster1.xml" Id="Re736b44b1732457e"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0cadf58c27514e31" /><Relationship Type="http://schemas.openxmlformats.org/officeDocument/2006/relationships/notesMaster" Target="/ppt/notesMasters/notesMaster1.xml" Id="R6bce68cb68fb48e5"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00e355c430de43e7" /><Relationship Type="http://schemas.openxmlformats.org/officeDocument/2006/relationships/notesMaster" Target="/ppt/notesMasters/notesMaster1.xml" Id="R11641563a1184268"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9cbf8dd8fb2a4fe4" /><Relationship Type="http://schemas.openxmlformats.org/officeDocument/2006/relationships/notesMaster" Target="/ppt/notesMasters/notesMaster1.xml" Id="Rfa3553abe9a64c00"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42d85aab403c4a6b" /><Relationship Type="http://schemas.openxmlformats.org/officeDocument/2006/relationships/notesMaster" Target="/ppt/notesMasters/notesMaster1.xml" Id="R782ca9956ba34d81"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d945aa8e15884d56" /><Relationship Type="http://schemas.openxmlformats.org/officeDocument/2006/relationships/notesMaster" Target="/ppt/notesMasters/notesMaster1.xml" Id="R4f72c27f8f084aca"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bf391e0612de4168" /><Relationship Type="http://schemas.openxmlformats.org/officeDocument/2006/relationships/notesMaster" Target="/ppt/notesMasters/notesMaster1.xml" Id="R3a156ca266a244e9"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6d82d9bad82f45bf" /><Relationship Type="http://schemas.openxmlformats.org/officeDocument/2006/relationships/notesMaster" Target="/ppt/notesMasters/notesMaster1.xml" Id="R0736c30ddc4d4ce8"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ac950e79818d454e" /><Relationship Type="http://schemas.openxmlformats.org/officeDocument/2006/relationships/notesMaster" Target="/ppt/notesMasters/notesMaster1.xml" Id="R3731257e003e4b8f"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a88c168458a04055" /><Relationship Type="http://schemas.openxmlformats.org/officeDocument/2006/relationships/notesMaster" Target="/ppt/notesMasters/notesMaster1.xml" Id="Rb580ffcb2e0d4d2c"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26d91f2d3cb84d53" /><Relationship Type="http://schemas.openxmlformats.org/officeDocument/2006/relationships/notesMaster" Target="/ppt/notesMasters/notesMaster1.xml" Id="Rd09f9f18407a4398"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1de82ea14c404b40" /><Relationship Type="http://schemas.openxmlformats.org/officeDocument/2006/relationships/notesMaster" Target="/ppt/notesMasters/notesMaster1.xml" Id="R2dafff82bde540c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0583552ee7954f30" /><Relationship Type="http://schemas.openxmlformats.org/officeDocument/2006/relationships/notesMaster" Target="/ppt/notesMasters/notesMaster1.xml" Id="R2a1d390858fb44a0"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751b6033a80242e5" /><Relationship Type="http://schemas.openxmlformats.org/officeDocument/2006/relationships/notesMaster" Target="/ppt/notesMasters/notesMaster1.xml" Id="R5aacb1cebe224483"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fe01cc34f09d4eb9" /><Relationship Type="http://schemas.openxmlformats.org/officeDocument/2006/relationships/notesMaster" Target="/ppt/notesMasters/notesMaster1.xml" Id="Rf63409dbc0ad4bc3"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3eaf53b3bf7848d9" /><Relationship Type="http://schemas.openxmlformats.org/officeDocument/2006/relationships/notesMaster" Target="/ppt/notesMasters/notesMaster1.xml" Id="R2ba79e3d4c774835"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6034f36b65c1446e" /><Relationship Type="http://schemas.openxmlformats.org/officeDocument/2006/relationships/notesMaster" Target="/ppt/notesMasters/notesMaster1.xml" Id="R608bd0bbdb1848a2"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2b013fa6fc0d42f8" /><Relationship Type="http://schemas.openxmlformats.org/officeDocument/2006/relationships/notesMaster" Target="/ppt/notesMasters/notesMaster1.xml" Id="R54d4db7482364475"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4016c132a0704df2" /><Relationship Type="http://schemas.openxmlformats.org/officeDocument/2006/relationships/notesMaster" Target="/ppt/notesMasters/notesMaster1.xml" Id="Rf6dca8b541c949b8"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e3d7f91b974f4d08" /><Relationship Type="http://schemas.openxmlformats.org/officeDocument/2006/relationships/notesMaster" Target="/ppt/notesMasters/notesMaster1.xml" Id="R2cbe8457ad6a4d6a"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d40d37a6a9284c21" /><Relationship Type="http://schemas.openxmlformats.org/officeDocument/2006/relationships/notesMaster" Target="/ppt/notesMasters/notesMaster1.xml" Id="R93d0e5c960724ff4"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e5e0cf3424e54c8e" /><Relationship Type="http://schemas.openxmlformats.org/officeDocument/2006/relationships/notesMaster" Target="/ppt/notesMasters/notesMaster1.xml" Id="Rdd2628c6f3ff4916"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28ce41f4810f45df" /><Relationship Type="http://schemas.openxmlformats.org/officeDocument/2006/relationships/notesMaster" Target="/ppt/notesMasters/notesMaster1.xml" Id="Raee2fdd71f574e3b"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8827106f8c1a4e26" /><Relationship Type="http://schemas.openxmlformats.org/officeDocument/2006/relationships/notesMaster" Target="/ppt/notesMasters/notesMaster1.xml" Id="R2c647bd28f294302"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429fc9e2a321407f" /><Relationship Type="http://schemas.openxmlformats.org/officeDocument/2006/relationships/notesMaster" Target="/ppt/notesMasters/notesMaster1.xml" Id="R433f264024284e6e"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2d02682b72aa4ce9" /><Relationship Type="http://schemas.openxmlformats.org/officeDocument/2006/relationships/notesMaster" Target="/ppt/notesMasters/notesMaster1.xml" Id="R272f55edffd6400f"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bd80ff5c0edd4471" /><Relationship Type="http://schemas.openxmlformats.org/officeDocument/2006/relationships/notesMaster" Target="/ppt/notesMasters/notesMaster1.xml" Id="R8d1c0f8953094eb2"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145fb46e58bb471d" /><Relationship Type="http://schemas.openxmlformats.org/officeDocument/2006/relationships/notesMaster" Target="/ppt/notesMasters/notesMaster1.xml" Id="Rf8f9f838754044ec"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253580c86e374c67" /><Relationship Type="http://schemas.openxmlformats.org/officeDocument/2006/relationships/notesMaster" Target="/ppt/notesMasters/notesMaster1.xml" Id="Rcf16cc48d9d547a0"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1935aaaf532a4806" /><Relationship Type="http://schemas.openxmlformats.org/officeDocument/2006/relationships/notesMaster" Target="/ppt/notesMasters/notesMaster1.xml" Id="Rc23765044e684747"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56f337eecb4943ab" /><Relationship Type="http://schemas.openxmlformats.org/officeDocument/2006/relationships/notesMaster" Target="/ppt/notesMasters/notesMaster1.xml" Id="R2faf8c7a944343bd"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a2db87d7ae9745a4" /><Relationship Type="http://schemas.openxmlformats.org/officeDocument/2006/relationships/notesMaster" Target="/ppt/notesMasters/notesMaster1.xml" Id="Rc58991c8d84b4002"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094283533d8d4d54" /><Relationship Type="http://schemas.openxmlformats.org/officeDocument/2006/relationships/notesMaster" Target="/ppt/notesMasters/notesMaster1.xml" Id="R9ffa5e6d6c6c4e6d"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f42c2e10471c4aa8" /><Relationship Type="http://schemas.openxmlformats.org/officeDocument/2006/relationships/notesMaster" Target="/ppt/notesMasters/notesMaster1.xml" Id="Rc63f68d153704bcb"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01ebcd7751d64fd1" /><Relationship Type="http://schemas.openxmlformats.org/officeDocument/2006/relationships/notesMaster" Target="/ppt/notesMasters/notesMaster1.xml" Id="R07e28dbded77436b"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5f583052c4ff4cb4" /><Relationship Type="http://schemas.openxmlformats.org/officeDocument/2006/relationships/notesMaster" Target="/ppt/notesMasters/notesMaster1.xml" Id="R907ee47671164de1"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91714c2aeabf49ad" /><Relationship Type="http://schemas.openxmlformats.org/officeDocument/2006/relationships/notesMaster" Target="/ppt/notesMasters/notesMaster1.xml" Id="R37ad4bc8859e4bd7"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52d368c069734117" /><Relationship Type="http://schemas.openxmlformats.org/officeDocument/2006/relationships/notesMaster" Target="/ppt/notesMasters/notesMaster1.xml" Id="R6331aad2df864a1d"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502af1dfeaa14db9" /><Relationship Type="http://schemas.openxmlformats.org/officeDocument/2006/relationships/notesMaster" Target="/ppt/notesMasters/notesMaster1.xml" Id="Rd42f79de64ce4e13"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fbd99e167f73418a" /><Relationship Type="http://schemas.openxmlformats.org/officeDocument/2006/relationships/notesMaster" Target="/ppt/notesMasters/notesMaster1.xml" Id="Rcfcafdd1f01747d0"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768cc7552c794b87" /><Relationship Type="http://schemas.openxmlformats.org/officeDocument/2006/relationships/notesMaster" Target="/ppt/notesMasters/notesMaster1.xml" Id="R6f8211e232e7487f"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3b0421ac39d9401a" /><Relationship Type="http://schemas.openxmlformats.org/officeDocument/2006/relationships/notesMaster" Target="/ppt/notesMasters/notesMaster1.xml" Id="R130f976cb9334495"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2ed3f86f6025480c" /><Relationship Type="http://schemas.openxmlformats.org/officeDocument/2006/relationships/notesMaster" Target="/ppt/notesMasters/notesMaster1.xml" Id="R7550d7a5c0744e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홈페이지와 동일한 사례·분석·요구사항 데이터 사용.</a:t>
            </a:r>
          </a:p>
          <a:p xmlns:a="http://schemas.openxmlformats.org/drawingml/2006/main">
            <a:r>
              <a:t>사실과 요구사항은 출처 기준. 아키텍처의 연결·운영 환류는 CCK 논리 설계. 실제 설치 배치도와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a:p xmlns:a="http://schemas.openxmlformats.org/drawingml/2006/main">
            <a:r>
              <a:t>한계: 전세보증과 TS 전세버스는 업무 기준이 다름. 공통 기능만 이식 가능</a:t>
            </a:r>
          </a:p>
          <a:p xmlns:a="http://schemas.openxmlformats.org/drawingml/2006/main">
            <a:r>
              <a:t>실패 위험: OCR 오독에 따른 누락 판단 / 요구 명세와 운영 효과의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a:p xmlns:a="http://schemas.openxmlformats.org/drawingml/2006/main">
            <a:r>
              <a:t>원문 도면 {"caseId":"PF-R01","path":"assets/casebook-sources/PF-R01-01.png","title":"HUG AI 인프라·업무시스템 연계","status":"RFP 목표 구성도","caption":"통합 클라우드·GPU Kubernetes·AI 웹서비스·그룹웨어 연계","locator":"rId10 / BinData/image4_jpg","checked":"2026-10-16","sha256":"435b1f344867be6beab5f24852d1c79cba1e48a9361c9e0976f78dab55a1e9c9","explanation":{"read":"클라우드·GPU Kubernetes는 AI 처리 자원, 웹서비스는 직원 접점, 그룹웨어는 기존 업무와의 연결 영역. 인프라 블록만으로 문서 심사 승인 절차까지 구현됐다고 해석하지 않는 구조.","requirements":["SFR-006","SFR-007","SFR-008"],"connection":"문서 반입·검색·추출은 공통 자원을 사용하되 지식검색, 보증이행 심사, 민원답변의 결과 저장·승인 경로는 각각 분리하는 CCK 재구성."}}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"PF-R01",</a:t>
            </a:r>
          </a:p>
          <a:p xmlns:a="http://schemas.openxmlformats.org/drawingml/2006/main">
            <a:r>
              <a:t>    "sourceId": "R01",</a:t>
            </a:r>
          </a:p>
          <a:p xmlns:a="http://schemas.openxmlformats.org/drawingml/2006/main">
            <a:r>
              <a:t>    "title": "HUG 문서·민원 AI",</a:t>
            </a:r>
          </a:p>
          <a:p xmlns:a="http://schemas.openxmlformats.org/drawingml/2006/main">
            <a:r>
              <a:t>    "region": "국내",</a:t>
            </a:r>
          </a:p>
          <a:p xmlns:a="http://schemas.openxmlformats.org/drawingml/2006/main">
            <a:r>
              <a:t>    "owner": "주택도시보증공사(HUG)",</a:t>
            </a:r>
          </a:p>
          <a:p xmlns:a="http://schemas.openxmlformats.org/drawingml/2006/main">
            <a:r>
              <a:t>    "state": "RFP 확인 / 실제 운영·검수 미확인",</a:t>
            </a:r>
          </a:p>
          <a:p xmlns:a="http://schemas.openxmlformats.org/drawingml/2006/main">
            <a:r>
              <a:t>    "period": "기존 원장 확인 2026.10.16",</a:t>
            </a:r>
          </a:p>
          <a:p xmlns:a="http://schemas.openxmlformats.org/drawingml/2006/main">
            <a:r>
              <a:t>    "fact": "직원 검색·전세보증 이행서류 검토·민원 지원을 공통 플랫폼에 구성",</a:t>
            </a:r>
          </a:p>
          <a:p xmlns:a="http://schemas.openxmlformats.org/drawingml/2006/main">
            <a:r>
              <a:t>    "limit": "전세보증과 TS 전세버스는 업무 기준이 다름. 공통 기능만 이식 가능",</a:t>
            </a:r>
          </a:p>
          <a:p xmlns:a="http://schemas.openxmlformats.org/drawingml/2006/main">
            <a:r>
              <a:t>    "nodes": [</a:t>
            </a:r>
          </a:p>
          <a:p xmlns:a="http://schemas.openxmlformats.org/drawingml/2006/main">
            <a:r>
              <a:t>      "보증 서류",</a:t>
            </a:r>
          </a:p>
          <a:p xmlns:a="http://schemas.openxmlformats.org/drawingml/2006/main">
            <a:r>
              <a:t>      "OCR·원본 대조",</a:t>
            </a:r>
          </a:p>
          <a:p xmlns:a="http://schemas.openxmlformats.org/drawingml/2006/main">
            <a:r>
              <a:t>      "규칙·누락 검토",</a:t>
            </a:r>
          </a:p>
          <a:p xmlns:a="http://schemas.openxmlformats.org/drawingml/2006/main">
            <a:r>
              <a:t>      "담당자 확정"</a:t>
            </a:r>
          </a:p>
          <a:p xmlns:a="http://schemas.openxmlformats.org/drawingml/2006/main">
            <a:r>
              <a:t>    ],</a:t>
            </a:r>
          </a:p>
          <a:p xmlns:a="http://schemas.openxmlformats.org/drawingml/2006/main">
            <a:r>
              <a:t>    "apply": "심사 서류의 추출값과 원본 위치를 연결하고 담당자가 최종 판정하는 증거 중심 검토",</a:t>
            </a:r>
          </a:p>
          <a:p xmlns:a="http://schemas.openxmlformats.org/drawingml/2006/main">
            <a:r>
              <a:t>    "delta": "서류 종류·필수항목 사전 / 추출값–원본 좌표 / 사건별 비교 규칙",</a:t>
            </a:r>
          </a:p>
          <a:p xmlns:a="http://schemas.openxmlformats.org/drawingml/2006/main">
            <a:r>
              <a:t>    "test": "저화질·누락·다른 사건 서류 주입 후 원본 대조·판정 보류 확인",</a:t>
            </a:r>
          </a:p>
          <a:p xmlns:a="http://schemas.openxmlformats.org/drawingml/2006/main">
            <a:r>
              <a:t>    "url": "https://www.g2b.go.kr/pn/pnp/pnpe/UntyAtchFile/downloadFile.do?bidPbancNo=R26BK01639098&amp;bidPbancOrd=000&amp;fileSeq=3&amp;fileType=&amp;prcmBsneSeCd=03",</a:t>
            </a:r>
          </a:p>
          <a:p xmlns:a="http://schemas.openxmlformats.org/drawingml/2006/main">
            <a:r>
              <a:t>    "urls": [</a:t>
            </a:r>
          </a:p>
          <a:p xmlns:a="http://schemas.openxmlformats.org/drawingml/2006/main">
            <a:r>
              <a:t>      "https://www.g2b.go.kr/pn/pnp/pnpe/UntyAtchFile/downloadFile.do?bidPbancNo=R26BK01639098&amp;bidPbancOrd=000&amp;fileSeq=3&amp;fileType=&amp;prcmBsneSeCd=03"</a:t>
            </a:r>
          </a:p>
          <a:p xmlns:a="http://schemas.openxmlformats.org/drawingml/2006/main">
            <a:r>
              <a:t>    ],</a:t>
            </a:r>
          </a:p>
          <a:p xmlns:a="http://schemas.openxmlformats.org/drawingml/2006/main">
            <a:r>
              <a:t>    "basis": "SFR-006~008, PMR-004~005 / Word T026",</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"심사 검토시간 / 필수 항목 누락률 / 재보완 횟수",</a:t>
            </a:r>
          </a:p>
          <a:p xmlns:a="http://schemas.openxmlformats.org/drawingml/2006/main">
            <a:r>
              <a:t>    "group": "요구·구축",</a:t>
            </a:r>
          </a:p>
          <a:p xmlns:a="http://schemas.openxmlformats.org/drawingml/2006/main">
            <a:r>
              <a:t>    "sourceDetail": "OCR/VLM→추출값·원본 매핑→누락·정합성 비교→사람 확정; 문서 승인·버전·권한별 RAG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"PF-R01",</a:t>
            </a:r>
          </a:p>
          <a:p xmlns:a="http://schemas.openxmlformats.org/drawingml/2006/main">
            <a:r>
              <a:t>    "canonicalId": "PF-R01",</a:t>
            </a:r>
          </a:p>
          <a:p xmlns:a="http://schemas.openxmlformats.org/drawingml/2006/main">
            <a:r>
              <a:t>    "purpose": "보증 이행서류 검토와 민원업무의 공통 AI화",</a:t>
            </a:r>
          </a:p>
          <a:p xmlns:a="http://schemas.openxmlformats.org/drawingml/2006/main">
            <a:r>
              <a:t>    "users": "심사 직원·민원 담당·지식 관리자",</a:t>
            </a:r>
          </a:p>
          <a:p xmlns:a="http://schemas.openxmlformats.org/drawingml/2006/main">
            <a:r>
              <a:t>    "scope": [</a:t>
            </a:r>
          </a:p>
          <a:p xmlns:a="http://schemas.openxmlformats.org/drawingml/2006/main">
            <a:r>
              <a:t>      "직원 검색",</a:t>
            </a:r>
          </a:p>
          <a:p xmlns:a="http://schemas.openxmlformats.org/drawingml/2006/main">
            <a:r>
              <a:t>      "이행서류 검토",</a:t>
            </a:r>
          </a:p>
          <a:p xmlns:a="http://schemas.openxmlformats.org/drawingml/2006/main">
            <a:r>
              <a:t>      "민원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"보증 문서 접수",</a:t>
            </a:r>
          </a:p>
          <a:p xmlns:a="http://schemas.openxmlformats.org/drawingml/2006/main">
            <a:r>
              <a:t>        "detail": "SSO·문서 접근권한·사건별 서류 묶음",</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"직원 검색 / 이행서류 검토 / 민원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"OCR·규칙 검토",</a:t>
            </a:r>
          </a:p>
          <a:p xmlns:a="http://schemas.openxmlformats.org/drawingml/2006/main">
            <a:r>
              <a:t>        "detail": "OCR/VLM 추출 모듈과 정합성 비교 모듈 분리",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"보증·민원 담당",</a:t>
            </a:r>
          </a:p>
          <a:p xmlns:a="http://schemas.openxmlformats.org/drawingml/2006/main">
            <a:r>
              <a:t>        "detail": "불일치·누락 항목을 원본과 함께 심사자에게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"원본·추출 항목",</a:t>
            </a:r>
          </a:p>
          <a:p xmlns:a="http://schemas.openxmlformats.org/drawingml/2006/main">
            <a:r>
              <a:t>        "detail": "원문 좌표·추출값·문서 판본·승인상태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"사람 확정값과 인식 오류를 품질 개선에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"보증 서류",</a:t>
            </a:r>
          </a:p>
          <a:p xmlns:a="http://schemas.openxmlformats.org/drawingml/2006/main">
            <a:r>
              <a:t>        "input": "SSO·문서 접근권한·사건별 서류 묶음",</a:t>
            </a:r>
          </a:p>
          <a:p xmlns:a="http://schemas.openxmlformats.org/drawingml/2006/main">
            <a:r>
              <a:t>        "process": "원문 좌표·추출값·문서 판본·승인상태 연결",</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"title": "OCR·원본 대조",</a:t>
            </a:r>
          </a:p>
          <a:p xmlns:a="http://schemas.openxmlformats.org/drawingml/2006/main">
            <a:r>
              <a:t>        "input": "보증 원문",</a:t>
            </a:r>
          </a:p>
          <a:p xmlns:a="http://schemas.openxmlformats.org/drawingml/2006/main">
            <a:r>
              <a:t>        "process": "OCR/VLM 추출 모듈과 정합성 비교 모듈 분리",</a:t>
            </a:r>
          </a:p>
          <a:p xmlns:a="http://schemas.openxmlformats.org/drawingml/2006/main">
            <a:r>
              <a:t>        "output": "추출 항목"</a:t>
            </a:r>
          </a:p>
          <a:p xmlns:a="http://schemas.openxmlformats.org/drawingml/2006/main">
            <a:r>
              <a:t>      },</a:t>
            </a:r>
          </a:p>
          <a:p xmlns:a="http://schemas.openxmlformats.org/drawingml/2006/main">
            <a:r>
              <a:t>      {</a:t>
            </a:r>
          </a:p>
          <a:p xmlns:a="http://schemas.openxmlformats.org/drawingml/2006/main">
            <a:r>
              <a:t>        "title": "규칙·누락 검토",</a:t>
            </a:r>
          </a:p>
          <a:p xmlns:a="http://schemas.openxmlformats.org/drawingml/2006/main">
            <a:r>
              <a:t>        "input": "추출 항목",</a:t>
            </a:r>
          </a:p>
          <a:p xmlns:a="http://schemas.openxmlformats.org/drawingml/2006/main">
            <a:r>
              <a:t>        "process": "원본·추출값 대조와 자동 확정 제한",</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"title": "담당자 확정",</a:t>
            </a:r>
          </a:p>
          <a:p xmlns:a="http://schemas.openxmlformats.org/drawingml/2006/main">
            <a:r>
              <a:t>        "input": "누락·불일치",</a:t>
            </a:r>
          </a:p>
          <a:p xmlns:a="http://schemas.openxmlformats.org/drawingml/2006/main">
            <a:r>
              <a:t>        "process":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"한 사건의 신청 서류에서 필수 항목과 문서 간 일치 여부 확인",</a:t>
            </a:r>
          </a:p>
          <a:p xmlns:a="http://schemas.openxmlformats.org/drawingml/2006/main">
            <a:r>
              <a:t>      "exception": "스캔 저화질·서명 누락·주소 불일치·다른 사건 서류",</a:t>
            </a:r>
          </a:p>
          <a:p xmlns:a="http://schemas.openxmlformats.org/drawingml/2006/main">
            <a:r>
              <a:t>      "evidence": "추출값–원본 좌표–불일치 판정–심사자 확정 추적표",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"심사 직원·민원 담당·지식 관리자",</a:t>
            </a:r>
          </a:p>
          <a:p xmlns:a="http://schemas.openxmlformats.org/drawingml/2006/main">
            <a:r>
              <a:t>          "processing": "SSO·문서 접근권한·사건별 서류 묶음",</a:t>
            </a:r>
          </a:p>
          <a:p xmlns:a="http://schemas.openxmlformats.org/drawingml/2006/main">
            <a:r>
              <a:t>          "output": "보증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"원본·추출 항목",</a:t>
            </a:r>
          </a:p>
          <a:p xmlns:a="http://schemas.openxmlformats.org/drawingml/2006/main">
            <a:r>
              <a:t>          "processing": "원문 좌표·추출값·문서 판본·승인상태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"보증 원문",</a:t>
            </a:r>
          </a:p>
          <a:p xmlns:a="http://schemas.openxmlformats.org/drawingml/2006/main">
            <a:r>
              <a:t>          "processing": "OCR/VLM 추출 모듈과 정합성 비교 모듈 분리",</a:t>
            </a:r>
          </a:p>
          <a:p xmlns:a="http://schemas.openxmlformats.org/drawingml/2006/main">
            <a:r>
              <a:t>          "output": "누락·불일치"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"누락·불일치",</a:t>
            </a:r>
          </a:p>
          <a:p xmlns:a="http://schemas.openxmlformats.org/drawingml/2006/main">
            <a:r>
              <a:t>          "processing": "불일치·누락 항목을 원본과 함께 심사자에게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"사람 확정값과 인식 오류를 품질 개선에 반영",</a:t>
            </a:r>
          </a:p>
          <a:p xmlns:a="http://schemas.openxmlformats.org/drawingml/2006/main">
            <a:r>
              <a:t>          "output": "추출값–원본 좌표–불일치 판정–심사자 확정 추적표"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"사람 확정값과 인식 오류를 품질 개선에 반영",</a:t>
            </a:r>
          </a:p>
          <a:p xmlns:a="http://schemas.openxmlformats.org/drawingml/2006/main">
            <a:r>
              <a:t>    "status": "RFP 기반 논리 설계",</a:t>
            </a:r>
          </a:p>
          <a:p xmlns:a="http://schemas.openxmlformats.org/drawingml/2006/main">
            <a:r>
              <a:t>    "basis": "본공고 RFP · SFR-006~008",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"SFR-006~008, PMR-004~005 / Word T026",</a:t>
            </a:r>
          </a:p>
          <a:p xmlns:a="http://schemas.openxmlformats.org/drawingml/2006/main">
            <a:r>
              <a:t>        "url": "https://www.g2b.go.kr/pn/pnp/pnpe/UntyAtchFile/downloadFile.do?bidPbancNo=R26BK01639098&amp;bidPbancOrd=000&amp;fileSeq=3&amp;fileType=&amp;prcmBsneSeCd=03"</a:t>
            </a:r>
          </a:p>
          <a:p xmlns:a="http://schemas.openxmlformats.org/drawingml/2006/main">
            <a:r>
              <a:t>      }</a:t>
            </a:r>
          </a:p>
          <a:p xmlns:a="http://schemas.openxmlformats.org/drawingml/2006/main">
            <a:r>
              <a:t>    ],</a:t>
            </a:r>
          </a:p>
          <a:p xmlns:a="http://schemas.openxmlformats.org/drawingml/2006/main">
            <a:r>
              <a:t>    "implication": "심사 서류의 추출값과 원본 위치를 연결하고 담당자가 최종 판정하는 증거 중심 검토",</a:t>
            </a:r>
          </a:p>
          <a:p xmlns:a="http://schemas.openxmlformats.org/drawingml/2006/main">
            <a:r>
              <a:t>    "local": "심사 서류의 추출값과 원본 위치를 연결하고 담당자가 최종 판정하는 증거 중심 검토",</a:t>
            </a:r>
          </a:p>
          <a:p xmlns:a="http://schemas.openxmlformats.org/drawingml/2006/main">
            <a:r>
              <a:t>    "sourceDetail": "OCR/VLM→추출값·원본 매핑→누락·정합성 비교→사람 확정; 문서 승인·버전·권한별 RAG 분리",</a:t>
            </a:r>
          </a:p>
          <a:p xmlns:a="http://schemas.openxmlformats.org/drawingml/2006/main">
            <a:r>
              <a:t>    "narrative": [</a:t>
            </a:r>
          </a:p>
          <a:p xmlns:a="http://schemas.openxmlformats.org/drawingml/2006/main">
            <a:r>
              <a:t>      "규정 검색, 전세보증 이행서류 심사, 민원 처리의 세 업무를 공통 AI 기반 위에 구성하는 사업. 심사자가 여러 서류의 주소·계약·보증정보를 맞춰 보는 과정과 민원 담당자가 관련 규정·과거 답변을 찾는 과정을 각각 지원하는 범위.",</a:t>
            </a:r>
          </a:p>
          <a:p xmlns:a="http://schemas.openxmlformats.org/drawingml/2006/main">
            <a:r>
              <a:t>      "SFR-007의 핵심은 OCR 도입을 넘어 업무 건별 서류 묶음, 원본 위치와 추출값의 연결, 서류 간 비교, 심사자 수정·승인, 승인값의 후속 전달까지 이어지는 처리 구조. 검색용 청크와 심사용 구조화 항목을 별도 데이터로 관리하는 설계 필요.",</a:t>
            </a:r>
          </a:p>
          <a:p xmlns:a="http://schemas.openxmlformats.org/drawingml/2006/main">
            <a:r>
              <a:t>      "원문 인식률만으로 심사 지원 품질을 평가하기 어려운 구조. 문서 종류별 항목 추출, 다른 서류 간 정합성 판정, 누락 탐지, 사람 확인 후 전달을 단계별로 분리해 비교할 대상. TS 검사·인증 서류에도 사건 ID와 원본 좌표를 유지하는 방식의 적용 가능성."</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"SFR-006",</a:t>
            </a:r>
          </a:p>
          <a:p xmlns:a="http://schemas.openxmlformats.org/drawingml/2006/main">
            <a:r>
              <a:t>        "title": "AI 서비스_직원용 지식검색",</a:t>
            </a:r>
          </a:p>
          <a:p xmlns:a="http://schemas.openxmlformats.org/drawingml/2006/main">
            <a:r>
              <a:t>        "locator": "SFR-006",</a:t>
            </a:r>
          </a:p>
          <a:p xmlns:a="http://schemas.openxmlformats.org/drawingml/2006/main">
            <a:r>
              <a:t>        "summary": "규정·매뉴얼·판례의 구조를 추출하고 키워드·문맥 검색을 결합하는 직원용 지식검색. 승인 문서의 판본·개정일·보안등급 관리와 근거 조항·페이지 제공.",</a:t>
            </a:r>
          </a:p>
          <a:p xmlns:a="http://schemas.openxmlformats.org/drawingml/2006/main">
            <a:r>
              <a:t>        "data": "승인 문서·질의·검색 조건 → 근거 청크·조항·페이지·답변",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"표·각주 포함 문서, 개정·삭제 문서, 다른 보안등급 문서를 투입해 인용 위치·최신성·검색 제외 여부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"fcb9809f74155d757fc4e05a0ba909eee1de897f306e8e7f1cdd6551c6525a6f"</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서비스_전세이행 업무지원",</a:t>
            </a:r>
          </a:p>
          <a:p xmlns:a="http://schemas.openxmlformats.org/drawingml/2006/main">
            <a:r>
              <a:t>        "locator": "SFR-007",</a:t>
            </a:r>
          </a:p>
          <a:p xmlns:a="http://schemas.openxmlformats.org/drawingml/2006/main">
            <a:r>
              <a:t>        "summary": "업무 건별 제출서류 묶음과 OCR/VLM 추출값 관리. 원본 좌표 표시, 필드 수정, 유효기간·누락·서류 간 일치 검사, 심사표 생성, 승인값의 후속 전달.",</a:t>
            </a:r>
          </a:p>
          <a:p xmlns:a="http://schemas.openxmlformats.org/drawingml/2006/main">
            <a:r>
              <a:t>        "data": "사건 ID·서류·원본 좌표 → 항목값·불일치 목록·심사표·승인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"흐린 스캔·다른 주소·누락 서류를 투입해 경고와 원본 위치 확인, 미승인 값의 전달 차단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"425cf0594ef5751da0b20f6a635f6c48577778b07fc85d00329082de815934fc"</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"AI 서비스_지능형 민원처리 시스템",</a:t>
            </a:r>
          </a:p>
          <a:p xmlns:a="http://schemas.openxmlformats.org/drawingml/2006/main">
            <a:r>
              <a:t>        "locator": "SFR-008",</a:t>
            </a:r>
          </a:p>
          <a:p xmlns:a="http://schemas.openxmlformats.org/drawingml/2006/main">
            <a:r>
              <a:t>        "summary": "민원 부서 후보 추천, 유사민원 검색, 답변 초안·요약 제공. 사용자의 부서 선택·답변 확정과 담당 부서의 FAQ 후보 승인.",</a:t>
            </a:r>
          </a:p>
          <a:p xmlns:a="http://schemas.openxmlformats.org/drawingml/2006/main">
            <a:r>
              <a:t>        "data": "민원·지역·업무 유형 → 후보 부서·유사 사례·근거·답변 초안",</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"다부서 민원·유사사례 없음·FAQ 중복 입력 시 후보와 규정 대체 근거, 확정 전후 변경 이력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"8ab0ac34f0143f16766050d69a0283c485e048e2b4d17f33befa947fd660c3aa"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"직원·문서 접점",</a:t>
            </a:r>
          </a:p>
          <a:p xmlns:a="http://schemas.openxmlformats.org/drawingml/2006/main">
            <a:r>
              <a:t>          "layer": "이용 접점",</a:t>
            </a:r>
          </a:p>
          <a:p xmlns:a="http://schemas.openxmlformats.org/drawingml/2006/main">
            <a:r>
              <a:t>          "detail": "심사 직원·민원 담당·지식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"SSO·사건·권한",</a:t>
            </a:r>
          </a:p>
          <a:p xmlns:a="http://schemas.openxmlformats.org/drawingml/2006/main">
            <a:r>
              <a:t>          "layer": "업무 문맥",</a:t>
            </a:r>
          </a:p>
          <a:p xmlns:a="http://schemas.openxmlformats.org/drawingml/2006/main">
            <a:r>
              <a:t>          "detail": "SSO·문서 접근권한·사건별 서류 묶음",</a:t>
            </a:r>
          </a:p>
          <a:p xmlns:a="http://schemas.openxmlformats.org/drawingml/2006/main">
            <a:r>
              <a:t>          "requirements": [</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"문서·규정 조회",</a:t>
            </a:r>
          </a:p>
          <a:p xmlns:a="http://schemas.openxmlformats.org/drawingml/2006/main">
            <a:r>
              <a:t>          "layer": "자료 조회",</a:t>
            </a:r>
          </a:p>
          <a:p xmlns:a="http://schemas.openxmlformats.org/drawingml/2006/main">
            <a:r>
              <a:t>          "detail": "보증 원문",</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"OCR·VLM 추출",</a:t>
            </a:r>
          </a:p>
          <a:p xmlns:a="http://schemas.openxmlformats.org/drawingml/2006/main">
            <a:r>
              <a:t>          "layer": "핵심 처리",</a:t>
            </a:r>
          </a:p>
          <a:p xmlns:a="http://schemas.openxmlformats.org/drawingml/2006/main">
            <a:r>
              <a:t>          "detail": "OCR/VLM 추출 모듈과 정합성 비교 모듈 분리",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"누락·정합성 비교",</a:t>
            </a:r>
          </a:p>
          <a:p xmlns:a="http://schemas.openxmlformats.org/drawingml/2006/main">
            <a:r>
              <a:t>          "layer": "결과 검증",</a:t>
            </a:r>
          </a:p>
          <a:p xmlns:a="http://schemas.openxmlformats.org/drawingml/2006/main">
            <a:r>
              <a:t>          "detail": "원본·추출값 대조와 자동 확정 제한",</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"원본·값 사람 확인",</a:t>
            </a:r>
          </a:p>
          <a:p xmlns:a="http://schemas.openxmlformats.org/drawingml/2006/main">
            <a:r>
              <a:t>          "layer": "사람 확인",</a:t>
            </a:r>
          </a:p>
          <a:p xmlns:a="http://schemas.openxmlformats.org/drawingml/2006/main">
            <a:r>
              <a:t>          "detail": "한 사건의 신청 서류에서 필수 항목과 문서 간 일치 여부 확인",</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"심사·민원 초안",</a:t>
            </a:r>
          </a:p>
          <a:p xmlns:a="http://schemas.openxmlformats.org/drawingml/2006/main">
            <a:r>
              <a:t>          "layer": "업무 연결",</a:t>
            </a:r>
          </a:p>
          <a:p xmlns:a="http://schemas.openxmlformats.org/drawingml/2006/main">
            <a:r>
              <a:t>          "detail": "불일치·누락 항목을 원본과 함께 심사자에게 제공",</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"항목별 오류 평가",</a:t>
            </a:r>
          </a:p>
          <a:p xmlns:a="http://schemas.openxmlformats.org/drawingml/2006/main">
            <a:r>
              <a:t>          "layer": "운영 관측",</a:t>
            </a:r>
          </a:p>
          <a:p xmlns:a="http://schemas.openxmlformats.org/drawingml/2006/main">
            <a:r>
              <a:t>          "detail": "사람 확정값과 인식 오류를 품질 개선에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"이행서류·규정",</a:t>
            </a:r>
          </a:p>
          <a:p xmlns:a="http://schemas.openxmlformats.org/drawingml/2006/main">
            <a:r>
              <a:t>          "layer": "데이터 원천",</a:t>
            </a:r>
          </a:p>
          <a:p xmlns:a="http://schemas.openxmlformats.org/drawingml/2006/main">
            <a:r>
              <a:t>          "detail": "원본·추출 항목",</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"좌표·판본·승인태그",</a:t>
            </a:r>
          </a:p>
          <a:p xmlns:a="http://schemas.openxmlformats.org/drawingml/2006/main">
            <a:r>
              <a:t>          "layer": "준비·갱신",</a:t>
            </a:r>
          </a:p>
          <a:p xmlns:a="http://schemas.openxmlformats.org/drawingml/2006/main">
            <a:r>
              <a:t>          "detail": "원문 좌표·추출값·문서 판본·승인상태 연결",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"원본·추출값·색인",</a:t>
            </a:r>
          </a:p>
          <a:p xmlns:a="http://schemas.openxmlformats.org/drawingml/2006/main">
            <a:r>
              <a:t>          "layer": "상태·지식 저장",</a:t>
            </a:r>
          </a:p>
          <a:p xmlns:a="http://schemas.openxmlformats.org/drawingml/2006/main">
            <a:r>
              <a:t>          "detail": "추출값–원본 좌표–불일치 판정–심사자 확정 추적표",</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"문서별 접근정책",</a:t>
            </a:r>
          </a:p>
          <a:p xmlns:a="http://schemas.openxmlformats.org/drawingml/2006/main">
            <a:r>
              <a:t>          "layer": "권한·정책",</a:t>
            </a:r>
          </a:p>
          <a:p xmlns:a="http://schemas.openxmlformats.org/drawingml/2006/main">
            <a:r>
              <a:t>          "detail": "스캔 저화질·서명 누락·주소 불일치·다른 사건 서류",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"보증 서류 → OCR·원본 대조 → 규칙·누락 검토 → 담당자 확정"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"원본·추출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"추출 항목",</a:t>
            </a:r>
          </a:p>
          <a:p xmlns:a="http://schemas.openxmlformats.org/drawingml/2006/main">
            <a:r>
              <a:t>          "check": "원문 좌표·추출값·문서 판본·승인상태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"누락·불일치",</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"검토 결과",</a:t>
            </a:r>
          </a:p>
          <a:p xmlns:a="http://schemas.openxmlformats.org/drawingml/2006/main">
            <a:r>
              <a:t>          "check": "추출값–원본 좌표–불일치 판정–심사자 확정 추적표"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"SFR-006~008",</a:t>
            </a:r>
          </a:p>
          <a:p xmlns:a="http://schemas.openxmlformats.org/drawingml/2006/main">
            <a:r>
              <a:t>        "extracted": "OCR/VLM 항목 추출과 문서 정합성 비교의 분리",</a:t>
            </a:r>
          </a:p>
          <a:p xmlns:a="http://schemas.openxmlformats.org/drawingml/2006/main">
            <a:r>
              <a:t>        "extension": "문서 좌표·추출값과 심사 확정값의 별도 보존"</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"PF-R01",</a:t>
            </a:r>
          </a:p>
          <a:p xmlns:a="http://schemas.openxmlformats.org/drawingml/2006/main">
            <a:r>
              <a:t>          "path": "assets/casebook-sources/PF-R01-01.png",</a:t>
            </a:r>
          </a:p>
          <a:p xmlns:a="http://schemas.openxmlformats.org/drawingml/2006/main">
            <a:r>
              <a:t>          "title": "HUG AI 인프라·업무시스템 연계",</a:t>
            </a:r>
          </a:p>
          <a:p xmlns:a="http://schemas.openxmlformats.org/drawingml/2006/main">
            <a:r>
              <a:t>          "status": "RFP 목표 구성도",</a:t>
            </a:r>
          </a:p>
          <a:p xmlns:a="http://schemas.openxmlformats.org/drawingml/2006/main">
            <a:r>
              <a:t>          "caption": "통합 클라우드·GPU Kubernetes·AI 웹서비스·그룹웨어 연계",</a:t>
            </a:r>
          </a:p>
          <a:p xmlns:a="http://schemas.openxmlformats.org/drawingml/2006/main">
            <a:r>
              <a:t>          "locator": "rId10 / BinData/image4_jpg",</a:t>
            </a:r>
          </a:p>
          <a:p xmlns:a="http://schemas.openxmlformats.org/drawingml/2006/main">
            <a:r>
              <a:t>          "checked": "2026-10-16",</a:t>
            </a:r>
          </a:p>
          <a:p xmlns:a="http://schemas.openxmlformats.org/drawingml/2006/main">
            <a:r>
              <a:t>          "sha256": "435b1f344867be6beab5f24852d1c79cba1e48a9361c9e0976f78dab55a1e9c9",</a:t>
            </a:r>
          </a:p>
          <a:p xmlns:a="http://schemas.openxmlformats.org/drawingml/2006/main">
            <a:r>
              <a:t>          "explanation": {</a:t>
            </a:r>
          </a:p>
          <a:p xmlns:a="http://schemas.openxmlformats.org/drawingml/2006/main">
            <a:r>
              <a:t>            "read": "클라우드·GPU Kubernetes는 AI 처리 자원, 웹서비스는 직원 접점, 그룹웨어는 기존 업무와의 연결 영역. 인프라 블록만으로 문서 심사 승인 절차까지 구현됐다고 해석하지 않는 구조.",</a:t>
            </a:r>
          </a:p>
          <a:p xmlns:a="http://schemas.openxmlformats.org/drawingml/2006/main">
            <a:r>
              <a:t>            "requirements": [</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"문서 반입·검색·추출은 공통 자원을 사용하되 지식검색, 보증이행 심사, 민원답변의 결과 저장·승인 경로는 각각 분리하는 CCK 재구성."</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"스캔 저화질·서명 누락·주소 불일치·다른 사건 서류",</a:t>
            </a:r>
          </a:p>
          <a:p xmlns:a="http://schemas.openxmlformats.org/drawingml/2006/main">
            <a:r>
              <a:t>        "hold": "원본·추출값 대조와 자동 확정 제한",</a:t>
            </a:r>
          </a:p>
          <a:p xmlns:a="http://schemas.openxmlformats.org/drawingml/2006/main">
            <a:r>
              <a:t>        "recovery": "사람 확정값과 인식 오류를 품질 개선에 반영",</a:t>
            </a:r>
          </a:p>
          <a:p xmlns:a="http://schemas.openxmlformats.org/drawingml/2006/main">
            <a:r>
              <a:t>        "evidence": "추출값–원본 좌표–불일치 판정–심사자 확정 추적표"</a:t>
            </a:r>
          </a:p>
          <a:p xmlns:a="http://schemas.openxmlformats.org/drawingml/2006/main">
            <a:r>
              <a:t>      },</a:t>
            </a:r>
          </a:p>
          <a:p xmlns:a="http://schemas.openxmlformats.org/drawingml/2006/main">
            <a:r>
              <a:t>      "data": {</a:t>
            </a:r>
          </a:p>
          <a:p xmlns:a="http://schemas.openxmlformats.org/drawingml/2006/main">
            <a:r>
              <a:t>        "source": "원본·추출 항목",</a:t>
            </a:r>
          </a:p>
          <a:p xmlns:a="http://schemas.openxmlformats.org/drawingml/2006/main">
            <a:r>
              <a:t>        "prepare": "원문 좌표·추출값·문서 판본·승인상태 연결",</a:t>
            </a:r>
          </a:p>
          <a:p xmlns:a="http://schemas.openxmlformats.org/drawingml/2006/main">
            <a:r>
              <a:t>        "output": "보증 원문",</a:t>
            </a:r>
          </a:p>
          <a:p xmlns:a="http://schemas.openxmlformats.org/drawingml/2006/main">
            <a:r>
              <a:t>        "refresh": "사람 확정값과 인식 오류를 품질 개선에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"PF-R01",</a:t>
            </a:r>
          </a:p>
          <a:p xmlns:a="http://schemas.openxmlformats.org/drawingml/2006/main">
            <a:r>
              <a:t>    "success": [</a:t>
            </a:r>
          </a:p>
          <a:p xmlns:a="http://schemas.openxmlformats.org/drawingml/2006/main">
            <a:r>
              <a:t>      "보증서류와 검토 규칙의 연결",</a:t>
            </a:r>
          </a:p>
          <a:p xmlns:a="http://schemas.openxmlformats.org/drawingml/2006/main">
            <a:r>
              <a:t>      "검색·민원 지원의 공통 기반 활용"</a:t>
            </a:r>
          </a:p>
          <a:p xmlns:a="http://schemas.openxmlformats.org/drawingml/2006/main">
            <a:r>
              <a:t>    ],</a:t>
            </a:r>
          </a:p>
          <a:p xmlns:a="http://schemas.openxmlformats.org/drawingml/2006/main">
            <a:r>
              <a:t>    "risks": [</a:t>
            </a:r>
          </a:p>
          <a:p xmlns:a="http://schemas.openxmlformats.org/drawingml/2006/main">
            <a:r>
              <a:t>      "OCR 오독에 따른 누락 판단",</a:t>
            </a:r>
          </a:p>
          <a:p xmlns:a="http://schemas.openxmlformats.org/drawingml/2006/main">
            <a:r>
              <a:t>      "요구 명세와 운영 효과의 혼동"</a:t>
            </a:r>
          </a:p>
          <a:p xmlns:a="http://schemas.openxmlformats.org/drawingml/2006/main">
            <a:r>
              <a:t>    ],</a:t>
            </a:r>
          </a:p>
          <a:p xmlns:a="http://schemas.openxmlformats.org/drawingml/2006/main">
            <a:r>
              <a:t>    "architecture": [</a:t>
            </a:r>
          </a:p>
          <a:p xmlns:a="http://schemas.openxmlformats.org/drawingml/2006/main">
            <a:r>
              <a:t>      "보증 문서 접수",</a:t>
            </a:r>
          </a:p>
          <a:p xmlns:a="http://schemas.openxmlformats.org/drawingml/2006/main">
            <a:r>
              <a:t>      "OCR·규칙 검토",</a:t>
            </a:r>
          </a:p>
          <a:p xmlns:a="http://schemas.openxmlformats.org/drawingml/2006/main">
            <a:r>
              <a:t>      "원본·추출 항목",</a:t>
            </a:r>
          </a:p>
          <a:p xmlns:a="http://schemas.openxmlformats.org/drawingml/2006/main">
            <a:r>
              <a:t>      "보증·민원 담당"</a:t>
            </a:r>
          </a:p>
          <a:p xmlns:a="http://schemas.openxmlformats.org/drawingml/2006/main">
            <a:r>
              <a:t>    ],</a:t>
            </a:r>
          </a:p>
          <a:p xmlns:a="http://schemas.openxmlformats.org/drawingml/2006/main">
            <a:r>
              <a:t>    "transfers": [</a:t>
            </a:r>
          </a:p>
          <a:p xmlns:a="http://schemas.openxmlformats.org/drawingml/2006/main">
            <a:r>
              <a:t>      "보증 원문",</a:t>
            </a:r>
          </a:p>
          <a:p xmlns:a="http://schemas.openxmlformats.org/drawingml/2006/main">
            <a:r>
              <a:t>      "추출 항목",</a:t>
            </a:r>
          </a:p>
          <a:p xmlns:a="http://schemas.openxmlformats.org/drawingml/2006/main">
            <a:r>
              <a:t>      "누락·불일치",</a:t>
            </a:r>
          </a:p>
          <a:p xmlns:a="http://schemas.openxmlformats.org/drawingml/2006/main">
            <a:r>
              <a:t>      "검토 결과"</a:t>
            </a:r>
          </a:p>
          <a:p xmlns:a="http://schemas.openxmlformats.org/drawingml/2006/main">
            <a:r>
              <a:t>    ],</a:t>
            </a:r>
          </a:p>
          <a:p xmlns:a="http://schemas.openxmlformats.org/drawingml/2006/main">
            <a:r>
              <a:t>    "control": "원본·추출값 대조와 자동 확정 제한",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SFR-006~008, PMR-004~005 / Word T026 https://www.g2b.go.kr/pn/pnp/pnpe/UntyAtchFile/downloadFile.do?bidPbancNo=R26BK01639098&amp;bidPbancOrd=000&amp;fileSeq=3&amp;fileType=&amp;prcmBsneSeCd=03</a:t>
            </a:r>
          </a:p>
          <a:p xmlns:a="http://schemas.openxmlformats.org/drawingml/2006/main">
            <a:r>
              <a:t>홈페이지 https://heen1987-ops.github.io/TS-business-Plan-001/index.html?view=platform-cases&amp;case=PF-R01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한계: 추천답변 도출시간·배정 처리시간·최종 답변 처리시간의 정의와 분모를 구분해야 함</a:t>
            </a:r>
          </a:p>
          <a:p xmlns:a="http://schemas.openxmlformats.org/drawingml/2006/main">
            <a:r>
              <a:t>실패 위험: 다른 사건의 무리한 병합 / 답변 추천을 공식 회신으로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{"caseId":"PF-R02","path":"assets/casebook-sources/PF-R02-01.png","title":"국민소통 플랫폼 목표시스템","status":"RFP 목표시스템 개념도","caption":"접점·API Gateway·업무 모듈·데이터 처리·운영 관리","locator":"NIA_RFP_RFP / BinData/image33_bmp","checked":"2026-10-16","sha256":"91feb890184edf04ccccd8d86995147aa6c2181b0a66c58436263cafccdae911","explanation":{"read":"접점에서 받은 요청을 API Gateway를 통해 민원 답변·분석·중복 식별 모듈로 전달하는 목표 구성. 데이터 처리 계층은 공통 근거를 공급하고 운영 관리 계층은 서비스·모델 상태를 관찰하는 역할.","requirements":["SFR-005","SFR-006","SFR-019","SFR-020"],"connection":"담당자 답변 초안, 유사민원 후보, 정책 분석 결과를 서로 다른 출력 계약으로 정의하고 기존 민원시스템의 확정·회신 절차에 연결하는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{"caseId":"PF-R02","path":"assets/casebook-sources/PF-R02-02.png","title":"키워드·벡터 검색과 Reranker","status":"RFP RAG 구성 예시","caption":"키워드/벡터 검색 병렬 처리 → 재정렬 → 근거 응답","locator":"NIA_RFP_RFP / BinData/image18_bmp","checked":"2026-10-16","sha256":"a6ab4248256ee300422789627dbe5b8f09ec60657419e13d082c95b32f3f4f90","explanation":{"read":"키워드 검색은 정확한 용어·조항의 일치 후보, 벡터 검색은 표현이 다른 유사 의미 후보를 제공. Reranker는 통합 후보를 질의 관련성에 따라 다시 정렬하고 생성 모델에 근거를 전달하는 역할.","requirements":["SFR-005","SFR-006","SFR-011"],"connection":"재정렬 점수를 법적 정답이나 민원 병합 승인으로 해석하지 않고 기관·사건·시점과 출처 일치를 별도로 확인하는 검증 단계의 추가."}}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{"caseId":"PF-R02","path":"assets/casebook-sources/PF-R02-03.png","title":"민원 AI 입출력 데이터","status":"RFP 데이터 흐름도","caption":"국민신문고·시범기관 매뉴얼 → 전처리·RAG → 답변·유사도","locator":"NIA_RFP_RFP / BinData/image34_bmp","checked":"2026-10-16","sha256":"0e09409295bbb0aae0a61666cf01982d012392b3f4bccd2e98499654b4b690d0","explanation":{"read":"국민신문고 데이터와 시범기관 매뉴얼 등 입력을 전처리·RAG 경로에 투입하고 업무별 답변·유사도 결과로 변환하는 입출력 구조. 동일 원천을 이용하더라도 답변과 군집의 산출물은 별도 관리 대상.","requirements":["SFR-005","SFR-006","SFR-015","SFR-018"],"connection":"원천 민원 ID·문서 판본·근거 위치를 결과에 유지해 담당자 수정과 최종 회신의 차이를 재현할 수 있도록 하는 데이터 계약."}}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a:p xmlns:a="http://schemas.openxmlformats.org/drawingml/2006/main">
            <a:r>
              <a:t>원문 도면 {"caseId":"PF-R02","path":"assets/casebook-sources/PF-R02-04.png","title":"데이터 구축·학습·운영 흐름","status":"RFP 데이터 처리 구조","caption":"수집·정제·가공·학습·운영의 환류","locator":"NIA_RFP_RFP / BinData/image32_png","checked":"2026-10-16","sha256":"b6c466b110d91bceff5a9f806d658aa54f010e0a5b8a358a16771181bea77c50","explanation":{"read":"수집·정제·가공·학습·운영이 연결된 데이터 생애주기. 온라인 요청 처리와 모델·지식 갱신의 작업이 서로 다른 주기로 수행되는 구성.","requirements":["SFR-015","SFR-018","SFR-020"],"connection":"원천 변경 시 수집 완료·정제 완료·색인 반영 상태를 분리하고 실패 자료만 재처리하는 운영 설계. 검토 피드백의 자동 학습 투입 전 품질 확인 단계 필요."}}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"PF-R02",</a:t>
            </a:r>
          </a:p>
          <a:p xmlns:a="http://schemas.openxmlformats.org/drawingml/2006/main">
            <a:r>
              <a:t>    "sourceId": "R02",</a:t>
            </a:r>
          </a:p>
          <a:p xmlns:a="http://schemas.openxmlformats.org/drawingml/2006/main">
            <a:r>
              <a:t>    "title": "국민권익위 민원 AI",</a:t>
            </a:r>
          </a:p>
          <a:p xmlns:a="http://schemas.openxmlformats.org/drawingml/2006/main">
            <a:r>
              <a:t>    "region": "국내",</a:t>
            </a:r>
          </a:p>
          <a:p xmlns:a="http://schemas.openxmlformats.org/drawingml/2006/main">
            <a:r>
              <a:t>    "owner": "국민권익위원회·NIA",</a:t>
            </a:r>
          </a:p>
          <a:p xmlns:a="http://schemas.openxmlformats.org/drawingml/2006/main">
            <a:r>
              <a:t>    "state": "공식 서비스 개시 확인(2026-02-05)",</a:t>
            </a:r>
          </a:p>
          <a:p xmlns:a="http://schemas.openxmlformats.org/drawingml/2006/main">
            <a:r>
              <a:t>    "period": "기존 원장 확인 2026.10.16",</a:t>
            </a:r>
          </a:p>
          <a:p xmlns:a="http://schemas.openxmlformats.org/drawingml/2006/main">
            <a:r>
              <a:t>    "fact": "민원답변 추천·빈발중복민원 병합·의미 기반 민원 분석",</a:t>
            </a:r>
          </a:p>
          <a:p xmlns:a="http://schemas.openxmlformats.org/drawingml/2006/main">
            <a:r>
              <a:t>    "limit": "추천답변 도출시간·배정 처리시간·최종 답변 처리시간의 정의와 분모를 구분해야 함",</a:t>
            </a:r>
          </a:p>
          <a:p xmlns:a="http://schemas.openxmlformats.org/drawingml/2006/main">
            <a:r>
              <a:t>    "nodes": [</a:t>
            </a:r>
          </a:p>
          <a:p xmlns:a="http://schemas.openxmlformats.org/drawingml/2006/main">
            <a:r>
              <a:t>      "국민신문고",</a:t>
            </a:r>
          </a:p>
          <a:p xmlns:a="http://schemas.openxmlformats.org/drawingml/2006/main">
            <a:r>
              <a:t>      "분류·유사민원",</a:t>
            </a:r>
          </a:p>
          <a:p xmlns:a="http://schemas.openxmlformats.org/drawingml/2006/main">
            <a:r>
              <a:t>      "답변 추천",</a:t>
            </a:r>
          </a:p>
          <a:p xmlns:a="http://schemas.openxmlformats.org/drawingml/2006/main">
            <a:r>
              <a:t>      "현업 수정"</a:t>
            </a:r>
          </a:p>
          <a:p xmlns:a="http://schemas.openxmlformats.org/drawingml/2006/main">
            <a:r>
              <a:t>    ],</a:t>
            </a:r>
          </a:p>
          <a:p xmlns:a="http://schemas.openxmlformats.org/drawingml/2006/main">
            <a:r>
              <a:t>    "apply": "유사 문구와 동일 사건을 구분하는 민원 분류 및 소관부서별 답변 검토",</a:t>
            </a:r>
          </a:p>
          <a:p xmlns:a="http://schemas.openxmlformats.org/drawingml/2006/main">
            <a:r>
              <a:t>    "delta": "민원 사건·기관·업무 분류 / 유사군 검토 UI / 현업 수정 이력",</a:t>
            </a:r>
          </a:p>
          <a:p xmlns:a="http://schemas.openxmlformats.org/drawingml/2006/main">
            <a:r>
              <a:t>    "test": "같은 표현의 다른 사건·반대 취지 민원에 대한 오병합·답변 오류 측정",</a:t>
            </a:r>
          </a:p>
          <a:p xmlns:a="http://schemas.openxmlformats.org/drawingml/2006/main">
            <a:r>
              <a:t>    "url": "https://www.nia.or.kr/common/board/Download.do?bcIdx=28233&amp;cbIdx=78336&amp;fileNo=2",</a:t>
            </a:r>
          </a:p>
          <a:p xmlns:a="http://schemas.openxmlformats.org/drawingml/2006/main">
            <a:r>
              <a:t>    "urls": [</a:t>
            </a:r>
          </a:p>
          <a:p xmlns:a="http://schemas.openxmlformats.org/drawingml/2006/main">
            <a:r>
              <a:t>      "https://www.nia.or.kr/common/board/Download.do?bcIdx=28233&amp;cbIdx=78336&amp;fileNo=2",</a:t>
            </a:r>
          </a:p>
          <a:p xmlns:a="http://schemas.openxmlformats.org/drawingml/2006/main">
            <a:r>
              <a:t>      "https://www.acrc.go.kr/board.es?act=view&amp;bid=ACH&amp;list_no=106584&amp;mid=a10403070000&amp;nPage=1"</a:t>
            </a:r>
          </a:p>
          <a:p xmlns:a="http://schemas.openxmlformats.org/drawingml/2006/main">
            <a:r>
              <a:t>    ],</a:t>
            </a:r>
          </a:p>
          <a:p xmlns:a="http://schemas.openxmlformats.org/drawingml/2006/main">
            <a:r>
              <a:t>    "basis": "추진계획·성과지표, 기능 요구사항 / Word T035",</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"민원 분류 정확도 / 오병합률 / 최종 답변 작성시간",</a:t>
            </a:r>
          </a:p>
          <a:p xmlns:a="http://schemas.openxmlformats.org/drawingml/2006/main">
            <a:r>
              <a:t>    "group": "요구·구축",</a:t>
            </a:r>
          </a:p>
          <a:p xmlns:a="http://schemas.openxmlformats.org/drawingml/2006/main">
            <a:r>
              <a:t>    "sourceDetail": "국민신문고/민원정보분석 연계, RAG·요약·유사도 군집, 현업 수정 및 시범기관 확산",</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"PF-R02",</a:t>
            </a:r>
          </a:p>
          <a:p xmlns:a="http://schemas.openxmlformats.org/drawingml/2006/main">
            <a:r>
              <a:t>    "canonicalId": "PF-R02",</a:t>
            </a:r>
          </a:p>
          <a:p xmlns:a="http://schemas.openxmlformats.org/drawingml/2006/main">
            <a:r>
              <a:t>    "purpose": "민원답변 추천과 빈발·중복민원 분석",</a:t>
            </a:r>
          </a:p>
          <a:p xmlns:a="http://schemas.openxmlformats.org/drawingml/2006/main">
            <a:r>
              <a:t>    "users": "민원 처리자·정책 분석자",</a:t>
            </a:r>
          </a:p>
          <a:p xmlns:a="http://schemas.openxmlformats.org/drawingml/2006/main">
            <a:r>
              <a:t>    "scope": [</a:t>
            </a:r>
          </a:p>
          <a:p xmlns:a="http://schemas.openxmlformats.org/drawingml/2006/main">
            <a:r>
              <a:t>      "답변 초안",</a:t>
            </a:r>
          </a:p>
          <a:p xmlns:a="http://schemas.openxmlformats.org/drawingml/2006/main">
            <a:r>
              <a:t>      "유사민원 병합",</a:t>
            </a:r>
          </a:p>
          <a:p xmlns:a="http://schemas.openxmlformats.org/drawingml/2006/main">
            <a:r>
              <a:t>      "의미 분석"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"국민신문고",</a:t>
            </a:r>
          </a:p>
          <a:p xmlns:a="http://schemas.openxmlformats.org/drawingml/2006/main">
            <a:r>
              <a:t>        "detail": "민원요지·유형·처리기관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"답변 초안 / 유사민원 병합 / 의미 분석",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"분류·답변 추천",</a:t>
            </a:r>
          </a:p>
          <a:p xmlns:a="http://schemas.openxmlformats.org/drawingml/2006/main">
            <a:r>
              <a:t>        "detail": "RAG 답변 추천과 의미 유사도 군집",</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 담당",</a:t>
            </a:r>
          </a:p>
          <a:p xmlns:a="http://schemas.openxmlformats.org/drawingml/2006/main">
            <a:r>
              <a:t>        "detail": "담당자의 군집·초안 수정 후 민원 처리",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"민원·답변 자료",</a:t>
            </a:r>
          </a:p>
          <a:p xmlns:a="http://schemas.openxmlformats.org/drawingml/2006/main">
            <a:r>
              <a:t>        "detail": "국민신문고·민원정보분석 자료의 연계·정제",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"기관별 답변 적합성과 병합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"국민신문고",</a:t>
            </a:r>
          </a:p>
          <a:p xmlns:a="http://schemas.openxmlformats.org/drawingml/2006/main">
            <a:r>
              <a:t>        "input": "민원요지·유형·처리기관 문맥 구성",</a:t>
            </a:r>
          </a:p>
          <a:p xmlns:a="http://schemas.openxmlformats.org/drawingml/2006/main">
            <a:r>
              <a:t>        "process": "국민신문고·민원정보분석 자료의 연계·정제",</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"title": "분류·유사민원",</a:t>
            </a:r>
          </a:p>
          <a:p xmlns:a="http://schemas.openxmlformats.org/drawingml/2006/main">
            <a:r>
              <a:t>        "input": "민원 본문",</a:t>
            </a:r>
          </a:p>
          <a:p xmlns:a="http://schemas.openxmlformats.org/drawingml/2006/main">
            <a:r>
              <a:t>        "process": "RAG 답변 추천과 의미 유사도 군집",</a:t>
            </a:r>
          </a:p>
          <a:p xmlns:a="http://schemas.openxmlformats.org/drawingml/2006/main">
            <a:r>
              <a:t>        "output": "유사 사건"</a:t>
            </a:r>
          </a:p>
          <a:p xmlns:a="http://schemas.openxmlformats.org/drawingml/2006/main">
            <a:r>
              <a:t>      },</a:t>
            </a:r>
          </a:p>
          <a:p xmlns:a="http://schemas.openxmlformats.org/drawingml/2006/main">
            <a:r>
              <a:t>      {</a:t>
            </a:r>
          </a:p>
          <a:p xmlns:a="http://schemas.openxmlformats.org/drawingml/2006/main">
            <a:r>
              <a:t>        "title": "답변 추천",</a:t>
            </a:r>
          </a:p>
          <a:p xmlns:a="http://schemas.openxmlformats.org/drawingml/2006/main">
            <a:r>
              <a:t>        "input": "유사 사건",</a:t>
            </a:r>
          </a:p>
          <a:p xmlns:a="http://schemas.openxmlformats.org/drawingml/2006/main">
            <a:r>
              <a:t>        "process": "동일 사건 여부·개인정보 범위 검토",</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"title": "현업 수정",</a:t>
            </a:r>
          </a:p>
          <a:p xmlns:a="http://schemas.openxmlformats.org/drawingml/2006/main">
            <a:r>
              <a:t>        "input": "추천 답변",</a:t>
            </a:r>
          </a:p>
          <a:p xmlns:a="http://schemas.openxmlformats.org/drawingml/2006/main">
            <a:r>
              <a:t>        "process":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사안의 반복 민원을 묶고 기관별 답변 초안 제시",</a:t>
            </a:r>
          </a:p>
          <a:p xmlns:a="http://schemas.openxmlformats.org/drawingml/2006/main">
            <a:r>
              <a:t>      "exception": "표현이 같은 다른 사건·소관기관 차이·반대 취지",</a:t>
            </a:r>
          </a:p>
          <a:p xmlns:a="http://schemas.openxmlformats.org/drawingml/2006/main">
            <a:r>
              <a:t>      "evidence": "군집 정답표·잘못된 병합 건·담당자 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 처리자·정책 분석자",</a:t>
            </a:r>
          </a:p>
          <a:p xmlns:a="http://schemas.openxmlformats.org/drawingml/2006/main">
            <a:r>
              <a:t>          "processing": "민원요지·유형·처리기관 문맥 구성",</a:t>
            </a:r>
          </a:p>
          <a:p xmlns:a="http://schemas.openxmlformats.org/drawingml/2006/main">
            <a:r>
              <a:t>          "output": "민원 본문"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"민원·답변 자료",</a:t>
            </a:r>
          </a:p>
          <a:p xmlns:a="http://schemas.openxmlformats.org/drawingml/2006/main">
            <a:r>
              <a:t>          "processing": "국민신문고·민원정보분석 자료의 연계·정제",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"민원 본문",</a:t>
            </a:r>
          </a:p>
          <a:p xmlns:a="http://schemas.openxmlformats.org/drawingml/2006/main">
            <a:r>
              <a:t>          "processing": "RAG 답변 추천과 의미 유사도 군집",</a:t>
            </a:r>
          </a:p>
          <a:p xmlns:a="http://schemas.openxmlformats.org/drawingml/2006/main">
            <a:r>
              <a:t>          "output": "추천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"추천 답변",</a:t>
            </a:r>
          </a:p>
          <a:p xmlns:a="http://schemas.openxmlformats.org/drawingml/2006/main">
            <a:r>
              <a:t>          "processing": "담당자의 군집·초안 수정 후 민원 처리",</a:t>
            </a:r>
          </a:p>
          <a:p xmlns:a="http://schemas.openxmlformats.org/drawingml/2006/main">
            <a:r>
              <a:t>          "output": "수정·회신"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"기관별 답변 적합성과 병합 오류 분석",</a:t>
            </a:r>
          </a:p>
          <a:p xmlns:a="http://schemas.openxmlformats.org/drawingml/2006/main">
            <a:r>
              <a:t>          "output": "군집 정답표·잘못된 병합 건·담당자 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"기관별 답변 적합성과 병합 오류 분석",</a:t>
            </a:r>
          </a:p>
          <a:p xmlns:a="http://schemas.openxmlformats.org/drawingml/2006/main">
            <a:r>
              <a:t>    "status": "RFP 기반 논리 설계",</a:t>
            </a:r>
          </a:p>
          <a:p xmlns:a="http://schemas.openxmlformats.org/drawingml/2006/main">
            <a:r>
              <a:t>    "basis": "본공고 RFP · 사업계획·민원답변 작성지원·빈발중복민원",</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"추진계획·성과지표, 기능 요구사항 / Word T035",</a:t>
            </a:r>
          </a:p>
          <a:p xmlns:a="http://schemas.openxmlformats.org/drawingml/2006/main">
            <a:r>
              <a:t>        "url": "https://www.nia.or.kr/common/board/Download.do?bcIdx=28233&amp;cbIdx=78336&amp;fileNo=2"</a:t>
            </a:r>
          </a:p>
          <a:p xmlns:a="http://schemas.openxmlformats.org/drawingml/2006/main">
            <a:r>
              <a:t>      }</a:t>
            </a:r>
          </a:p>
          <a:p xmlns:a="http://schemas.openxmlformats.org/drawingml/2006/main">
            <a:r>
              <a:t>    ],</a:t>
            </a:r>
          </a:p>
          <a:p xmlns:a="http://schemas.openxmlformats.org/drawingml/2006/main">
            <a:r>
              <a:t>    "implication": "유사 문구와 동일 사건을 구분하는 민원 분류 및 소관부서별 답변 검토",</a:t>
            </a:r>
          </a:p>
          <a:p xmlns:a="http://schemas.openxmlformats.org/drawingml/2006/main">
            <a:r>
              <a:t>    "local": "유사 문구와 동일 사건을 구분하는 민원 분류 및 소관부서별 답변 검토",</a:t>
            </a:r>
          </a:p>
          <a:p xmlns:a="http://schemas.openxmlformats.org/drawingml/2006/main">
            <a:r>
              <a:t>    "sourceDetail": "국민신문고/민원정보분석 연계, RAG·요약·유사도 군집, 현업 수정 및 시범기관 확산",</a:t>
            </a:r>
          </a:p>
          <a:p xmlns:a="http://schemas.openxmlformats.org/drawingml/2006/main">
            <a:r>
              <a:t>    "narrative": [</a:t>
            </a:r>
          </a:p>
          <a:p xmlns:a="http://schemas.openxmlformats.org/drawingml/2006/main">
            <a:r>
              <a:t>      "국민신문고의 접수·처리와 민원정보분석 업무를 연결하는 AI 고도화. 담당자의 답변 초안 작성과 유사민원 식별, 정책 분석자의 의미 기반 이슈 탐색을 서로 다른 업무 결과로 구분하는 사업.",</a:t>
            </a:r>
          </a:p>
          <a:p xmlns:a="http://schemas.openxmlformats.org/drawingml/2006/main">
            <a:r>
              <a:t>      "원문 목표 구성도는 기존 포털·DB, API Gateway, 답변·분석·중복 검색 모듈, 데이터 처리 계층, 운영 관리 계층으로 구성. OCR·메타정보 추출 후 키워드·벡터 검색을 병렬 수행하고, 재정렬된 근거를 업무 모듈에 전달하는 구조. 서비스 화면과 모델 운영의 별도 책임 분리가 핵심.",</a:t>
            </a:r>
          </a:p>
          <a:p xmlns:a="http://schemas.openxmlformats.org/drawingml/2006/main">
            <a:r>
              <a:t>      "표현이 비슷하다는 이유만으로 같은 사건으로 병합하면 이의·반대 민원의 취지 소실 가능성. CCK 비교시험에서는 문장 유사도 외에 사건·기관·지역·처리 단계의 일치 여부와 담당자의 수정·채택 이력을 함께 평가할 필요. 답변 추천시간과 최종 회신시간의 별도 계측."</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"SFR-004",</a:t>
            </a:r>
          </a:p>
          <a:p xmlns:a="http://schemas.openxmlformats.org/drawingml/2006/main">
            <a:r>
              <a:t>        "title": "민원 종류 분류",</a:t>
            </a:r>
          </a:p>
          <a:p xmlns:a="http://schemas.openxmlformats.org/drawingml/2006/main">
            <a:r>
              <a:t>        "locator": "SFR-004",</a:t>
            </a:r>
          </a:p>
          <a:p xmlns:a="http://schemas.openxmlformats.org/drawingml/2006/main">
            <a:r>
              <a:t>        "summary": "민원 본문을 민원 종류로 분류해 담당 업무의 처리 경로를 지원하는 기능.",</a:t>
            </a:r>
          </a:p>
          <a:p xmlns:a="http://schemas.openxmlformats.org/drawingml/2006/main">
            <a:r>
              <a:t>        "data": "민원 원문·분류 체계 → 분류 후보·검토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"복합 주제·짧은 문장·오탈자 민원의 오분류와 담당자 수정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"6b4913cc0ae5b5169d9646773f4136e5246b9263738a4827b1ab87a16891f0b5"</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"민원 처리내용 초안 제공",</a:t>
            </a:r>
          </a:p>
          <a:p xmlns:a="http://schemas.openxmlformats.org/drawingml/2006/main">
            <a:r>
              <a:t>        "locator": "SFR-005",</a:t>
            </a:r>
          </a:p>
          <a:p xmlns:a="http://schemas.openxmlformats.org/drawingml/2006/main">
            <a:r>
              <a:t>        "summary": "관련 규정과 기존 처리내용을 참조한 민원답변 초안 지원. 초안과 최종 답변의 담당자 확인 경로 구성.",</a:t>
            </a:r>
          </a:p>
          <a:p xmlns:a="http://schemas.openxmlformats.org/drawingml/2006/main">
            <a:r>
              <a:t>        "data": "접수 민원·참조 자료 → 근거가 연결된 답변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"과거 규정과 현행 규정이 충돌하는 사례의 근거 판본 및 담당자 수정 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"4f5defef29ed25fd79e46a89d680a461cb449aef69766f422194dd69e74fe07d"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"유사민원 식별 기능 제공",</a:t>
            </a:r>
          </a:p>
          <a:p xmlns:a="http://schemas.openxmlformats.org/drawingml/2006/main">
            <a:r>
              <a:t>        "locator": "SFR-006",</a:t>
            </a:r>
          </a:p>
          <a:p xmlns:a="http://schemas.openxmlformats.org/drawingml/2006/main">
            <a:r>
              <a:t>        "summary": "같거나 유사한 민원을 식별해 반복 업무를 지원하는 기능. 검색 후보와 실제 병합 판단의 구분.",</a:t>
            </a:r>
          </a:p>
          <a:p xmlns:a="http://schemas.openxmlformats.org/drawingml/2006/main">
            <a:r>
              <a:t>        "data": "민원 집합·사건 문맥 → 유사도·후보 묶음",</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"문장은 같지만 사건·지역·신청인이 다른 사례로 오병합 여부와 원문 복원 가능성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"4153e591c032d301106aff35c38940a0d476dc7d8c4d31155d7221e129da66dd"</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"민원업무 고도화 서비스 관리기능",</a:t>
            </a:r>
          </a:p>
          <a:p xmlns:a="http://schemas.openxmlformats.org/drawingml/2006/main">
            <a:r>
              <a:t>        "locator": "SFR-010",</a:t>
            </a:r>
          </a:p>
          <a:p xmlns:a="http://schemas.openxmlformats.org/drawingml/2006/main">
            <a:r>
              <a:t>        "summary": "민원업무 고도화 서비스의 이용·관리 기능 구성. 운영자가 업무별 서비스 상태와 관리 대상을 확인하는 경로.",</a:t>
            </a:r>
          </a:p>
          <a:p xmlns:a="http://schemas.openxmlformats.org/drawingml/2006/main">
            <a:r>
              <a:t>        "data": "운영 설정·사용 이력 → 관리 상태·변경 기록",</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"관리 역할별 허용 작업과 변경 이력, 설정 변경 후 서비스 반영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"d0f1ab9389b360af8d77e62f3eeb2326716b450c2d1575dcec42b79fbb02d49b"</a:t>
            </a:r>
          </a:p>
          <a:p xmlns:a="http://schemas.openxmlformats.org/drawingml/2006/main">
            <a:r>
              <a:t>      },</a:t>
            </a:r>
          </a:p>
          <a:p xmlns:a="http://schemas.openxmlformats.org/drawingml/2006/main">
            <a:r>
              <a:t>      {</a:t>
            </a:r>
          </a:p>
          <a:p xmlns:a="http://schemas.openxmlformats.org/drawingml/2006/main">
            <a:r>
              <a:t>        "id": "SFR-011",</a:t>
            </a:r>
          </a:p>
          <a:p xmlns:a="http://schemas.openxmlformats.org/drawingml/2006/main">
            <a:r>
              <a:t>        "title": "의미 기반 검색과 분석",</a:t>
            </a:r>
          </a:p>
          <a:p xmlns:a="http://schemas.openxmlformats.org/drawingml/2006/main">
            <a:r>
              <a:t>        "locator": "SFR-011",</a:t>
            </a:r>
          </a:p>
          <a:p xmlns:a="http://schemas.openxmlformats.org/drawingml/2006/main">
            <a:r>
              <a:t>        "summary": "단순 키워드 일치를 넘어 민원 의미를 이용한 검색·분석 지원.",</a:t>
            </a:r>
          </a:p>
          <a:p xmlns:a="http://schemas.openxmlformats.org/drawingml/2006/main">
            <a:r>
              <a:t>        "data": "검색 질의·민원 색인 → 의미상 관련 민원·분석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"다른 표현의 같은 의도와 같은 단어의 다른 의도를 구분한 검색 정답셋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"cb3704532e53b7b70bc4764b544e7f549cec4553215296f437e5601fe00168f1"</a:t>
            </a:r>
          </a:p>
          <a:p xmlns:a="http://schemas.openxmlformats.org/drawingml/2006/main">
            <a:r>
              <a:t>      },</a:t>
            </a:r>
          </a:p>
          <a:p xmlns:a="http://schemas.openxmlformats.org/drawingml/2006/main">
            <a:r>
              <a:t>      {</a:t>
            </a:r>
          </a:p>
          <a:p xmlns:a="http://schemas.openxmlformats.org/drawingml/2006/main">
            <a:r>
              <a:t>        "id": "SFR-015",</a:t>
            </a:r>
          </a:p>
          <a:p xmlns:a="http://schemas.openxmlformats.org/drawingml/2006/main">
            <a:r>
              <a:t>        "title": "실시간 데이터 수집 및 검증",</a:t>
            </a:r>
          </a:p>
          <a:p xmlns:a="http://schemas.openxmlformats.org/drawingml/2006/main">
            <a:r>
              <a:t>        "locator": "SFR-015",</a:t>
            </a:r>
          </a:p>
          <a:p xmlns:a="http://schemas.openxmlformats.org/drawingml/2006/main">
            <a:r>
              <a:t>        "summary": "OGG 기반 원천 변경 수집과 데이터 검증을 통한 실시간 연계. 수집 이후 정합성 확인이 필요한 데이터 흐름.",</a:t>
            </a:r>
          </a:p>
          <a:p xmlns:a="http://schemas.openxmlformats.org/drawingml/2006/main">
            <a:r>
              <a:t>        "data": "원천 DB 변경분 → 검증된 연계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"삽입·수정·삭제·중단 후 재개 시 건수·키·시점 대사와 중복 적재 여부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"bcca0bc62529ccf5ac36e787dc506c0b54f8f16e1b96c873fa31cca5157a057c"</a:t>
            </a:r>
          </a:p>
          <a:p xmlns:a="http://schemas.openxmlformats.org/drawingml/2006/main">
            <a:r>
              <a:t>      },</a:t>
            </a:r>
          </a:p>
          <a:p xmlns:a="http://schemas.openxmlformats.org/drawingml/2006/main">
            <a:r>
              <a:t>      {</a:t>
            </a:r>
          </a:p>
          <a:p xmlns:a="http://schemas.openxmlformats.org/drawingml/2006/main">
            <a:r>
              <a:t>        "id": "SFR-018",</a:t>
            </a:r>
          </a:p>
          <a:p xmlns:a="http://schemas.openxmlformats.org/drawingml/2006/main">
            <a:r>
              <a:t>        "title": "AI 기반 민원 자동 처리",</a:t>
            </a:r>
          </a:p>
          <a:p xmlns:a="http://schemas.openxmlformats.org/drawingml/2006/main">
            <a:r>
              <a:t>        "locator": "SFR-018",</a:t>
            </a:r>
          </a:p>
          <a:p xmlns:a="http://schemas.openxmlformats.org/drawingml/2006/main">
            <a:r>
              <a:t>        "summary": "AI 기반 민원 처리 지원에 담당자 검토·채택 결과를 연결하고 운영 개선에 활용하는 흐름.",</a:t>
            </a:r>
          </a:p>
          <a:p xmlns:a="http://schemas.openxmlformats.org/drawingml/2006/main">
            <a:r>
              <a:t>        "data": "처리 후보·담당자 검토 → 채택·수정 결과·피드백",</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"acceptance": "추천과 확정 상태를 구분하고 수정·반려가 다음 처리 기록에 누락 없이 남는지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"35bf9ae1174266075e30936c9e150e97a0d68cd55f83071656309743e2875dca"</a:t>
            </a:r>
          </a:p>
          <a:p xmlns:a="http://schemas.openxmlformats.org/drawingml/2006/main">
            <a:r>
              <a:t>      },</a:t>
            </a:r>
          </a:p>
          <a:p xmlns:a="http://schemas.openxmlformats.org/drawingml/2006/main">
            <a:r>
              <a:t>      {</a:t>
            </a:r>
          </a:p>
          <a:p xmlns:a="http://schemas.openxmlformats.org/drawingml/2006/main">
            <a:r>
              <a:t>        "id": "SFR-019",</a:t>
            </a:r>
          </a:p>
          <a:p xmlns:a="http://schemas.openxmlformats.org/drawingml/2006/main">
            <a:r>
              <a:t>        "title": "API 통합 관리 및 성능 모니터링",</a:t>
            </a:r>
          </a:p>
          <a:p xmlns:a="http://schemas.openxmlformats.org/drawingml/2006/main">
            <a:r>
              <a:t>        "locator": "SFR-019",</a:t>
            </a:r>
          </a:p>
          <a:p xmlns:a="http://schemas.openxmlformats.org/drawingml/2006/main">
            <a:r>
              <a:t>        "summary": "API 통합 관리와 성능 모니터링을 통한 업무 모듈·기간계 연결 관리.",</a:t>
            </a:r>
          </a:p>
          <a:p xmlns:a="http://schemas.openxmlformats.org/drawingml/2006/main">
            <a:r>
              <a:t>        "data": "API 요청·응답·호출 이력 → 상태·성능·오류 기록",</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"호출 실패·시간초과·중복 요청을 주입하고 호출 경로별 원인과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"ff7c0fe41f6cc841f53d73ace372872ebb0dfc391d7d7ca1a21b446c4dfa32b4"</a:t>
            </a:r>
          </a:p>
          <a:p xmlns:a="http://schemas.openxmlformats.org/drawingml/2006/main">
            <a:r>
              <a:t>      },</a:t>
            </a:r>
          </a:p>
          <a:p xmlns:a="http://schemas.openxmlformats.org/drawingml/2006/main">
            <a:r>
              <a:t>      {</a:t>
            </a:r>
          </a:p>
          <a:p xmlns:a="http://schemas.openxmlformats.org/drawingml/2006/main">
            <a:r>
              <a:t>        "id": "SFR-020",</a:t>
            </a:r>
          </a:p>
          <a:p xmlns:a="http://schemas.openxmlformats.org/drawingml/2006/main">
            <a:r>
              <a:t>        "title": "시스템 설정 및 운영 모니터링 통합 관리",</a:t>
            </a:r>
          </a:p>
          <a:p xmlns:a="http://schemas.openxmlformats.org/drawingml/2006/main">
            <a:r>
              <a:t>        "locator": "SFR-020",</a:t>
            </a:r>
          </a:p>
          <a:p xmlns:a="http://schemas.openxmlformats.org/drawingml/2006/main">
            <a:r>
              <a:t>        "summary": "시스템 설정과 운영 모니터링의 통합 관리. 업무 기능과 운영 정책의 일관된 상태 확인.",</a:t>
            </a:r>
          </a:p>
          <a:p xmlns:a="http://schemas.openxmlformats.org/drawingml/2006/main">
            <a:r>
              <a:t>        "data": "시스템 설정·운영 지표 → 관리 화면·이상 상태",</a:t>
            </a:r>
          </a:p>
          <a:p xmlns:a="http://schemas.openxmlformats.org/drawingml/2006/main">
            <a:r>
              <a:t>        "components": [</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"설정 변경 권한, 변경 전후 상태, 장애 탐지·복구 기록의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"700952e7f3297506bdddffe81782d75953ec64aa85c0f75fd9ce24f75b54747a"</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"국민신문고 접점",</a:t>
            </a:r>
          </a:p>
          <a:p xmlns:a="http://schemas.openxmlformats.org/drawingml/2006/main">
            <a:r>
              <a:t>          "layer": "이용 접점",</a:t>
            </a:r>
          </a:p>
          <a:p xmlns:a="http://schemas.openxmlformats.org/drawingml/2006/main">
            <a:r>
              <a:t>          "detail": "민원 처리자·정책 분석자",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"요지·기관·유형",</a:t>
            </a:r>
          </a:p>
          <a:p xmlns:a="http://schemas.openxmlformats.org/drawingml/2006/main">
            <a:r>
              <a:t>          "layer": "업무 문맥",</a:t>
            </a:r>
          </a:p>
          <a:p xmlns:a="http://schemas.openxmlformats.org/drawingml/2006/main">
            <a:r>
              <a:t>          "detail": "민원요지·유형·처리기관 문맥 구성",</a:t>
            </a:r>
          </a:p>
          <a:p xmlns:a="http://schemas.openxmlformats.org/drawingml/2006/main">
            <a:r>
              <a:t>          "requirements": [</a:t>
            </a:r>
          </a:p>
          <a:p xmlns:a="http://schemas.openxmlformats.org/drawingml/2006/main">
            <a:r>
              <a:t>            "SFR-004",</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"키워드·벡터 검색",</a:t>
            </a:r>
          </a:p>
          <a:p xmlns:a="http://schemas.openxmlformats.org/drawingml/2006/main">
            <a:r>
              <a:t>          "layer": "자료 조회",</a:t>
            </a:r>
          </a:p>
          <a:p xmlns:a="http://schemas.openxmlformats.org/drawingml/2006/main">
            <a:r>
              <a:t>          "detail": "민원 본문",</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"재정렬·답변·군집",</a:t>
            </a:r>
          </a:p>
          <a:p xmlns:a="http://schemas.openxmlformats.org/drawingml/2006/main">
            <a:r>
              <a:t>          "layer": "핵심 처리",</a:t>
            </a:r>
          </a:p>
          <a:p xmlns:a="http://schemas.openxmlformats.org/drawingml/2006/main">
            <a:r>
              <a:t>          "detail": "RAG 답변 추천과 의미 유사도 군집",</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"동일 사건 대조",</a:t>
            </a:r>
          </a:p>
          <a:p xmlns:a="http://schemas.openxmlformats.org/drawingml/2006/main">
            <a:r>
              <a:t>          "layer": "결과 검증",</a:t>
            </a:r>
          </a:p>
          <a:p xmlns:a="http://schemas.openxmlformats.org/drawingml/2006/main">
            <a:r>
              <a:t>          "detail": "동일 사건 여부·개인정보 범위 검토",</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수정",</a:t>
            </a:r>
          </a:p>
          <a:p xmlns:a="http://schemas.openxmlformats.org/drawingml/2006/main">
            <a:r>
              <a:t>          "layer": "사람 확인",</a:t>
            </a:r>
          </a:p>
          <a:p xmlns:a="http://schemas.openxmlformats.org/drawingml/2006/main">
            <a:r>
              <a:t>          "detail": "같은 사안의 반복 민원을 묶고 기관별 답변 초안 제시",</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"SFR-010",</a:t>
            </a:r>
          </a:p>
          <a:p xmlns:a="http://schemas.openxmlformats.org/drawingml/2006/main">
            <a:r>
              <a:t>            "SFR-018"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"민원 처리·분석",</a:t>
            </a:r>
          </a:p>
          <a:p xmlns:a="http://schemas.openxmlformats.org/drawingml/2006/main">
            <a:r>
              <a:t>          "layer": "업무 연결",</a:t>
            </a:r>
          </a:p>
          <a:p xmlns:a="http://schemas.openxmlformats.org/drawingml/2006/main">
            <a:r>
              <a:t>          "detail": "담당자의 군집·초안 수정 후 민원 처리",</a:t>
            </a:r>
          </a:p>
          <a:p xmlns:a="http://schemas.openxmlformats.org/drawingml/2006/main">
            <a:r>
              <a:t>          "requirements": [</a:t>
            </a:r>
          </a:p>
          <a:p xmlns:a="http://schemas.openxmlformats.org/drawingml/2006/main">
            <a:r>
              <a:t>            "SFR-019"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"오답·병합 오류",</a:t>
            </a:r>
          </a:p>
          <a:p xmlns:a="http://schemas.openxmlformats.org/drawingml/2006/main">
            <a:r>
              <a:t>          "layer": "운영 관측",</a:t>
            </a:r>
          </a:p>
          <a:p xmlns:a="http://schemas.openxmlformats.org/drawingml/2006/main">
            <a:r>
              <a:t>          "detail": "기관별 답변 적합성과 병합 오류 분석",</a:t>
            </a:r>
          </a:p>
          <a:p xmlns:a="http://schemas.openxmlformats.org/drawingml/2006/main">
            <a:r>
              <a:t>          "requirements": [</a:t>
            </a:r>
          </a:p>
          <a:p xmlns:a="http://schemas.openxmlformats.org/drawingml/2006/main">
            <a:r>
              <a:t>            "SFR-010",</a:t>
            </a:r>
          </a:p>
          <a:p xmlns:a="http://schemas.openxmlformats.org/drawingml/2006/main">
            <a:r>
              <a:t>            "SFR-018",</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"민원·답변·지침",</a:t>
            </a:r>
          </a:p>
          <a:p xmlns:a="http://schemas.openxmlformats.org/drawingml/2006/main">
            <a:r>
              <a:t>          "layer": "데이터 원천",</a:t>
            </a:r>
          </a:p>
          <a:p xmlns:a="http://schemas.openxmlformats.org/drawingml/2006/main">
            <a:r>
              <a:t>          "detail": "민원·답변 자료",</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"OCR·메타정보 추출",</a:t>
            </a:r>
          </a:p>
          <a:p xmlns:a="http://schemas.openxmlformats.org/drawingml/2006/main">
            <a:r>
              <a:t>          "layer": "준비·갱신",</a:t>
            </a:r>
          </a:p>
          <a:p xmlns:a="http://schemas.openxmlformats.org/drawingml/2006/main">
            <a:r>
              <a:t>          "detail": "국민신문고·민원정보분석 자료의 연계·정제",</a:t>
            </a:r>
          </a:p>
          <a:p xmlns:a="http://schemas.openxmlformats.org/drawingml/2006/main">
            <a:r>
              <a:t>          "requirements": [</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 DB·색인",</a:t>
            </a:r>
          </a:p>
          <a:p xmlns:a="http://schemas.openxmlformats.org/drawingml/2006/main">
            <a:r>
              <a:t>          "layer": "상태·지식 저장",</a:t>
            </a:r>
          </a:p>
          <a:p xmlns:a="http://schemas.openxmlformats.org/drawingml/2006/main">
            <a:r>
              <a:t>          "detail": "군집 정답표·잘못된 병합 건·담당자 수정 이력",</a:t>
            </a:r>
          </a:p>
          <a:p xmlns:a="http://schemas.openxmlformats.org/drawingml/2006/main">
            <a:r>
              <a:t>          "requirements": [</a:t>
            </a:r>
          </a:p>
          <a:p xmlns:a="http://schemas.openxmlformats.org/drawingml/2006/main">
            <a:r>
              <a:t>            "SFR-011",</a:t>
            </a:r>
          </a:p>
          <a:p xmlns:a="http://schemas.openxmlformats.org/drawingml/2006/main">
            <a:r>
              <a:t>            "SFR-015"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"모델·프롬프트 관리",</a:t>
            </a:r>
          </a:p>
          <a:p xmlns:a="http://schemas.openxmlformats.org/drawingml/2006/main">
            <a:r>
              <a:t>          "layer": "권한·정책",</a:t>
            </a:r>
          </a:p>
          <a:p xmlns:a="http://schemas.openxmlformats.org/drawingml/2006/main">
            <a:r>
              <a:t>          "detail": "표현이 같은 다른 사건·소관기관 차이·반대 취지",</a:t>
            </a:r>
          </a:p>
          <a:p xmlns:a="http://schemas.openxmlformats.org/drawingml/2006/main">
            <a:r>
              <a:t>          "requirements": [</a:t>
            </a:r>
          </a:p>
          <a:p xmlns:a="http://schemas.openxmlformats.org/drawingml/2006/main">
            <a:r>
              <a:t>            "SFR-010",</a:t>
            </a:r>
          </a:p>
          <a:p xmlns:a="http://schemas.openxmlformats.org/drawingml/2006/main">
            <a:r>
              <a:t>            "SFR-020"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"국민신문고 → 분류·유사민원 → 답변 추천 → 현업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"민원·답변 자료",</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"유사 사건",</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"국민신문고·민원정보분석 자료의 연계·정제"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"추천 답변",</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"추천 답변",</a:t>
            </a:r>
          </a:p>
          <a:p xmlns:a="http://schemas.openxmlformats.org/drawingml/2006/main">
            <a:r>
              <a:t>          "check": "동일 사건 여부·개인정보 범위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"수정·회신",</a:t>
            </a:r>
          </a:p>
          <a:p xmlns:a="http://schemas.openxmlformats.org/drawingml/2006/main">
            <a:r>
              <a:t>          "check": "군집 정답표·잘못된 병합 건·담당자 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"목표시스템 개념도·RAG 구성 예시",</a:t>
            </a:r>
          </a:p>
          <a:p xmlns:a="http://schemas.openxmlformats.org/drawingml/2006/main">
            <a:r>
              <a:t>        "extracted": "API Gateway, OCR·메타정보 추출, 키워드/벡터 검색과 재정렬",</a:t>
            </a:r>
          </a:p>
          <a:p xmlns:a="http://schemas.openxmlformats.org/drawingml/2006/main">
            <a:r>
              <a:t>        "extension": "민원 중복 후보와 공식 병합·회신의 승인 경계"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"PF-R02",</a:t>
            </a:r>
          </a:p>
          <a:p xmlns:a="http://schemas.openxmlformats.org/drawingml/2006/main">
            <a:r>
              <a:t>          "path": "assets/casebook-sources/PF-R02-01.png",</a:t>
            </a:r>
          </a:p>
          <a:p xmlns:a="http://schemas.openxmlformats.org/drawingml/2006/main">
            <a:r>
              <a:t>          "title": "국민소통 플랫폼 목표시스템",</a:t>
            </a:r>
          </a:p>
          <a:p xmlns:a="http://schemas.openxmlformats.org/drawingml/2006/main">
            <a:r>
              <a:t>          "status": "RFP 목표시스템 개념도",</a:t>
            </a:r>
          </a:p>
          <a:p xmlns:a="http://schemas.openxmlformats.org/drawingml/2006/main">
            <a:r>
              <a:t>          "caption": "접점·API Gateway·업무 모듈·데이터 처리·운영 관리",</a:t>
            </a:r>
          </a:p>
          <a:p xmlns:a="http://schemas.openxmlformats.org/drawingml/2006/main">
            <a:r>
              <a:t>          "locator": "NIA_RFP_RFP / BinData/image33_bmp",</a:t>
            </a:r>
          </a:p>
          <a:p xmlns:a="http://schemas.openxmlformats.org/drawingml/2006/main">
            <a:r>
              <a:t>          "checked": "2026-10-16",</a:t>
            </a:r>
          </a:p>
          <a:p xmlns:a="http://schemas.openxmlformats.org/drawingml/2006/main">
            <a:r>
              <a:t>          "sha256": "91feb890184edf04ccccd8d86995147aa6c2181b0a66c58436263cafccdae911",</a:t>
            </a:r>
          </a:p>
          <a:p xmlns:a="http://schemas.openxmlformats.org/drawingml/2006/main">
            <a:r>
              <a:t>          "explanation": {</a:t>
            </a:r>
          </a:p>
          <a:p xmlns:a="http://schemas.openxmlformats.org/drawingml/2006/main">
            <a:r>
              <a:t>            "read": "접점에서 받은 요청을 API Gateway를 통해 민원 답변·분석·중복 식별 모듈로 전달하는 목표 구성. 데이터 처리 계층은 공통 근거를 공급하고 운영 관리 계층은 서비스·모델 상태를 관찰하는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"SFR-019",</a:t>
            </a:r>
          </a:p>
          <a:p xmlns:a="http://schemas.openxmlformats.org/drawingml/2006/main">
            <a:r>
              <a:t>              "SFR-020"</a:t>
            </a:r>
          </a:p>
          <a:p xmlns:a="http://schemas.openxmlformats.org/drawingml/2006/main">
            <a:r>
              <a:t>            ],</a:t>
            </a:r>
          </a:p>
          <a:p xmlns:a="http://schemas.openxmlformats.org/drawingml/2006/main">
            <a:r>
              <a:t>            "connection": "담당자 답변 초안, 유사민원 후보, 정책 분석 결과를 서로 다른 출력 계약으로 정의하고 기존 민원시스템의 확정·회신 절차에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"assets/casebook-sources/PF-R02-02.png",</a:t>
            </a:r>
          </a:p>
          <a:p xmlns:a="http://schemas.openxmlformats.org/drawingml/2006/main">
            <a:r>
              <a:t>          "title": "키워드·벡터 검색과 Reranker",</a:t>
            </a:r>
          </a:p>
          <a:p xmlns:a="http://schemas.openxmlformats.org/drawingml/2006/main">
            <a:r>
              <a:t>          "status": "RFP RAG 구성 예시",</a:t>
            </a:r>
          </a:p>
          <a:p xmlns:a="http://schemas.openxmlformats.org/drawingml/2006/main">
            <a:r>
              <a:t>          "caption": "키워드/벡터 검색 병렬 처리 → 재정렬 → 근거 응답",</a:t>
            </a:r>
          </a:p>
          <a:p xmlns:a="http://schemas.openxmlformats.org/drawingml/2006/main">
            <a:r>
              <a:t>          "locator": "NIA_RFP_RFP / BinData/image18_bmp",</a:t>
            </a:r>
          </a:p>
          <a:p xmlns:a="http://schemas.openxmlformats.org/drawingml/2006/main">
            <a:r>
              <a:t>          "checked": "2026-10-16",</a:t>
            </a:r>
          </a:p>
          <a:p xmlns:a="http://schemas.openxmlformats.org/drawingml/2006/main">
            <a:r>
              <a:t>          "sha256": "a6ab4248256ee300422789627dbe5b8f09ec60657419e13d082c95b32f3f4f90",</a:t>
            </a:r>
          </a:p>
          <a:p xmlns:a="http://schemas.openxmlformats.org/drawingml/2006/main">
            <a:r>
              <a:t>          "explanation": {</a:t>
            </a:r>
          </a:p>
          <a:p xmlns:a="http://schemas.openxmlformats.org/drawingml/2006/main">
            <a:r>
              <a:t>            "read": "키워드 검색은 정확한 용어·조항의 일치 후보, 벡터 검색은 표현이 다른 유사 의미 후보를 제공. Reranker는 통합 후보를 질의 관련성에 따라 다시 정렬하고 생성 모델에 근거를 전달하는 역할.",</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"SFR-011"</a:t>
            </a:r>
          </a:p>
          <a:p xmlns:a="http://schemas.openxmlformats.org/drawingml/2006/main">
            <a:r>
              <a:t>            ],</a:t>
            </a:r>
          </a:p>
          <a:p xmlns:a="http://schemas.openxmlformats.org/drawingml/2006/main">
            <a:r>
              <a:t>            "connection": "재정렬 점수를 법적 정답이나 민원 병합 승인으로 해석하지 않고 기관·사건·시점과 출처 일치를 별도로 확인하는 검증 단계의 추가."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"assets/casebook-sources/PF-R02-03.png",</a:t>
            </a:r>
          </a:p>
          <a:p xmlns:a="http://schemas.openxmlformats.org/drawingml/2006/main">
            <a:r>
              <a:t>          "title": "민원 AI 입출력 데이터",</a:t>
            </a:r>
          </a:p>
          <a:p xmlns:a="http://schemas.openxmlformats.org/drawingml/2006/main">
            <a:r>
              <a:t>          "status": "RFP 데이터 흐름도",</a:t>
            </a:r>
          </a:p>
          <a:p xmlns:a="http://schemas.openxmlformats.org/drawingml/2006/main">
            <a:r>
              <a:t>          "caption": "국민신문고·시범기관 매뉴얼 → 전처리·RAG → 답변·유사도",</a:t>
            </a:r>
          </a:p>
          <a:p xmlns:a="http://schemas.openxmlformats.org/drawingml/2006/main">
            <a:r>
              <a:t>          "locator": "NIA_RFP_RFP / BinData/image34_bmp",</a:t>
            </a:r>
          </a:p>
          <a:p xmlns:a="http://schemas.openxmlformats.org/drawingml/2006/main">
            <a:r>
              <a:t>          "checked": "2026-10-16",</a:t>
            </a:r>
          </a:p>
          <a:p xmlns:a="http://schemas.openxmlformats.org/drawingml/2006/main">
            <a:r>
              <a:t>          "sha256": "0e09409295bbb0aae0a61666cf01982d012392b3f4bccd2e98499654b4b690d0",</a:t>
            </a:r>
          </a:p>
          <a:p xmlns:a="http://schemas.openxmlformats.org/drawingml/2006/main">
            <a:r>
              <a:t>          "explanation": {</a:t>
            </a:r>
          </a:p>
          <a:p xmlns:a="http://schemas.openxmlformats.org/drawingml/2006/main">
            <a:r>
              <a:t>            "read": "국민신문고 데이터와 시범기관 매뉴얼 등 입력을 전처리·RAG 경로에 투입하고 업무별 답변·유사도 결과로 변환하는 입출력 구조. 동일 원천을 이용하더라도 답변과 군집의 산출물은 별도 관리 대상.",</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"SFR-015",</a:t>
            </a:r>
          </a:p>
          <a:p xmlns:a="http://schemas.openxmlformats.org/drawingml/2006/main">
            <a:r>
              <a:t>              "SFR-018"</a:t>
            </a:r>
          </a:p>
          <a:p xmlns:a="http://schemas.openxmlformats.org/drawingml/2006/main">
            <a:r>
              <a:t>            ],</a:t>
            </a:r>
          </a:p>
          <a:p xmlns:a="http://schemas.openxmlformats.org/drawingml/2006/main">
            <a:r>
              <a:t>            "connection": "원천 민원 ID·문서 판본·근거 위치를 결과에 유지해 담당자 수정과 최종 회신의 차이를 재현할 수 있도록 하는 데이터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"PF-R02",</a:t>
            </a:r>
          </a:p>
          <a:p xmlns:a="http://schemas.openxmlformats.org/drawingml/2006/main">
            <a:r>
              <a:t>          "path": "assets/casebook-sources/PF-R02-04.png",</a:t>
            </a:r>
          </a:p>
          <a:p xmlns:a="http://schemas.openxmlformats.org/drawingml/2006/main">
            <a:r>
              <a:t>          "title": "데이터 구축·학습·운영 흐름",</a:t>
            </a:r>
          </a:p>
          <a:p xmlns:a="http://schemas.openxmlformats.org/drawingml/2006/main">
            <a:r>
              <a:t>          "status": "RFP 데이터 처리 구조",</a:t>
            </a:r>
          </a:p>
          <a:p xmlns:a="http://schemas.openxmlformats.org/drawingml/2006/main">
            <a:r>
              <a:t>          "caption": "수집·정제·가공·학습·운영의 환류",</a:t>
            </a:r>
          </a:p>
          <a:p xmlns:a="http://schemas.openxmlformats.org/drawingml/2006/main">
            <a:r>
              <a:t>          "locator": "NIA_RFP_RFP / BinData/image32_png",</a:t>
            </a:r>
          </a:p>
          <a:p xmlns:a="http://schemas.openxmlformats.org/drawingml/2006/main">
            <a:r>
              <a:t>          "checked": "2026-10-16",</a:t>
            </a:r>
          </a:p>
          <a:p xmlns:a="http://schemas.openxmlformats.org/drawingml/2006/main">
            <a:r>
              <a:t>          "sha256": "b6c466b110d91bceff5a9f806d658aa54f010e0a5b8a358a16771181bea77c50",</a:t>
            </a:r>
          </a:p>
          <a:p xmlns:a="http://schemas.openxmlformats.org/drawingml/2006/main">
            <a:r>
              <a:t>          "explanation": {</a:t>
            </a:r>
          </a:p>
          <a:p xmlns:a="http://schemas.openxmlformats.org/drawingml/2006/main">
            <a:r>
              <a:t>            "read": "수집·정제·가공·학습·운영이 연결된 데이터 생애주기. 온라인 요청 처리와 모델·지식 갱신의 작업이 서로 다른 주기로 수행되는 구성.",</a:t>
            </a:r>
          </a:p>
          <a:p xmlns:a="http://schemas.openxmlformats.org/drawingml/2006/main">
            <a:r>
              <a:t>            "requirements": [</a:t>
            </a:r>
          </a:p>
          <a:p xmlns:a="http://schemas.openxmlformats.org/drawingml/2006/main">
            <a:r>
              <a:t>              "SFR-015",</a:t>
            </a:r>
          </a:p>
          <a:p xmlns:a="http://schemas.openxmlformats.org/drawingml/2006/main">
            <a:r>
              <a:t>              "SFR-018",</a:t>
            </a:r>
          </a:p>
          <a:p xmlns:a="http://schemas.openxmlformats.org/drawingml/2006/main">
            <a:r>
              <a:t>              "SFR-020"</a:t>
            </a:r>
          </a:p>
          <a:p xmlns:a="http://schemas.openxmlformats.org/drawingml/2006/main">
            <a:r>
              <a:t>            ],</a:t>
            </a:r>
          </a:p>
          <a:p xmlns:a="http://schemas.openxmlformats.org/drawingml/2006/main">
            <a:r>
              <a:t>            "connection": "원천 변경 시 수집 완료·정제 완료·색인 반영 상태를 분리하고 실패 자료만 재처리하는 운영 설계. 검토 피드백의 자동 학습 투입 전 품질 확인 단계 필요."</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"표현이 같은 다른 사건·소관기관 차이·반대 취지",</a:t>
            </a:r>
          </a:p>
          <a:p xmlns:a="http://schemas.openxmlformats.org/drawingml/2006/main">
            <a:r>
              <a:t>        "hold": "동일 사건 여부·개인정보 범위 검토",</a:t>
            </a:r>
          </a:p>
          <a:p xmlns:a="http://schemas.openxmlformats.org/drawingml/2006/main">
            <a:r>
              <a:t>        "recovery": "기관별 답변 적합성과 병합 오류 분석",</a:t>
            </a:r>
          </a:p>
          <a:p xmlns:a="http://schemas.openxmlformats.org/drawingml/2006/main">
            <a:r>
              <a:t>        "evidence": "군집 정답표·잘못된 병합 건·담당자 수정 이력"</a:t>
            </a:r>
          </a:p>
          <a:p xmlns:a="http://schemas.openxmlformats.org/drawingml/2006/main">
            <a:r>
              <a:t>      },</a:t>
            </a:r>
          </a:p>
          <a:p xmlns:a="http://schemas.openxmlformats.org/drawingml/2006/main">
            <a:r>
              <a:t>      "data": {</a:t>
            </a:r>
          </a:p>
          <a:p xmlns:a="http://schemas.openxmlformats.org/drawingml/2006/main">
            <a:r>
              <a:t>        "source": "민원·답변 자료",</a:t>
            </a:r>
          </a:p>
          <a:p xmlns:a="http://schemas.openxmlformats.org/drawingml/2006/main">
            <a:r>
              <a:t>        "prepare": "국민신문고·민원정보분석 자료의 연계·정제",</a:t>
            </a:r>
          </a:p>
          <a:p xmlns:a="http://schemas.openxmlformats.org/drawingml/2006/main">
            <a:r>
              <a:t>        "output": "민원 본문",</a:t>
            </a:r>
          </a:p>
          <a:p xmlns:a="http://schemas.openxmlformats.org/drawingml/2006/main">
            <a:r>
              <a:t>        "refresh": "기관별 답변 적합성과 병합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"PF-R02",</a:t>
            </a:r>
          </a:p>
          <a:p xmlns:a="http://schemas.openxmlformats.org/drawingml/2006/main">
            <a:r>
              <a:t>    "success": [</a:t>
            </a:r>
          </a:p>
          <a:p xmlns:a="http://schemas.openxmlformats.org/drawingml/2006/main">
            <a:r>
              <a:t>      "유사민원과 답변 추천 결합",</a:t>
            </a:r>
          </a:p>
          <a:p xmlns:a="http://schemas.openxmlformats.org/drawingml/2006/main">
            <a:r>
              <a:t>      "현업 수정을 반영한 활용"</a:t>
            </a:r>
          </a:p>
          <a:p xmlns:a="http://schemas.openxmlformats.org/drawingml/2006/main">
            <a:r>
              <a:t>    ],</a:t>
            </a:r>
          </a:p>
          <a:p xmlns:a="http://schemas.openxmlformats.org/drawingml/2006/main">
            <a:r>
              <a:t>    "risks": [</a:t>
            </a:r>
          </a:p>
          <a:p xmlns:a="http://schemas.openxmlformats.org/drawingml/2006/main">
            <a:r>
              <a:t>      "다른 사건의 무리한 병합",</a:t>
            </a:r>
          </a:p>
          <a:p xmlns:a="http://schemas.openxmlformats.org/drawingml/2006/main">
            <a:r>
              <a:t>      "답변 추천을 공식 회신으로 오인"</a:t>
            </a:r>
          </a:p>
          <a:p xmlns:a="http://schemas.openxmlformats.org/drawingml/2006/main">
            <a:r>
              <a:t>    ],</a:t>
            </a:r>
          </a:p>
          <a:p xmlns:a="http://schemas.openxmlformats.org/drawingml/2006/main">
            <a:r>
              <a:t>    "architecture": [</a:t>
            </a:r>
          </a:p>
          <a:p xmlns:a="http://schemas.openxmlformats.org/drawingml/2006/main">
            <a:r>
              <a:t>      "국민신문고",</a:t>
            </a:r>
          </a:p>
          <a:p xmlns:a="http://schemas.openxmlformats.org/drawingml/2006/main">
            <a:r>
              <a:t>      "분류·답변 추천",</a:t>
            </a:r>
          </a:p>
          <a:p xmlns:a="http://schemas.openxmlformats.org/drawingml/2006/main">
            <a:r>
              <a:t>      "민원·답변 자료",</a:t>
            </a:r>
          </a:p>
          <a:p xmlns:a="http://schemas.openxmlformats.org/drawingml/2006/main">
            <a:r>
              <a:t>      "민원 담당"</a:t>
            </a:r>
          </a:p>
          <a:p xmlns:a="http://schemas.openxmlformats.org/drawingml/2006/main">
            <a:r>
              <a:t>    ],</a:t>
            </a:r>
          </a:p>
          <a:p xmlns:a="http://schemas.openxmlformats.org/drawingml/2006/main">
            <a:r>
              <a:t>    "transfers": [</a:t>
            </a:r>
          </a:p>
          <a:p xmlns:a="http://schemas.openxmlformats.org/drawingml/2006/main">
            <a:r>
              <a:t>      "민원 본문",</a:t>
            </a:r>
          </a:p>
          <a:p xmlns:a="http://schemas.openxmlformats.org/drawingml/2006/main">
            <a:r>
              <a:t>      "유사 사건",</a:t>
            </a:r>
          </a:p>
          <a:p xmlns:a="http://schemas.openxmlformats.org/drawingml/2006/main">
            <a:r>
              <a:t>      "추천 답변",</a:t>
            </a:r>
          </a:p>
          <a:p xmlns:a="http://schemas.openxmlformats.org/drawingml/2006/main">
            <a:r>
              <a:t>      "수정·회신"</a:t>
            </a:r>
          </a:p>
          <a:p xmlns:a="http://schemas.openxmlformats.org/drawingml/2006/main">
            <a:r>
              <a:t>    ],</a:t>
            </a:r>
          </a:p>
          <a:p xmlns:a="http://schemas.openxmlformats.org/drawingml/2006/main">
            <a:r>
              <a:t>    "control": "동일 사건 여부·개인정보 범위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추진계획·성과지표, 기능 요구사항 / Word T035 https://www.nia.or.kr/common/board/Download.do?bcIdx=28233&amp;cbIdx=78336&amp;fileNo=2</a:t>
            </a:r>
          </a:p>
          <a:p xmlns:a="http://schemas.openxmlformats.org/drawingml/2006/main">
            <a:r>
              <a:t>홈페이지 https://heen1987-ops.github.io/TS-business-Plan-001/index.html?view=platform-cases&amp;case=PF-R02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a:p xmlns:a="http://schemas.openxmlformats.org/drawingml/2006/main">
            <a:r>
              <a:t>한계: 연구원 외부 TechGPT 성과와 본 내부사업을 혼동하지 않음</a:t>
            </a:r>
          </a:p>
          <a:p xmlns:a="http://schemas.openxmlformats.org/drawingml/2006/main">
            <a:r>
              <a:t>실패 위험: 검색 재정렬의 근거 누락 / 후속 공고와 도입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a:p xmlns:a="http://schemas.openxmlformats.org/drawingml/2006/main">
            <a:r>
              <a:t>원문 도면 {"caseId":"PF-R03","path":"assets/casebook-sources/PF-R03-01.png","title":"생산기술연구원 정보시스템 연계","status":"RFP 수록 기존 정보시스템 현황","caption":"연구행정·경영정보·업무지원·지능형 포털 간 연계","locator":"rId13 / BinData/BIN0002_png","checked":"2026-10-16","sha256":"0b49ad15a2d50888b15fdc4d6bb439874425106d7d0a2cf9b92b1c3debb0025b","explanation":{"read":"연구행정·경영정보·업무지원과 지능형 포털의 기존 연결 현황. 새 AI 모델의 배치도가 아니라 어떤 업무 데이터와 시스템을 고도화 시 연결해야 하는지를 보여 주는 원문.","requirements":["SFR-003","SFR-004","SFR-007","SFR-010"],"connection":"기존 사용자·조직·권한과 연구행정 자료를 재사용하고 직무별 검색, 도메인 도구, 정형 문서 생성을 추가하는 대상 경계의 설정."}}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"PF-R03",</a:t>
            </a:r>
          </a:p>
          <a:p xmlns:a="http://schemas.openxmlformats.org/drawingml/2006/main">
            <a:r>
              <a:t>    "sourceId": "R03",</a:t>
            </a:r>
          </a:p>
          <a:p xmlns:a="http://schemas.openxmlformats.org/drawingml/2006/main">
            <a:r>
              <a:t>    "title": "생산기술연구원 AI 고도화",</a:t>
            </a:r>
          </a:p>
          <a:p xmlns:a="http://schemas.openxmlformats.org/drawingml/2006/main">
            <a:r>
              <a:t>    "region": "국내",</a:t>
            </a:r>
          </a:p>
          <a:p xmlns:a="http://schemas.openxmlformats.org/drawingml/2006/main">
            <a:r>
              <a:t>    "owner": "한국생산기술연구원",</a:t>
            </a:r>
          </a:p>
          <a:p xmlns:a="http://schemas.openxmlformats.org/drawingml/2006/main">
            <a:r>
              <a:t>    "state": "후속 공고 RFP 확인 / 계약·운영 미확인",</a:t>
            </a:r>
          </a:p>
          <a:p xmlns:a="http://schemas.openxmlformats.org/drawingml/2006/main">
            <a:r>
              <a:t>    "period": "기존 원장 확인 2026.10.16",</a:t>
            </a:r>
          </a:p>
          <a:p xmlns:a="http://schemas.openxmlformats.org/drawingml/2006/main">
            <a:r>
              <a:t>    "fact": "기존 연구행정 AI 고도화: 지능형 검색·멀티모델·도메인 에이전트·정형 문서 생성",</a:t>
            </a:r>
          </a:p>
          <a:p xmlns:a="http://schemas.openxmlformats.org/drawingml/2006/main">
            <a:r>
              <a:t>    "limit": "연구원 외부 TechGPT 성과와 본 내부사업을 혼동하지 않음",</a:t>
            </a:r>
          </a:p>
          <a:p xmlns:a="http://schemas.openxmlformats.org/drawingml/2006/main">
            <a:r>
              <a:t>    "nodes": [</a:t>
            </a:r>
          </a:p>
          <a:p xmlns:a="http://schemas.openxmlformats.org/drawingml/2006/main">
            <a:r>
              <a:t>      "직원·직무",</a:t>
            </a:r>
          </a:p>
          <a:p xmlns:a="http://schemas.openxmlformats.org/drawingml/2006/main">
            <a:r>
              <a:t>      "검색 재정렬",</a:t>
            </a:r>
          </a:p>
          <a:p xmlns:a="http://schemas.openxmlformats.org/drawingml/2006/main">
            <a:r>
              <a:t>      "업무 에이전트",</a:t>
            </a:r>
          </a:p>
          <a:p xmlns:a="http://schemas.openxmlformats.org/drawingml/2006/main">
            <a:r>
              <a:t>      "문서·운영 관리"</a:t>
            </a:r>
          </a:p>
          <a:p xmlns:a="http://schemas.openxmlformats.org/drawingml/2006/main">
            <a:r>
              <a:t>    ],</a:t>
            </a:r>
          </a:p>
          <a:p xmlns:a="http://schemas.openxmlformats.org/drawingml/2006/main">
            <a:r>
              <a:t>    "apply": "공식 소속·직무를 검색 순위·서식·업무 도구 선택에 연결하는 개인화",</a:t>
            </a:r>
          </a:p>
          <a:p xmlns:a="http://schemas.openxmlformats.org/drawingml/2006/main">
            <a:r>
              <a:t>    "delta": "사번–부서–직무–업무 연결 / 검색 재정렬 / 직무별 문서 양식",</a:t>
            </a:r>
          </a:p>
          <a:p xmlns:a="http://schemas.openxmlformats.org/drawingml/2006/main">
            <a:r>
              <a:t>    "test": "동일 질의의 직무별 정답·문서 순위·서식 비교 및 전보 후 권한 시험",</a:t>
            </a:r>
          </a:p>
          <a:p xmlns:a="http://schemas.openxmlformats.org/drawingml/2006/main">
            <a:r>
              <a:t>    "url": "https://www.g2b.go.kr/pn/pnp/pnpe/UntyAtchFile/downloadFile.do?bidPbancNo=R26BK01670411&amp;bidPbancOrd=000&amp;fileType=&amp;fileSeq=1&amp;prcmBsneSeCd=03",</a:t>
            </a:r>
          </a:p>
          <a:p xmlns:a="http://schemas.openxmlformats.org/drawingml/2006/main">
            <a:r>
              <a:t>    "urls": [</a:t>
            </a:r>
          </a:p>
          <a:p xmlns:a="http://schemas.openxmlformats.org/drawingml/2006/main">
            <a:r>
              <a:t>      "https://www.g2b.go.kr/pn/pnp/pnpe/UntyAtchFile/downloadFile.do?bidPbancNo=R26BK01670411&amp;bidPbancOrd=000&amp;fileType=&amp;fileSeq=1&amp;prcmBsneSeCd=03"</a:t>
            </a:r>
          </a:p>
          <a:p xmlns:a="http://schemas.openxmlformats.org/drawingml/2006/main">
            <a:r>
              <a:t>    ],</a:t>
            </a:r>
          </a:p>
          <a:p xmlns:a="http://schemas.openxmlformats.org/drawingml/2006/main">
            <a:r>
              <a:t>    "basis": "SFR-007~012 / Word T044",</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"직무별 과업 성공률 / 검색·문서 작성시간 / 요청당 비용",</a:t>
            </a:r>
          </a:p>
          <a:p xmlns:a="http://schemas.openxmlformats.org/drawingml/2006/main">
            <a:r>
              <a:t>    "group": "요구·구축",</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"PF-R03",</a:t>
            </a:r>
          </a:p>
          <a:p xmlns:a="http://schemas.openxmlformats.org/drawingml/2006/main">
            <a:r>
              <a:t>    "canonicalId": "PF-R03",</a:t>
            </a:r>
          </a:p>
          <a:p xmlns:a="http://schemas.openxmlformats.org/drawingml/2006/main">
            <a:r>
              <a:t>    "purpose": "직무별 검색과 정형 문서 작성의 고도화",</a:t>
            </a:r>
          </a:p>
          <a:p xmlns:a="http://schemas.openxmlformats.org/drawingml/2006/main">
            <a:r>
              <a:t>    "users": "연구직·행정직·플랫폼 운영자",</a:t>
            </a:r>
          </a:p>
          <a:p xmlns:a="http://schemas.openxmlformats.org/drawingml/2006/main">
            <a:r>
              <a:t>    "scope": [</a:t>
            </a:r>
          </a:p>
          <a:p xmlns:a="http://schemas.openxmlformats.org/drawingml/2006/main">
            <a:r>
              <a:t>      "검색 재정렬",</a:t>
            </a:r>
          </a:p>
          <a:p xmlns:a="http://schemas.openxmlformats.org/drawingml/2006/main">
            <a:r>
              <a:t>      "문서 생성",</a:t>
            </a:r>
          </a:p>
          <a:p xmlns:a="http://schemas.openxmlformats.org/drawingml/2006/main">
            <a:r>
              <a:t>      "멀티모델 운영"</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"연구행정 사용자",</a:t>
            </a:r>
          </a:p>
          <a:p xmlns:a="http://schemas.openxmlformats.org/drawingml/2006/main">
            <a:r>
              <a:t>        "detail": "소속·직무·검색 이력·진행업무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"검색 재정렬 / 문서 생성 / 멀티모델 운영",</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"검색·업무 에이전트",</a:t>
            </a:r>
          </a:p>
          <a:p xmlns:a="http://schemas.openxmlformats.org/drawingml/2006/main">
            <a:r>
              <a:t>        "detail": "질의 보정·재정렬·요약·양식별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"문서 작성 담당",</a:t>
            </a:r>
          </a:p>
          <a:p xmlns:a="http://schemas.openxmlformats.org/drawingml/2006/main">
            <a:r>
              <a:t>        "detail": "원문 근거와 목차·필드가 있는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"연구행정 지식",</a:t>
            </a:r>
          </a:p>
          <a:p xmlns:a="http://schemas.openxmlformats.org/drawingml/2006/main">
            <a:r>
              <a:t>        "detail": "문서·연구성과·전문가·양식의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"GPU 이중화·모델 롤백·부서별 토큰 계측",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"직원·직무",</a:t>
            </a:r>
          </a:p>
          <a:p xmlns:a="http://schemas.openxmlformats.org/drawingml/2006/main">
            <a:r>
              <a:t>        "input": "소속·직무·검색 이력·진행업무 연결",</a:t>
            </a:r>
          </a:p>
          <a:p xmlns:a="http://schemas.openxmlformats.org/drawingml/2006/main">
            <a:r>
              <a:t>        "process": "문서·연구성과·전문가·양식의 색인 구성",</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"title": "검색 재정렬",</a:t>
            </a:r>
          </a:p>
          <a:p xmlns:a="http://schemas.openxmlformats.org/drawingml/2006/main">
            <a:r>
              <a:t>        "input": "직무·질문",</a:t>
            </a:r>
          </a:p>
          <a:p xmlns:a="http://schemas.openxmlformats.org/drawingml/2006/main">
            <a:r>
              <a:t>        "process": "질의 보정·재정렬·요약·양식별 생성",</a:t>
            </a:r>
          </a:p>
          <a:p xmlns:a="http://schemas.openxmlformats.org/drawingml/2006/main">
            <a:r>
              <a:t>        "output": "재정렬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"재정렬 근거",</a:t>
            </a:r>
          </a:p>
          <a:p xmlns:a="http://schemas.openxmlformats.org/drawingml/2006/main">
            <a:r>
              <a:t>        "process": "기존 검색 대비 근거·완료시간 평가",</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"title": "문서·운영 관리",</a:t>
            </a:r>
          </a:p>
          <a:p xmlns:a="http://schemas.openxmlformats.org/drawingml/2006/main">
            <a:r>
              <a:t>        "input": "정형 초안",</a:t>
            </a:r>
          </a:p>
          <a:p xmlns:a="http://schemas.openxmlformats.org/drawingml/2006/main">
            <a:r>
              <a:t>        "process":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"동일 질의를 연구직·행정직 계정으로 실행해 검색·서식 비교",</a:t>
            </a:r>
          </a:p>
          <a:p xmlns:a="http://schemas.openxmlformats.org/drawingml/2006/main">
            <a:r>
              <a:t>      "exception": "전보 전 캐시·권한 없는 연구자료·모델 장애",</a:t>
            </a:r>
          </a:p>
          <a:p xmlns:a="http://schemas.openxmlformats.org/drawingml/2006/main">
            <a:r>
              <a:t>      "evidence": "직무별 순위·근거·서식과 모델 전환·복구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"연구직·행정직·플랫폼 운영자",</a:t>
            </a:r>
          </a:p>
          <a:p xmlns:a="http://schemas.openxmlformats.org/drawingml/2006/main">
            <a:r>
              <a:t>          "processing": "소속·직무·검색 이력·진행업무 연결",</a:t>
            </a:r>
          </a:p>
          <a:p xmlns:a="http://schemas.openxmlformats.org/drawingml/2006/main">
            <a:r>
              <a:t>          "output": "직무·질문"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"연구행정 지식",</a:t>
            </a:r>
          </a:p>
          <a:p xmlns:a="http://schemas.openxmlformats.org/drawingml/2006/main">
            <a:r>
              <a:t>          "processing": "문서·연구성과·전문가·양식의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"직무·질문",</a:t>
            </a:r>
          </a:p>
          <a:p xmlns:a="http://schemas.openxmlformats.org/drawingml/2006/main">
            <a:r>
              <a:t>          "processing": "질의 보정·재정렬·요약·양식별 생성",</a:t>
            </a:r>
          </a:p>
          <a:p xmlns:a="http://schemas.openxmlformats.org/drawingml/2006/main">
            <a:r>
              <a:t>          "output": "정형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"정형 초안",</a:t>
            </a:r>
          </a:p>
          <a:p xmlns:a="http://schemas.openxmlformats.org/drawingml/2006/main">
            <a:r>
              <a:t>          "processing": "원문 근거와 목차·필드가 있는 초안 제공",</a:t>
            </a:r>
          </a:p>
          <a:p xmlns:a="http://schemas.openxmlformats.org/drawingml/2006/main">
            <a:r>
              <a:t>          "output": "검토 문서"</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"GPU 이중화·모델 롤백·부서별 토큰 계측",</a:t>
            </a:r>
          </a:p>
          <a:p xmlns:a="http://schemas.openxmlformats.org/drawingml/2006/main">
            <a:r>
              <a:t>          "output": "직무별 순위·근거·서식과 모델 전환·복구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"GPU 이중화·모델 롤백·부서별 토큰 계측",</a:t>
            </a:r>
          </a:p>
          <a:p xmlns:a="http://schemas.openxmlformats.org/drawingml/2006/main">
            <a:r>
              <a:t>    "status": "RFP 기반 논리 설계",</a:t>
            </a:r>
          </a:p>
          <a:p xmlns:a="http://schemas.openxmlformats.org/drawingml/2006/main">
            <a:r>
              <a:t>    "basis": "RFP 2026.05 · SFR-007~012",</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"SFR-007~012 / Word T044",</a:t>
            </a:r>
          </a:p>
          <a:p xmlns:a="http://schemas.openxmlformats.org/drawingml/2006/main">
            <a:r>
              <a:t>        "url": "https://www.g2b.go.kr/pn/pnp/pnpe/UntyAtchFile/downloadFile.do?bidPbancNo=R26BK01670411&amp;bidPbancOrd=000&amp;fileType=&amp;fileSeq=1&amp;prcmBsneSeCd=03"</a:t>
            </a:r>
          </a:p>
          <a:p xmlns:a="http://schemas.openxmlformats.org/drawingml/2006/main">
            <a:r>
              <a:t>      }</a:t>
            </a:r>
          </a:p>
          <a:p xmlns:a="http://schemas.openxmlformats.org/drawingml/2006/main">
            <a:r>
              <a:t>    ],</a:t>
            </a:r>
          </a:p>
          <a:p xmlns:a="http://schemas.openxmlformats.org/drawingml/2006/main">
            <a:r>
              <a:t>    "implication": "공식 소속·직무를 검색 순위·서식·업무 도구 선택에 연결하는 개인화",</a:t>
            </a:r>
          </a:p>
          <a:p xmlns:a="http://schemas.openxmlformats.org/drawingml/2006/main">
            <a:r>
              <a:t>    "local": "공식 소속·직무를 검색 순위·서식·업무 도구 선택에 연결하는 개인화",</a:t>
            </a:r>
          </a:p>
          <a:p xmlns:a="http://schemas.openxmlformats.org/drawingml/2006/main">
            <a:r>
              <a:t>    "sourceDetail": "소속·직무·검색이력·업무 기반 검색 재정렬, 양식/목차/입력 구조화, GPU 이중화·모델 롤백·부서별 토큰 비용",</a:t>
            </a:r>
          </a:p>
          <a:p xmlns:a="http://schemas.openxmlformats.org/drawingml/2006/main">
            <a:r>
              <a:t>    "narrative": [</a:t>
            </a:r>
          </a:p>
          <a:p xmlns:a="http://schemas.openxmlformats.org/drawingml/2006/main">
            <a:r>
              <a:t>      "생산기술연구원의 기존 연구행정 검색·AI 환경에 직무별 검색, 에이전트 처리, 문서 생성, 운영 관리 기능을 추가하는 고도화. 연구직과 행정직의 관심 자료가 다른 상황에서 동일 질의의 결과 순서를 다르게 구성하는 요구가 핵심.",</a:t>
            </a:r>
          </a:p>
          <a:p xmlns:a="http://schemas.openxmlformats.org/drawingml/2006/main">
            <a:r>
              <a:t>      "SFR-007은 부서·직무·검색 이력·진행 업무를 이용한 검색 최적화, SFR-009는 복합 질문의 태스크 분해와 도메인 에이전트 호출, SFR-010은 문서 양식·필수 항목·내부 과제정보의 결합을 요구. 인사 연동과 역할별 접근제어를 검색 추천보다 먼저 연결하는 설계.",</a:t>
            </a:r>
          </a:p>
          <a:p xmlns:a="http://schemas.openxmlformats.org/drawingml/2006/main">
            <a:r>
              <a:t>      "TS 조직 네이티브 AI와 직접 비교할 지점은 공식 소속·직무를 검색 문맥으로 사용하는 방식. 추천 순위 개선과 접근권한 확대를 분리하고, 전보 전후 동일 질의의 검색 범위·서식·근거 차이를 검수할 필요. 기존 검색·LLM의 재사용과 조직 매핑 추가분의 구분."</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"SFR-002",</a:t>
            </a:r>
          </a:p>
          <a:p xmlns:a="http://schemas.openxmlformats.org/drawingml/2006/main">
            <a:r>
              <a:t>        "title": "Agent 일반 사항",</a:t>
            </a:r>
          </a:p>
          <a:p xmlns:a="http://schemas.openxmlformats.org/drawingml/2006/main">
            <a:r>
              <a:t>        "locator": "SFR-002",</a:t>
            </a:r>
          </a:p>
          <a:p xmlns:a="http://schemas.openxmlformats.org/drawingml/2006/main">
            <a:r>
              <a:t>        "summary": "MCP 도구 등을 이용한 에이전트 실행의 공통 기능 구성. 업무 요청과 도구 호출의 연결 관리.",</a:t>
            </a:r>
          </a:p>
          <a:p xmlns:a="http://schemas.openxmlformats.org/drawingml/2006/main">
            <a:r>
              <a:t>        "data": "업무 요청·도구 정의 → 호출 계획·도구 결과",</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"미등록 도구·잘못된 인자·호출 실패 상황의 실행 보류와 오류 반환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"600876c2133d5557fe295a881eb90450c3e422b7ff02c531aaeae32498f9894f"</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"접근 및 권한관리",</a:t>
            </a:r>
          </a:p>
          <a:p xmlns:a="http://schemas.openxmlformats.org/drawingml/2006/main">
            <a:r>
              <a:t>        "locator": "SFR-003",</a:t>
            </a:r>
          </a:p>
          <a:p xmlns:a="http://schemas.openxmlformats.org/drawingml/2006/main">
            <a:r>
              <a:t>        "summary": "인사·조직 정보를 반영한 접근 및 권한 관리. 사용자 역할에 맞는 데이터·기능 범위 적용.",</a:t>
            </a:r>
          </a:p>
          <a:p xmlns:a="http://schemas.openxmlformats.org/drawingml/2006/main">
            <a:r>
              <a:t>        "data": "직원·부서·역할 → 허용 데이터·기능",</a:t>
            </a:r>
          </a:p>
          <a:p xmlns:a="http://schemas.openxmlformats.org/drawingml/2006/main">
            <a:r>
              <a:t>        "components": [</a:t>
            </a:r>
          </a:p>
          <a:p xmlns:a="http://schemas.openxmlformats.org/drawingml/2006/main">
            <a:r>
              <a:t>          "C02",</a:t>
            </a:r>
          </a:p>
          <a:p xmlns:a="http://schemas.openxmlformats.org/drawingml/2006/main">
            <a:r>
              <a:t>          "C12"</a:t>
            </a:r>
          </a:p>
          <a:p xmlns:a="http://schemas.openxmlformats.org/drawingml/2006/main">
            <a:r>
              <a:t>        ],</a:t>
            </a:r>
          </a:p>
          <a:p xmlns:a="http://schemas.openxmlformats.org/drawingml/2006/main">
            <a:r>
              <a:t>        "acceptance": "전보·겸직·퇴직·권한 해제 시 검색과 실행 양쪽의 접근 결과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"04990216c1150703cd093e78e1cf6629542fbdaca4c97f9dca5f8e4f3b400cce"</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"데이터 통합 파이프라인 구축",</a:t>
            </a:r>
          </a:p>
          <a:p xmlns:a="http://schemas.openxmlformats.org/drawingml/2006/main">
            <a:r>
              <a:t>        "locator": "SFR-004",</a:t>
            </a:r>
          </a:p>
          <a:p xmlns:a="http://schemas.openxmlformats.org/drawingml/2006/main">
            <a:r>
              <a:t>        "summary": "분산 데이터를 수집·정제·연계하는 통합 파이프라인 구축.",</a:t>
            </a:r>
          </a:p>
          <a:p xmlns:a="http://schemas.openxmlformats.org/drawingml/2006/main">
            <a:r>
              <a:t>        "data": "업무 원천·메타데이터 → 검색·AI 활용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"파일 형식 오류·중복·갱신·삭제 자료의 재처리와 원천-색인 건수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"e23449e0d4bf6fe973e547277bd671a1db47129f3f697fe40e3653855a967d51"</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"AI 기반 지능형 검색 서비스",</a:t>
            </a:r>
          </a:p>
          <a:p xmlns:a="http://schemas.openxmlformats.org/drawingml/2006/main">
            <a:r>
              <a:t>        "locator": "SFR-007",</a:t>
            </a:r>
          </a:p>
          <a:p xmlns:a="http://schemas.openxmlformats.org/drawingml/2006/main">
            <a:r>
              <a:t>        "summary": "부서·직무·사용 이력 등을 반영한 AI 검색과 결과 재정렬.",</a:t>
            </a:r>
          </a:p>
          <a:p xmlns:a="http://schemas.openxmlformats.org/drawingml/2006/main">
            <a:r>
              <a:t>        "data": "동일 질의·다른 직무 문맥 → 직무별 관련 근거 순위",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"연구직·행정직의 동일 질의에서 관련성 변화와 권한 밖 결과 제외를 함께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"3e12718b7b492badc155b10cf84e1b67c500d44a7c8333c9b026c5a4dea691ad"</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"멀티 모델 적용",</a:t>
            </a:r>
          </a:p>
          <a:p xmlns:a="http://schemas.openxmlformats.org/drawingml/2006/main">
            <a:r>
              <a:t>        "locator": "SFR-008",</a:t>
            </a:r>
          </a:p>
          <a:p xmlns:a="http://schemas.openxmlformats.org/drawingml/2006/main">
            <a:r>
              <a:t>        "summary": "복수 모델의 적용·선택·비교를 지원하는 멀티모델 구조.",</a:t>
            </a:r>
          </a:p>
          <a:p xmlns:a="http://schemas.openxmlformats.org/drawingml/2006/main">
            <a:r>
              <a:t>        "data": "업무 유형·모델 설정 → 모델별 결과·비교 기록",</a:t>
            </a:r>
          </a:p>
          <a:p xmlns:a="http://schemas.openxmlformats.org/drawingml/2006/main">
            <a:r>
              <a:t>        "components": [</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"같은 입력의 모델별 정확성·시간·비용과 오류 발생 시 처리 경로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"a446f7c2f5ef6677204833f37fa4bbda4bae700a5c3c1b2e4e8a729dc569f518"</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"지능형 질의응답 고도화 체계 구축",</a:t>
            </a:r>
          </a:p>
          <a:p xmlns:a="http://schemas.openxmlformats.org/drawingml/2006/main">
            <a:r>
              <a:t>        "locator": "SFR-009",</a:t>
            </a:r>
          </a:p>
          <a:p xmlns:a="http://schemas.openxmlformats.org/drawingml/2006/main">
            <a:r>
              <a:t>        "summary": "질의의 업무 계획 수립과 도메인 에이전트 연결을 통한 질의응답 고도화.",</a:t>
            </a:r>
          </a:p>
          <a:p xmlns:a="http://schemas.openxmlformats.org/drawingml/2006/main">
            <a:r>
              <a:t>        "data": "복합 업무 질의 → 단계별 계획·도구 결과·응답",</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"C07"</a:t>
            </a:r>
          </a:p>
          <a:p xmlns:a="http://schemas.openxmlformats.org/drawingml/2006/main">
            <a:r>
              <a:t>        ],</a:t>
            </a:r>
          </a:p>
          <a:p xmlns:a="http://schemas.openxmlformats.org/drawingml/2006/main">
            <a:r>
              <a:t>        "acceptance": "계획 일부 실패·불필요한 도구 호출·담당 영역 혼동 시 중단·재계획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"86afdf5c09bd02dc72865179ec33f762956a14ddf1cf170340996155bdafaf57"</a:t>
            </a:r>
          </a:p>
          <a:p xmlns:a="http://schemas.openxmlformats.org/drawingml/2006/main">
            <a:r>
              <a:t>      },</a:t>
            </a:r>
          </a:p>
          <a:p xmlns:a="http://schemas.openxmlformats.org/drawingml/2006/main">
            <a:r>
              <a:t>      {</a:t>
            </a:r>
          </a:p>
          <a:p xmlns:a="http://schemas.openxmlformats.org/drawingml/2006/main">
            <a:r>
              <a:t>        "id": "SFR-010",</a:t>
            </a:r>
          </a:p>
          <a:p xmlns:a="http://schemas.openxmlformats.org/drawingml/2006/main">
            <a:r>
              <a:t>        "title": "문서 자동 생성 지원",</a:t>
            </a:r>
          </a:p>
          <a:p xmlns:a="http://schemas.openxmlformats.org/drawingml/2006/main">
            <a:r>
              <a:t>        "locator": "SFR-010",</a:t>
            </a:r>
          </a:p>
          <a:p xmlns:a="http://schemas.openxmlformats.org/drawingml/2006/main">
            <a:r>
              <a:t>        "summary": "템플릿·메타데이터·내부 자료를 활용한 정형 문서 생성 지원.",</a:t>
            </a:r>
          </a:p>
          <a:p xmlns:a="http://schemas.openxmlformats.org/drawingml/2006/main">
            <a:r>
              <a:t>        "data": "양식·필수 항목·근거 자료 → 편집 가능한 문서 초안",</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a:t>
            </a:r>
          </a:p>
          <a:p xmlns:a="http://schemas.openxmlformats.org/drawingml/2006/main">
            <a:r>
              <a:t>        "acceptance": "필수 항목 누락·다른 양식 판본·숫자 인용 오류의 검출과 사용자 수정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"20df882404a76e75b24ff57eaa67d2d18ca56387f99e065033be13396d4a5f00"</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"AI 서비스 운영 모니터링 체계구축",</a:t>
            </a:r>
          </a:p>
          <a:p xmlns:a="http://schemas.openxmlformats.org/drawingml/2006/main">
            <a:r>
              <a:t>        "locator": "SFR-012",</a:t>
            </a:r>
          </a:p>
          <a:p xmlns:a="http://schemas.openxmlformats.org/drawingml/2006/main">
            <a:r>
              <a:t>        "summary": "AI 서비스의 처리·이용·품질 상태를 확인하는 운영 모니터링 체계.",</a:t>
            </a:r>
          </a:p>
          <a:p xmlns:a="http://schemas.openxmlformats.org/drawingml/2006/main">
            <a:r>
              <a:t>        "data": "호출·서비스 상태·오류 → 관측 지표·운영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"한 요청의 검색·모델·도구 단계를 연결해 실패 지점과 지연 원인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"253bfe0e809bb087229cb4b40f86856252a906181714e2b1a1a84d46237d7570"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"연구행정 접점",</a:t>
            </a:r>
          </a:p>
          <a:p xmlns:a="http://schemas.openxmlformats.org/drawingml/2006/main">
            <a:r>
              <a:t>          "layer": "이용 접점",</a:t>
            </a:r>
          </a:p>
          <a:p xmlns:a="http://schemas.openxmlformats.org/drawingml/2006/main">
            <a:r>
              <a:t>          "detail": "연구직·행정직·플랫폼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"소속·직무·이력",</a:t>
            </a:r>
          </a:p>
          <a:p xmlns:a="http://schemas.openxmlformats.org/drawingml/2006/main">
            <a:r>
              <a:t>          "layer": "업무 문맥",</a:t>
            </a:r>
          </a:p>
          <a:p xmlns:a="http://schemas.openxmlformats.org/drawingml/2006/main">
            <a:r>
              <a:t>          "detail": "소속·직무·검색 이력·진행업무 연결",</a:t>
            </a:r>
          </a:p>
          <a:p xmlns:a="http://schemas.openxmlformats.org/drawingml/2006/main">
            <a:r>
              <a:t>          "requirements": [</a:t>
            </a:r>
          </a:p>
          <a:p xmlns:a="http://schemas.openxmlformats.org/drawingml/2006/main">
            <a:r>
              <a:t>            "SFR-002",</a:t>
            </a:r>
          </a:p>
          <a:p xmlns:a="http://schemas.openxmlformats.org/drawingml/2006/main">
            <a:r>
              <a:t>            "SFR-003",</a:t>
            </a:r>
          </a:p>
          <a:p xmlns:a="http://schemas.openxmlformats.org/drawingml/2006/main">
            <a:r>
              <a:t>            "SFR-007",</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검색 재정렬",</a:t>
            </a:r>
          </a:p>
          <a:p xmlns:a="http://schemas.openxmlformats.org/drawingml/2006/main">
            <a:r>
              <a:t>          "layer": "자료 조회",</a:t>
            </a:r>
          </a:p>
          <a:p xmlns:a="http://schemas.openxmlformats.org/drawingml/2006/main">
            <a:r>
              <a:t>          "detail": "직무·질문",</a:t>
            </a:r>
          </a:p>
          <a:p xmlns:a="http://schemas.openxmlformats.org/drawingml/2006/main">
            <a:r>
              <a:t>          "requirements": [</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"에이전트·정형 생성",</a:t>
            </a:r>
          </a:p>
          <a:p xmlns:a="http://schemas.openxmlformats.org/drawingml/2006/main">
            <a:r>
              <a:t>          "layer": "핵심 처리",</a:t>
            </a:r>
          </a:p>
          <a:p xmlns:a="http://schemas.openxmlformats.org/drawingml/2006/main">
            <a:r>
              <a:t>          "detail": "질의 보정·재정렬·요약·양식별 생성",</a:t>
            </a:r>
          </a:p>
          <a:p xmlns:a="http://schemas.openxmlformats.org/drawingml/2006/main">
            <a:r>
              <a:t>          "requirements": [</a:t>
            </a:r>
          </a:p>
          <a:p xmlns:a="http://schemas.openxmlformats.org/drawingml/2006/main">
            <a:r>
              <a:t>            "SFR-002",</a:t>
            </a:r>
          </a:p>
          <a:p xmlns:a="http://schemas.openxmlformats.org/drawingml/2006/main">
            <a:r>
              <a:t>            "SFR-008",</a:t>
            </a:r>
          </a:p>
          <a:p xmlns:a="http://schemas.openxmlformats.org/drawingml/2006/main">
            <a:r>
              <a:t>            "SFR-009",</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"양식·근거 검사",</a:t>
            </a:r>
          </a:p>
          <a:p xmlns:a="http://schemas.openxmlformats.org/drawingml/2006/main">
            <a:r>
              <a:t>          "layer": "결과 검증",</a:t>
            </a:r>
          </a:p>
          <a:p xmlns:a="http://schemas.openxmlformats.org/drawingml/2006/main">
            <a:r>
              <a:t>          "detail": "기존 검색 대비 근거·완료시간 평가",</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 담당 확인",</a:t>
            </a:r>
          </a:p>
          <a:p xmlns:a="http://schemas.openxmlformats.org/drawingml/2006/main">
            <a:r>
              <a:t>          "layer": "사람 확인",</a:t>
            </a:r>
          </a:p>
          <a:p xmlns:a="http://schemas.openxmlformats.org/drawingml/2006/main">
            <a:r>
              <a:t>          "detail": "동일 질의를 연구직·행정직 계정으로 실행해 검색·서식 비교",</a:t>
            </a:r>
          </a:p>
          <a:p xmlns:a="http://schemas.openxmlformats.org/drawingml/2006/main">
            <a:r>
              <a:t>          "requirements": [</a:t>
            </a:r>
          </a:p>
          <a:p xmlns:a="http://schemas.openxmlformats.org/drawingml/2006/main">
            <a:r>
              <a:t>            "SFR-010"</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 업무 연결",</a:t>
            </a:r>
          </a:p>
          <a:p xmlns:a="http://schemas.openxmlformats.org/drawingml/2006/main">
            <a:r>
              <a:t>          "layer": "업무 연결",</a:t>
            </a:r>
          </a:p>
          <a:p xmlns:a="http://schemas.openxmlformats.org/drawingml/2006/main">
            <a:r>
              <a:t>          "detail": "원문 근거와 목차·필드가 있는 초안 제공",</a:t>
            </a:r>
          </a:p>
          <a:p xmlns:a="http://schemas.openxmlformats.org/drawingml/2006/main">
            <a:r>
              <a:t>          "requirements": [</a:t>
            </a:r>
          </a:p>
          <a:p xmlns:a="http://schemas.openxmlformats.org/drawingml/2006/main">
            <a:r>
              <a:t>            "SFR-002",</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"토큰·회귀 평가",</a:t>
            </a:r>
          </a:p>
          <a:p xmlns:a="http://schemas.openxmlformats.org/drawingml/2006/main">
            <a:r>
              <a:t>          "layer": "운영 관측",</a:t>
            </a:r>
          </a:p>
          <a:p xmlns:a="http://schemas.openxmlformats.org/drawingml/2006/main">
            <a:r>
              <a:t>          "detail": "GPU 이중화·모델 롤백·부서별 토큰 계측",</a:t>
            </a:r>
          </a:p>
          <a:p xmlns:a="http://schemas.openxmlformats.org/drawingml/2006/main">
            <a:r>
              <a:t>          "requirements": [</a:t>
            </a:r>
          </a:p>
          <a:p xmlns:a="http://schemas.openxmlformats.org/drawingml/2006/main">
            <a:r>
              <a:t>            "SFR-008",</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"연구행정 자료",</a:t>
            </a:r>
          </a:p>
          <a:p xmlns:a="http://schemas.openxmlformats.org/drawingml/2006/main">
            <a:r>
              <a:t>          "layer": "데이터 원천",</a:t>
            </a:r>
          </a:p>
          <a:p xmlns:a="http://schemas.openxmlformats.org/drawingml/2006/main">
            <a:r>
              <a:t>          "detail": "연구행정 지식",</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"목차·문서 구조화",</a:t>
            </a:r>
          </a:p>
          <a:p xmlns:a="http://schemas.openxmlformats.org/drawingml/2006/main">
            <a:r>
              <a:t>          "layer": "준비·갱신",</a:t>
            </a:r>
          </a:p>
          <a:p xmlns:a="http://schemas.openxmlformats.org/drawingml/2006/main">
            <a:r>
              <a:t>          "detail": "문서·연구성과·전문가·양식의 색인 구성",</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"허용 지식·색인",</a:t>
            </a:r>
          </a:p>
          <a:p xmlns:a="http://schemas.openxmlformats.org/drawingml/2006/main">
            <a:r>
              <a:t>          "layer": "상태·지식 저장",</a:t>
            </a:r>
          </a:p>
          <a:p xmlns:a="http://schemas.openxmlformats.org/drawingml/2006/main">
            <a:r>
              <a:t>          "detail": "직무별 순위·근거·서식과 모델 전환·복구 결과",</a:t>
            </a:r>
          </a:p>
          <a:p xmlns:a="http://schemas.openxmlformats.org/drawingml/2006/main">
            <a:r>
              <a:t>          "requirements": [</a:t>
            </a:r>
          </a:p>
          <a:p xmlns:a="http://schemas.openxmlformats.org/drawingml/2006/main">
            <a:r>
              <a:t>            "SFR-004",</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"모델·롤백 정책",</a:t>
            </a:r>
          </a:p>
          <a:p xmlns:a="http://schemas.openxmlformats.org/drawingml/2006/main">
            <a:r>
              <a:t>          "layer": "권한·정책",</a:t>
            </a:r>
          </a:p>
          <a:p xmlns:a="http://schemas.openxmlformats.org/drawingml/2006/main">
            <a:r>
              <a:t>          "detail": "전보 전 캐시·권한 없는 연구자료·모델 장애",</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"직원·직무 → 검색 재정렬 → 업무 에이전트 → 문서·운영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"연구행정 지식",</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"소속·직무·검색 이력·진행업무 연결",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"직무별 순위·근거·서식과 모델 전환·복구 결과",</a:t>
            </a:r>
          </a:p>
          <a:p xmlns:a="http://schemas.openxmlformats.org/drawingml/2006/main">
            <a:r>
              <a:t>          "check": "문서·연구성과·전문가·양식의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"재정렬 근거",</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"정형 초안",</a:t>
            </a:r>
          </a:p>
          <a:p xmlns:a="http://schemas.openxmlformats.org/drawingml/2006/main">
            <a:r>
              <a:t>          "check": "직무별 순위·근거·서식과 모델 전환·복구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"SFR-007~012",</a:t>
            </a:r>
          </a:p>
          <a:p xmlns:a="http://schemas.openxmlformats.org/drawingml/2006/main">
            <a:r>
              <a:t>        "extracted": "부서·직무·검색이력을 이용한 재정렬과 정형 문서 생성",</a:t>
            </a:r>
          </a:p>
          <a:p xmlns:a="http://schemas.openxmlformats.org/drawingml/2006/main">
            <a:r>
              <a:t>        "extension": "검색 이력의 권한 확대 방지와 이전 모델 복귀 시험"</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"PF-R03",</a:t>
            </a:r>
          </a:p>
          <a:p xmlns:a="http://schemas.openxmlformats.org/drawingml/2006/main">
            <a:r>
              <a:t>          "path": "assets/casebook-sources/PF-R03-01.png",</a:t>
            </a:r>
          </a:p>
          <a:p xmlns:a="http://schemas.openxmlformats.org/drawingml/2006/main">
            <a:r>
              <a:t>          "title": "생산기술연구원 정보시스템 연계",</a:t>
            </a:r>
          </a:p>
          <a:p xmlns:a="http://schemas.openxmlformats.org/drawingml/2006/main">
            <a:r>
              <a:t>          "status": "RFP 수록 기존 정보시스템 현황",</a:t>
            </a:r>
          </a:p>
          <a:p xmlns:a="http://schemas.openxmlformats.org/drawingml/2006/main">
            <a:r>
              <a:t>          "caption": "연구행정·경영정보·업무지원·지능형 포털 간 연계",</a:t>
            </a:r>
          </a:p>
          <a:p xmlns:a="http://schemas.openxmlformats.org/drawingml/2006/main">
            <a:r>
              <a:t>          "locator": "rId13 / BinData/BIN0002_png",</a:t>
            </a:r>
          </a:p>
          <a:p xmlns:a="http://schemas.openxmlformats.org/drawingml/2006/main">
            <a:r>
              <a:t>          "checked": "2026-10-16",</a:t>
            </a:r>
          </a:p>
          <a:p xmlns:a="http://schemas.openxmlformats.org/drawingml/2006/main">
            <a:r>
              <a:t>          "sha256": "0b49ad15a2d50888b15fdc4d6bb439874425106d7d0a2cf9b92b1c3debb0025b",</a:t>
            </a:r>
          </a:p>
          <a:p xmlns:a="http://schemas.openxmlformats.org/drawingml/2006/main">
            <a:r>
              <a:t>          "explanation": {</a:t>
            </a:r>
          </a:p>
          <a:p xmlns:a="http://schemas.openxmlformats.org/drawingml/2006/main">
            <a:r>
              <a:t>            "read": "연구행정·경영정보·업무지원과 지능형 포털의 기존 연결 현황. 새 AI 모델의 배치도가 아니라 어떤 업무 데이터와 시스템을 고도화 시 연결해야 하는지를 보여 주는 원문.",</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"SFR-007",</a:t>
            </a:r>
          </a:p>
          <a:p xmlns:a="http://schemas.openxmlformats.org/drawingml/2006/main">
            <a:r>
              <a:t>              "SFR-010"</a:t>
            </a:r>
          </a:p>
          <a:p xmlns:a="http://schemas.openxmlformats.org/drawingml/2006/main">
            <a:r>
              <a:t>            ],</a:t>
            </a:r>
          </a:p>
          <a:p xmlns:a="http://schemas.openxmlformats.org/drawingml/2006/main">
            <a:r>
              <a:t>            "connection": "기존 사용자·조직·권한과 연구행정 자료를 재사용하고 직무별 검색, 도메인 도구, 정형 문서 생성을 추가하는 대상 경계의 설정."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"전보 전 캐시·권한 없는 연구자료·모델 장애",</a:t>
            </a:r>
          </a:p>
          <a:p xmlns:a="http://schemas.openxmlformats.org/drawingml/2006/main">
            <a:r>
              <a:t>        "hold": "기존 검색 대비 근거·완료시간 평가",</a:t>
            </a:r>
          </a:p>
          <a:p xmlns:a="http://schemas.openxmlformats.org/drawingml/2006/main">
            <a:r>
              <a:t>        "recovery": "GPU 이중화·모델 롤백·부서별 토큰 계측",</a:t>
            </a:r>
          </a:p>
          <a:p xmlns:a="http://schemas.openxmlformats.org/drawingml/2006/main">
            <a:r>
              <a:t>        "evidence": "직무별 순위·근거·서식과 모델 전환·복구 결과"</a:t>
            </a:r>
          </a:p>
          <a:p xmlns:a="http://schemas.openxmlformats.org/drawingml/2006/main">
            <a:r>
              <a:t>      },</a:t>
            </a:r>
          </a:p>
          <a:p xmlns:a="http://schemas.openxmlformats.org/drawingml/2006/main">
            <a:r>
              <a:t>      "data": {</a:t>
            </a:r>
          </a:p>
          <a:p xmlns:a="http://schemas.openxmlformats.org/drawingml/2006/main">
            <a:r>
              <a:t>        "source": "연구행정 지식",</a:t>
            </a:r>
          </a:p>
          <a:p xmlns:a="http://schemas.openxmlformats.org/drawingml/2006/main">
            <a:r>
              <a:t>        "prepare": "문서·연구성과·전문가·양식의 색인 구성",</a:t>
            </a:r>
          </a:p>
          <a:p xmlns:a="http://schemas.openxmlformats.org/drawingml/2006/main">
            <a:r>
              <a:t>        "output": "직무·질문",</a:t>
            </a:r>
          </a:p>
          <a:p xmlns:a="http://schemas.openxmlformats.org/drawingml/2006/main">
            <a:r>
              <a:t>        "refresh": "GPU 이중화·모델 롤백·부서별 토큰 계측"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"PF-R03",</a:t>
            </a:r>
          </a:p>
          <a:p xmlns:a="http://schemas.openxmlformats.org/drawingml/2006/main">
            <a:r>
              <a:t>    "success": [</a:t>
            </a:r>
          </a:p>
          <a:p xmlns:a="http://schemas.openxmlformats.org/drawingml/2006/main">
            <a:r>
              <a:t>      "기존 연구행정 검색의 고도화",</a:t>
            </a:r>
          </a:p>
          <a:p xmlns:a="http://schemas.openxmlformats.org/drawingml/2006/main">
            <a:r>
              <a:t>      "업무별 에이전트·정형 출력 구성"</a:t>
            </a:r>
          </a:p>
          <a:p xmlns:a="http://schemas.openxmlformats.org/drawingml/2006/main">
            <a:r>
              <a:t>    ],</a:t>
            </a:r>
          </a:p>
          <a:p xmlns:a="http://schemas.openxmlformats.org/drawingml/2006/main">
            <a:r>
              <a:t>    "risks": [</a:t>
            </a:r>
          </a:p>
          <a:p xmlns:a="http://schemas.openxmlformats.org/drawingml/2006/main">
            <a:r>
              <a:t>      "검색 재정렬의 근거 누락",</a:t>
            </a:r>
          </a:p>
          <a:p xmlns:a="http://schemas.openxmlformats.org/drawingml/2006/main">
            <a:r>
              <a:t>      "후속 공고와 도입 완료의 혼동"</a:t>
            </a:r>
          </a:p>
          <a:p xmlns:a="http://schemas.openxmlformats.org/drawingml/2006/main">
            <a:r>
              <a:t>    ],</a:t>
            </a:r>
          </a:p>
          <a:p xmlns:a="http://schemas.openxmlformats.org/drawingml/2006/main">
            <a:r>
              <a:t>    "architecture": [</a:t>
            </a:r>
          </a:p>
          <a:p xmlns:a="http://schemas.openxmlformats.org/drawingml/2006/main">
            <a:r>
              <a:t>      "연구행정 사용자",</a:t>
            </a:r>
          </a:p>
          <a:p xmlns:a="http://schemas.openxmlformats.org/drawingml/2006/main">
            <a:r>
              <a:t>      "검색·업무 에이전트",</a:t>
            </a:r>
          </a:p>
          <a:p xmlns:a="http://schemas.openxmlformats.org/drawingml/2006/main">
            <a:r>
              <a:t>      "연구행정 지식",</a:t>
            </a:r>
          </a:p>
          <a:p xmlns:a="http://schemas.openxmlformats.org/drawingml/2006/main">
            <a:r>
              <a:t>      "문서 작성 담당"</a:t>
            </a:r>
          </a:p>
          <a:p xmlns:a="http://schemas.openxmlformats.org/drawingml/2006/main">
            <a:r>
              <a:t>    ],</a:t>
            </a:r>
          </a:p>
          <a:p xmlns:a="http://schemas.openxmlformats.org/drawingml/2006/main">
            <a:r>
              <a:t>    "transfers": [</a:t>
            </a:r>
          </a:p>
          <a:p xmlns:a="http://schemas.openxmlformats.org/drawingml/2006/main">
            <a:r>
              <a:t>      "직무·질문",</a:t>
            </a:r>
          </a:p>
          <a:p xmlns:a="http://schemas.openxmlformats.org/drawingml/2006/main">
            <a:r>
              <a:t>      "재정렬 근거",</a:t>
            </a:r>
          </a:p>
          <a:p xmlns:a="http://schemas.openxmlformats.org/drawingml/2006/main">
            <a:r>
              <a:t>      "정형 초안",</a:t>
            </a:r>
          </a:p>
          <a:p xmlns:a="http://schemas.openxmlformats.org/drawingml/2006/main">
            <a:r>
              <a:t>      "검토 문서"</a:t>
            </a:r>
          </a:p>
          <a:p xmlns:a="http://schemas.openxmlformats.org/drawingml/2006/main">
            <a:r>
              <a:t>    ],</a:t>
            </a:r>
          </a:p>
          <a:p xmlns:a="http://schemas.openxmlformats.org/drawingml/2006/main">
            <a:r>
              <a:t>    "control": "기존 검색 대비 근거·완료시간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SFR-007~012 / Word T044 https://www.g2b.go.kr/pn/pnp/pnpe/UntyAtchFile/downloadFile.do?bidPbancNo=R26BK01670411&amp;bidPbancOrd=000&amp;fileType=&amp;fileSeq=1&amp;prcmBsneSeCd=03</a:t>
            </a:r>
          </a:p>
          <a:p xmlns:a="http://schemas.openxmlformats.org/drawingml/2006/main">
            <a:r>
              <a:t>홈페이지 https://heen1987-ops.github.io/TS-business-Plan-001/index.html?view=platform-cases&amp;case=PF-R03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한계: Temperature를 상세도와 동일시한 원문 표현은 구현 검증 필요</a:t>
            </a:r>
          </a:p>
          <a:p xmlns:a="http://schemas.openxmlformats.org/drawingml/2006/main">
            <a:r>
              <a:t>실패 위험: 부서 자료의 권한 혼입 / 계약 발표를 안전 품질 검수로 간주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원문 도면 {"caseId":"PF-R04","path":"assets/casebook-sources/PF-R04-01.png","title":"안전 AI H/W 구성","status":"과업내용서 H/W 구성도 예시","caption":"DMZ AI 서치와 내부 안전 AI·RAG·LLM·DB 구성","locator":"rId14 / BinData/BIN0001_bmp","checked":"2026-10-16","sha256":"47450653a73f8241e06210e73728a502e3d332cafb949494da1a9833622e77a3","explanation":{"read":"DMZ와 내부 영역의 AI 서치·안전 AI·RAG·LLM·DB 배치를 구분한 H/W 구성 예시. 외부 접점과 내부 지식의 접근 경계를 인프라 관점에서 표현.","requirements":["SFR-005","SFR-006","SFR-007"],"connection":"공개 조회와 내부 안전 문서의 경계를 분리하고 개인·부서 지식공간의 권한이 검색과 응답 양쪽에 적용되는지 확인하는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a:p xmlns:a="http://schemas.openxmlformats.org/drawingml/2006/main">
            <a:r>
              <a:t>원문 도면 {"caseId":"PF-R04","path":"assets/casebook-sources/PF-R04-02.png","title":"안전 AI S/W 구성","status":"과업내용서 S/W 구성도 예시","caption":"안전 지식·RAG와 외부 LLM API 업무 지원의 구분","locator":"rId14 / BinData/BIN0002_bmp","checked":"2026-10-16","sha256":"607e9e60f0ab618fa7cdca53b108478e11e89b59866b5f5e7bd063e5d01aac5c","explanation":{"read":"안전 지식의 검색·RAG 경로와 외부 모델 API를 활용하는 업무 지원 경로를 구분한 S/W 구성 예시. 문서 최신화와 지식공간 관리는 생성 기능을 유지하기 위한 별도 운영 기능.","requirements":["SFR-005","SFR-006","SFR-007","SFR-008"],"connection":"외부 모델로 전송할 입력 범위, 문서 개정 후 색인 갱신, 청크 오류와 임베딩 재처리의 상태를 서로 구분하는 서비스·운영 계약."}}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"PF-R04",</a:t>
            </a:r>
          </a:p>
          <a:p xmlns:a="http://schemas.openxmlformats.org/drawingml/2006/main">
            <a:r>
              <a:t>    "sourceId": "R04",</a:t>
            </a:r>
          </a:p>
          <a:p xmlns:a="http://schemas.openxmlformats.org/drawingml/2006/main">
            <a:r>
              <a:t>    "title": "지역난방공사 안전 LLM",</a:t>
            </a:r>
          </a:p>
          <a:p xmlns:a="http://schemas.openxmlformats.org/drawingml/2006/main">
            <a:r>
              <a:t>    "region": "국내",</a:t>
            </a:r>
          </a:p>
          <a:p xmlns:a="http://schemas.openxmlformats.org/drawingml/2006/main">
            <a:r>
              <a:t>    "owner": "한국지역난방공사",</a:t>
            </a:r>
          </a:p>
          <a:p xmlns:a="http://schemas.openxmlformats.org/drawingml/2006/main">
            <a:r>
              <a:t>    "state": "공식 RFP·과업내용서 + 공급사 계약 발표 확인",</a:t>
            </a:r>
          </a:p>
          <a:p xmlns:a="http://schemas.openxmlformats.org/drawingml/2006/main">
            <a:r>
              <a:t>    "period": "기존 원장 확인 2026.10.16",</a:t>
            </a:r>
          </a:p>
          <a:p xmlns:a="http://schemas.openxmlformats.org/drawingml/2006/main">
            <a:r>
              <a:t>    "fact": "안전분야 LLM과 사내 검색·문서 검토·개인/부서 지식공간",</a:t>
            </a:r>
          </a:p>
          <a:p xmlns:a="http://schemas.openxmlformats.org/drawingml/2006/main">
            <a:r>
              <a:t>    "limit": "Temperature를 상세도와 동일시한 원문 표현은 구현 검증 필요",</a:t>
            </a:r>
          </a:p>
          <a:p xmlns:a="http://schemas.openxmlformats.org/drawingml/2006/main">
            <a:r>
              <a:t>    "nodes": [</a:t>
            </a:r>
          </a:p>
          <a:p xmlns:a="http://schemas.openxmlformats.org/drawingml/2006/main">
            <a:r>
              <a:t>      "안전·규정 지식",</a:t>
            </a:r>
          </a:p>
          <a:p xmlns:a="http://schemas.openxmlformats.org/drawingml/2006/main">
            <a:r>
              <a:t>      "권한별 검색",</a:t>
            </a:r>
          </a:p>
          <a:p xmlns:a="http://schemas.openxmlformats.org/drawingml/2006/main">
            <a:r>
              <a:t>      "문서 검토",</a:t>
            </a:r>
          </a:p>
          <a:p xmlns:a="http://schemas.openxmlformats.org/drawingml/2006/main">
            <a:r>
              <a:t>      "현업 피드백"</a:t>
            </a:r>
          </a:p>
          <a:p xmlns:a="http://schemas.openxmlformats.org/drawingml/2006/main">
            <a:r>
              <a:t>    ],</a:t>
            </a:r>
          </a:p>
          <a:p xmlns:a="http://schemas.openxmlformats.org/drawingml/2006/main">
            <a:r>
              <a:t>    "apply": "안전 지식의 소유부서·효력일·상충 근거를 함께 관리하는 검토 체계",</a:t>
            </a:r>
          </a:p>
          <a:p xmlns:a="http://schemas.openxmlformats.org/drawingml/2006/main">
            <a:r>
              <a:t>    "delta": "안전 규정 효력일·소유부서 / 자동 갱신 / 상충 근거 표시",</a:t>
            </a:r>
          </a:p>
          <a:p xmlns:a="http://schemas.openxmlformats.org/drawingml/2006/main">
            <a:r>
              <a:t>    "test": "개정·폐지·권한 제한·상충 문서의 검색 및 검토 결과 대조",</a:t>
            </a:r>
          </a:p>
          <a:p xmlns:a="http://schemas.openxmlformats.org/drawingml/2006/main">
            <a:r>
              <a:t>    "url": "https://www.g2b.go.kr/pn/pnp/pnpe/UntyAtchFile/downloadFile.do?bidPbancNo=R25BK00790330&amp;bidPbancOrd=000&amp;fileSeq=8&amp;fileType=",</a:t>
            </a:r>
          </a:p>
          <a:p xmlns:a="http://schemas.openxmlformats.org/drawingml/2006/main">
            <a:r>
              <a:t>    "urls": [</a:t>
            </a:r>
          </a:p>
          <a:p xmlns:a="http://schemas.openxmlformats.org/drawingml/2006/main">
            <a:r>
              <a:t>      "https://www.g2b.go.kr/pn/pnp/pnpe/UntyAtchFile/downloadFile.do?bidPbancNo=R25BK00790330&amp;bidPbancOrd=000&amp;fileSeq=8&amp;fileType=",</a:t>
            </a:r>
          </a:p>
          <a:p xmlns:a="http://schemas.openxmlformats.org/drawingml/2006/main">
            <a:r>
              <a:t>      "https://gridone.co.kr/community/news/143"</a:t>
            </a:r>
          </a:p>
          <a:p xmlns:a="http://schemas.openxmlformats.org/drawingml/2006/main">
            <a:r>
              <a:t>    ],</a:t>
            </a:r>
          </a:p>
          <a:p xmlns:a="http://schemas.openxmlformats.org/drawingml/2006/main">
            <a:r>
              <a:t>    "basis": "SFR-005~008 (과업내용서) / Word T053",</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"구버전 인용률 / 개정 반영 지연 / 검토 누락률",</a:t>
            </a:r>
          </a:p>
          <a:p xmlns:a="http://schemas.openxmlformats.org/drawingml/2006/main">
            <a:r>
              <a:t>    "group": "요구·구축",</a:t>
            </a:r>
          </a:p>
          <a:p xmlns:a="http://schemas.openxmlformats.org/drawingml/2006/main">
            <a:r>
              <a:t>    "sourceDetail": "자동 문서 최신화, 규정 대조, 권한별 지식 폴더, RAG 파이프라인·피드백·상충 출처 표시",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"PF-R04",</a:t>
            </a:r>
          </a:p>
          <a:p xmlns:a="http://schemas.openxmlformats.org/drawingml/2006/main">
            <a:r>
              <a:t>    "canonicalId": "PF-R04",</a:t>
            </a:r>
          </a:p>
          <a:p xmlns:a="http://schemas.openxmlformats.org/drawingml/2006/main">
            <a:r>
              <a:t>    "purpose": "안전 지식검색과 규정 대조의 업무 적용",</a:t>
            </a:r>
          </a:p>
          <a:p xmlns:a="http://schemas.openxmlformats.org/drawingml/2006/main">
            <a:r>
              <a:t>    "users": "안전 담당·부서 지식 관리자",</a:t>
            </a:r>
          </a:p>
          <a:p xmlns:a="http://schemas.openxmlformats.org/drawingml/2006/main">
            <a:r>
              <a:t>    "scope": [</a:t>
            </a:r>
          </a:p>
          <a:p xmlns:a="http://schemas.openxmlformats.org/drawingml/2006/main">
            <a:r>
              <a:t>      "안전 LLM",</a:t>
            </a:r>
          </a:p>
          <a:p xmlns:a="http://schemas.openxmlformats.org/drawingml/2006/main">
            <a:r>
              <a:t>      "문서 검토",</a:t>
            </a:r>
          </a:p>
          <a:p xmlns:a="http://schemas.openxmlformats.org/drawingml/2006/main">
            <a:r>
              <a:t>      "부서 지식공간"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현업",</a:t>
            </a:r>
          </a:p>
          <a:p xmlns:a="http://schemas.openxmlformats.org/drawingml/2006/main">
            <a:r>
              <a:t>        "detail": "사용자 권한·문서 공간·검토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"안전 LLM / 문서 검토 / 부서 지식공간",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"권한 검색·문서 검토",</a:t>
            </a:r>
          </a:p>
          <a:p xmlns:a="http://schemas.openxmlformats.org/drawingml/2006/main">
            <a:r>
              <a:t>        "detail": "RAG 검색과 제출 문서·규정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"검토 담당",</a:t>
            </a:r>
          </a:p>
          <a:p xmlns:a="http://schemas.openxmlformats.org/drawingml/2006/main">
            <a:r>
              <a:t>        "detail": "상충 근거·검토 의견을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규정·부서 지식",</a:t>
            </a:r>
          </a:p>
          <a:p xmlns:a="http://schemas.openxmlformats.org/drawingml/2006/main">
            <a:r>
              <a:t>        "detail": "연계 문서 자동 갱신·권한 폴더·출처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"피드백·개정 반영·권한별 검색 결과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"안전·규정 지식",</a:t>
            </a:r>
          </a:p>
          <a:p xmlns:a="http://schemas.openxmlformats.org/drawingml/2006/main">
            <a:r>
              <a:t>        "input": "사용자 권한·문서 공간·검토 목적 확인",</a:t>
            </a:r>
          </a:p>
          <a:p xmlns:a="http://schemas.openxmlformats.org/drawingml/2006/main">
            <a:r>
              <a:t>        "process": "연계 문서 자동 갱신·권한 폴더·출처 관리",</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"안전 문서",</a:t>
            </a:r>
          </a:p>
          <a:p xmlns:a="http://schemas.openxmlformats.org/drawingml/2006/main">
            <a:r>
              <a:t>        "process": "RAG 검색과 제출 문서·규정 비교",</a:t>
            </a:r>
          </a:p>
          <a:p xmlns:a="http://schemas.openxmlformats.org/drawingml/2006/main">
            <a:r>
              <a:t>        "output": "허용 지식"</a:t>
            </a:r>
          </a:p>
          <a:p xmlns:a="http://schemas.openxmlformats.org/drawingml/2006/main">
            <a:r>
              <a:t>      },</a:t>
            </a:r>
          </a:p>
          <a:p xmlns:a="http://schemas.openxmlformats.org/drawingml/2006/main">
            <a:r>
              <a:t>      {</a:t>
            </a:r>
          </a:p>
          <a:p xmlns:a="http://schemas.openxmlformats.org/drawingml/2006/main">
            <a:r>
              <a:t>        "title": "문서 검토",</a:t>
            </a:r>
          </a:p>
          <a:p xmlns:a="http://schemas.openxmlformats.org/drawingml/2006/main">
            <a:r>
              <a:t>        "input": "허용 지식",</a:t>
            </a:r>
          </a:p>
          <a:p xmlns:a="http://schemas.openxmlformats.org/drawingml/2006/main">
            <a:r>
              <a:t>        "process": "권한·판본별 안전 질의 정답 대조",</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"현업 피드백",</a:t>
            </a:r>
          </a:p>
          <a:p xmlns:a="http://schemas.openxmlformats.org/drawingml/2006/main">
            <a:r>
              <a:t>        "input": "검토 초안",</a:t>
            </a:r>
          </a:p>
          <a:p xmlns:a="http://schemas.openxmlformats.org/drawingml/2006/main">
            <a:r>
              <a:t>        "process":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"안전 문서를 최신 규정과 대조하고 부서 공간에서 검토",</a:t>
            </a:r>
          </a:p>
          <a:p xmlns:a="http://schemas.openxmlformats.org/drawingml/2006/main">
            <a:r>
              <a:t>      "exception": "폐지 규정·부서 제한 문서·서로 상충하는 출처",</a:t>
            </a:r>
          </a:p>
          <a:p xmlns:a="http://schemas.openxmlformats.org/drawingml/2006/main">
            <a:r>
              <a:t>      "evidence": "판본·권한별 응답과 상충 근거 표시·수정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 담당·부서 지식 관리자",</a:t>
            </a:r>
          </a:p>
          <a:p xmlns:a="http://schemas.openxmlformats.org/drawingml/2006/main">
            <a:r>
              <a:t>          "processing": "사용자 권한·문서 공간·검토 목적 확인",</a:t>
            </a:r>
          </a:p>
          <a:p xmlns:a="http://schemas.openxmlformats.org/drawingml/2006/main">
            <a:r>
              <a:t>          "output": "안전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규정·부서 지식",</a:t>
            </a:r>
          </a:p>
          <a:p xmlns:a="http://schemas.openxmlformats.org/drawingml/2006/main">
            <a:r>
              <a:t>          "processing": "연계 문서 자동 갱신·권한 폴더·출처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"안전 문서",</a:t>
            </a:r>
          </a:p>
          <a:p xmlns:a="http://schemas.openxmlformats.org/drawingml/2006/main">
            <a:r>
              <a:t>          "processing": "RAG 검색과 제출 문서·규정 비교",</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"상충 근거·검토 의견을 현업에 제공",</a:t>
            </a:r>
          </a:p>
          <a:p xmlns:a="http://schemas.openxmlformats.org/drawingml/2006/main">
            <a:r>
              <a:t>          "output":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"피드백·개정 반영·권한별 검색 결과 검사",</a:t>
            </a:r>
          </a:p>
          <a:p xmlns:a="http://schemas.openxmlformats.org/drawingml/2006/main">
            <a:r>
              <a:t>          "output": "판본·권한별 응답과 상충 근거 표시·수정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"피드백·개정 반영·권한별 검색 결과 검사",</a:t>
            </a:r>
          </a:p>
          <a:p xmlns:a="http://schemas.openxmlformats.org/drawingml/2006/main">
            <a:r>
              <a:t>    "status": "RFP 기반 논리 설계",</a:t>
            </a:r>
          </a:p>
          <a:p xmlns:a="http://schemas.openxmlformats.org/drawingml/2006/main">
            <a:r>
              <a:t>    "basis": "과업내용서 2025.03 · SFR-005~008",</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"SFR-005~008 (과업내용서) / Word T053",</a:t>
            </a:r>
          </a:p>
          <a:p xmlns:a="http://schemas.openxmlformats.org/drawingml/2006/main">
            <a:r>
              <a:t>        "url": "https://www.g2b.go.kr/pn/pnp/pnpe/UntyAtchFile/downloadFile.do?bidPbancNo=R25BK00790330&amp;bidPbancOrd=000&amp;fileSeq=8&amp;fileType="</a:t>
            </a:r>
          </a:p>
          <a:p xmlns:a="http://schemas.openxmlformats.org/drawingml/2006/main">
            <a:r>
              <a:t>      }</a:t>
            </a:r>
          </a:p>
          <a:p xmlns:a="http://schemas.openxmlformats.org/drawingml/2006/main">
            <a:r>
              <a:t>    ],</a:t>
            </a:r>
          </a:p>
          <a:p xmlns:a="http://schemas.openxmlformats.org/drawingml/2006/main">
            <a:r>
              <a:t>    "implication": "안전 지식의 소유부서·효력일·상충 근거를 함께 관리하는 검토 체계",</a:t>
            </a:r>
          </a:p>
          <a:p xmlns:a="http://schemas.openxmlformats.org/drawingml/2006/main">
            <a:r>
              <a:t>    "local": "안전 지식의 소유부서·효력일·상충 근거를 함께 관리하는 검토 체계",</a:t>
            </a:r>
          </a:p>
          <a:p xmlns:a="http://schemas.openxmlformats.org/drawingml/2006/main">
            <a:r>
              <a:t>    "sourceDetail": "자동 문서 최신화, 규정 대조, 권한별 지식 폴더, RAG 파이프라인·피드백·상충 출처 표시",</a:t>
            </a:r>
          </a:p>
          <a:p xmlns:a="http://schemas.openxmlformats.org/drawingml/2006/main">
            <a:r>
              <a:t>    "narrative": [</a:t>
            </a:r>
          </a:p>
          <a:p xmlns:a="http://schemas.openxmlformats.org/drawingml/2006/main">
            <a:r>
              <a:t>      "내부 안전 규정·작업절차를 활용하는 안전 AI와 외부 상용 LLM을 이용하는 AI 서치를 구분한 시범구축. 범용 문서 작성뿐 아니라 제출 문서를 규정과 대조하고, 개인·부서 지식공간을 구성하는 업무 범위.",</a:t>
            </a:r>
          </a:p>
          <a:p xmlns:a="http://schemas.openxmlformats.org/drawingml/2006/main">
            <a:r>
              <a:t>      "원문 예시 도면에서는 통합 UI 아래 DMZ의 AI 서치와 내부 안전 AI·RAG·LLM·DB를 분리. 과업내용서는 문서 자동 최신화, 부서별 접근권한, 청크·임베딩 품질 확인, 실패 문서 재처리까지 요구. 업로드 성공과 검색 가능한 지식 등록 완료의 별도 상태 관리.",</a:t>
            </a:r>
          </a:p>
          <a:p xmlns:a="http://schemas.openxmlformats.org/drawingml/2006/main">
            <a:r>
              <a:t>      "CCK에서는 안전 답변의 문장 품질과 규정 판본·접근권한의 정확성을 별도 시험할 필요. 상충하는 두 규정이 검색될 때 한쪽을 감추기보다 근거와 적용 시점을 함께 제시하는 구조. 외부 모델과 내부 자료의 전달 경계를 TS 보안 환경에 맞춰 재설계할 대상."</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"SFR-005",</a:t>
            </a:r>
          </a:p>
          <a:p xmlns:a="http://schemas.openxmlformats.org/drawingml/2006/main">
            <a:r>
              <a:t>        "title": "생성형 AI 활용 서비스 개발(1/2)",</a:t>
            </a:r>
          </a:p>
          <a:p xmlns:a="http://schemas.openxmlformats.org/drawingml/2006/main">
            <a:r>
              <a:t>        "locator": "SFR-005",</a:t>
            </a:r>
          </a:p>
          <a:p xmlns:a="http://schemas.openxmlformats.org/drawingml/2006/main">
            <a:r>
              <a:t>        "summary": "안전 지식 검색, 근거 링크, 최신 문서 활용, 문서·규칙 검토와 번역 등 생성형 AI 서비스.",</a:t>
            </a:r>
          </a:p>
          <a:p xmlns:a="http://schemas.openxmlformats.org/drawingml/2006/main">
            <a:r>
              <a:t>        "data": "안전 문서·검토 대상 → 근거 응답·검토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"폐기 기준과 현행 기준의 충돌, 문서 인용 오류, 번역의 수치·단위 보존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"25b5da73d68c5556b94c8dfb58ef7569f5ab58304d1786741dc255ac502e1f42"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활용 서비스 개발(2/2)",</a:t>
            </a:r>
          </a:p>
          <a:p xmlns:a="http://schemas.openxmlformats.org/drawingml/2006/main">
            <a:r>
              <a:t>        "locator": "SFR-006",</a:t>
            </a:r>
          </a:p>
          <a:p xmlns:a="http://schemas.openxmlformats.org/drawingml/2006/main">
            <a:r>
              <a:t>        "summary": "개인·부서 지식공간, 접근 이력, 답변 품질 피드백을 포함한 서비스 운영.",</a:t>
            </a:r>
          </a:p>
          <a:p xmlns:a="http://schemas.openxmlformats.org/drawingml/2006/main">
            <a:r>
              <a:t>        "data": "개인·부서 자료·피드백 → 허용 검색·개선 이력",</a:t>
            </a:r>
          </a:p>
          <a:p xmlns:a="http://schemas.openxmlformats.org/drawingml/2006/main">
            <a:r>
              <a:t>        "components": [</a:t>
            </a:r>
          </a:p>
          <a:p xmlns:a="http://schemas.openxmlformats.org/drawingml/2006/main">
            <a:r>
              <a:t>          "C02",</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"부서 간 공유 해제·소유자 변경·상충 문서 입력 후 접근·경고·피드백 반영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"f4945d58e397848afbc6b098dcb64f6b12e526fc2cecae10f7d27e2ad93dfeeb"</a:t>
            </a:r>
          </a:p>
          <a:p xmlns:a="http://schemas.openxmlformats.org/drawingml/2006/main">
            <a:r>
              <a:t>      },</a:t>
            </a:r>
          </a:p>
          <a:p xmlns:a="http://schemas.openxmlformats.org/drawingml/2006/main">
            <a:r>
              <a:t>      {</a:t>
            </a:r>
          </a:p>
          <a:p xmlns:a="http://schemas.openxmlformats.org/drawingml/2006/main">
            <a:r>
              <a:t>        "id": "SFR-007",</a:t>
            </a:r>
          </a:p>
          <a:p xmlns:a="http://schemas.openxmlformats.org/drawingml/2006/main">
            <a:r>
              <a:t>        "title": "RAG 파이프라인 기본 기능",</a:t>
            </a:r>
          </a:p>
          <a:p xmlns:a="http://schemas.openxmlformats.org/drawingml/2006/main">
            <a:r>
              <a:t>        "locator": "SFR-007",</a:t>
            </a:r>
          </a:p>
          <a:p xmlns:a="http://schemas.openxmlformats.org/drawingml/2006/main">
            <a:r>
              <a:t>        "summary": "문서 메타데이터·최신성·권한을 반영하는 RAG 파이프라인과 검색 결과 재정렬.",</a:t>
            </a:r>
          </a:p>
          <a:p xmlns:a="http://schemas.openxmlformats.org/drawingml/2006/main">
            <a:r>
              <a:t>        "data": "문서·권한·판본 → 청크·색인·근거 후보",</a:t>
            </a:r>
          </a:p>
          <a:p xmlns:a="http://schemas.openxmlformats.org/drawingml/2006/main">
            <a:r>
              <a:t>        "components": [</a:t>
            </a:r>
          </a:p>
          <a:p xmlns:a="http://schemas.openxmlformats.org/drawingml/2006/main">
            <a:r>
              <a:t>          "C03",</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"동일 문서 개정·삭제와 권한 변경 후 검색 결과·인용 판본의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"6f87f23072fbc43c688f6da23e43fb4733d4e55ddcab3f3e4ebdbae410ee9e63"</a:t>
            </a:r>
          </a:p>
          <a:p xmlns:a="http://schemas.openxmlformats.org/drawingml/2006/main">
            <a:r>
              <a:t>      },</a:t>
            </a:r>
          </a:p>
          <a:p xmlns:a="http://schemas.openxmlformats.org/drawingml/2006/main">
            <a:r>
              <a:t>      {</a:t>
            </a:r>
          </a:p>
          <a:p xmlns:a="http://schemas.openxmlformats.org/drawingml/2006/main">
            <a:r>
              <a:t>        "id": "SFR-008",</a:t>
            </a:r>
          </a:p>
          <a:p xmlns:a="http://schemas.openxmlformats.org/drawingml/2006/main">
            <a:r>
              <a:t>        "title": "RAG 파이프라인 품질 관리 도구",</a:t>
            </a:r>
          </a:p>
          <a:p xmlns:a="http://schemas.openxmlformats.org/drawingml/2006/main">
            <a:r>
              <a:t>        "locator": "SFR-008",</a:t>
            </a:r>
          </a:p>
          <a:p xmlns:a="http://schemas.openxmlformats.org/drawingml/2006/main">
            <a:r>
              <a:t>        "summary": "청크 품질 확인, 미리보기, 임베딩 실패와 재처리 대기열을 관리하는 RAG 품질 도구.",</a:t>
            </a:r>
          </a:p>
          <a:p xmlns:a="http://schemas.openxmlformats.org/drawingml/2006/main">
            <a:r>
              <a:t>        "data": "처리 대상·실패 로그 → 품질 상태·재처리 결과",</a:t>
            </a:r>
          </a:p>
          <a:p xmlns:a="http://schemas.openxmlformats.org/drawingml/2006/main">
            <a:r>
              <a:t>        "components": [</a:t>
            </a:r>
          </a:p>
          <a:p xmlns:a="http://schemas.openxmlformats.org/drawingml/2006/main">
            <a:r>
              <a:t>          "C08",</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"표 분절·빈 청크·임베딩 실패를 주입해 탐지·재처리·색인 반영까지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"1a9d64ce29e584a1eabb8503cc98e9abde38893210ab6dcc4e3f33e8e440394e"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 현업 접점",</a:t>
            </a:r>
          </a:p>
          <a:p xmlns:a="http://schemas.openxmlformats.org/drawingml/2006/main">
            <a:r>
              <a:t>          "layer": "이용 접점",</a:t>
            </a:r>
          </a:p>
          <a:p xmlns:a="http://schemas.openxmlformats.org/drawingml/2006/main">
            <a:r>
              <a:t>          "detail": "안전 담당·부서 지식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"직원·폴더 권한",</a:t>
            </a:r>
          </a:p>
          <a:p xmlns:a="http://schemas.openxmlformats.org/drawingml/2006/main">
            <a:r>
              <a:t>          "layer": "업무 문맥",</a:t>
            </a:r>
          </a:p>
          <a:p xmlns:a="http://schemas.openxmlformats.org/drawingml/2006/main">
            <a:r>
              <a:t>          "detail": "사용자 권한·문서 공간·검토 목적 확인",</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"안전 지식 검색",</a:t>
            </a:r>
          </a:p>
          <a:p xmlns:a="http://schemas.openxmlformats.org/drawingml/2006/main">
            <a:r>
              <a:t>          "layer": "자료 조회",</a:t>
            </a:r>
          </a:p>
          <a:p xmlns:a="http://schemas.openxmlformats.org/drawingml/2006/main">
            <a:r>
              <a:t>          "detail": "안전 문서",</a:t>
            </a:r>
          </a:p>
          <a:p xmlns:a="http://schemas.openxmlformats.org/drawingml/2006/main">
            <a:r>
              <a:t>          "requirements": [</a:t>
            </a:r>
          </a:p>
          <a:p xmlns:a="http://schemas.openxmlformats.org/drawingml/2006/main">
            <a:r>
              <a:t>            "SFR-005",</a:t>
            </a:r>
          </a:p>
          <a:p xmlns:a="http://schemas.openxmlformats.org/drawingml/2006/main">
            <a:r>
              <a:t>            "SFR-007"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"문서·규정 대조",</a:t>
            </a:r>
          </a:p>
          <a:p xmlns:a="http://schemas.openxmlformats.org/drawingml/2006/main">
            <a:r>
              <a:t>          "layer": "핵심 처리",</a:t>
            </a:r>
          </a:p>
          <a:p xmlns:a="http://schemas.openxmlformats.org/drawingml/2006/main">
            <a:r>
              <a:t>          "detail": "RAG 검색과 제출 문서·규정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"상충·구판 검사",</a:t>
            </a:r>
          </a:p>
          <a:p xmlns:a="http://schemas.openxmlformats.org/drawingml/2006/main">
            <a:r>
              <a:t>          "layer": "결과 검증",</a:t>
            </a:r>
          </a:p>
          <a:p xmlns:a="http://schemas.openxmlformats.org/drawingml/2006/main">
            <a:r>
              <a:t>          "detail": "권한·판본별 안전 질의 정답 대조",</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"안전 문서를 최신 규정과 대조하고 부서 공간에서 검토",</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검토 의견",</a:t>
            </a:r>
          </a:p>
          <a:p xmlns:a="http://schemas.openxmlformats.org/drawingml/2006/main">
            <a:r>
              <a:t>          "layer": "업무 연결",</a:t>
            </a:r>
          </a:p>
          <a:p xmlns:a="http://schemas.openxmlformats.org/drawingml/2006/main">
            <a:r>
              <a:t>          "detail": "상충 근거·검토 의견을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"피드백·권한 시험",</a:t>
            </a:r>
          </a:p>
          <a:p xmlns:a="http://schemas.openxmlformats.org/drawingml/2006/main">
            <a:r>
              <a:t>          "layer": "운영 관측",</a:t>
            </a:r>
          </a:p>
          <a:p xmlns:a="http://schemas.openxmlformats.org/drawingml/2006/main">
            <a:r>
              <a:t>          "detail": "피드백·개정 반영·권한별 검색 결과 검사",</a:t>
            </a:r>
          </a:p>
          <a:p xmlns:a="http://schemas.openxmlformats.org/drawingml/2006/main">
            <a:r>
              <a:t>          "requirements": [</a:t>
            </a:r>
          </a:p>
          <a:p xmlns:a="http://schemas.openxmlformats.org/drawingml/2006/main">
            <a:r>
              <a:t>            "SFR-006",</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"안전규정·부서문서",</a:t>
            </a:r>
          </a:p>
          <a:p xmlns:a="http://schemas.openxmlformats.org/drawingml/2006/main">
            <a:r>
              <a:t>          "layer": "데이터 원천",</a:t>
            </a:r>
          </a:p>
          <a:p xmlns:a="http://schemas.openxmlformats.org/drawingml/2006/main">
            <a:r>
              <a:t>          "detail": "안전 규정·부서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"자동 문서 최신화",</a:t>
            </a:r>
          </a:p>
          <a:p xmlns:a="http://schemas.openxmlformats.org/drawingml/2006/main">
            <a:r>
              <a:t>          "layer": "준비·갱신",</a:t>
            </a:r>
          </a:p>
          <a:p xmlns:a="http://schemas.openxmlformats.org/drawingml/2006/main">
            <a:r>
              <a:t>          "detail": "연계 문서 자동 갱신·권한 폴더·출처 관리",</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"폴더·RAG 색인",</a:t>
            </a:r>
          </a:p>
          <a:p xmlns:a="http://schemas.openxmlformats.org/drawingml/2006/main">
            <a:r>
              <a:t>          "layer": "상태·지식 저장",</a:t>
            </a:r>
          </a:p>
          <a:p xmlns:a="http://schemas.openxmlformats.org/drawingml/2006/main">
            <a:r>
              <a:t>          "detail": "판본·권한별 응답과 상충 근거 표시·수정 이력",</a:t>
            </a:r>
          </a:p>
          <a:p xmlns:a="http://schemas.openxmlformats.org/drawingml/2006/main">
            <a:r>
              <a:t>          "requirements": [</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"지식공간 접근정책",</a:t>
            </a:r>
          </a:p>
          <a:p xmlns:a="http://schemas.openxmlformats.org/drawingml/2006/main">
            <a:r>
              <a:t>          "layer": "권한·정책",</a:t>
            </a:r>
          </a:p>
          <a:p xmlns:a="http://schemas.openxmlformats.org/drawingml/2006/main">
            <a:r>
              <a:t>          "detail": "폐지 규정·부서 제한 문서·서로 상충하는 출처",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"안전·규정 지식 → 권한별 검색 → 문서 검토 → 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"안전 규정·부서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"허용 지식",</a:t>
            </a:r>
          </a:p>
          <a:p xmlns:a="http://schemas.openxmlformats.org/drawingml/2006/main">
            <a:r>
              <a:t>          "check": "연계 문서 자동 갱신·권한 폴더·출처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"검토 초안",</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"피드백",</a:t>
            </a:r>
          </a:p>
          <a:p xmlns:a="http://schemas.openxmlformats.org/drawingml/2006/main">
            <a:r>
              <a:t>          "check": "판본·권한별 응답과 상충 근거 표시·수정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"HW·SW 구성도(예시), SFR-005~008",</a:t>
            </a:r>
          </a:p>
          <a:p xmlns:a="http://schemas.openxmlformats.org/drawingml/2006/main">
            <a:r>
              <a:t>        "extracted": "안전 AI·AI 서치·RAG·지식공간·문서 최신화",</a:t>
            </a:r>
          </a:p>
          <a:p xmlns:a="http://schemas.openxmlformats.org/drawingml/2006/main">
            <a:r>
              <a:t>        "extension": "상충 출처 검토, 폴더별 접근 검사와 개정 후 재평가"</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"PF-R04",</a:t>
            </a:r>
          </a:p>
          <a:p xmlns:a="http://schemas.openxmlformats.org/drawingml/2006/main">
            <a:r>
              <a:t>          "path": "assets/casebook-sources/PF-R04-01.png",</a:t>
            </a:r>
          </a:p>
          <a:p xmlns:a="http://schemas.openxmlformats.org/drawingml/2006/main">
            <a:r>
              <a:t>          "title": "안전 AI H/W 구성",</a:t>
            </a:r>
          </a:p>
          <a:p xmlns:a="http://schemas.openxmlformats.org/drawingml/2006/main">
            <a:r>
              <a:t>          "status": "과업내용서 H/W 구성도 예시",</a:t>
            </a:r>
          </a:p>
          <a:p xmlns:a="http://schemas.openxmlformats.org/drawingml/2006/main">
            <a:r>
              <a:t>          "caption": "DMZ AI 서치와 내부 안전 AI·RAG·LLM·DB 구성",</a:t>
            </a:r>
          </a:p>
          <a:p xmlns:a="http://schemas.openxmlformats.org/drawingml/2006/main">
            <a:r>
              <a:t>          "locator": "rId14 / BinData/BIN0001_bmp",</a:t>
            </a:r>
          </a:p>
          <a:p xmlns:a="http://schemas.openxmlformats.org/drawingml/2006/main">
            <a:r>
              <a:t>          "checked": "2026-10-16",</a:t>
            </a:r>
          </a:p>
          <a:p xmlns:a="http://schemas.openxmlformats.org/drawingml/2006/main">
            <a:r>
              <a:t>          "sha256": "47450653a73f8241e06210e73728a502e3d332cafb949494da1a9833622e77a3",</a:t>
            </a:r>
          </a:p>
          <a:p xmlns:a="http://schemas.openxmlformats.org/drawingml/2006/main">
            <a:r>
              <a:t>          "explanation": {</a:t>
            </a:r>
          </a:p>
          <a:p xmlns:a="http://schemas.openxmlformats.org/drawingml/2006/main">
            <a:r>
              <a:t>            "read": "DMZ와 내부 영역의 AI 서치·안전 AI·RAG·LLM·DB 배치를 구분한 H/W 구성 예시. 외부 접점과 내부 지식의 접근 경계를 인프라 관점에서 표현.",</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a:t>
            </a:r>
          </a:p>
          <a:p xmlns:a="http://schemas.openxmlformats.org/drawingml/2006/main">
            <a:r>
              <a:t>            "connection": "공개 조회와 내부 안전 문서의 경계를 분리하고 개인·부서 지식공간의 권한이 검색과 응답 양쪽에 적용되는지 확인하는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"PF-R04",</a:t>
            </a:r>
          </a:p>
          <a:p xmlns:a="http://schemas.openxmlformats.org/drawingml/2006/main">
            <a:r>
              <a:t>          "path": "assets/casebook-sources/PF-R04-02.png",</a:t>
            </a:r>
          </a:p>
          <a:p xmlns:a="http://schemas.openxmlformats.org/drawingml/2006/main">
            <a:r>
              <a:t>          "title": "안전 AI S/W 구성",</a:t>
            </a:r>
          </a:p>
          <a:p xmlns:a="http://schemas.openxmlformats.org/drawingml/2006/main">
            <a:r>
              <a:t>          "status": "과업내용서 S/W 구성도 예시",</a:t>
            </a:r>
          </a:p>
          <a:p xmlns:a="http://schemas.openxmlformats.org/drawingml/2006/main">
            <a:r>
              <a:t>          "caption": "안전 지식·RAG와 외부 LLM API 업무 지원의 구분",</a:t>
            </a:r>
          </a:p>
          <a:p xmlns:a="http://schemas.openxmlformats.org/drawingml/2006/main">
            <a:r>
              <a:t>          "locator": "rId14 / BinData/BIN0002_bmp",</a:t>
            </a:r>
          </a:p>
          <a:p xmlns:a="http://schemas.openxmlformats.org/drawingml/2006/main">
            <a:r>
              <a:t>          "checked": "2026-10-16",</a:t>
            </a:r>
          </a:p>
          <a:p xmlns:a="http://schemas.openxmlformats.org/drawingml/2006/main">
            <a:r>
              <a:t>          "sha256": "607e9e60f0ab618fa7cdca53b108478e11e89b59866b5f5e7bd063e5d01aac5c",</a:t>
            </a:r>
          </a:p>
          <a:p xmlns:a="http://schemas.openxmlformats.org/drawingml/2006/main">
            <a:r>
              <a:t>          "explanation": {</a:t>
            </a:r>
          </a:p>
          <a:p xmlns:a="http://schemas.openxmlformats.org/drawingml/2006/main">
            <a:r>
              <a:t>            "read": "안전 지식의 검색·RAG 경로와 외부 모델 API를 활용하는 업무 지원 경로를 구분한 S/W 구성 예시. 문서 최신화와 지식공간 관리는 생성 기능을 유지하기 위한 별도 운영 기능.",</a:t>
            </a:r>
          </a:p>
          <a:p xmlns:a="http://schemas.openxmlformats.org/drawingml/2006/main">
            <a:r>
              <a:t>            "requirements": [</a:t>
            </a:r>
          </a:p>
          <a:p xmlns:a="http://schemas.openxmlformats.org/drawingml/2006/main">
            <a:r>
              <a:t>              "SFR-005",</a:t>
            </a:r>
          </a:p>
          <a:p xmlns:a="http://schemas.openxmlformats.org/drawingml/2006/main">
            <a:r>
              <a:t>              "SFR-006",</a:t>
            </a:r>
          </a:p>
          <a:p xmlns:a="http://schemas.openxmlformats.org/drawingml/2006/main">
            <a:r>
              <a:t>              "SFR-007",</a:t>
            </a:r>
          </a:p>
          <a:p xmlns:a="http://schemas.openxmlformats.org/drawingml/2006/main">
            <a:r>
              <a:t>              "SFR-008"</a:t>
            </a:r>
          </a:p>
          <a:p xmlns:a="http://schemas.openxmlformats.org/drawingml/2006/main">
            <a:r>
              <a:t>            ],</a:t>
            </a:r>
          </a:p>
          <a:p xmlns:a="http://schemas.openxmlformats.org/drawingml/2006/main">
            <a:r>
              <a:t>            "connection": "외부 모델로 전송할 입력 범위, 문서 개정 후 색인 갱신, 청크 오류와 임베딩 재처리의 상태를 서로 구분하는 서비스·운영 계약."</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규정·부서 제한 문서·서로 상충하는 출처",</a:t>
            </a:r>
          </a:p>
          <a:p xmlns:a="http://schemas.openxmlformats.org/drawingml/2006/main">
            <a:r>
              <a:t>        "hold": "권한·판본별 안전 질의 정답 대조",</a:t>
            </a:r>
          </a:p>
          <a:p xmlns:a="http://schemas.openxmlformats.org/drawingml/2006/main">
            <a:r>
              <a:t>        "recovery": "피드백·개정 반영·권한별 검색 결과 검사",</a:t>
            </a:r>
          </a:p>
          <a:p xmlns:a="http://schemas.openxmlformats.org/drawingml/2006/main">
            <a:r>
              <a:t>        "evidence": "판본·권한별 응답과 상충 근거 표시·수정 이력"</a:t>
            </a:r>
          </a:p>
          <a:p xmlns:a="http://schemas.openxmlformats.org/drawingml/2006/main">
            <a:r>
              <a:t>      },</a:t>
            </a:r>
          </a:p>
          <a:p xmlns:a="http://schemas.openxmlformats.org/drawingml/2006/main">
            <a:r>
              <a:t>      "data": {</a:t>
            </a:r>
          </a:p>
          <a:p xmlns:a="http://schemas.openxmlformats.org/drawingml/2006/main">
            <a:r>
              <a:t>        "source": "안전 규정·부서 지식",</a:t>
            </a:r>
          </a:p>
          <a:p xmlns:a="http://schemas.openxmlformats.org/drawingml/2006/main">
            <a:r>
              <a:t>        "prepare": "연계 문서 자동 갱신·권한 폴더·출처 관리",</a:t>
            </a:r>
          </a:p>
          <a:p xmlns:a="http://schemas.openxmlformats.org/drawingml/2006/main">
            <a:r>
              <a:t>        "output": "안전 문서",</a:t>
            </a:r>
          </a:p>
          <a:p xmlns:a="http://schemas.openxmlformats.org/drawingml/2006/main">
            <a:r>
              <a:t>        "refresh": "피드백·개정 반영·권한별 검색 결과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"PF-R04",</a:t>
            </a:r>
          </a:p>
          <a:p xmlns:a="http://schemas.openxmlformats.org/drawingml/2006/main">
            <a:r>
              <a:t>    "success": [</a:t>
            </a:r>
          </a:p>
          <a:p xmlns:a="http://schemas.openxmlformats.org/drawingml/2006/main">
            <a:r>
              <a:t>      "안전 도메인 지식 집중",</a:t>
            </a:r>
          </a:p>
          <a:p xmlns:a="http://schemas.openxmlformats.org/drawingml/2006/main">
            <a:r>
              <a:t>      "개인·부서 지식공간의 구분"</a:t>
            </a:r>
          </a:p>
          <a:p xmlns:a="http://schemas.openxmlformats.org/drawingml/2006/main">
            <a:r>
              <a:t>    ],</a:t>
            </a:r>
          </a:p>
          <a:p xmlns:a="http://schemas.openxmlformats.org/drawingml/2006/main">
            <a:r>
              <a:t>    "risks": [</a:t>
            </a:r>
          </a:p>
          <a:p xmlns:a="http://schemas.openxmlformats.org/drawingml/2006/main">
            <a:r>
              <a:t>      "부서 자료의 권한 혼입",</a:t>
            </a:r>
          </a:p>
          <a:p xmlns:a="http://schemas.openxmlformats.org/drawingml/2006/main">
            <a:r>
              <a:t>      "계약 발표를 안전 품질 검수로 간주"</a:t>
            </a:r>
          </a:p>
          <a:p xmlns:a="http://schemas.openxmlformats.org/drawingml/2006/main">
            <a:r>
              <a:t>    ],</a:t>
            </a:r>
          </a:p>
          <a:p xmlns:a="http://schemas.openxmlformats.org/drawingml/2006/main">
            <a:r>
              <a:t>    "architecture": [</a:t>
            </a:r>
          </a:p>
          <a:p xmlns:a="http://schemas.openxmlformats.org/drawingml/2006/main">
            <a:r>
              <a:t>      "안전 현업",</a:t>
            </a:r>
          </a:p>
          <a:p xmlns:a="http://schemas.openxmlformats.org/drawingml/2006/main">
            <a:r>
              <a:t>      "권한 검색·문서 검토",</a:t>
            </a:r>
          </a:p>
          <a:p xmlns:a="http://schemas.openxmlformats.org/drawingml/2006/main">
            <a:r>
              <a:t>      "안전 규정·부서 지식",</a:t>
            </a:r>
          </a:p>
          <a:p xmlns:a="http://schemas.openxmlformats.org/drawingml/2006/main">
            <a:r>
              <a:t>      "검토 담당"</a:t>
            </a:r>
          </a:p>
          <a:p xmlns:a="http://schemas.openxmlformats.org/drawingml/2006/main">
            <a:r>
              <a:t>    ],</a:t>
            </a:r>
          </a:p>
          <a:p xmlns:a="http://schemas.openxmlformats.org/drawingml/2006/main">
            <a:r>
              <a:t>    "transfers": [</a:t>
            </a:r>
          </a:p>
          <a:p xmlns:a="http://schemas.openxmlformats.org/drawingml/2006/main">
            <a:r>
              <a:t>      "안전 문서",</a:t>
            </a:r>
          </a:p>
          <a:p xmlns:a="http://schemas.openxmlformats.org/drawingml/2006/main">
            <a:r>
              <a:t>      "허용 지식",</a:t>
            </a:r>
          </a:p>
          <a:p xmlns:a="http://schemas.openxmlformats.org/drawingml/2006/main">
            <a:r>
              <a:t>      "검토 초안",</a:t>
            </a:r>
          </a:p>
          <a:p xmlns:a="http://schemas.openxmlformats.org/drawingml/2006/main">
            <a:r>
              <a:t>      "피드백"</a:t>
            </a:r>
          </a:p>
          <a:p xmlns:a="http://schemas.openxmlformats.org/drawingml/2006/main">
            <a:r>
              <a:t>    ],</a:t>
            </a:r>
          </a:p>
          <a:p xmlns:a="http://schemas.openxmlformats.org/drawingml/2006/main">
            <a:r>
              <a:t>    "control": "권한·판본별 안전 질의 정답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SFR-005~008 (과업내용서) / Word T053 https://www.g2b.go.kr/pn/pnp/pnpe/UntyAtchFile/downloadFile.do?bidPbancNo=R25BK00790330&amp;bidPbancOrd=000&amp;fileSeq=8&amp;fileType=</a:t>
            </a:r>
          </a:p>
          <a:p xmlns:a="http://schemas.openxmlformats.org/drawingml/2006/main">
            <a:r>
              <a:t>홈페이지 https://heen1987-ops.github.io/TS-business-Plan-001/index.html?view=platform-cases&amp;case=PF-R04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한계: 착수자료의 2025년 11월 예정과 실제 개시·정량 성과를 구분</a:t>
            </a:r>
          </a:p>
          <a:p xmlns:a="http://schemas.openxmlformats.org/drawingml/2006/main">
            <a:r>
              <a:t>실패 위험: 마감·지역·자격조건 오안내 / 착수와 정식 운영 성과의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원문 도면 {"caseId":"PF-R05","path":"assets/casebook-sources/PF-R05-01.png","title":"홈페이지 AI 목표기능","status":"RFP 목표기능 구성도","caption":"챗봇·RAG·데이터 파이프라인·모델 관리의 분리","locator":"rId17 / BinData/image3_png","checked":"2026-10-16","sha256":"dbf8455e9d661c8a3db51e5677f25fc751cb2ade3a7b0abaf602d57a8aaf1ba8","explanation":{"read":"도민의 대화형 탐색 접점에서 정책·복지·공고 정보의 검색과 AI 응답을 제공하는 목표 기능 구조. 대화 응답 이후 실제 신청 서비스로 이동하는 연결이 업무 완료의 다음 단계.","requirements":["SFR-003","SFR-004","SFR-005","SFR-006"],"connection":"지역·대상·신청기간의 추가 질문과 공식 신청 링크를 구성하고 답변 정확도와 신청 화면 도달률을 분리해 평가하는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a:p xmlns:a="http://schemas.openxmlformats.org/drawingml/2006/main">
            <a:r>
              <a:t>원문 도면 {"caseId":"PF-R05","path":"assets/casebook-sources/PF-R05-02.png","title":"홈페이지–RAG–외부 LLM","status":"RFP 서비스 아키텍처 구성도","caption":"홈페이지 RDB → 공공클라우드 Vector DB → 외부 LLM","locator":"rId17 / BinData/image4_bmp","checked":"2026-10-16","sha256":"04b7bff411913589529c68490addbddd2c84b7abce61ecd7c873e971bab7bf7e","explanation":{"read":"홈페이지 RDB의 자료를 공공클라우드 검색 계층으로 반영하고 검색 근거를 외부 LLM에 전달하는 구조. 원천 데이터 갱신과 이용자 질문의 실시간 처리를 나누는 연결.","requirements":["SFR-003","SFR-004","SFR-005"],"connection":"원천 수정·종료·삭제가 색인에 반영되는지 추적하고 외부 전송 문맥과 답변 인용의 출처·판본을 보존하는 데이터 흐름."}}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"PF-R05",</a:t>
            </a:r>
          </a:p>
          <a:p xmlns:a="http://schemas.openxmlformats.org/drawingml/2006/main">
            <a:r>
              <a:t>    "sourceId": "R05",</a:t>
            </a:r>
          </a:p>
          <a:p xmlns:a="http://schemas.openxmlformats.org/drawingml/2006/main">
            <a:r>
              <a:t>    "title": "경기도 대화형 정보 탐색",</a:t>
            </a:r>
          </a:p>
          <a:p xmlns:a="http://schemas.openxmlformats.org/drawingml/2006/main">
            <a:r>
              <a:t>    "region": "국내",</a:t>
            </a:r>
          </a:p>
          <a:p xmlns:a="http://schemas.openxmlformats.org/drawingml/2006/main">
            <a:r>
              <a:t>    "owner": "경기도",</a:t>
            </a:r>
          </a:p>
          <a:p xmlns:a="http://schemas.openxmlformats.org/drawingml/2006/main">
            <a:r>
              <a:t>    "state": "공식 RFP·착수 발표 확인 / 정식 운영 성과 미확인",</a:t>
            </a:r>
          </a:p>
          <a:p xmlns:a="http://schemas.openxmlformats.org/drawingml/2006/main">
            <a:r>
              <a:t>    "period": "기존 원장 확인 2026.10.16",</a:t>
            </a:r>
          </a:p>
          <a:p xmlns:a="http://schemas.openxmlformats.org/drawingml/2006/main">
            <a:r>
              <a:t>    "fact": "홈페이지 정책·복지·공고를 도민이 대화로 탐색하는 서비스",</a:t>
            </a:r>
          </a:p>
          <a:p xmlns:a="http://schemas.openxmlformats.org/drawingml/2006/main">
            <a:r>
              <a:t>    "limit": "착수자료의 2025년 11월 예정과 실제 개시·정량 성과를 구분",</a:t>
            </a:r>
          </a:p>
          <a:p xmlns:a="http://schemas.openxmlformats.org/drawingml/2006/main">
            <a:r>
              <a:t>    "nodes": [</a:t>
            </a:r>
          </a:p>
          <a:p xmlns:a="http://schemas.openxmlformats.org/drawingml/2006/main">
            <a:r>
              <a:t>      "정책·공고",</a:t>
            </a:r>
          </a:p>
          <a:p xmlns:a="http://schemas.openxmlformats.org/drawingml/2006/main">
            <a:r>
              <a:t>      "지식 갱신",</a:t>
            </a:r>
          </a:p>
          <a:p xmlns:a="http://schemas.openxmlformats.org/drawingml/2006/main">
            <a:r>
              <a:t>      "의도·정보 비교",</a:t>
            </a:r>
          </a:p>
          <a:p xmlns:a="http://schemas.openxmlformats.org/drawingml/2006/main">
            <a:r>
              <a:t>      "원문 안내"</a:t>
            </a:r>
          </a:p>
          <a:p xmlns:a="http://schemas.openxmlformats.org/drawingml/2006/main">
            <a:r>
              <a:t>    ],</a:t>
            </a:r>
          </a:p>
          <a:p xmlns:a="http://schemas.openxmlformats.org/drawingml/2006/main">
            <a:r>
              <a:t>    "apply": "서비스 조건·기한·신청 창구를 연결하는 홈페이지 탐색 지원",</a:t>
            </a:r>
          </a:p>
          <a:p xmlns:a="http://schemas.openxmlformats.org/drawingml/2006/main">
            <a:r>
              <a:t>    "delta": "서비스·조건·기한 사전 / 유사 공고 비교 / 원문·신청 경로 연결",</a:t>
            </a:r>
          </a:p>
          <a:p xmlns:a="http://schemas.openxmlformats.org/drawingml/2006/main">
            <a:r>
              <a:t>    "test": "마감·유사 공고·갱신 지연 질의의 조건 일치와 서비스 도달 확인",</a:t>
            </a:r>
          </a:p>
          <a:p xmlns:a="http://schemas.openxmlformats.org/drawingml/2006/main">
            <a:r>
              <a:t>    "url": "https://www.g2b.go.kr/pn/pnp/pnpe/UntyAtchFile/downloadFile.do?bidPbancNo=R25BK00751232&amp;bidPbancOrd=000&amp;fileType=&amp;fileSeq=2&amp;prcmBsneSeCd=03",</a:t>
            </a:r>
          </a:p>
          <a:p xmlns:a="http://schemas.openxmlformats.org/drawingml/2006/main">
            <a:r>
              <a:t>    "urls": [</a:t>
            </a:r>
          </a:p>
          <a:p xmlns:a="http://schemas.openxmlformats.org/drawingml/2006/main">
            <a:r>
              <a:t>      "https://www.g2b.go.kr/pn/pnp/pnpe/UntyAtchFile/downloadFile.do?bidPbancNo=R25BK00751232&amp;bidPbancOrd=000&amp;fileType=&amp;fileSeq=2&amp;prcmBsneSeCd=03",</a:t>
            </a:r>
          </a:p>
          <a:p xmlns:a="http://schemas.openxmlformats.org/drawingml/2006/main">
            <a:r>
              <a:t>      "https://gnews.gg.go.kr/briefing/brief_gongbo_view.do?BS_CODE=s017&amp;number=66171"</a:t>
            </a:r>
          </a:p>
          <a:p xmlns:a="http://schemas.openxmlformats.org/drawingml/2006/main">
            <a:r>
              <a:t>    ],</a:t>
            </a:r>
          </a:p>
          <a:p xmlns:a="http://schemas.openxmlformats.org/drawingml/2006/main">
            <a:r>
              <a:t>    "basis": "SFR-003~006, PER-003 / Word T062",</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"정확한 공고 도달률 / 탐색시간 / 이용 포기율",</a:t>
            </a:r>
          </a:p>
          <a:p xmlns:a="http://schemas.openxmlformats.org/drawingml/2006/main">
            <a:r>
              <a:t>    "group": "요구·구축",</a:t>
            </a:r>
          </a:p>
          <a:p xmlns:a="http://schemas.openxmlformats.org/drawingml/2006/main">
            <a:r>
              <a:t>    "sourceDetail": "데이터 수집·갱신→RAG→의도 기반 답변·유사공고 비교→원문 연결; 오류·만족도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"PF-R05",</a:t>
            </a:r>
          </a:p>
          <a:p xmlns:a="http://schemas.openxmlformats.org/drawingml/2006/main">
            <a:r>
              <a:t>    "canonicalId": "PF-R05",</a:t>
            </a:r>
          </a:p>
          <a:p xmlns:a="http://schemas.openxmlformats.org/drawingml/2006/main">
            <a:r>
              <a:t>    "purpose": "정책·복지·공고의 대화형 탐색",</a:t>
            </a:r>
          </a:p>
          <a:p xmlns:a="http://schemas.openxmlformats.org/drawingml/2006/main">
            <a:r>
              <a:t>    "users": "도민·홈페이지 운영자",</a:t>
            </a:r>
          </a:p>
          <a:p xmlns:a="http://schemas.openxmlformats.org/drawingml/2006/main">
            <a:r>
              <a:t>    "scope": [</a:t>
            </a:r>
          </a:p>
          <a:p xmlns:a="http://schemas.openxmlformats.org/drawingml/2006/main">
            <a:r>
              <a:t>      "자연어 탐색",</a:t>
            </a:r>
          </a:p>
          <a:p xmlns:a="http://schemas.openxmlformats.org/drawingml/2006/main">
            <a:r>
              <a:t>      "유사공고 비교",</a:t>
            </a:r>
          </a:p>
          <a:p xmlns:a="http://schemas.openxmlformats.org/drawingml/2006/main">
            <a:r>
              <a:t>      "원문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"도민 대화",</a:t>
            </a:r>
          </a:p>
          <a:p xmlns:a="http://schemas.openxmlformats.org/drawingml/2006/main">
            <a:r>
              <a:t>        "detail": "요청 목적·대상 조건·대화 이력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"자연어 탐색 / 유사공고 비교 / 원문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"의도 분류·정보 비교",</a:t>
            </a:r>
          </a:p>
          <a:p xmlns:a="http://schemas.openxmlformats.org/drawingml/2006/main">
            <a:r>
              <a:t>        "detail": "의도 분석과 RAG 응답·공고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"원문 안내",</a:t>
            </a:r>
          </a:p>
          <a:p xmlns:a="http://schemas.openxmlformats.org/drawingml/2006/main">
            <a:r>
              <a:t>        "detail": "출처 링크와 신청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"정책·공고 지식",</a:t>
            </a:r>
          </a:p>
          <a:p xmlns:a="http://schemas.openxmlformats.org/drawingml/2006/main">
            <a:r>
              <a:t>        "detail": "홈페이지 문서 수집·전처리·변경 반영",</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"예외 질문·오류·만족도 기반 지식 보완",</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"정책·공고",</a:t>
            </a:r>
          </a:p>
          <a:p xmlns:a="http://schemas.openxmlformats.org/drawingml/2006/main">
            <a:r>
              <a:t>        "input": "요청 목적·대상 조건·대화 이력 구성",</a:t>
            </a:r>
          </a:p>
          <a:p xmlns:a="http://schemas.openxmlformats.org/drawingml/2006/main">
            <a:r>
              <a:t>        "process": "홈페이지 문서 수집·전처리·변경 반영",</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"title": "지식 갱신",</a:t>
            </a:r>
          </a:p>
          <a:p xmlns:a="http://schemas.openxmlformats.org/drawingml/2006/main">
            <a:r>
              <a:t>        "input": "질문·지역",</a:t>
            </a:r>
          </a:p>
          <a:p xmlns:a="http://schemas.openxmlformats.org/drawingml/2006/main">
            <a:r>
              <a:t>        "process": "의도 분석과 RAG 응답·공고 비교",</a:t>
            </a:r>
          </a:p>
          <a:p xmlns:a="http://schemas.openxmlformats.org/drawingml/2006/main">
            <a:r>
              <a:t>        "output": "유효 공고"</a:t>
            </a:r>
          </a:p>
          <a:p xmlns:a="http://schemas.openxmlformats.org/drawingml/2006/main">
            <a:r>
              <a:t>      },</a:t>
            </a:r>
          </a:p>
          <a:p xmlns:a="http://schemas.openxmlformats.org/drawingml/2006/main">
            <a:r>
              <a:t>      {</a:t>
            </a:r>
          </a:p>
          <a:p xmlns:a="http://schemas.openxmlformats.org/drawingml/2006/main">
            <a:r>
              <a:t>        "title": "의도·정보 비교",</a:t>
            </a:r>
          </a:p>
          <a:p xmlns:a="http://schemas.openxmlformats.org/drawingml/2006/main">
            <a:r>
              <a:t>        "input": "유효 공고",</a:t>
            </a:r>
          </a:p>
          <a:p xmlns:a="http://schemas.openxmlformats.org/drawingml/2006/main">
            <a:r>
              <a:t>        "process": "유효기간·대상조건·링크 점검",</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"title": "원문 안내",</a:t>
            </a:r>
          </a:p>
          <a:p xmlns:a="http://schemas.openxmlformats.org/drawingml/2006/main">
            <a:r>
              <a:t>        "input": "조건 비교",</a:t>
            </a:r>
          </a:p>
          <a:p xmlns:a="http://schemas.openxmlformats.org/drawingml/2006/main">
            <a:r>
              <a:t>        "process":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"자격조건을 설명하고 관련 공고와 신청 페이지 비교",</a:t>
            </a:r>
          </a:p>
          <a:p xmlns:a="http://schemas.openxmlformats.org/drawingml/2006/main">
            <a:r>
              <a:t>      "exception": "마감 공고·유사한 다른 제도·갱신 전 색인",</a:t>
            </a:r>
          </a:p>
          <a:p xmlns:a="http://schemas.openxmlformats.org/drawingml/2006/main">
            <a:r>
              <a:t>      "evidence": "조건·기한별 정답 공고와 원문 링크·변경 반영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"도민·홈페이지 운영자",</a:t>
            </a:r>
          </a:p>
          <a:p xmlns:a="http://schemas.openxmlformats.org/drawingml/2006/main">
            <a:r>
              <a:t>          "processing": "요청 목적·대상 조건·대화 이력 구성",</a:t>
            </a:r>
          </a:p>
          <a:p xmlns:a="http://schemas.openxmlformats.org/drawingml/2006/main">
            <a:r>
              <a:t>          "output": "질문·지역"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"정책·공고 지식",</a:t>
            </a:r>
          </a:p>
          <a:p xmlns:a="http://schemas.openxmlformats.org/drawingml/2006/main">
            <a:r>
              <a:t>          "processing": "홈페이지 문서 수집·전처리·변경 반영",</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"질문·지역",</a:t>
            </a:r>
          </a:p>
          <a:p xmlns:a="http://schemas.openxmlformats.org/drawingml/2006/main">
            <a:r>
              <a:t>          "processing": "의도 분석과 RAG 응답·공고 비교",</a:t>
            </a:r>
          </a:p>
          <a:p xmlns:a="http://schemas.openxmlformats.org/drawingml/2006/main">
            <a:r>
              <a:t>          "output": "조건 비교"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"조건 비교",</a:t>
            </a:r>
          </a:p>
          <a:p xmlns:a="http://schemas.openxmlformats.org/drawingml/2006/main">
            <a:r>
              <a:t>          "processing": "출처 링크와 신청 안내 페이지 제공",</a:t>
            </a:r>
          </a:p>
          <a:p xmlns:a="http://schemas.openxmlformats.org/drawingml/2006/main">
            <a:r>
              <a:t>          "output": "공식 페이지"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"예외 질문·오류·만족도 기반 지식 보완",</a:t>
            </a:r>
          </a:p>
          <a:p xmlns:a="http://schemas.openxmlformats.org/drawingml/2006/main">
            <a:r>
              <a:t>          "output": "조건·기한별 정답 공고와 원문 링크·변경 반영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"예외 질문·오류·만족도 기반 지식 보완",</a:t>
            </a:r>
          </a:p>
          <a:p xmlns:a="http://schemas.openxmlformats.org/drawingml/2006/main">
            <a:r>
              <a:t>    "status": "RFP 기반 논리 설계",</a:t>
            </a:r>
          </a:p>
          <a:p xmlns:a="http://schemas.openxmlformats.org/drawingml/2006/main">
            <a:r>
              <a:t>    "basis": "RFP · SFR-003~006",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"SFR-003~006, PER-003 / Word T062",</a:t>
            </a:r>
          </a:p>
          <a:p xmlns:a="http://schemas.openxmlformats.org/drawingml/2006/main">
            <a:r>
              <a:t>        "url": "https://www.g2b.go.kr/pn/pnp/pnpe/UntyAtchFile/downloadFile.do?bidPbancNo=R25BK00751232&amp;bidPbancOrd=000&amp;fileType=&amp;fileSeq=2&amp;prcmBsneSeCd=03"</a:t>
            </a:r>
          </a:p>
          <a:p xmlns:a="http://schemas.openxmlformats.org/drawingml/2006/main">
            <a:r>
              <a:t>      }</a:t>
            </a:r>
          </a:p>
          <a:p xmlns:a="http://schemas.openxmlformats.org/drawingml/2006/main">
            <a:r>
              <a:t>    ],</a:t>
            </a:r>
          </a:p>
          <a:p xmlns:a="http://schemas.openxmlformats.org/drawingml/2006/main">
            <a:r>
              <a:t>    "implication": "서비스 조건·기한·신청 창구를 연결하는 홈페이지 탐색 지원",</a:t>
            </a:r>
          </a:p>
          <a:p xmlns:a="http://schemas.openxmlformats.org/drawingml/2006/main">
            <a:r>
              <a:t>    "local": "서비스 조건·기한·신청 창구를 연결하는 홈페이지 탐색 지원",</a:t>
            </a:r>
          </a:p>
          <a:p xmlns:a="http://schemas.openxmlformats.org/drawingml/2006/main">
            <a:r>
              <a:t>    "sourceDetail": "데이터 수집·갱신→RAG→의도 기반 답변·유사공고 비교→원문 연결; 오류·만족도 관리",</a:t>
            </a:r>
          </a:p>
          <a:p xmlns:a="http://schemas.openxmlformats.org/drawingml/2006/main">
            <a:r>
              <a:t>    "narrative": [</a:t>
            </a:r>
          </a:p>
          <a:p xmlns:a="http://schemas.openxmlformats.org/drawingml/2006/main">
            <a:r>
              <a:t>      "경기도 홈페이지에 축적된 정책·복지·공고 정보를 자연어로 찾도록 하는 검색 접점 고도화. 국민의 요청을 신청 자격·지역·기간 등의 조건으로 정리하고, 맞는 공고와 기존 신청 화면으로 연결하는 업무.",</a:t>
            </a:r>
          </a:p>
          <a:p xmlns:a="http://schemas.openxmlformats.org/drawingml/2006/main">
            <a:r>
              <a:t>      "원문 서비스 도면은 홈페이지 RDB의 대상 자료를 공공클라우드 RAG 영역에 수집·임베딩하고, 질의와 검색 근거를 외부 LLM에 전달한 뒤 홈페이지 채팅 UI로 답변하는 구성. 기능도에는 데이터·프롬프트·이력·모델·통계를 별도 관리 영역으로 명시.",</a:t>
            </a:r>
          </a:p>
          <a:p xmlns:a="http://schemas.openxmlformats.org/drawingml/2006/main">
            <a:r>
              <a:t>      "챗봇이 답한 것과 국민이 원하는 서비스를 찾은 것을 구분해 평가할 사례. 마감 공고·지역 불일치·자격 예외를 포함한 질문으로 원문 링크 도달과 다음 절차 안내를 검증할 필요. TS 대국민 접점에서는 기존 메뉴·신청 시스템을 유지하면서 자연어·음성 진입을 추가하는 방향."</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"생성형 AI 챗봇 검색 서비스 대상 데이터 수집·정제·전처리",</a:t>
            </a:r>
          </a:p>
          <a:p xmlns:a="http://schemas.openxmlformats.org/drawingml/2006/main">
            <a:r>
              <a:t>        "locator": "SFR-003",</a:t>
            </a:r>
          </a:p>
          <a:p xmlns:a="http://schemas.openxmlformats.org/drawingml/2006/main">
            <a:r>
              <a:t>        "summary": "정책·복지·공고 등 대상 데이터를 수집하고 정제·전처리하는 기능.",</a:t>
            </a:r>
          </a:p>
          <a:p xmlns:a="http://schemas.openxmlformats.org/drawingml/2006/main">
            <a:r>
              <a:t>        "data": "홈페이지 원문·파일 → 정규화 자료·메타데이터",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a:t>
            </a:r>
          </a:p>
          <a:p xmlns:a="http://schemas.openxmlformats.org/drawingml/2006/main">
            <a:r>
              <a:t>        "acceptance": "첨부·표·중복 URL·깨진 링크 입력의 수집 범위와 정제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"dfce571aa07ad0601b331c6afaa46c57d8ef4ad8975cae48c8c928272ce53768"</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"실시간 데이터 파이프라인 자동화 구축",</a:t>
            </a:r>
          </a:p>
          <a:p xmlns:a="http://schemas.openxmlformats.org/drawingml/2006/main">
            <a:r>
              <a:t>        "locator": "SFR-004",</a:t>
            </a:r>
          </a:p>
          <a:p xmlns:a="http://schemas.openxmlformats.org/drawingml/2006/main">
            <a:r>
              <a:t>        "summary": "신규·변경 정보를 반영하는 데이터 파이프라인 자동화.",</a:t>
            </a:r>
          </a:p>
          <a:p xmlns:a="http://schemas.openxmlformats.org/drawingml/2006/main">
            <a:r>
              <a:t>        "data": "원천 변경·스케줄 → 갱신된 검색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"공고 수정·종료·삭제 후 색인 갱신과 수집 실패 후 재개 결과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"6d77f8fe82e84d8c671fdea123a554f2f2c061d91a1941d599146f167079e57e"</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"RAG(Retrieval Augmented Generation) 구축",</a:t>
            </a:r>
          </a:p>
          <a:p xmlns:a="http://schemas.openxmlformats.org/drawingml/2006/main">
            <a:r>
              <a:t>        "locator": "SFR-005",</a:t>
            </a:r>
          </a:p>
          <a:p xmlns:a="http://schemas.openxmlformats.org/drawingml/2006/main">
            <a:r>
              <a:t>        "summary": "정제 자료를 검색 근거로 제공하는 RAG 기반 구성.",</a:t>
            </a:r>
          </a:p>
          <a:p xmlns:a="http://schemas.openxmlformats.org/drawingml/2006/main">
            <a:r>
              <a:t>        "data": "사용자 질문·정책 색인 → 근거 문서·답변 문맥",</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"기간·지역·대상 조건이 다른 유사 정책의 구분과 근거 페이지 정확성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"02d312ae74d0ddf4dd06d7e84e79461aa2f4bb7664d9f657f22281c8d145bf02"</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"생성형 AI 챗봇 검색 서비스 개발",</a:t>
            </a:r>
          </a:p>
          <a:p xmlns:a="http://schemas.openxmlformats.org/drawingml/2006/main">
            <a:r>
              <a:t>        "locator": "SFR-006",</a:t>
            </a:r>
          </a:p>
          <a:p xmlns:a="http://schemas.openxmlformats.org/drawingml/2006/main">
            <a:r>
              <a:t>        "summary": "도민의 대화형 정보 탐색을 위한 챗봇·검색 서비스 구현.",</a:t>
            </a:r>
          </a:p>
          <a:p xmlns:a="http://schemas.openxmlformats.org/drawingml/2006/main">
            <a:r>
              <a:t>        "data": "자연어 문의·추가 조건 → 안내·공식 서비스 연결",</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"모호한 문의의 추가 질문, 잘못된 서비스 링크, 응답 실패 시 기존 탐색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"b2087cef15831463cccbd35ddb28248885288bfed8bbcafeed9bc7066f08417e"</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 챗봇",</a:t>
            </a:r>
          </a:p>
          <a:p xmlns:a="http://schemas.openxmlformats.org/drawingml/2006/main">
            <a:r>
              <a:t>          "layer": "이용 접점",</a:t>
            </a:r>
          </a:p>
          <a:p xmlns:a="http://schemas.openxmlformats.org/drawingml/2006/main">
            <a:r>
              <a:t>          "detail": "도민·홈페이지 운영자",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"지역·대상·기간",</a:t>
            </a:r>
          </a:p>
          <a:p xmlns:a="http://schemas.openxmlformats.org/drawingml/2006/main">
            <a:r>
              <a:t>          "layer": "업무 문맥",</a:t>
            </a:r>
          </a:p>
          <a:p xmlns:a="http://schemas.openxmlformats.org/drawingml/2006/main">
            <a:r>
              <a:t>          "detail": "요청 목적·대상 조건·대화 이력 구성",</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공고 검색",</a:t>
            </a:r>
          </a:p>
          <a:p xmlns:a="http://schemas.openxmlformats.org/drawingml/2006/main">
            <a:r>
              <a:t>          "layer": "자료 조회",</a:t>
            </a:r>
          </a:p>
          <a:p xmlns:a="http://schemas.openxmlformats.org/drawingml/2006/main">
            <a:r>
              <a:t>          "detail": "질문·지역",</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"의도·조건 비교",</a:t>
            </a:r>
          </a:p>
          <a:p xmlns:a="http://schemas.openxmlformats.org/drawingml/2006/main">
            <a:r>
              <a:t>          "layer": "핵심 처리",</a:t>
            </a:r>
          </a:p>
          <a:p xmlns:a="http://schemas.openxmlformats.org/drawingml/2006/main">
            <a:r>
              <a:t>          "detail": "의도 분석과 RAG 응답·공고 비교",</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"마감·자격 검사",</a:t>
            </a:r>
          </a:p>
          <a:p xmlns:a="http://schemas.openxmlformats.org/drawingml/2006/main">
            <a:r>
              <a:t>          "layer": "결과 검증",</a:t>
            </a:r>
          </a:p>
          <a:p xmlns:a="http://schemas.openxmlformats.org/drawingml/2006/main">
            <a:r>
              <a:t>          "detail": "유효기간·대상조건·링크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조건 확인",</a:t>
            </a:r>
          </a:p>
          <a:p xmlns:a="http://schemas.openxmlformats.org/drawingml/2006/main">
            <a:r>
              <a:t>          "layer": "사람 확인",</a:t>
            </a:r>
          </a:p>
          <a:p xmlns:a="http://schemas.openxmlformats.org/drawingml/2006/main">
            <a:r>
              <a:t>          "detail": "자격조건을 설명하고 관련 공고와 신청 페이지 비교",</a:t>
            </a:r>
          </a:p>
          <a:p xmlns:a="http://schemas.openxmlformats.org/drawingml/2006/main">
            <a:r>
              <a:t>          "requirements": [</a:t>
            </a:r>
          </a:p>
          <a:p xmlns:a="http://schemas.openxmlformats.org/drawingml/2006/main">
            <a:r>
              <a:t>            "SFR-006"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신청 안내",</a:t>
            </a:r>
          </a:p>
          <a:p xmlns:a="http://schemas.openxmlformats.org/drawingml/2006/main">
            <a:r>
              <a:t>          "layer": "업무 연결",</a:t>
            </a:r>
          </a:p>
          <a:p xmlns:a="http://schemas.openxmlformats.org/drawingml/2006/main">
            <a:r>
              <a:t>          "detail": "출처 링크와 신청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"오류·만족도 분석",</a:t>
            </a:r>
          </a:p>
          <a:p xmlns:a="http://schemas.openxmlformats.org/drawingml/2006/main">
            <a:r>
              <a:t>          "layer": "운영 관측",</a:t>
            </a:r>
          </a:p>
          <a:p xmlns:a="http://schemas.openxmlformats.org/drawingml/2006/main">
            <a:r>
              <a:t>          "detail": "예외 질문·오류·만족도 기반 지식 보완",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"홈페이지·공고 DB",</a:t>
            </a:r>
          </a:p>
          <a:p xmlns:a="http://schemas.openxmlformats.org/drawingml/2006/main">
            <a:r>
              <a:t>          "layer": "데이터 원천",</a:t>
            </a:r>
          </a:p>
          <a:p xmlns:a="http://schemas.openxmlformats.org/drawingml/2006/main">
            <a:r>
              <a:t>          "detail": "정책·공고 지식",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"수집·갱신·벡터화",</a:t>
            </a:r>
          </a:p>
          <a:p xmlns:a="http://schemas.openxmlformats.org/drawingml/2006/main">
            <a:r>
              <a:t>          "layer": "준비·갱신",</a:t>
            </a:r>
          </a:p>
          <a:p xmlns:a="http://schemas.openxmlformats.org/drawingml/2006/main">
            <a:r>
              <a:t>          "detail": "홈페이지 문서 수집·전처리·변경 반영",</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"공공클라우드 RAG",</a:t>
            </a:r>
          </a:p>
          <a:p xmlns:a="http://schemas.openxmlformats.org/drawingml/2006/main">
            <a:r>
              <a:t>          "layer": "상태·지식 저장",</a:t>
            </a:r>
          </a:p>
          <a:p xmlns:a="http://schemas.openxmlformats.org/drawingml/2006/main">
            <a:r>
              <a:t>          "detail": "조건·기한별 정답 공고와 원문 링크·변경 반영 시각",</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"외부 LLM 연결경계",</a:t>
            </a:r>
          </a:p>
          <a:p xmlns:a="http://schemas.openxmlformats.org/drawingml/2006/main">
            <a:r>
              <a:t>          "layer": "권한·정책",</a:t>
            </a:r>
          </a:p>
          <a:p xmlns:a="http://schemas.openxmlformats.org/drawingml/2006/main">
            <a:r>
              <a:t>          "detail": "마감 공고·유사한 다른 제도·갱신 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"정책·공고 → 지식 갱신 → 의도·정보 비교 → 원문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"정책·공고 지식",</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목적·대상 조건·대화 이력 구성",</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"조건·기한별 정답 공고와 원문 링크·변경 반영 시각",</a:t>
            </a:r>
          </a:p>
          <a:p xmlns:a="http://schemas.openxmlformats.org/drawingml/2006/main">
            <a:r>
              <a:t>          "check": "홈페이지 문서 수집·전처리·변경 반영"</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"유효 공고",</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"조건 비교",</a:t>
            </a:r>
          </a:p>
          <a:p xmlns:a="http://schemas.openxmlformats.org/drawingml/2006/main">
            <a:r>
              <a:t>          "check": "조건·기한별 정답 공고와 원문 링크·변경 반영 시각"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"생성형 AI 서비스 아키텍처 구성도, SFR-003~006",</a:t>
            </a:r>
          </a:p>
          <a:p xmlns:a="http://schemas.openxmlformats.org/drawingml/2006/main">
            <a:r>
              <a:t>        "extracted": "홈페이지 RDB → 공공클라우드 Vector DB → 외부 LLM 연결",</a:t>
            </a:r>
          </a:p>
          <a:p xmlns:a="http://schemas.openxmlformats.org/drawingml/2006/main">
            <a:r>
              <a:t>        "extension": "공고 마감·지역·자격조건 대조 및 신청 링크 검증"</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"PF-R05",</a:t>
            </a:r>
          </a:p>
          <a:p xmlns:a="http://schemas.openxmlformats.org/drawingml/2006/main">
            <a:r>
              <a:t>          "path": "assets/casebook-sources/PF-R05-01.png",</a:t>
            </a:r>
          </a:p>
          <a:p xmlns:a="http://schemas.openxmlformats.org/drawingml/2006/main">
            <a:r>
              <a:t>          "title": "홈페이지 AI 목표기능",</a:t>
            </a:r>
          </a:p>
          <a:p xmlns:a="http://schemas.openxmlformats.org/drawingml/2006/main">
            <a:r>
              <a:t>          "status": "RFP 목표기능 구성도",</a:t>
            </a:r>
          </a:p>
          <a:p xmlns:a="http://schemas.openxmlformats.org/drawingml/2006/main">
            <a:r>
              <a:t>          "caption": "챗봇·RAG·데이터 파이프라인·모델 관리의 분리",</a:t>
            </a:r>
          </a:p>
          <a:p xmlns:a="http://schemas.openxmlformats.org/drawingml/2006/main">
            <a:r>
              <a:t>          "locator": "rId17 / BinData/image3_png",</a:t>
            </a:r>
          </a:p>
          <a:p xmlns:a="http://schemas.openxmlformats.org/drawingml/2006/main">
            <a:r>
              <a:t>          "checked": "2026-10-16",</a:t>
            </a:r>
          </a:p>
          <a:p xmlns:a="http://schemas.openxmlformats.org/drawingml/2006/main">
            <a:r>
              <a:t>          "sha256": "dbf8455e9d661c8a3db51e5677f25fc751cb2ade3a7b0abaf602d57a8aaf1ba8",</a:t>
            </a:r>
          </a:p>
          <a:p xmlns:a="http://schemas.openxmlformats.org/drawingml/2006/main">
            <a:r>
              <a:t>          "explanation": {</a:t>
            </a:r>
          </a:p>
          <a:p xmlns:a="http://schemas.openxmlformats.org/drawingml/2006/main">
            <a:r>
              <a:t>            "read": "도민의 대화형 탐색 접점에서 정책·복지·공고 정보의 검색과 AI 응답을 제공하는 목표 기능 구조. 대화 응답 이후 실제 신청 서비스로 이동하는 연결이 업무 완료의 다음 단계.",</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"SFR-006"</a:t>
            </a:r>
          </a:p>
          <a:p xmlns:a="http://schemas.openxmlformats.org/drawingml/2006/main">
            <a:r>
              <a:t>            ],</a:t>
            </a:r>
          </a:p>
          <a:p xmlns:a="http://schemas.openxmlformats.org/drawingml/2006/main">
            <a:r>
              <a:t>            "connection": "지역·대상·신청기간의 추가 질문과 공식 신청 링크를 구성하고 답변 정확도와 신청 화면 도달률을 분리해 평가하는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"PF-R05",</a:t>
            </a:r>
          </a:p>
          <a:p xmlns:a="http://schemas.openxmlformats.org/drawingml/2006/main">
            <a:r>
              <a:t>          "path": "assets/casebook-sources/PF-R05-02.png",</a:t>
            </a:r>
          </a:p>
          <a:p xmlns:a="http://schemas.openxmlformats.org/drawingml/2006/main">
            <a:r>
              <a:t>          "title": "홈페이지–RAG–외부 LLM",</a:t>
            </a:r>
          </a:p>
          <a:p xmlns:a="http://schemas.openxmlformats.org/drawingml/2006/main">
            <a:r>
              <a:t>          "status": "RFP 서비스 아키텍처 구성도",</a:t>
            </a:r>
          </a:p>
          <a:p xmlns:a="http://schemas.openxmlformats.org/drawingml/2006/main">
            <a:r>
              <a:t>          "caption": "홈페이지 RDB → 공공클라우드 Vector DB → 외부 LLM",</a:t>
            </a:r>
          </a:p>
          <a:p xmlns:a="http://schemas.openxmlformats.org/drawingml/2006/main">
            <a:r>
              <a:t>          "locator": "rId17 / BinData/image4_bmp",</a:t>
            </a:r>
          </a:p>
          <a:p xmlns:a="http://schemas.openxmlformats.org/drawingml/2006/main">
            <a:r>
              <a:t>          "checked": "2026-10-16",</a:t>
            </a:r>
          </a:p>
          <a:p xmlns:a="http://schemas.openxmlformats.org/drawingml/2006/main">
            <a:r>
              <a:t>          "sha256": "04b7bff411913589529c68490addbddd2c84b7abce61ecd7c873e971bab7bf7e",</a:t>
            </a:r>
          </a:p>
          <a:p xmlns:a="http://schemas.openxmlformats.org/drawingml/2006/main">
            <a:r>
              <a:t>          "explanation": {</a:t>
            </a:r>
          </a:p>
          <a:p xmlns:a="http://schemas.openxmlformats.org/drawingml/2006/main">
            <a:r>
              <a:t>            "read": "홈페이지 RDB의 자료를 공공클라우드 검색 계층으로 반영하고 검색 근거를 외부 LLM에 전달하는 구조. 원천 데이터 갱신과 이용자 질문의 실시간 처리를 나누는 연결.",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a:t>
            </a:r>
          </a:p>
          <a:p xmlns:a="http://schemas.openxmlformats.org/drawingml/2006/main">
            <a:r>
              <a:t>            "connection": "원천 수정·종료·삭제가 색인에 반영되는지 추적하고 외부 전송 문맥과 답변 인용의 출처·판본을 보존하는 데이터 흐름."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"마감 공고·유사한 다른 제도·갱신 전 색인",</a:t>
            </a:r>
          </a:p>
          <a:p xmlns:a="http://schemas.openxmlformats.org/drawingml/2006/main">
            <a:r>
              <a:t>        "hold": "유효기간·대상조건·링크 점검",</a:t>
            </a:r>
          </a:p>
          <a:p xmlns:a="http://schemas.openxmlformats.org/drawingml/2006/main">
            <a:r>
              <a:t>        "recovery": "예외 질문·오류·만족도 기반 지식 보완",</a:t>
            </a:r>
          </a:p>
          <a:p xmlns:a="http://schemas.openxmlformats.org/drawingml/2006/main">
            <a:r>
              <a:t>        "evidence": "조건·기한별 정답 공고와 원문 링크·변경 반영 시각"</a:t>
            </a:r>
          </a:p>
          <a:p xmlns:a="http://schemas.openxmlformats.org/drawingml/2006/main">
            <a:r>
              <a:t>      },</a:t>
            </a:r>
          </a:p>
          <a:p xmlns:a="http://schemas.openxmlformats.org/drawingml/2006/main">
            <a:r>
              <a:t>      "data": {</a:t>
            </a:r>
          </a:p>
          <a:p xmlns:a="http://schemas.openxmlformats.org/drawingml/2006/main">
            <a:r>
              <a:t>        "source": "정책·공고 지식",</a:t>
            </a:r>
          </a:p>
          <a:p xmlns:a="http://schemas.openxmlformats.org/drawingml/2006/main">
            <a:r>
              <a:t>        "prepare": "홈페이지 문서 수집·전처리·변경 반영",</a:t>
            </a:r>
          </a:p>
          <a:p xmlns:a="http://schemas.openxmlformats.org/drawingml/2006/main">
            <a:r>
              <a:t>        "output": "질문·지역",</a:t>
            </a:r>
          </a:p>
          <a:p xmlns:a="http://schemas.openxmlformats.org/drawingml/2006/main">
            <a:r>
              <a:t>        "refresh": "예외 질문·오류·만족도 기반 지식 보완"</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"PF-R05",</a:t>
            </a:r>
          </a:p>
          <a:p xmlns:a="http://schemas.openxmlformats.org/drawingml/2006/main">
            <a:r>
              <a:t>    "success": [</a:t>
            </a:r>
          </a:p>
          <a:p xmlns:a="http://schemas.openxmlformats.org/drawingml/2006/main">
            <a:r>
              <a:t>      "정책·복지·공고의 통합 탐색",</a:t>
            </a:r>
          </a:p>
          <a:p xmlns:a="http://schemas.openxmlformats.org/drawingml/2006/main">
            <a:r>
              <a:t>      "원문을 통한 후속 절차 연결"</a:t>
            </a:r>
          </a:p>
          <a:p xmlns:a="http://schemas.openxmlformats.org/drawingml/2006/main">
            <a:r>
              <a:t>    ],</a:t>
            </a:r>
          </a:p>
          <a:p xmlns:a="http://schemas.openxmlformats.org/drawingml/2006/main">
            <a:r>
              <a:t>    "risks": [</a:t>
            </a:r>
          </a:p>
          <a:p xmlns:a="http://schemas.openxmlformats.org/drawingml/2006/main">
            <a:r>
              <a:t>      "마감·지역·자격조건 오안내",</a:t>
            </a:r>
          </a:p>
          <a:p xmlns:a="http://schemas.openxmlformats.org/drawingml/2006/main">
            <a:r>
              <a:t>      "착수와 정식 운영 성과의 차이"</a:t>
            </a:r>
          </a:p>
          <a:p xmlns:a="http://schemas.openxmlformats.org/drawingml/2006/main">
            <a:r>
              <a:t>    ],</a:t>
            </a:r>
          </a:p>
          <a:p xmlns:a="http://schemas.openxmlformats.org/drawingml/2006/main">
            <a:r>
              <a:t>    "architecture": [</a:t>
            </a:r>
          </a:p>
          <a:p xmlns:a="http://schemas.openxmlformats.org/drawingml/2006/main">
            <a:r>
              <a:t>      "도민 대화",</a:t>
            </a:r>
          </a:p>
          <a:p xmlns:a="http://schemas.openxmlformats.org/drawingml/2006/main">
            <a:r>
              <a:t>      "의도 분류·정보 비교",</a:t>
            </a:r>
          </a:p>
          <a:p xmlns:a="http://schemas.openxmlformats.org/drawingml/2006/main">
            <a:r>
              <a:t>      "정책·공고 지식",</a:t>
            </a:r>
          </a:p>
          <a:p xmlns:a="http://schemas.openxmlformats.org/drawingml/2006/main">
            <a:r>
              <a:t>      "원문 안내"</a:t>
            </a:r>
          </a:p>
          <a:p xmlns:a="http://schemas.openxmlformats.org/drawingml/2006/main">
            <a:r>
              <a:t>    ],</a:t>
            </a:r>
          </a:p>
          <a:p xmlns:a="http://schemas.openxmlformats.org/drawingml/2006/main">
            <a:r>
              <a:t>    "transfers": [</a:t>
            </a:r>
          </a:p>
          <a:p xmlns:a="http://schemas.openxmlformats.org/drawingml/2006/main">
            <a:r>
              <a:t>      "질문·지역",</a:t>
            </a:r>
          </a:p>
          <a:p xmlns:a="http://schemas.openxmlformats.org/drawingml/2006/main">
            <a:r>
              <a:t>      "유효 공고",</a:t>
            </a:r>
          </a:p>
          <a:p xmlns:a="http://schemas.openxmlformats.org/drawingml/2006/main">
            <a:r>
              <a:t>      "조건 비교",</a:t>
            </a:r>
          </a:p>
          <a:p xmlns:a="http://schemas.openxmlformats.org/drawingml/2006/main">
            <a:r>
              <a:t>      "공식 페이지"</a:t>
            </a:r>
          </a:p>
          <a:p xmlns:a="http://schemas.openxmlformats.org/drawingml/2006/main">
            <a:r>
              <a:t>    ],</a:t>
            </a:r>
          </a:p>
          <a:p xmlns:a="http://schemas.openxmlformats.org/drawingml/2006/main">
            <a:r>
              <a:t>    "control": "유효기간·대상조건·링크 점검",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SFR-003~006, PER-003 / Word T062 https://www.g2b.go.kr/pn/pnp/pnpe/UntyAtchFile/downloadFile.do?bidPbancNo=R25BK00751232&amp;bidPbancOrd=000&amp;fileType=&amp;fileSeq=2&amp;prcmBsneSeCd=03</a:t>
            </a:r>
          </a:p>
          <a:p xmlns:a="http://schemas.openxmlformats.org/drawingml/2006/main">
            <a:r>
              <a:t>홈페이지 https://heen1987-ops.github.io/TS-business-Plan-001/index.html?view=platform-cases&amp;case=PF-R05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a:p xmlns:a="http://schemas.openxmlformats.org/drawingml/2006/main">
            <a:r>
              <a:t>한계: RFP 요구 범위 · MIS API 계층 신규 개발 포함 · 운영 성과와 구분</a:t>
            </a:r>
          </a:p>
          <a:p xmlns:a="http://schemas.openxmlformats.org/drawingml/2006/main">
            <a:r>
              <a:t>실패 위험: 잘못된 날짜·출장 항목 추출 / 재시도에 따른 중복 신청</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a:p xmlns:a="http://schemas.openxmlformats.org/drawingml/2006/main">
            <a:r>
              <a:t>원문 도면 {"caseId":"PF-R06","path":"assets/casebook-sources/PF-R06-01.png","title":"철도기술연구원 업무시스템","status":"RFP 수록 기존 시스템 구성","caption":"협업 포털·통합경영정보·전자결재·외부 연계 현황","locator":"rId18 / BinData/image1_bmp","checked":"2026-10-16","sha256":"419b833abe927fb60c98c0b17c83b79039658d9fc8f1bf2295db634a55a2c424","explanation":{"read":"포털·MIS·전자결재의 기존 정보시스템 구성. 음성 AI의 신규 배치가 아니라 행정 요청을 실제 처리할 기간계와 결재 경로의 현황을 설명하는 도면.","requirements":["FUR-003","FUR-004","FUR-007","FUR-009"],"connection":"STT·의도 추출·사용자 확인을 앞단에 추가하고 기존 MIS API·결재선으로 인계하는 재구성. 음성 인식 성공과 업무 등록 성공을 별도 상태로 관리."}}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"PF-R06",</a:t>
            </a:r>
          </a:p>
          <a:p xmlns:a="http://schemas.openxmlformats.org/drawingml/2006/main">
            <a:r>
              <a:t>    "sourceId": "R06",</a:t>
            </a:r>
          </a:p>
          <a:p xmlns:a="http://schemas.openxmlformats.org/drawingml/2006/main">
            <a:r>
              <a:t>    "title": "철도기술연구원 행정 AI",</a:t>
            </a:r>
          </a:p>
          <a:p xmlns:a="http://schemas.openxmlformats.org/drawingml/2006/main">
            <a:r>
              <a:t>    "region": "국내",</a:t>
            </a:r>
          </a:p>
          <a:p xmlns:a="http://schemas.openxmlformats.org/drawingml/2006/main">
            <a:r>
              <a:t>    "owner": "한국철도기술연구원",</a:t>
            </a:r>
          </a:p>
          <a:p xmlns:a="http://schemas.openxmlformats.org/drawingml/2006/main">
            <a:r>
              <a:t>    "state": "공식 RFP 확인 / 운영·효과 미확인",</a:t>
            </a:r>
          </a:p>
          <a:p xmlns:a="http://schemas.openxmlformats.org/drawingml/2006/main">
            <a:r>
              <a:t>    "period": "기존 원장 확인 2026.10.16",</a:t>
            </a:r>
          </a:p>
          <a:p xmlns:a="http://schemas.openxmlformats.org/drawingml/2006/main">
            <a:r>
              <a:t>    "fact": "음성·자연어로 휴가·출장·복명 신청 후 MIS/전자결재 실행",</a:t>
            </a:r>
          </a:p>
          <a:p xmlns:a="http://schemas.openxmlformats.org/drawingml/2006/main">
            <a:r>
              <a:t>    "limit": "RFP 요구 범위 · MIS API 계층 신규 개발 포함 · 운영 성과와 구분",</a:t>
            </a:r>
          </a:p>
          <a:p xmlns:a="http://schemas.openxmlformats.org/drawingml/2006/main">
            <a:r>
              <a:t>    "nodes": [</a:t>
            </a:r>
          </a:p>
          <a:p xmlns:a="http://schemas.openxmlformats.org/drawingml/2006/main">
            <a:r>
              <a:t>      "음성·자연어",</a:t>
            </a:r>
          </a:p>
          <a:p xmlns:a="http://schemas.openxmlformats.org/drawingml/2006/main">
            <a:r>
              <a:t>      "필드 추출",</a:t>
            </a:r>
          </a:p>
          <a:p xmlns:a="http://schemas.openxmlformats.org/drawingml/2006/main">
            <a:r>
              <a:t>      "사용자 확인",</a:t>
            </a:r>
          </a:p>
          <a:p xmlns:a="http://schemas.openxmlformats.org/drawingml/2006/main">
            <a:r>
              <a:t>      "MIS·결재 연계"</a:t>
            </a:r>
          </a:p>
          <a:p xmlns:a="http://schemas.openxmlformats.org/drawingml/2006/main">
            <a:r>
              <a:t>    ],</a:t>
            </a:r>
          </a:p>
          <a:p xmlns:a="http://schemas.openxmlformats.org/drawingml/2006/main">
            <a:r>
              <a:t>    "apply": "사용자 확인·전결·접수 결과까지 추적하는 자연어 업무 실행",</a:t>
            </a:r>
          </a:p>
          <a:p xmlns:a="http://schemas.openxmlformats.org/drawingml/2006/main">
            <a:r>
              <a:t>    "delta": "발화 필드·확인 화면 / TS 기간계 API 차분 / 전결·취소·재시도 연결",</a:t>
            </a:r>
          </a:p>
          <a:p xmlns:a="http://schemas.openxmlformats.org/drawingml/2006/main">
            <a:r>
              <a:t>    "test": "날짜 오류·중복 전송·취소 시 승인 전 차단·멱등성·원천 상태 대사",</a:t>
            </a:r>
          </a:p>
          <a:p xmlns:a="http://schemas.openxmlformats.org/drawingml/2006/main">
            <a:r>
              <a:t>    "url": "https://www.g2b.go.kr/pn/pnp/pnpe/UntyAtchFile/downloadFile.do?bidPbancNo=R26BK01719764&amp;bidPbancOrd=000&amp;fileSeq=4&amp;fileType=&amp;prcmBsneSeCd=03",</a:t>
            </a:r>
          </a:p>
          <a:p xmlns:a="http://schemas.openxmlformats.org/drawingml/2006/main">
            <a:r>
              <a:t>    "urls": [</a:t>
            </a:r>
          </a:p>
          <a:p xmlns:a="http://schemas.openxmlformats.org/drawingml/2006/main">
            <a:r>
              <a:t>      "https://www.g2b.go.kr/pn/pnp/pnpe/UntyAtchFile/downloadFile.do?bidPbancNo=R26BK01719764&amp;bidPbancOrd=000&amp;fileSeq=4&amp;fileType=&amp;prcmBsneSeCd=03"</a:t>
            </a:r>
          </a:p>
          <a:p xmlns:a="http://schemas.openxmlformats.org/drawingml/2006/main">
            <a:r>
              <a:t>    ],</a:t>
            </a:r>
          </a:p>
          <a:p xmlns:a="http://schemas.openxmlformats.org/drawingml/2006/main">
            <a:r>
              <a:t>    "basis": "FUR-001~009, PER-001~002, TER-005 / Word T071",</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"신청 완료시간 / 재입력률 / 중복·미접수 건수",</a:t>
            </a:r>
          </a:p>
          <a:p xmlns:a="http://schemas.openxmlformats.org/drawingml/2006/main">
            <a:r>
              <a:t>    "group": "요구·구축",</a:t>
            </a:r>
          </a:p>
          <a:p xmlns:a="http://schemas.openxmlformats.org/drawingml/2006/main">
            <a:r>
              <a:t>    "sourceDetail": "STT→의도·필드 추출→사용자 확인→MIS API 신규개발→기안·상신; 조직·직무·권한 기반 결재선",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"PF-R06",</a:t>
            </a:r>
          </a:p>
          <a:p xmlns:a="http://schemas.openxmlformats.org/drawingml/2006/main">
            <a:r>
              <a:t>    "canonicalId": "PF-R06",</a:t>
            </a:r>
          </a:p>
          <a:p xmlns:a="http://schemas.openxmlformats.org/drawingml/2006/main">
            <a:r>
              <a:t>    "purpose": "발화에서 휴가·출장·복명 신청까지 연결",</a:t>
            </a:r>
          </a:p>
          <a:p xmlns:a="http://schemas.openxmlformats.org/drawingml/2006/main">
            <a:r>
              <a:t>    "users": "직원·결재자·MIS 운영자",</a:t>
            </a:r>
          </a:p>
          <a:p xmlns:a="http://schemas.openxmlformats.org/drawingml/2006/main">
            <a:r>
              <a:t>    "scope": [</a:t>
            </a:r>
          </a:p>
          <a:p xmlns:a="http://schemas.openxmlformats.org/drawingml/2006/main">
            <a:r>
              <a:t>      "음성 입력",</a:t>
            </a:r>
          </a:p>
          <a:p xmlns:a="http://schemas.openxmlformats.org/drawingml/2006/main">
            <a:r>
              <a:t>      "신청서 작성",</a:t>
            </a:r>
          </a:p>
          <a:p xmlns:a="http://schemas.openxmlformats.org/drawingml/2006/main">
            <a:r>
              <a:t>      "MIS·전자결재"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"음성·자연어",</a:t>
            </a:r>
          </a:p>
          <a:p xmlns:a="http://schemas.openxmlformats.org/drawingml/2006/main">
            <a:r>
              <a:t>        "detail": "음성/텍스트 입력과 조직·직무·권한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"음성 입력 / 신청서 작성 / MIS·전자결재",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"필드 추출·확인",</a:t>
            </a:r>
          </a:p>
          <a:p xmlns:a="http://schemas.openxmlformats.org/drawingml/2006/main">
            <a:r>
              <a:t>        "detail": "STT·NLU의 의도·날짜·항목 추출 및 확인",</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"MIS·전자결재",</a:t>
            </a:r>
          </a:p>
          <a:p xmlns:a="http://schemas.openxmlformats.org/drawingml/2006/main">
            <a:r>
              <a:t>        "detail": "신규 MIS API로 기안·상신·처리 결과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"신청 초안·처리 상태",</a:t>
            </a:r>
          </a:p>
          <a:p xmlns:a="http://schemas.openxmlformats.org/drawingml/2006/main">
            <a:r>
              <a:t>        "detail": "인사·근태·잔여연차·서식 데이터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"수정·취소·재시도 상태의 원천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"음성·자연어",</a:t>
            </a:r>
          </a:p>
          <a:p xmlns:a="http://schemas.openxmlformats.org/drawingml/2006/main">
            <a:r>
              <a:t>        "input": "음성/텍스트 입력과 조직·직무·권한 확인",</a:t>
            </a:r>
          </a:p>
          <a:p xmlns:a="http://schemas.openxmlformats.org/drawingml/2006/main">
            <a:r>
              <a:t>        "process": "인사·근태·잔여연차·서식 데이터 연결",</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"title": "필드 추출",</a:t>
            </a:r>
          </a:p>
          <a:p xmlns:a="http://schemas.openxmlformats.org/drawingml/2006/main">
            <a:r>
              <a:t>        "input": "원 발화",</a:t>
            </a:r>
          </a:p>
          <a:p xmlns:a="http://schemas.openxmlformats.org/drawingml/2006/main">
            <a:r>
              <a:t>        "process": "STT·NLU의 의도·날짜·항목 추출 및 확인",</a:t>
            </a:r>
          </a:p>
          <a:p xmlns:a="http://schemas.openxmlformats.org/drawingml/2006/main">
            <a:r>
              <a:t>        "output": "신청 필드"</a:t>
            </a:r>
          </a:p>
          <a:p xmlns:a="http://schemas.openxmlformats.org/drawingml/2006/main">
            <a:r>
              <a:t>      },</a:t>
            </a:r>
          </a:p>
          <a:p xmlns:a="http://schemas.openxmlformats.org/drawingml/2006/main">
            <a:r>
              <a:t>      {</a:t>
            </a:r>
          </a:p>
          <a:p xmlns:a="http://schemas.openxmlformats.org/drawingml/2006/main">
            <a:r>
              <a:t>        "title": "사용자 확인",</a:t>
            </a:r>
          </a:p>
          <a:p xmlns:a="http://schemas.openxmlformats.org/drawingml/2006/main">
            <a:r>
              <a:t>        "input": "신청 필드",</a:t>
            </a:r>
          </a:p>
          <a:p xmlns:a="http://schemas.openxmlformats.org/drawingml/2006/main">
            <a:r>
              <a:t>        "process": "필수 필드 재확인·멱등성·상태 대사",</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"title": "MIS·결재 연계",</a:t>
            </a:r>
          </a:p>
          <a:p xmlns:a="http://schemas.openxmlformats.org/drawingml/2006/main">
            <a:r>
              <a:t>        "input": "확인된 초안",</a:t>
            </a:r>
          </a:p>
          <a:p xmlns:a="http://schemas.openxmlformats.org/drawingml/2006/main">
            <a:r>
              <a:t>        "process":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"출장 목적·기간·장소를 말하고 확인 후 기안·상신",</a:t>
            </a:r>
          </a:p>
          <a:p xmlns:a="http://schemas.openxmlformats.org/drawingml/2006/main">
            <a:r>
              <a:t>      "exception": "날짜 오인식·필수 항목 누락·API 재시도·취소",</a:t>
            </a:r>
          </a:p>
          <a:p xmlns:a="http://schemas.openxmlformats.org/drawingml/2006/main">
            <a:r>
              <a:t>      "evidence": "확인 전 실행 차단·중복 방지·MIS 접수 상태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"직원·결재자·MIS 운영자",</a:t>
            </a:r>
          </a:p>
          <a:p xmlns:a="http://schemas.openxmlformats.org/drawingml/2006/main">
            <a:r>
              <a:t>          "processing": "음성/텍스트 입력과 조직·직무·권한 확인",</a:t>
            </a:r>
          </a:p>
          <a:p xmlns:a="http://schemas.openxmlformats.org/drawingml/2006/main">
            <a:r>
              <a:t>          "output": "원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"신청 초안·처리 상태",</a:t>
            </a:r>
          </a:p>
          <a:p xmlns:a="http://schemas.openxmlformats.org/drawingml/2006/main">
            <a:r>
              <a:t>          "processing": "인사·근태·잔여연차·서식 데이터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"원 발화",</a:t>
            </a:r>
          </a:p>
          <a:p xmlns:a="http://schemas.openxmlformats.org/drawingml/2006/main">
            <a:r>
              <a:t>          "processing": "STT·NLU의 의도·날짜·항목 추출 및 확인",</a:t>
            </a:r>
          </a:p>
          <a:p xmlns:a="http://schemas.openxmlformats.org/drawingml/2006/main">
            <a:r>
              <a:t>          "output": "확인된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"확인된 초안",</a:t>
            </a:r>
          </a:p>
          <a:p xmlns:a="http://schemas.openxmlformats.org/drawingml/2006/main">
            <a:r>
              <a:t>          "processing": "신규 MIS API로 기안·상신·처리 결과 확인",</a:t>
            </a:r>
          </a:p>
          <a:p xmlns:a="http://schemas.openxmlformats.org/drawingml/2006/main">
            <a:r>
              <a:t>          "output": "접수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"수정·취소·재시도 상태의 원천 대사",</a:t>
            </a:r>
          </a:p>
          <a:p xmlns:a="http://schemas.openxmlformats.org/drawingml/2006/main">
            <a:r>
              <a:t>          "output": "확인 전 실행 차단·중복 방지·MIS 접수 상태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"수정·취소·재시도 상태의 원천 대사",</a:t>
            </a:r>
          </a:p>
          <a:p xmlns:a="http://schemas.openxmlformats.org/drawingml/2006/main">
            <a:r>
              <a:t>    "status": "RFP 기반 논리 설계",</a:t>
            </a:r>
          </a:p>
          <a:p xmlns:a="http://schemas.openxmlformats.org/drawingml/2006/main">
            <a:r>
              <a:t>    "basis": "RFP · FUR-001~009·TER-005",</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"FUR-001~009, PER-001~002, TER-005 / Word T071",</a:t>
            </a:r>
          </a:p>
          <a:p xmlns:a="http://schemas.openxmlformats.org/drawingml/2006/main">
            <a:r>
              <a:t>        "url": "https://www.g2b.go.kr/pn/pnp/pnpe/UntyAtchFile/downloadFile.do?bidPbancNo=R26BK01719764&amp;bidPbancOrd=000&amp;fileSeq=4&amp;fileType=&amp;prcmBsneSeCd=03"</a:t>
            </a:r>
          </a:p>
          <a:p xmlns:a="http://schemas.openxmlformats.org/drawingml/2006/main">
            <a:r>
              <a:t>      }</a:t>
            </a:r>
          </a:p>
          <a:p xmlns:a="http://schemas.openxmlformats.org/drawingml/2006/main">
            <a:r>
              <a:t>    ],</a:t>
            </a:r>
          </a:p>
          <a:p xmlns:a="http://schemas.openxmlformats.org/drawingml/2006/main">
            <a:r>
              <a:t>    "implication": "사용자 확인·전결·접수 결과까지 추적하는 자연어 업무 실행",</a:t>
            </a:r>
          </a:p>
          <a:p xmlns:a="http://schemas.openxmlformats.org/drawingml/2006/main">
            <a:r>
              <a:t>    "local": "사용자 확인·전결·접수 결과까지 추적하는 자연어 업무 실행",</a:t>
            </a:r>
          </a:p>
          <a:p xmlns:a="http://schemas.openxmlformats.org/drawingml/2006/main">
            <a:r>
              <a:t>    "sourceDetail": "STT→의도·필드 추출→사용자 확인→MIS API 신규개발→기안·상신; 조직·직무·권한 기반 결재선",</a:t>
            </a:r>
          </a:p>
          <a:p xmlns:a="http://schemas.openxmlformats.org/drawingml/2006/main">
            <a:r>
              <a:t>    "narrative": [</a:t>
            </a:r>
          </a:p>
          <a:p xmlns:a="http://schemas.openxmlformats.org/drawingml/2006/main">
            <a:r>
              <a:t>      "휴가·출장 등 행정업무를 음성·텍스트 요청에서 시작해 MIS와 전자결재까지 연결하는 사업. 기존 서식·데이터 생성 로직이 MIS에 있고 AI·모바일 호출용 API가 없다는 연계 제약을 RFP에 명시.",</a:t>
            </a:r>
          </a:p>
          <a:p xmlns:a="http://schemas.openxmlformats.org/drawingml/2006/main">
            <a:r>
              <a:t>      "발화의 STT 변환, NLU 의도·개체 추출, 필수 항목 검증, 사용자 확인, MIS 서식 생성, 결재선 추천, 상신·상태 조회를 구분하는 처리 구조. FUR-009의 신규 API는 서식 메타데이터, 잔여연차·근태 조회, 업무규칙 검증, 전자결재 상신을 포함하는 범위.",</a:t>
            </a:r>
          </a:p>
          <a:p xmlns:a="http://schemas.openxmlformats.org/drawingml/2006/main">
            <a:r>
              <a:t>      "AI 모델 정확도 외에 실제 업무 시스템의 접수 상태까지 확인해야 하는 사례. 같은 요청의 재시도, 날짜 수정, 결재선 변경, 상신 후 취소를 검수 시나리오로 분리할 필요. CCK 재사용 도구와 별개로 TS 기간계 API 개발·멱등성·상태 대사를 추가 범위로 산정."</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"FUR-001",</a:t>
            </a:r>
          </a:p>
          <a:p xmlns:a="http://schemas.openxmlformats.org/drawingml/2006/main">
            <a:r>
              <a:t>        "title": "음성 인식(STT) 기반 입력 처리",</a:t>
            </a:r>
          </a:p>
          <a:p xmlns:a="http://schemas.openxmlformats.org/drawingml/2006/main">
            <a:r>
              <a:t>        "locator": "FUR-001",</a:t>
            </a:r>
          </a:p>
          <a:p xmlns:a="http://schemas.openxmlformats.org/drawingml/2006/main">
            <a:r>
              <a:t>        "summary": "음성 발화를 행정 요청의 텍스트 입력으로 변환하는 STT 기능.",</a:t>
            </a:r>
          </a:p>
          <a:p xmlns:a="http://schemas.openxmlformats.org/drawingml/2006/main">
            <a:r>
              <a:t>        "data": "업무 발화·음성 → 전사문",</a:t>
            </a:r>
          </a:p>
          <a:p xmlns:a="http://schemas.openxmlformats.org/drawingml/2006/main">
            <a:r>
              <a:t>        "components": [</a:t>
            </a:r>
          </a:p>
          <a:p xmlns:a="http://schemas.openxmlformats.org/drawingml/2006/main">
            <a:r>
              <a:t>          "C01",</a:t>
            </a:r>
          </a:p>
          <a:p xmlns:a="http://schemas.openxmlformats.org/drawingml/2006/main">
            <a:r>
              <a:t>          "C04"</a:t>
            </a:r>
          </a:p>
          <a:p xmlns:a="http://schemas.openxmlformats.org/drawingml/2006/main">
            <a:r>
              <a:t>        ],</a:t>
            </a:r>
          </a:p>
          <a:p xmlns:a="http://schemas.openxmlformats.org/drawingml/2006/main">
            <a:r>
              <a:t>        "acceptance": "잡음·기관 고유어·날짜·숫자·수정 발화의 전사 결과를 정답과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"4b2d797a440d1d6fbec4f86d7f517404bd7f1e493f405d7d9f79cd20481e3cbd"</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"자연어 이해(NLU) 및 사용자 의도 분석",</a:t>
            </a:r>
          </a:p>
          <a:p xmlns:a="http://schemas.openxmlformats.org/drawingml/2006/main">
            <a:r>
              <a:t>        "locator": "FUR-002",</a:t>
            </a:r>
          </a:p>
          <a:p xmlns:a="http://schemas.openxmlformats.org/drawingml/2006/main">
            <a:r>
              <a:t>        "summary": "전사·텍스트에서 사용자의 의도와 업무에 필요한 항목을 식별하는 NLU 기능.",</a:t>
            </a:r>
          </a:p>
          <a:p xmlns:a="http://schemas.openxmlformats.org/drawingml/2006/main">
            <a:r>
              <a:t>        "data": "발화·직원 문맥 → 업무 유형·필수 항목",</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"휴가·출장·복명 의도 혼동, 날짜 누락, 정정 발화 처리의 슬롯별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"2b5b33f9ad0c0b4d3f13c4f96f1446464cdcaabdd131ab4dde7eaac0671edc6a"</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"지능형 업무 자동화 엔진",</a:t>
            </a:r>
          </a:p>
          <a:p xmlns:a="http://schemas.openxmlformats.org/drawingml/2006/main">
            <a:r>
              <a:t>        "locator": "FUR-003",</a:t>
            </a:r>
          </a:p>
          <a:p xmlns:a="http://schemas.openxmlformats.org/drawingml/2006/main">
            <a:r>
              <a:t>        "summary": "식별한 의도를 업무자동화 절차로 연결하는 실행 엔진.",</a:t>
            </a:r>
          </a:p>
          <a:p xmlns:a="http://schemas.openxmlformats.org/drawingml/2006/main">
            <a:r>
              <a:t>        "data": "의도·입력 항목 → 실행 절차·진행 상태",</a:t>
            </a:r>
          </a:p>
          <a:p xmlns:a="http://schemas.openxmlformats.org/drawingml/2006/main">
            <a:r>
              <a:t>        "components": [</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"acceptance": "필수값 누락·비허용 업무·중간 실패 조건의 실행 보류와 재개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"f810450f2d482dea56dce3c7164eae2c0fc1681561e11d1fd64a9f19546747d3"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"행정서식 생성(MIS)·전자결재 연동 및 결재선 자동 추천",</a:t>
            </a:r>
          </a:p>
          <a:p xmlns:a="http://schemas.openxmlformats.org/drawingml/2006/main">
            <a:r>
              <a:t>        "locator": "FUR-004",</a:t>
            </a:r>
          </a:p>
          <a:p xmlns:a="http://schemas.openxmlformats.org/drawingml/2006/main">
            <a:r>
              <a:t>        "summary": "MIS 행정서식 생성과 전자결재·결재선 연계.",</a:t>
            </a:r>
          </a:p>
          <a:p xmlns:a="http://schemas.openxmlformats.org/drawingml/2006/main">
            <a:r>
              <a:t>        "data": "직원·업무 데이터 → 신청서·결재선·접수 결과",</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"다른 직원의 결재선, 수정 전 날짜, 중복 신청을 포함해 확인 화면과 최종 등록값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"4f1ec6fe0d7a56356478c8dfabb91a772fd9c787cec611102d2b41d2bf087f45"</a:t>
            </a:r>
          </a:p>
          <a:p xmlns:a="http://schemas.openxmlformats.org/drawingml/2006/main">
            <a:r>
              <a:t>      },</a:t>
            </a:r>
          </a:p>
          <a:p xmlns:a="http://schemas.openxmlformats.org/drawingml/2006/main">
            <a:r>
              <a:t>      {</a:t>
            </a:r>
          </a:p>
          <a:p xmlns:a="http://schemas.openxmlformats.org/drawingml/2006/main">
            <a:r>
              <a:t>        "id": "FUR-007",</a:t>
            </a:r>
          </a:p>
          <a:p xmlns:a="http://schemas.openxmlformats.org/drawingml/2006/main">
            <a:r>
              <a:t>        "title": "그룹웨어·기간계 시스템 연계",</a:t>
            </a:r>
          </a:p>
          <a:p xmlns:a="http://schemas.openxmlformats.org/drawingml/2006/main">
            <a:r>
              <a:t>        "locator": "FUR-007",</a:t>
            </a:r>
          </a:p>
          <a:p xmlns:a="http://schemas.openxmlformats.org/drawingml/2006/main">
            <a:r>
              <a:t>        "summary": "그룹웨어·기간계와 연계해 요청 및 처리 결과를 교환하는 기능.",</a:t>
            </a:r>
          </a:p>
          <a:p xmlns:a="http://schemas.openxmlformats.org/drawingml/2006/main">
            <a:r>
              <a:t>        "data": "업무 요청·시스템 식별정보 → 처리 결과·상태",</a:t>
            </a:r>
          </a:p>
          <a:p xmlns:a="http://schemas.openxmlformats.org/drawingml/2006/main">
            <a:r>
              <a:t>        "components": [</a:t>
            </a:r>
          </a:p>
          <a:p xmlns:a="http://schemas.openxmlformats.org/drawingml/2006/main">
            <a:r>
              <a:t>          "C02",</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"acceptance": "인증 만료·연계 장애·응답 지연 시 실제 등록 상태와 사용자 안내의 일치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"248a2a097858bb82f76df87facd2135704aa4354594d82248b40def47a25d3f5"</a:t>
            </a:r>
          </a:p>
          <a:p xmlns:a="http://schemas.openxmlformats.org/drawingml/2006/main">
            <a:r>
              <a:t>      },</a:t>
            </a:r>
          </a:p>
          <a:p xmlns:a="http://schemas.openxmlformats.org/drawingml/2006/main">
            <a:r>
              <a:t>      {</a:t>
            </a:r>
          </a:p>
          <a:p xmlns:a="http://schemas.openxmlformats.org/drawingml/2006/main">
            <a:r>
              <a:t>        "id": "FUR-009",</a:t>
            </a:r>
          </a:p>
          <a:p xmlns:a="http://schemas.openxmlformats.org/drawingml/2006/main">
            <a:r>
              <a:t>        "title": "통합경영정보시스템(MIS) 행정업무 API 개발",</a:t>
            </a:r>
          </a:p>
          <a:p xmlns:a="http://schemas.openxmlformats.org/drawingml/2006/main">
            <a:r>
              <a:t>        "locator": "FUR-009",</a:t>
            </a:r>
          </a:p>
          <a:p xmlns:a="http://schemas.openxmlformats.org/drawingml/2006/main">
            <a:r>
              <a:t>        "summary": "자연어 행정 서비스에 필요한 MIS 업무 API의 신규 개발.",</a:t>
            </a:r>
          </a:p>
          <a:p xmlns:a="http://schemas.openxmlformats.org/drawingml/2006/main">
            <a:r>
              <a:t>        "data": "구조화 행정 요청 → MIS 생성·조회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"필수 인자·권한·중복 요청·취소 가능 상태를 API 계약 및 실제 데이터와 대조",</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"8a445db50ff666bd64f8ff0b7745693eaefce5e0df8153d8c59102304c330829"</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"음성·텍스트 입력",</a:t>
            </a:r>
          </a:p>
          <a:p xmlns:a="http://schemas.openxmlformats.org/drawingml/2006/main">
            <a:r>
              <a:t>          "layer": "이용 접점",</a:t>
            </a:r>
          </a:p>
          <a:p xmlns:a="http://schemas.openxmlformats.org/drawingml/2006/main">
            <a:r>
              <a:t>          "detail": "직원·결재자·MIS 운영자",</a:t>
            </a:r>
          </a:p>
          <a:p xmlns:a="http://schemas.openxmlformats.org/drawingml/2006/main">
            <a:r>
              <a:t>          "requirements": [</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"직원·조직·직무",</a:t>
            </a:r>
          </a:p>
          <a:p xmlns:a="http://schemas.openxmlformats.org/drawingml/2006/main">
            <a:r>
              <a:t>          "layer": "업무 문맥",</a:t>
            </a:r>
          </a:p>
          <a:p xmlns:a="http://schemas.openxmlformats.org/drawingml/2006/main">
            <a:r>
              <a:t>          "detail": "음성/텍스트 입력과 조직·직무·권한 확인",</a:t>
            </a:r>
          </a:p>
          <a:p xmlns:a="http://schemas.openxmlformats.org/drawingml/2006/main">
            <a:r>
              <a:t>          "requirements": [</a:t>
            </a:r>
          </a:p>
          <a:p xmlns:a="http://schemas.openxmlformats.org/drawingml/2006/main">
            <a:r>
              <a:t>            "FUR-002",</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"근태·서식 조회",</a:t>
            </a:r>
          </a:p>
          <a:p xmlns:a="http://schemas.openxmlformats.org/drawingml/2006/main">
            <a:r>
              <a:t>          "layer": "자료 조회",</a:t>
            </a:r>
          </a:p>
          <a:p xmlns:a="http://schemas.openxmlformats.org/drawingml/2006/main">
            <a:r>
              <a:t>          "detail": "원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"STT·의도·필드 추출",</a:t>
            </a:r>
          </a:p>
          <a:p xmlns:a="http://schemas.openxmlformats.org/drawingml/2006/main">
            <a:r>
              <a:t>          "layer": "핵심 처리",</a:t>
            </a:r>
          </a:p>
          <a:p xmlns:a="http://schemas.openxmlformats.org/drawingml/2006/main">
            <a:r>
              <a:t>          "detail": "STT·NLU의 의도·날짜·항목 추출 및 확인",</a:t>
            </a:r>
          </a:p>
          <a:p xmlns:a="http://schemas.openxmlformats.org/drawingml/2006/main">
            <a:r>
              <a:t>          "requirements": [</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"날짜·필수값 검사",</a:t>
            </a:r>
          </a:p>
          <a:p xmlns:a="http://schemas.openxmlformats.org/drawingml/2006/main">
            <a:r>
              <a:t>          "layer": "결과 검증",</a:t>
            </a:r>
          </a:p>
          <a:p xmlns:a="http://schemas.openxmlformats.org/drawingml/2006/main">
            <a:r>
              <a:t>          "detail": "필수 필드 재확인·멱등성·상태 대사",</a:t>
            </a:r>
          </a:p>
          <a:p xmlns:a="http://schemas.openxmlformats.org/drawingml/2006/main">
            <a:r>
              <a:t>          "requirements": [</a:t>
            </a:r>
          </a:p>
          <a:p xmlns:a="http://schemas.openxmlformats.org/drawingml/2006/main">
            <a:r>
              <a:t>            "FUR-003"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 최종 확인",</a:t>
            </a:r>
          </a:p>
          <a:p xmlns:a="http://schemas.openxmlformats.org/drawingml/2006/main">
            <a:r>
              <a:t>          "layer": "사람 확인",</a:t>
            </a:r>
          </a:p>
          <a:p xmlns:a="http://schemas.openxmlformats.org/drawingml/2006/main">
            <a:r>
              <a:t>          "detail": "출장 목적·기간·장소를 말하고 확인 후 기안·상신",</a:t>
            </a:r>
          </a:p>
          <a:p xmlns:a="http://schemas.openxmlformats.org/drawingml/2006/main">
            <a:r>
              <a:t>          "requirements": [</a:t>
            </a:r>
          </a:p>
          <a:p xmlns:a="http://schemas.openxmlformats.org/drawingml/2006/main">
            <a:r>
              <a:t>            "FUR-004"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"신규 MIS API·상신",</a:t>
            </a:r>
          </a:p>
          <a:p xmlns:a="http://schemas.openxmlformats.org/drawingml/2006/main">
            <a:r>
              <a:t>          "layer": "업무 연결",</a:t>
            </a:r>
          </a:p>
          <a:p xmlns:a="http://schemas.openxmlformats.org/drawingml/2006/main">
            <a:r>
              <a:t>          "detail": "신규 MIS API로 기안·상신·처리 결과 확인",</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"취소·중복 대사",</a:t>
            </a:r>
          </a:p>
          <a:p xmlns:a="http://schemas.openxmlformats.org/drawingml/2006/main">
            <a:r>
              <a:t>          "layer": "운영 관측",</a:t>
            </a:r>
          </a:p>
          <a:p xmlns:a="http://schemas.openxmlformats.org/drawingml/2006/main">
            <a:r>
              <a:t>          "detail": "수정·취소·재시도 상태의 원천 대사",</a:t>
            </a:r>
          </a:p>
          <a:p xmlns:a="http://schemas.openxmlformats.org/drawingml/2006/main">
            <a:r>
              <a:t>          "requirements": [</a:t>
            </a:r>
          </a:p>
          <a:p xmlns:a="http://schemas.openxmlformats.org/drawingml/2006/main">
            <a:r>
              <a:t>            "FUR-007"</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"인사·근태·결재선",</a:t>
            </a:r>
          </a:p>
          <a:p xmlns:a="http://schemas.openxmlformats.org/drawingml/2006/main">
            <a:r>
              <a:t>          "layer": "데이터 원천",</a:t>
            </a:r>
          </a:p>
          <a:p xmlns:a="http://schemas.openxmlformats.org/drawingml/2006/main">
            <a:r>
              <a:t>          "detail": "신청 초안·처리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"필드·서식 정합화",</a:t>
            </a:r>
          </a:p>
          <a:p xmlns:a="http://schemas.openxmlformats.org/drawingml/2006/main">
            <a:r>
              <a:t>          "layer": "준비·갱신",</a:t>
            </a:r>
          </a:p>
          <a:p xmlns:a="http://schemas.openxmlformats.org/drawingml/2006/main">
            <a:r>
              <a:t>          "detail": "인사·근태·잔여연차·서식 데이터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"신청 초안·접수 상태",</a:t>
            </a:r>
          </a:p>
          <a:p xmlns:a="http://schemas.openxmlformats.org/drawingml/2006/main">
            <a:r>
              <a:t>          "layer": "상태·지식 저장",</a:t>
            </a:r>
          </a:p>
          <a:p xmlns:a="http://schemas.openxmlformats.org/drawingml/2006/main">
            <a:r>
              <a:t>          "detail": "확인 전 실행 차단·중복 방지·MIS 접수 상태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"업무·실행 권한",</a:t>
            </a:r>
          </a:p>
          <a:p xmlns:a="http://schemas.openxmlformats.org/drawingml/2006/main">
            <a:r>
              <a:t>          "layer": "권한·정책",</a:t>
            </a:r>
          </a:p>
          <a:p xmlns:a="http://schemas.openxmlformats.org/drawingml/2006/main">
            <a:r>
              <a:t>          "detail": "날짜 오인식·필수 항목 누락·API 재시도·취소",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"음성·자연어 → 필드 추출 → 사용자 확인 → MIS·결재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"음성/텍스트 입력과 조직·직무·권한 확인",</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"원 발화",</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"신청 초안·처리 상태",</a:t>
            </a:r>
          </a:p>
          <a:p xmlns:a="http://schemas.openxmlformats.org/drawingml/2006/main">
            <a:r>
              <a:t>          "check": "인사·근태·잔여연차·서식 데이터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"확인된 초안",</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"접수 결과",</a:t>
            </a:r>
          </a:p>
          <a:p xmlns:a="http://schemas.openxmlformats.org/drawingml/2006/main">
            <a:r>
              <a:t>          "check": "확인 전 실행 차단·중복 방지·MIS 접수 상태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"FUR-001~009·TER-005",</a:t>
            </a:r>
          </a:p>
          <a:p xmlns:a="http://schemas.openxmlformats.org/drawingml/2006/main">
            <a:r>
              <a:t>        "extracted": "STT·NLU, 사용자 확인, MIS API 신규 구축·전자결재 연결",</a:t>
            </a:r>
          </a:p>
          <a:p xmlns:a="http://schemas.openxmlformats.org/drawingml/2006/main">
            <a:r>
              <a:t>        "extension": "중복 요청 식별·취소 후 상태 대사·결재선 효력일 검사"</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"PF-R06",</a:t>
            </a:r>
          </a:p>
          <a:p xmlns:a="http://schemas.openxmlformats.org/drawingml/2006/main">
            <a:r>
              <a:t>          "path": "assets/casebook-sources/PF-R06-01.png",</a:t>
            </a:r>
          </a:p>
          <a:p xmlns:a="http://schemas.openxmlformats.org/drawingml/2006/main">
            <a:r>
              <a:t>          "title": "철도기술연구원 업무시스템",</a:t>
            </a:r>
          </a:p>
          <a:p xmlns:a="http://schemas.openxmlformats.org/drawingml/2006/main">
            <a:r>
              <a:t>          "status": "RFP 수록 기존 시스템 구성",</a:t>
            </a:r>
          </a:p>
          <a:p xmlns:a="http://schemas.openxmlformats.org/drawingml/2006/main">
            <a:r>
              <a:t>          "caption": "협업 포털·통합경영정보·전자결재·외부 연계 현황",</a:t>
            </a:r>
          </a:p>
          <a:p xmlns:a="http://schemas.openxmlformats.org/drawingml/2006/main">
            <a:r>
              <a:t>          "locator": "rId18 / BinData/image1_bmp",</a:t>
            </a:r>
          </a:p>
          <a:p xmlns:a="http://schemas.openxmlformats.org/drawingml/2006/main">
            <a:r>
              <a:t>          "checked": "2026-10-16",</a:t>
            </a:r>
          </a:p>
          <a:p xmlns:a="http://schemas.openxmlformats.org/drawingml/2006/main">
            <a:r>
              <a:t>          "sha256": "419b833abe927fb60c98c0b17c83b79039658d9fc8f1bf2295db634a55a2c424",</a:t>
            </a:r>
          </a:p>
          <a:p xmlns:a="http://schemas.openxmlformats.org/drawingml/2006/main">
            <a:r>
              <a:t>          "explanation": {</a:t>
            </a:r>
          </a:p>
          <a:p xmlns:a="http://schemas.openxmlformats.org/drawingml/2006/main">
            <a:r>
              <a:t>            "read": "포털·MIS·전자결재의 기존 정보시스템 구성. 음성 AI의 신규 배치가 아니라 행정 요청을 실제 처리할 기간계와 결재 경로의 현황을 설명하는 도면.",</a:t>
            </a:r>
          </a:p>
          <a:p xmlns:a="http://schemas.openxmlformats.org/drawingml/2006/main">
            <a:r>
              <a:t>            "requirements": [</a:t>
            </a:r>
          </a:p>
          <a:p xmlns:a="http://schemas.openxmlformats.org/drawingml/2006/main">
            <a:r>
              <a:t>              "FUR-003",</a:t>
            </a:r>
          </a:p>
          <a:p xmlns:a="http://schemas.openxmlformats.org/drawingml/2006/main">
            <a:r>
              <a:t>              "FUR-004",</a:t>
            </a:r>
          </a:p>
          <a:p xmlns:a="http://schemas.openxmlformats.org/drawingml/2006/main">
            <a:r>
              <a:t>              "FUR-007",</a:t>
            </a:r>
          </a:p>
          <a:p xmlns:a="http://schemas.openxmlformats.org/drawingml/2006/main">
            <a:r>
              <a:t>              "FUR-009"</a:t>
            </a:r>
          </a:p>
          <a:p xmlns:a="http://schemas.openxmlformats.org/drawingml/2006/main">
            <a:r>
              <a:t>            ],</a:t>
            </a:r>
          </a:p>
          <a:p xmlns:a="http://schemas.openxmlformats.org/drawingml/2006/main">
            <a:r>
              <a:t>            "connection": "STT·의도 추출·사용자 확인을 앞단에 추가하고 기존 MIS API·결재선으로 인계하는 재구성. 음성 인식 성공과 업무 등록 성공을 별도 상태로 관리."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"날짜 오인식·필수 항목 누락·API 재시도·취소",</a:t>
            </a:r>
          </a:p>
          <a:p xmlns:a="http://schemas.openxmlformats.org/drawingml/2006/main">
            <a:r>
              <a:t>        "hold": "필수 필드 재확인·멱등성·상태 대사",</a:t>
            </a:r>
          </a:p>
          <a:p xmlns:a="http://schemas.openxmlformats.org/drawingml/2006/main">
            <a:r>
              <a:t>        "recovery": "수정·취소·재시도 상태의 원천 대사",</a:t>
            </a:r>
          </a:p>
          <a:p xmlns:a="http://schemas.openxmlformats.org/drawingml/2006/main">
            <a:r>
              <a:t>        "evidence": "확인 전 실행 차단·중복 방지·MIS 접수 상태 대사"</a:t>
            </a:r>
          </a:p>
          <a:p xmlns:a="http://schemas.openxmlformats.org/drawingml/2006/main">
            <a:r>
              <a:t>      },</a:t>
            </a:r>
          </a:p>
          <a:p xmlns:a="http://schemas.openxmlformats.org/drawingml/2006/main">
            <a:r>
              <a:t>      "data": {</a:t>
            </a:r>
          </a:p>
          <a:p xmlns:a="http://schemas.openxmlformats.org/drawingml/2006/main">
            <a:r>
              <a:t>        "source": "신청 초안·처리 상태",</a:t>
            </a:r>
          </a:p>
          <a:p xmlns:a="http://schemas.openxmlformats.org/drawingml/2006/main">
            <a:r>
              <a:t>        "prepare": "인사·근태·잔여연차·서식 데이터 연결",</a:t>
            </a:r>
          </a:p>
          <a:p xmlns:a="http://schemas.openxmlformats.org/drawingml/2006/main">
            <a:r>
              <a:t>        "output": "원 발화",</a:t>
            </a:r>
          </a:p>
          <a:p xmlns:a="http://schemas.openxmlformats.org/drawingml/2006/main">
            <a:r>
              <a:t>        "refresh": "수정·취소·재시도 상태의 원천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"PF-R06",</a:t>
            </a:r>
          </a:p>
          <a:p xmlns:a="http://schemas.openxmlformats.org/drawingml/2006/main">
            <a:r>
              <a:t>    "success": [</a:t>
            </a:r>
          </a:p>
          <a:p xmlns:a="http://schemas.openxmlformats.org/drawingml/2006/main">
            <a:r>
              <a:t>      "발화 구조화와 기존 MIS 연결",</a:t>
            </a:r>
          </a:p>
          <a:p xmlns:a="http://schemas.openxmlformats.org/drawingml/2006/main">
            <a:r>
              <a:t>      "실행 전 사용자 확인"</a:t>
            </a:r>
          </a:p>
          <a:p xmlns:a="http://schemas.openxmlformats.org/drawingml/2006/main">
            <a:r>
              <a:t>    ],</a:t>
            </a:r>
          </a:p>
          <a:p xmlns:a="http://schemas.openxmlformats.org/drawingml/2006/main">
            <a:r>
              <a:t>    "risks": [</a:t>
            </a:r>
          </a:p>
          <a:p xmlns:a="http://schemas.openxmlformats.org/drawingml/2006/main">
            <a:r>
              <a:t>      "잘못된 날짜·출장 항목 추출",</a:t>
            </a:r>
          </a:p>
          <a:p xmlns:a="http://schemas.openxmlformats.org/drawingml/2006/main">
            <a:r>
              <a:t>      "재시도에 따른 중복 신청"</a:t>
            </a:r>
          </a:p>
          <a:p xmlns:a="http://schemas.openxmlformats.org/drawingml/2006/main">
            <a:r>
              <a:t>    ],</a:t>
            </a:r>
          </a:p>
          <a:p xmlns:a="http://schemas.openxmlformats.org/drawingml/2006/main">
            <a:r>
              <a:t>    "architecture": [</a:t>
            </a:r>
          </a:p>
          <a:p xmlns:a="http://schemas.openxmlformats.org/drawingml/2006/main">
            <a:r>
              <a:t>      "음성·자연어",</a:t>
            </a:r>
          </a:p>
          <a:p xmlns:a="http://schemas.openxmlformats.org/drawingml/2006/main">
            <a:r>
              <a:t>      "필드 추출·확인",</a:t>
            </a:r>
          </a:p>
          <a:p xmlns:a="http://schemas.openxmlformats.org/drawingml/2006/main">
            <a:r>
              <a:t>      "신청 초안·처리 상태",</a:t>
            </a:r>
          </a:p>
          <a:p xmlns:a="http://schemas.openxmlformats.org/drawingml/2006/main">
            <a:r>
              <a:t>      "MIS·전자결재"</a:t>
            </a:r>
          </a:p>
          <a:p xmlns:a="http://schemas.openxmlformats.org/drawingml/2006/main">
            <a:r>
              <a:t>    ],</a:t>
            </a:r>
          </a:p>
          <a:p xmlns:a="http://schemas.openxmlformats.org/drawingml/2006/main">
            <a:r>
              <a:t>    "transfers": [</a:t>
            </a:r>
          </a:p>
          <a:p xmlns:a="http://schemas.openxmlformats.org/drawingml/2006/main">
            <a:r>
              <a:t>      "원 발화",</a:t>
            </a:r>
          </a:p>
          <a:p xmlns:a="http://schemas.openxmlformats.org/drawingml/2006/main">
            <a:r>
              <a:t>      "신청 필드",</a:t>
            </a:r>
          </a:p>
          <a:p xmlns:a="http://schemas.openxmlformats.org/drawingml/2006/main">
            <a:r>
              <a:t>      "확인된 초안",</a:t>
            </a:r>
          </a:p>
          <a:p xmlns:a="http://schemas.openxmlformats.org/drawingml/2006/main">
            <a:r>
              <a:t>      "접수 결과"</a:t>
            </a:r>
          </a:p>
          <a:p xmlns:a="http://schemas.openxmlformats.org/drawingml/2006/main">
            <a:r>
              <a:t>    ],</a:t>
            </a:r>
          </a:p>
          <a:p xmlns:a="http://schemas.openxmlformats.org/drawingml/2006/main">
            <a:r>
              <a:t>    "control": "필수 필드 재확인·멱등성·상태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FUR-001~009, PER-001~002, TER-005 / Word T071 https://www.g2b.go.kr/pn/pnp/pnpe/UntyAtchFile/downloadFile.do?bidPbancNo=R26BK01719764&amp;bidPbancOrd=000&amp;fileSeq=4&amp;fileType=&amp;prcmBsneSeCd=03</a:t>
            </a:r>
          </a:p>
          <a:p xmlns:a="http://schemas.openxmlformats.org/drawingml/2006/main">
            <a:r>
              <a:t>홈페이지 https://heen1987-ops.github.io/TS-business-Plan-001/index.html?view=platform-cases&amp;case=PF-R06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a:p xmlns:a="http://schemas.openxmlformats.org/drawingml/2006/main">
            <a:r>
              <a:t>한계: 사전본 동시300명→본공고100명. 오픈소스 모델/라이브러리 문구→외부 생성형AI API+RAG 방식</a:t>
            </a:r>
          </a:p>
          <a:p xmlns:a="http://schemas.openxmlformats.org/drawingml/2006/main">
            <a:r>
              <a:t>실패 위험: 구버전 법령·상충 답변 / 입찰 요구를 구현 기능으로 인식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a:p xmlns:a="http://schemas.openxmlformats.org/drawingml/2006/main">
            <a:r>
              <a:t>이미지 모델 재구성 {"path":"assets/casebook-reconstructions/PF-R07.png","title":"KISA 스팸 민원 AI · RFP 기반 서비스 흐름 재구성","basis":"최종 RFP SFR-001~006·QUR-001","method":"이미지 모델 생성 후 RFP 요구와 경로 대조","status":"CCK 분석 재구성 · 원문 도면 아님","sha256":"e4c175bd06fd2572567d1c70407d3261570f247eabf211022a9096c60ed63637"}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"PF-R07",</a:t>
            </a:r>
          </a:p>
          <a:p xmlns:a="http://schemas.openxmlformats.org/drawingml/2006/main">
            <a:r>
              <a:t>    "sourceId": "R07",</a:t>
            </a:r>
          </a:p>
          <a:p xmlns:a="http://schemas.openxmlformats.org/drawingml/2006/main">
            <a:r>
              <a:t>    "title": "KISA 스팸 민원 AI",</a:t>
            </a:r>
          </a:p>
          <a:p xmlns:a="http://schemas.openxmlformats.org/drawingml/2006/main">
            <a:r>
              <a:t>    "region": "국내",</a:t>
            </a:r>
          </a:p>
          <a:p xmlns:a="http://schemas.openxmlformats.org/drawingml/2006/main">
            <a:r>
              <a:t>    "owner": "한국인터넷진흥원(KISA)",</a:t>
            </a:r>
          </a:p>
          <a:p xmlns:a="http://schemas.openxmlformats.org/drawingml/2006/main">
            <a:r>
              <a:t>    "state": "2026-10-14 본공고·최종 첨부 확인 / 입찰 진행",</a:t>
            </a:r>
          </a:p>
          <a:p xmlns:a="http://schemas.openxmlformats.org/drawingml/2006/main">
            <a:r>
              <a:t>    "period": "기존 원장 확인 2026.10.16",</a:t>
            </a:r>
          </a:p>
          <a:p xmlns:a="http://schemas.openxmlformats.org/drawingml/2006/main">
            <a:r>
              <a:t>    "fact": "스팸 법령·자율규제 민원 챗봇과 지식·체크리스트 관리",</a:t>
            </a:r>
          </a:p>
          <a:p xmlns:a="http://schemas.openxmlformats.org/drawingml/2006/main">
            <a:r>
              <a:t>    "limit": "사전본 동시300명→본공고100명. 오픈소스 모델/라이브러리 문구→외부 생성형AI API+RAG 방식",</a:t>
            </a:r>
          </a:p>
          <a:p xmlns:a="http://schemas.openxmlformats.org/drawingml/2006/main">
            <a:r>
              <a:t>    "nodes": [</a:t>
            </a:r>
          </a:p>
          <a:p xmlns:a="http://schemas.openxmlformats.org/drawingml/2006/main">
            <a:r>
              <a:t>      "법령·지식",</a:t>
            </a:r>
          </a:p>
          <a:p xmlns:a="http://schemas.openxmlformats.org/drawingml/2006/main">
            <a:r>
              <a:t>      "외부 AI·RAG",</a:t>
            </a:r>
          </a:p>
          <a:p xmlns:a="http://schemas.openxmlformats.org/drawingml/2006/main">
            <a:r>
              <a:t>      "출처·답변 보류",</a:t>
            </a:r>
          </a:p>
          <a:p xmlns:a="http://schemas.openxmlformats.org/drawingml/2006/main">
            <a:r>
              <a:t>      "전문가 평가"</a:t>
            </a:r>
          </a:p>
          <a:p xmlns:a="http://schemas.openxmlformats.org/drawingml/2006/main">
            <a:r>
              <a:t>    ],</a:t>
            </a:r>
          </a:p>
          <a:p xmlns:a="http://schemas.openxmlformats.org/drawingml/2006/main">
            <a:r>
              <a:t>    "apply": "민원 답변의 법령 근거·보류 조건·전문가 평가를 운영 기준으로 관리",</a:t>
            </a:r>
          </a:p>
          <a:p xmlns:a="http://schemas.openxmlformats.org/drawingml/2006/main">
            <a:r>
              <a:t>    "delta": "법령·체크리스트 판본 / 응답 보류 / 전문가 정답셋·부하 시험",</a:t>
            </a:r>
          </a:p>
          <a:p xmlns:a="http://schemas.openxmlformats.org/drawingml/2006/main">
            <a:r>
              <a:t>    "test": "개정 조문·근거 부재·공격 입력·동시 요청의 품질·성능 대조",</a:t>
            </a:r>
          </a:p>
          <a:p xmlns:a="http://schemas.openxmlformats.org/drawingml/2006/main">
            <a:r>
              <a:t>    "url": "https://www.kisa.kr/post/fileDownload?menuSeq=403&amp;postSeq=10891&amp;attachSeq=2&amp;lang_type=KO",</a:t>
            </a:r>
          </a:p>
          <a:p xmlns:a="http://schemas.openxmlformats.org/drawingml/2006/main">
            <a:r>
              <a:t>    "urls": [</a:t>
            </a:r>
          </a:p>
          <a:p xmlns:a="http://schemas.openxmlformats.org/drawingml/2006/main">
            <a:r>
              <a:t>      "https://www.kisa.kr/post/fileDownload?menuSeq=403&amp;postSeq=10891&amp;attachSeq=2&amp;lang_type=KO",</a:t>
            </a:r>
          </a:p>
          <a:p xmlns:a="http://schemas.openxmlformats.org/drawingml/2006/main">
            <a:r>
              <a:t>      "https://www.kisa.kr/403/form?postSeq=10891"</a:t>
            </a:r>
          </a:p>
          <a:p xmlns:a="http://schemas.openxmlformats.org/drawingml/2006/main">
            <a:r>
              <a:t>    ],</a:t>
            </a:r>
          </a:p>
          <a:p xmlns:a="http://schemas.openxmlformats.org/drawingml/2006/main">
            <a:r>
              <a:t>    "basis": "SFR-001~006, PER-001·004, QUR-001 / Word T080",</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"근거 정답률 / 보류 적정률 / 응답시간·오류율",</a:t>
            </a:r>
          </a:p>
          <a:p xmlns:a="http://schemas.openxmlformats.org/drawingml/2006/main">
            <a:r>
              <a:t>    "group": "요구·구축",</a:t>
            </a:r>
          </a:p>
          <a:p xmlns:a="http://schemas.openxmlformats.org/drawingml/2006/main">
            <a:r>
              <a:t>    "sourceDetail": "외부 생성형 AI API+RAG, 홈페이지/앱 연계, 출처·최신성·답변불가 안내, 자동/전문가 평가",</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"PF-R07",</a:t>
            </a:r>
          </a:p>
          <a:p xmlns:a="http://schemas.openxmlformats.org/drawingml/2006/main">
            <a:r>
              <a:t>    "canonicalId": "PF-R07",</a:t>
            </a:r>
          </a:p>
          <a:p xmlns:a="http://schemas.openxmlformats.org/drawingml/2006/main">
            <a:r>
              <a:t>    "purpose": "스팸 법령과 체크리스트의 민원 응답",</a:t>
            </a:r>
          </a:p>
          <a:p xmlns:a="http://schemas.openxmlformats.org/drawingml/2006/main">
            <a:r>
              <a:t>    "users": "민원인·스팸 정책 담당·평가자",</a:t>
            </a:r>
          </a:p>
          <a:p xmlns:a="http://schemas.openxmlformats.org/drawingml/2006/main">
            <a:r>
              <a:t>    "scope": [</a:t>
            </a:r>
          </a:p>
          <a:p xmlns:a="http://schemas.openxmlformats.org/drawingml/2006/main">
            <a:r>
              <a:t>      "홈페이지·앱",</a:t>
            </a:r>
          </a:p>
          <a:p xmlns:a="http://schemas.openxmlformats.org/drawingml/2006/main">
            <a:r>
              <a:t>      "지식 질의",</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"스팸 민원 질의",</a:t>
            </a:r>
          </a:p>
          <a:p xmlns:a="http://schemas.openxmlformats.org/drawingml/2006/main">
            <a:r>
              <a:t>        "detail": "질의 길이·민감정보·공격 입력 점검",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"홈페이지·앱 / 지식 질의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"외부 AI·RAG",</a:t>
            </a:r>
          </a:p>
          <a:p xmlns:a="http://schemas.openxmlformats.org/drawingml/2006/main">
            <a:r>
              <a:t>        "detail": "외부 생성형 AI API와 RAG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"민원·평가 담당",</a:t>
            </a:r>
          </a:p>
          <a:p xmlns:a="http://schemas.openxmlformats.org/drawingml/2006/main">
            <a:r>
              <a:t>        "detail": "출처 답변 또는 답변불가 안내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"법령·체크리스트",</a:t>
            </a:r>
          </a:p>
          <a:p xmlns:a="http://schemas.openxmlformats.org/drawingml/2006/main">
            <a:r>
              <a:t>        "detail": "법령·가이드·체크리스트의 최신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"자동 평가·전문가 판정·호출량·지연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"법령·지식",</a:t>
            </a:r>
          </a:p>
          <a:p xmlns:a="http://schemas.openxmlformats.org/drawingml/2006/main">
            <a:r>
              <a:t>        "input": "질의 길이·민감정보·공격 입력 점검",</a:t>
            </a:r>
          </a:p>
          <a:p xmlns:a="http://schemas.openxmlformats.org/drawingml/2006/main">
            <a:r>
              <a:t>        "process": "법령·가이드·체크리스트의 최신 판본 관리",</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"title": "외부 AI·RAG",</a:t>
            </a:r>
          </a:p>
          <a:p xmlns:a="http://schemas.openxmlformats.org/drawingml/2006/main">
            <a:r>
              <a:t>        "input": "질의",</a:t>
            </a:r>
          </a:p>
          <a:p xmlns:a="http://schemas.openxmlformats.org/drawingml/2006/main">
            <a:r>
              <a:t>        "process": "외부 생성형 AI API와 RAG 연결",</a:t>
            </a:r>
          </a:p>
          <a:p xmlns:a="http://schemas.openxmlformats.org/drawingml/2006/main">
            <a:r>
              <a:t>        "output": "법령 근거"</a:t>
            </a:r>
          </a:p>
          <a:p xmlns:a="http://schemas.openxmlformats.org/drawingml/2006/main">
            <a:r>
              <a:t>      },</a:t>
            </a:r>
          </a:p>
          <a:p xmlns:a="http://schemas.openxmlformats.org/drawingml/2006/main">
            <a:r>
              <a:t>      {</a:t>
            </a:r>
          </a:p>
          <a:p xmlns:a="http://schemas.openxmlformats.org/drawingml/2006/main">
            <a:r>
              <a:t>        "title": "출처·답변 보류",</a:t>
            </a:r>
          </a:p>
          <a:p xmlns:a="http://schemas.openxmlformats.org/drawingml/2006/main">
            <a:r>
              <a:t>        "input": "법령 근거",</a:t>
            </a:r>
          </a:p>
          <a:p xmlns:a="http://schemas.openxmlformats.org/drawingml/2006/main">
            <a:r>
              <a:t>        "process": "조문별 정답·근거 없음 거부셋",</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"title": "전문가 평가",</a:t>
            </a:r>
          </a:p>
          <a:p xmlns:a="http://schemas.openxmlformats.org/drawingml/2006/main">
            <a:r>
              <a:t>        "input": "답변·보류",</a:t>
            </a:r>
          </a:p>
          <a:p xmlns:a="http://schemas.openxmlformats.org/drawingml/2006/main">
            <a:r>
              <a:t>        "process":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"스팸 전송 상황을 질문하고 관련 법령·체크리스트 안내",</a:t>
            </a:r>
          </a:p>
          <a:p xmlns:a="http://schemas.openxmlformats.org/drawingml/2006/main">
            <a:r>
              <a:t>      "exception": "개정 전 조문·근거 없는 질의·공격 입력·부하 증가",</a:t>
            </a:r>
          </a:p>
          <a:p xmlns:a="http://schemas.openxmlformats.org/drawingml/2006/main">
            <a:r>
              <a:t>      "evidence": "전문가 정답표·거부셋·최종 RFP 성능조건별 측정",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"민원인·스팸 정책 담당·평가자",</a:t>
            </a:r>
          </a:p>
          <a:p xmlns:a="http://schemas.openxmlformats.org/drawingml/2006/main">
            <a:r>
              <a:t>          "processing": "질의 길이·민감정보·공격 입력 점검",</a:t>
            </a:r>
          </a:p>
          <a:p xmlns:a="http://schemas.openxmlformats.org/drawingml/2006/main">
            <a:r>
              <a:t>          "output": "질의"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"법령·체크리스트",</a:t>
            </a:r>
          </a:p>
          <a:p xmlns:a="http://schemas.openxmlformats.org/drawingml/2006/main">
            <a:r>
              <a:t>          "processing": "법령·가이드·체크리스트의 최신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a:t>
            </a:r>
          </a:p>
          <a:p xmlns:a="http://schemas.openxmlformats.org/drawingml/2006/main">
            <a:r>
              <a:t>          "processing": "외부 생성형 AI API와 RAG 연결",</a:t>
            </a:r>
          </a:p>
          <a:p xmlns:a="http://schemas.openxmlformats.org/drawingml/2006/main">
            <a:r>
              <a:t>          "output": "답변·보류"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"답변·보류",</a:t>
            </a:r>
          </a:p>
          <a:p xmlns:a="http://schemas.openxmlformats.org/drawingml/2006/main">
            <a:r>
              <a:t>          "processing": "출처 답변 또는 답변불가 안내 제공",</a:t>
            </a:r>
          </a:p>
          <a:p xmlns:a="http://schemas.openxmlformats.org/drawingml/2006/main">
            <a:r>
              <a:t>          "output": "전문가 판정"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"자동 평가·전문가 판정·호출량·지연 관리",</a:t>
            </a:r>
          </a:p>
          <a:p xmlns:a="http://schemas.openxmlformats.org/drawingml/2006/main">
            <a:r>
              <a:t>          "output": "전문가 정답표·거부셋·최종 RFP 성능조건별 측정"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"자동 평가·전문가 판정·호출량·지연 관리",</a:t>
            </a:r>
          </a:p>
          <a:p xmlns:a="http://schemas.openxmlformats.org/drawingml/2006/main">
            <a:r>
              <a:t>    "status": "RFP 기반 논리 설계",</a:t>
            </a:r>
          </a:p>
          <a:p xmlns:a="http://schemas.openxmlformats.org/drawingml/2006/main">
            <a:r>
              <a:t>    "basis": "최종 RFP 2026.10.14 · SFR-001~006·PER-001·004·QUR-001",</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"SFR-001~006, PER-001·004, QUR-001 / Word T080",</a:t>
            </a:r>
          </a:p>
          <a:p xmlns:a="http://schemas.openxmlformats.org/drawingml/2006/main">
            <a:r>
              <a:t>        "url": "https://www.kisa.kr/post/fileDownload?menuSeq=403&amp;postSeq=10891&amp;attachSeq=2&amp;lang_type=KO"</a:t>
            </a:r>
          </a:p>
          <a:p xmlns:a="http://schemas.openxmlformats.org/drawingml/2006/main">
            <a:r>
              <a:t>      }</a:t>
            </a:r>
          </a:p>
          <a:p xmlns:a="http://schemas.openxmlformats.org/drawingml/2006/main">
            <a:r>
              <a:t>    ],</a:t>
            </a:r>
          </a:p>
          <a:p xmlns:a="http://schemas.openxmlformats.org/drawingml/2006/main">
            <a:r>
              <a:t>    "implication": "민원 답변의 법령 근거·보류 조건·전문가 평가를 운영 기준으로 관리",</a:t>
            </a:r>
          </a:p>
          <a:p xmlns:a="http://schemas.openxmlformats.org/drawingml/2006/main">
            <a:r>
              <a:t>    "local": "민원 답변의 법령 근거·보류 조건·전문가 평가를 운영 기준으로 관리",</a:t>
            </a:r>
          </a:p>
          <a:p xmlns:a="http://schemas.openxmlformats.org/drawingml/2006/main">
            <a:r>
              <a:t>    "sourceDetail": "외부 생성형 AI API+RAG, 홈페이지/앱 연계, 출처·최신성·답변불가 안내, 자동/전문가 평가",</a:t>
            </a:r>
          </a:p>
          <a:p xmlns:a="http://schemas.openxmlformats.org/drawingml/2006/main">
            <a:r>
              <a:t>    "narrative": [</a:t>
            </a:r>
          </a:p>
          <a:p xmlns:a="http://schemas.openxmlformats.org/drawingml/2006/main">
            <a:r>
              <a:t>      "스팸 관련 법령·가이드·체크리스트를 국민의 질문에 연결하는 대민 AI 상담 구축. 홈페이지·앱 접점과 지식베이스·외부 생성형 AI API·관리자·운영 기능을 함께 요구하는 사업.",</a:t>
            </a:r>
          </a:p>
          <a:p xmlns:a="http://schemas.openxmlformats.org/drawingml/2006/main">
            <a:r>
              <a:t>      "질의 입력 점검 후 최신 법령 근거를 검색하고 외부 AI API로 답변을 생성하는 구조. 검색·답변 단계에서 출처와 답변불가 처리를 분리하고, 자동 평가와 전문가 검토를 운영 과정에 결합하는 설계. 최종 RFP 판본의 성능·품질 요구를 기준으로 비교.",</a:t>
            </a:r>
          </a:p>
          <a:p xmlns:a="http://schemas.openxmlformats.org/drawingml/2006/main">
            <a:r>
              <a:t>      "규정 검색 성공이 적절한 민원 안내를 보장하지 않는 점을 검수에 반영할 필요. 법령 개정, 유사 조문, 근거 없는 질문, 공격성 입력을 구분한 시험셋과 전문가 판정의 연결. TS 안내 서비스에 적용할 경우 법정 판단·신청 처리는 해당 업무 시스템과 담당자의 책임으로 연결."</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"SFR-001",</a:t>
            </a:r>
          </a:p>
          <a:p xmlns:a="http://schemas.openxmlformats.org/drawingml/2006/main">
            <a:r>
              <a:t>        "title": "AI 스팸 챗봇 서비스 구축",</a:t>
            </a:r>
          </a:p>
          <a:p xmlns:a="http://schemas.openxmlformats.org/drawingml/2006/main">
            <a:r>
              <a:t>        "locator": "SFR-001",</a:t>
            </a:r>
          </a:p>
          <a:p xmlns:a="http://schemas.openxmlformats.org/drawingml/2006/main">
            <a:r>
              <a:t>        "summary": "스팸 관련 법령·업무 문의에 대응하는 AI 챗봇 구축.",</a:t>
            </a:r>
          </a:p>
          <a:p xmlns:a="http://schemas.openxmlformats.org/drawingml/2006/main">
            <a:r>
              <a:t>        "data": "국민·사업자 문의 → 안내 응답·업무 경로",</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"법령 설명·신고 절차·예외 사유 질문을 구분해 올바른 안내 경로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"4c540036c514c5823d4ed4b29b16b7d44b65a0178ba371f0c4ba9d06306df6e9"</a:t>
            </a:r>
          </a:p>
          <a:p xmlns:a="http://schemas.openxmlformats.org/drawingml/2006/main">
            <a:r>
              <a:t>      },</a:t>
            </a:r>
          </a:p>
          <a:p xmlns:a="http://schemas.openxmlformats.org/drawingml/2006/main">
            <a:r>
              <a:t>      {</a:t>
            </a:r>
          </a:p>
          <a:p xmlns:a="http://schemas.openxmlformats.org/drawingml/2006/main">
            <a:r>
              <a:t>        "id": "SFR-002",</a:t>
            </a:r>
          </a:p>
          <a:p xmlns:a="http://schemas.openxmlformats.org/drawingml/2006/main">
            <a:r>
              <a:t>        "title": "AI 스팸 챗봇 서비스 지식베이스 관리",</a:t>
            </a:r>
          </a:p>
          <a:p xmlns:a="http://schemas.openxmlformats.org/drawingml/2006/main">
            <a:r>
              <a:t>        "locator": "SFR-002",</a:t>
            </a:r>
          </a:p>
          <a:p xmlns:a="http://schemas.openxmlformats.org/drawingml/2006/main">
            <a:r>
              <a:t>        "summary": "스팸 관련 지식자료를 등록·정비·활용하는 지식베이스 구성.",</a:t>
            </a:r>
          </a:p>
          <a:p xmlns:a="http://schemas.openxmlformats.org/drawingml/2006/main">
            <a:r>
              <a:t>        "data": "법령·FAQ·업무 자료 → 판본별 검색 근거",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"개정 자료·폐기 자료·상충 FAQ의 승인·갱신 및 검색 제외 결과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"777a548e5cc2d26392428d54f1ec38d4daab521a391239a084a98c967dca9cda"</a:t>
            </a:r>
          </a:p>
          <a:p xmlns:a="http://schemas.openxmlformats.org/drawingml/2006/main">
            <a:r>
              <a:t>      },</a:t>
            </a:r>
          </a:p>
          <a:p xmlns:a="http://schemas.openxmlformats.org/drawingml/2006/main">
            <a:r>
              <a:t>      {</a:t>
            </a:r>
          </a:p>
          <a:p xmlns:a="http://schemas.openxmlformats.org/drawingml/2006/main">
            <a:r>
              <a:t>        "id": "SFR-003",</a:t>
            </a:r>
          </a:p>
          <a:p xmlns:a="http://schemas.openxmlformats.org/drawingml/2006/main">
            <a:r>
              <a:t>        "title": "AI 스팸 챗봇 서비스 모델",</a:t>
            </a:r>
          </a:p>
          <a:p xmlns:a="http://schemas.openxmlformats.org/drawingml/2006/main">
            <a:r>
              <a:t>        "locator": "SFR-003",</a:t>
            </a:r>
          </a:p>
          <a:p xmlns:a="http://schemas.openxmlformats.org/drawingml/2006/main">
            <a:r>
              <a:t>        "summary": "스팸 업무 질의응답을 위한 AI 모델 구성·적용.",</a:t>
            </a:r>
          </a:p>
          <a:p xmlns:a="http://schemas.openxmlformats.org/drawingml/2006/main">
            <a:r>
              <a:t>        "data": "질의·검색 근거 → 답변 후보",</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"근거 없는 법적 단정, 문맥 누락, 질의와 무관한 응답을 업무 정답셋으로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"0a22a75c9aff1f580a391a05ac9dd97d69d7041aaacdeb61d959ac868e268182"</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스팸 챗봇 서비스 관리자 기능",</a:t>
            </a:r>
          </a:p>
          <a:p xmlns:a="http://schemas.openxmlformats.org/drawingml/2006/main">
            <a:r>
              <a:t>        "locator": "SFR-004",</a:t>
            </a:r>
          </a:p>
          <a:p xmlns:a="http://schemas.openxmlformats.org/drawingml/2006/main">
            <a:r>
              <a:t>        "summary": "관리자의 지식·서비스 관리 기능 제공.",</a:t>
            </a:r>
          </a:p>
          <a:p xmlns:a="http://schemas.openxmlformats.org/drawingml/2006/main">
            <a:r>
              <a:t>        "data": "관리 요청·역할 → 변경 상태·관리 이력",</a:t>
            </a:r>
          </a:p>
          <a:p xmlns:a="http://schemas.openxmlformats.org/drawingml/2006/main">
            <a:r>
              <a:t>        "components": [</a:t>
            </a:r>
          </a:p>
          <a:p xmlns:a="http://schemas.openxmlformats.org/drawingml/2006/main">
            <a:r>
              <a:t>          "C06",</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"지식 수정·게시·삭제의 역할별 허용 범위와 변경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"ce1ed31f57a53d9437e86a03bf98a363804d06301256c43e3043f4bb989b4cf2"</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스팸 챗봇 서비스 시스템 연계",</a:t>
            </a:r>
          </a:p>
          <a:p xmlns:a="http://schemas.openxmlformats.org/drawingml/2006/main">
            <a:r>
              <a:t>        "locator": "SFR-005",</a:t>
            </a:r>
          </a:p>
          <a:p xmlns:a="http://schemas.openxmlformats.org/drawingml/2006/main">
            <a:r>
              <a:t>        "summary": "기존 업무시스템과 AI 챗봇의 연계 기능.",</a:t>
            </a:r>
          </a:p>
          <a:p xmlns:a="http://schemas.openxmlformats.org/drawingml/2006/main">
            <a:r>
              <a:t>        "data": "업무 문맥·연계 요청 → 조회·안내 결과",</a:t>
            </a:r>
          </a:p>
          <a:p xmlns:a="http://schemas.openxmlformats.org/drawingml/2006/main">
            <a:r>
              <a:t>        "components": [</a:t>
            </a:r>
          </a:p>
          <a:p xmlns:a="http://schemas.openxmlformats.org/drawingml/2006/main">
            <a:r>
              <a:t>          "C07"</a:t>
            </a:r>
          </a:p>
          <a:p xmlns:a="http://schemas.openxmlformats.org/drawingml/2006/main">
            <a:r>
              <a:t>        ],</a:t>
            </a:r>
          </a:p>
          <a:p xmlns:a="http://schemas.openxmlformats.org/drawingml/2006/main">
            <a:r>
              <a:t>        "acceptance": "인증 오류·미존재 데이터·연계 실패 시 비정상 결과의 차단과 안내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"c374e49a08490d67a908b7b7b170dfeb3da38abb43f5b88ec0757c0fa5ca99bd"</a:t>
            </a:r>
          </a:p>
          <a:p xmlns:a="http://schemas.openxmlformats.org/drawingml/2006/main">
            <a:r>
              <a:t>      },</a:t>
            </a:r>
          </a:p>
          <a:p xmlns:a="http://schemas.openxmlformats.org/drawingml/2006/main">
            <a:r>
              <a:t>      {</a:t>
            </a:r>
          </a:p>
          <a:p xmlns:a="http://schemas.openxmlformats.org/drawingml/2006/main">
            <a:r>
              <a:t>        "id": "SFR-006",</a:t>
            </a:r>
          </a:p>
          <a:p xmlns:a="http://schemas.openxmlformats.org/drawingml/2006/main">
            <a:r>
              <a:t>        "title": "AI 스팸 챗봇 서비스 운영 관리",</a:t>
            </a:r>
          </a:p>
          <a:p xmlns:a="http://schemas.openxmlformats.org/drawingml/2006/main">
            <a:r>
              <a:t>        "locator": "SFR-006",</a:t>
            </a:r>
          </a:p>
          <a:p xmlns:a="http://schemas.openxmlformats.org/drawingml/2006/main">
            <a:r>
              <a:t>        "summary": "AI 서비스의 운영 상태와 처리 이력을 관리하는 기능.",</a:t>
            </a:r>
          </a:p>
          <a:p xmlns:a="http://schemas.openxmlformats.org/drawingml/2006/main">
            <a:r>
              <a:t>        "data": "이용·오류·운영 설정 → 모니터링·운영 기록",</a:t>
            </a:r>
          </a:p>
          <a:p xmlns:a="http://schemas.openxmlformats.org/drawingml/2006/main">
            <a:r>
              <a:t>        "components": [</a:t>
            </a:r>
          </a:p>
          <a:p xmlns:a="http://schemas.openxmlformats.org/drawingml/2006/main">
            <a:r>
              <a:t>          "C08"</a:t>
            </a:r>
          </a:p>
          <a:p xmlns:a="http://schemas.openxmlformats.org/drawingml/2006/main">
            <a:r>
              <a:t>        ],</a:t>
            </a:r>
          </a:p>
          <a:p xmlns:a="http://schemas.openxmlformats.org/drawingml/2006/main">
            <a:r>
              <a:t>        "acceptance": "장애·오답 접수부터 보정·재시험까지의 처리 상태 추적",</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"395a971c3bf9980e201f02ac77a12b82db4fe21d2b72114e968d66ade8a04577"</a:t>
            </a:r>
          </a:p>
          <a:p xmlns:a="http://schemas.openxmlformats.org/drawingml/2006/main">
            <a:r>
              <a:t>      },</a:t>
            </a:r>
          </a:p>
          <a:p xmlns:a="http://schemas.openxmlformats.org/drawingml/2006/main">
            <a:r>
              <a:t>      {</a:t>
            </a:r>
          </a:p>
          <a:p xmlns:a="http://schemas.openxmlformats.org/drawingml/2006/main">
            <a:r>
              <a:t>        "id": "QUR-001",</a:t>
            </a:r>
          </a:p>
          <a:p xmlns:a="http://schemas.openxmlformats.org/drawingml/2006/main">
            <a:r>
              <a:t>        "title": "AI 스팸 챗봇 서비스 답변 품질",</a:t>
            </a:r>
          </a:p>
          <a:p xmlns:a="http://schemas.openxmlformats.org/drawingml/2006/main">
            <a:r>
              <a:t>        "locator": "QUR-001",</a:t>
            </a:r>
          </a:p>
          <a:p xmlns:a="http://schemas.openxmlformats.org/drawingml/2006/main">
            <a:r>
              <a:t>        "summary": "답변 품질을 점검하고 개선하는 품질 요구.",</a:t>
            </a:r>
          </a:p>
          <a:p xmlns:a="http://schemas.openxmlformats.org/drawingml/2006/main">
            <a:r>
              <a:t>        "data": "질문·정답·생성 답변 → 품질 판정·개선 기록",</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a:t>
            </a:r>
          </a:p>
          <a:p xmlns:a="http://schemas.openxmlformats.org/drawingml/2006/main">
            <a:r>
              <a:t>        "acceptance": "업무 질문별 근거 정확성·완전성·일관성 평가와 보정 전후 비교 증빙",</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"0c8005e93cc9209037bfdf5a605228a1bae7e84453afbbd8fc4dd6696d08fb71"</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"홈페이지·앱 질의",</a:t>
            </a:r>
          </a:p>
          <a:p xmlns:a="http://schemas.openxmlformats.org/drawingml/2006/main">
            <a:r>
              <a:t>          "layer": "이용 접점",</a:t>
            </a:r>
          </a:p>
          <a:p xmlns:a="http://schemas.openxmlformats.org/drawingml/2006/main">
            <a:r>
              <a:t>          "detail": "민원인·스팸 정책 담당·평가자",</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"문의·민감정보",</a:t>
            </a:r>
          </a:p>
          <a:p xmlns:a="http://schemas.openxmlformats.org/drawingml/2006/main">
            <a:r>
              <a:t>          "layer": "업무 문맥",</a:t>
            </a:r>
          </a:p>
          <a:p xmlns:a="http://schemas.openxmlformats.org/drawingml/2006/main">
            <a:r>
              <a:t>          "detail": "질의 길이·민감정보·공격 입력 점검",</a:t>
            </a:r>
          </a:p>
          <a:p xmlns:a="http://schemas.openxmlformats.org/drawingml/2006/main">
            <a:r>
              <a:t>          "requirements": [</a:t>
            </a:r>
          </a:p>
          <a:p xmlns:a="http://schemas.openxmlformats.org/drawingml/2006/main">
            <a:r>
              <a:t>            "SFR-001"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 RAG 검색",</a:t>
            </a:r>
          </a:p>
          <a:p xmlns:a="http://schemas.openxmlformats.org/drawingml/2006/main">
            <a:r>
              <a:t>          "layer": "자료 조회",</a:t>
            </a:r>
          </a:p>
          <a:p xmlns:a="http://schemas.openxmlformats.org/drawingml/2006/main">
            <a:r>
              <a:t>          "detail": "질의",</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"외부 생성 AI API",</a:t>
            </a:r>
          </a:p>
          <a:p xmlns:a="http://schemas.openxmlformats.org/drawingml/2006/main">
            <a:r>
              <a:t>          "layer": "핵심 처리",</a:t>
            </a:r>
          </a:p>
          <a:p xmlns:a="http://schemas.openxmlformats.org/drawingml/2006/main">
            <a:r>
              <a:t>          "detail": "외부 생성형 AI API와 RAG 연결",</a:t>
            </a:r>
          </a:p>
          <a:p xmlns:a="http://schemas.openxmlformats.org/drawingml/2006/main">
            <a:r>
              <a:t>          "requirements": [</a:t>
            </a:r>
          </a:p>
          <a:p xmlns:a="http://schemas.openxmlformats.org/drawingml/2006/main">
            <a:r>
              <a:t>            "SFR-001",</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"출처·답변불가 판정",</a:t>
            </a:r>
          </a:p>
          <a:p xmlns:a="http://schemas.openxmlformats.org/drawingml/2006/main">
            <a:r>
              <a:t>          "layer": "결과 검증",</a:t>
            </a:r>
          </a:p>
          <a:p xmlns:a="http://schemas.openxmlformats.org/drawingml/2006/main">
            <a:r>
              <a:t>          "detail": "조문별 정답·근거 없음 거부셋",</a:t>
            </a:r>
          </a:p>
          <a:p xmlns:a="http://schemas.openxmlformats.org/drawingml/2006/main">
            <a:r>
              <a:t>          "requirements": [</a:t>
            </a:r>
          </a:p>
          <a:p xmlns:a="http://schemas.openxmlformats.org/drawingml/2006/main">
            <a:r>
              <a:t>            "SFR-003",</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"민원인·전문가",</a:t>
            </a:r>
          </a:p>
          <a:p xmlns:a="http://schemas.openxmlformats.org/drawingml/2006/main">
            <a:r>
              <a:t>          "layer": "사람 확인",</a:t>
            </a:r>
          </a:p>
          <a:p xmlns:a="http://schemas.openxmlformats.org/drawingml/2006/main">
            <a:r>
              <a:t>          "detail": "스팸 전송 상황을 질문하고 관련 법령·체크리스트 안내",</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"답변·후속 안내",</a:t>
            </a:r>
          </a:p>
          <a:p xmlns:a="http://schemas.openxmlformats.org/drawingml/2006/main">
            <a:r>
              <a:t>          "layer": "업무 연결",</a:t>
            </a:r>
          </a:p>
          <a:p xmlns:a="http://schemas.openxmlformats.org/drawingml/2006/main">
            <a:r>
              <a:t>          "detail": "출처 답변 또는 답변불가 안내 제공",</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"자동·전문가 평가",</a:t>
            </a:r>
          </a:p>
          <a:p xmlns:a="http://schemas.openxmlformats.org/drawingml/2006/main">
            <a:r>
              <a:t>          "layer": "운영 관측",</a:t>
            </a:r>
          </a:p>
          <a:p xmlns:a="http://schemas.openxmlformats.org/drawingml/2006/main">
            <a:r>
              <a:t>          "detail": "자동 평가·전문가 판정·호출량·지연 관리",</a:t>
            </a:r>
          </a:p>
          <a:p xmlns:a="http://schemas.openxmlformats.org/drawingml/2006/main">
            <a:r>
              <a:t>          "requirements": [</a:t>
            </a:r>
          </a:p>
          <a:p xmlns:a="http://schemas.openxmlformats.org/drawingml/2006/main">
            <a:r>
              <a:t>            "SFR-004",</a:t>
            </a:r>
          </a:p>
          <a:p xmlns:a="http://schemas.openxmlformats.org/drawingml/2006/main">
            <a:r>
              <a:t>            "SFR-006",</a:t>
            </a:r>
          </a:p>
          <a:p xmlns:a="http://schemas.openxmlformats.org/drawingml/2006/main">
            <a:r>
              <a:t>            "QUR-001"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"스팸법령·가이드",</a:t>
            </a:r>
          </a:p>
          <a:p xmlns:a="http://schemas.openxmlformats.org/drawingml/2006/main">
            <a:r>
              <a:t>          "layer": "데이터 원천",</a:t>
            </a:r>
          </a:p>
          <a:p xmlns:a="http://schemas.openxmlformats.org/drawingml/2006/main">
            <a:r>
              <a:t>          "detail": "법령·체크리스트",</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"조문·판본 정비",</a:t>
            </a:r>
          </a:p>
          <a:p xmlns:a="http://schemas.openxmlformats.org/drawingml/2006/main">
            <a:r>
              <a:t>          "layer": "준비·갱신",</a:t>
            </a:r>
          </a:p>
          <a:p xmlns:a="http://schemas.openxmlformats.org/drawingml/2006/main">
            <a:r>
              <a:t>          "detail": "법령·가이드·체크리스트의 최신 판본 관리",</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"지식·평가셋",</a:t>
            </a:r>
          </a:p>
          <a:p xmlns:a="http://schemas.openxmlformats.org/drawingml/2006/main">
            <a:r>
              <a:t>          "layer": "상태·지식 저장",</a:t>
            </a:r>
          </a:p>
          <a:p xmlns:a="http://schemas.openxmlformats.org/drawingml/2006/main">
            <a:r>
              <a:t>          "detail": "전문가 정답표·거부셋·최종 RFP 성능조건별 측정",</a:t>
            </a:r>
          </a:p>
          <a:p xmlns:a="http://schemas.openxmlformats.org/drawingml/2006/main">
            <a:r>
              <a:t>          "requirements": [</a:t>
            </a:r>
          </a:p>
          <a:p xmlns:a="http://schemas.openxmlformats.org/drawingml/2006/main">
            <a:r>
              <a:t>            "SFR-002"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"입력·호출·지연 정책",</a:t>
            </a:r>
          </a:p>
          <a:p xmlns:a="http://schemas.openxmlformats.org/drawingml/2006/main">
            <a:r>
              <a:t>          "layer": "권한·정책",</a:t>
            </a:r>
          </a:p>
          <a:p xmlns:a="http://schemas.openxmlformats.org/drawingml/2006/main">
            <a:r>
              <a:t>          "detail": "개정 전 조문·근거 없는 질의·공격 입력·부하 증가",</a:t>
            </a:r>
          </a:p>
          <a:p xmlns:a="http://schemas.openxmlformats.org/drawingml/2006/main">
            <a:r>
              <a:t>          "requirements": [</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"법령·지식 → 외부 AI·RAG → 출처·답변 보류 → 전문가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"법령·체크리스트",</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"질의 길이·민감정보·공격 입력 점검",</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정답표·거부셋·최종 RFP 성능조건별 측정",</a:t>
            </a:r>
          </a:p>
          <a:p xmlns:a="http://schemas.openxmlformats.org/drawingml/2006/main">
            <a:r>
              <a:t>          "check": "법령·가이드·체크리스트의 최신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"법령 근거",</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"답변·보류",</a:t>
            </a:r>
          </a:p>
          <a:p xmlns:a="http://schemas.openxmlformats.org/drawingml/2006/main">
            <a:r>
              <a:t>          "check": "전문가 정답표·거부셋·최종 RFP 성능조건별 측정"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"최종 RFP SFR-001~006·QUR-001",</a:t>
            </a:r>
          </a:p>
          <a:p xmlns:a="http://schemas.openxmlformats.org/drawingml/2006/main">
            <a:r>
              <a:t>        "extracted": "외부 생성형 AI API·RAG·출처·답변불가·전문가 평가",</a:t>
            </a:r>
          </a:p>
          <a:p xmlns:a="http://schemas.openxmlformats.org/drawingml/2006/main">
            <a:r>
              <a:t>        "extension": "질의 공격·근거 부재·법령 개정의 독립 시험셋"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"assets/casebook-reconstructions/PF-R07.png",</a:t>
            </a:r>
          </a:p>
          <a:p xmlns:a="http://schemas.openxmlformats.org/drawingml/2006/main">
            <a:r>
              <a:t>        "title": "KISA 스팸 민원 AI · RFP 기반 서비스 흐름 재구성",</a:t>
            </a:r>
          </a:p>
          <a:p xmlns:a="http://schemas.openxmlformats.org/drawingml/2006/main">
            <a:r>
              <a:t>        "basis": "최종 RFP SFR-001~006·QUR-001",</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"e4c175bd06fd2572567d1c70407d3261570f247eabf211022a9096c60ed63637"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"개정 전 조문·근거 없는 질의·공격 입력·부하 증가",</a:t>
            </a:r>
          </a:p>
          <a:p xmlns:a="http://schemas.openxmlformats.org/drawingml/2006/main">
            <a:r>
              <a:t>        "hold": "조문별 정답·근거 없음 거부셋",</a:t>
            </a:r>
          </a:p>
          <a:p xmlns:a="http://schemas.openxmlformats.org/drawingml/2006/main">
            <a:r>
              <a:t>        "recovery": "자동 평가·전문가 판정·호출량·지연 관리",</a:t>
            </a:r>
          </a:p>
          <a:p xmlns:a="http://schemas.openxmlformats.org/drawingml/2006/main">
            <a:r>
              <a:t>        "evidence": "전문가 정답표·거부셋·최종 RFP 성능조건별 측정"</a:t>
            </a:r>
          </a:p>
          <a:p xmlns:a="http://schemas.openxmlformats.org/drawingml/2006/main">
            <a:r>
              <a:t>      },</a:t>
            </a:r>
          </a:p>
          <a:p xmlns:a="http://schemas.openxmlformats.org/drawingml/2006/main">
            <a:r>
              <a:t>      "data": {</a:t>
            </a:r>
          </a:p>
          <a:p xmlns:a="http://schemas.openxmlformats.org/drawingml/2006/main">
            <a:r>
              <a:t>        "source": "법령·체크리스트",</a:t>
            </a:r>
          </a:p>
          <a:p xmlns:a="http://schemas.openxmlformats.org/drawingml/2006/main">
            <a:r>
              <a:t>        "prepare": "법령·가이드·체크리스트의 최신 판본 관리",</a:t>
            </a:r>
          </a:p>
          <a:p xmlns:a="http://schemas.openxmlformats.org/drawingml/2006/main">
            <a:r>
              <a:t>        "output": "질의",</a:t>
            </a:r>
          </a:p>
          <a:p xmlns:a="http://schemas.openxmlformats.org/drawingml/2006/main">
            <a:r>
              <a:t>        "refresh": "자동 평가·전문가 판정·호출량·지연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"PF-R07",</a:t>
            </a:r>
          </a:p>
          <a:p xmlns:a="http://schemas.openxmlformats.org/drawingml/2006/main">
            <a:r>
              <a:t>    "success": [</a:t>
            </a:r>
          </a:p>
          <a:p xmlns:a="http://schemas.openxmlformats.org/drawingml/2006/main">
            <a:r>
              <a:t>      "법령·체크리스트의 RAG 연결",</a:t>
            </a:r>
          </a:p>
          <a:p xmlns:a="http://schemas.openxmlformats.org/drawingml/2006/main">
            <a:r>
              <a:t>      "출처·보류·전문가 평가 요구"</a:t>
            </a:r>
          </a:p>
          <a:p xmlns:a="http://schemas.openxmlformats.org/drawingml/2006/main">
            <a:r>
              <a:t>    ],</a:t>
            </a:r>
          </a:p>
          <a:p xmlns:a="http://schemas.openxmlformats.org/drawingml/2006/main">
            <a:r>
              <a:t>    "risks": [</a:t>
            </a:r>
          </a:p>
          <a:p xmlns:a="http://schemas.openxmlformats.org/drawingml/2006/main">
            <a:r>
              <a:t>      "구버전 법령·상충 답변",</a:t>
            </a:r>
          </a:p>
          <a:p xmlns:a="http://schemas.openxmlformats.org/drawingml/2006/main">
            <a:r>
              <a:t>      "입찰 요구를 구현 기능으로 인식"</a:t>
            </a:r>
          </a:p>
          <a:p xmlns:a="http://schemas.openxmlformats.org/drawingml/2006/main">
            <a:r>
              <a:t>    ],</a:t>
            </a:r>
          </a:p>
          <a:p xmlns:a="http://schemas.openxmlformats.org/drawingml/2006/main">
            <a:r>
              <a:t>    "architecture": [</a:t>
            </a:r>
          </a:p>
          <a:p xmlns:a="http://schemas.openxmlformats.org/drawingml/2006/main">
            <a:r>
              <a:t>      "스팸 민원 질의",</a:t>
            </a:r>
          </a:p>
          <a:p xmlns:a="http://schemas.openxmlformats.org/drawingml/2006/main">
            <a:r>
              <a:t>      "외부 AI·RAG",</a:t>
            </a:r>
          </a:p>
          <a:p xmlns:a="http://schemas.openxmlformats.org/drawingml/2006/main">
            <a:r>
              <a:t>      "법령·체크리스트",</a:t>
            </a:r>
          </a:p>
          <a:p xmlns:a="http://schemas.openxmlformats.org/drawingml/2006/main">
            <a:r>
              <a:t>      "민원·평가 담당"</a:t>
            </a:r>
          </a:p>
          <a:p xmlns:a="http://schemas.openxmlformats.org/drawingml/2006/main">
            <a:r>
              <a:t>    ],</a:t>
            </a:r>
          </a:p>
          <a:p xmlns:a="http://schemas.openxmlformats.org/drawingml/2006/main">
            <a:r>
              <a:t>    "transfers": [</a:t>
            </a:r>
          </a:p>
          <a:p xmlns:a="http://schemas.openxmlformats.org/drawingml/2006/main">
            <a:r>
              <a:t>      "질의",</a:t>
            </a:r>
          </a:p>
          <a:p xmlns:a="http://schemas.openxmlformats.org/drawingml/2006/main">
            <a:r>
              <a:t>      "법령 근거",</a:t>
            </a:r>
          </a:p>
          <a:p xmlns:a="http://schemas.openxmlformats.org/drawingml/2006/main">
            <a:r>
              <a:t>      "답변·보류",</a:t>
            </a:r>
          </a:p>
          <a:p xmlns:a="http://schemas.openxmlformats.org/drawingml/2006/main">
            <a:r>
              <a:t>      "전문가 판정"</a:t>
            </a:r>
          </a:p>
          <a:p xmlns:a="http://schemas.openxmlformats.org/drawingml/2006/main">
            <a:r>
              <a:t>    ],</a:t>
            </a:r>
          </a:p>
          <a:p xmlns:a="http://schemas.openxmlformats.org/drawingml/2006/main">
            <a:r>
              <a:t>    "control": "조문별 정답·근거 없음 거부셋",</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SFR-001~006, PER-001·004, QUR-001 / Word T080 https://www.kisa.kr/post/fileDownload?menuSeq=403&amp;postSeq=10891&amp;attachSeq=2&amp;lang_type=KO</a:t>
            </a:r>
          </a:p>
          <a:p xmlns:a="http://schemas.openxmlformats.org/drawingml/2006/main">
            <a:r>
              <a:t>홈페이지 https://heen1987-ops.github.io/TS-business-Plan-001/index.html?view=platform-cases&amp;case=PF-R07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한계: 학습용 FAQ500건과 서비스별 검증셋500건은 별도 요구. 계획상 수치를 운영 실적으로 사용하지 않음</a:t>
            </a:r>
          </a:p>
          <a:p xmlns:a="http://schemas.openxmlformats.org/drawingml/2006/main">
            <a:r>
              <a:t>실패 위험: DRM·접근권한 전파 누락 / 금융 산식·단위 오류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원문 도면 {"caseId":"PF-R08","path":"assets/casebook-sources/PF-R08-01.png","title":"대민·임직원 AI 서비스 분리","status":"사전공개 RFP 목표 구성도","caption":"보안·서비스·데이터·관리 서브넷과 SSO·업무 데이터 경계","locator":"rId20 / BinData/BIN0002_bmp","checked":"2026-10-16","sha256":"dbd84b9d88acec3c54802ec4cc6eacaf8a872223e2a7ee89fadf50a173e38803","explanation":{"read":"사전공개 요구의 대국민·임직원 서비스와 데이터·네트워크 경계를 구분한 목표 구성. 공개 상담용 자료와 내부 안건·업무 자료를 서비스·저장 계층에서 분리하는 구조.","requirements":["SFR-003","SFR-004","SFR-005","SFR-009"],"connection":"같은 AI 기반을 쓰더라도 공개·내부 검색 범위와 문서 반입 경로를 별도로 검수하고 사용자 문맥·SSO·DRM 등 기존 통제와 연결하는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a:p xmlns:a="http://schemas.openxmlformats.org/drawingml/2006/main">
            <a:r>
              <a:t>원문 도면 {"caseId":"PF-R08","path":"assets/casebook-sources/PF-R08-02.png","title":"데이터 카탈로그·업무 매핑","status":"사전공개 RFP 데이터 구성도","caption":"대시보드·통합검색·데이터등록·표준·품질과 업무 매핑","locator":"rId20 / BinData/BIN0001_bmp","checked":"2026-10-16","sha256":"e91edef465c1a60d5edcd6288eefa4a5d158cd9980b9b941428685ef6e32a0f5","explanation":{"read":"카탈로그와 MDMS·ECM 등 기존 데이터·문서 체계의 업무 연결. AI 답변에 앞서 어떤 데이터가 존재하고 누가 관리하며 어떤 업무에서 쓰는지 찾을 수 있도록 하는 정보 기반.","requirements":["SFR-012","SFR-013","SFR-014"],"connection":"TS의 조직·업무 ID와 데이터 자산·소관 부서를 연결하고 문서 검색 권한과 카탈로그 설명의 공개 범위를 분리해 관리하는 적용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"PF-R08",</a:t>
            </a:r>
          </a:p>
          <a:p xmlns:a="http://schemas.openxmlformats.org/drawingml/2006/main">
            <a:r>
              <a:t>    "sourceId": "R08",</a:t>
            </a:r>
          </a:p>
          <a:p xmlns:a="http://schemas.openxmlformats.org/drawingml/2006/main">
            <a:r>
              <a:t>    "title": "예금보험공사 생성형 AI",</a:t>
            </a:r>
          </a:p>
          <a:p xmlns:a="http://schemas.openxmlformats.org/drawingml/2006/main">
            <a:r>
              <a:t>    "region": "국내",</a:t>
            </a:r>
          </a:p>
          <a:p xmlns:a="http://schemas.openxmlformats.org/drawingml/2006/main">
            <a:r>
              <a:t>    "owner": "예금보험공사",</a:t>
            </a:r>
          </a:p>
          <a:p xmlns:a="http://schemas.openxmlformats.org/drawingml/2006/main">
            <a:r>
              <a:t>    "state": "사전규격 RFP + 공급사 계약 발표 확인 / 최종본·준공 미확인",</a:t>
            </a:r>
          </a:p>
          <a:p xmlns:a="http://schemas.openxmlformats.org/drawingml/2006/main">
            <a:r>
              <a:t>    "period": "기존 원장 확인 2026.10.16",</a:t>
            </a:r>
          </a:p>
          <a:p xmlns:a="http://schemas.openxmlformats.org/drawingml/2006/main">
            <a:r>
              <a:t>    "fact": "대국민 챗봇·사내 챗봇·금융위 안건 검색요약 + 데이터 카탈로그/거버넌스",</a:t>
            </a:r>
          </a:p>
          <a:p xmlns:a="http://schemas.openxmlformats.org/drawingml/2006/main">
            <a:r>
              <a:t>    "limit": "학습용 FAQ500건과 서비스별 검증셋500건은 별도 요구. 계획상 수치를 운영 실적으로 사용하지 않음",</a:t>
            </a:r>
          </a:p>
          <a:p xmlns:a="http://schemas.openxmlformats.org/drawingml/2006/main">
            <a:r>
              <a:t>    "nodes": [</a:t>
            </a:r>
          </a:p>
          <a:p xmlns:a="http://schemas.openxmlformats.org/drawingml/2006/main">
            <a:r>
              <a:t>      "지식·안건",</a:t>
            </a:r>
          </a:p>
          <a:p xmlns:a="http://schemas.openxmlformats.org/drawingml/2006/main">
            <a:r>
              <a:t>      "권한·망·DRM",</a:t>
            </a:r>
          </a:p>
          <a:p xmlns:a="http://schemas.openxmlformats.org/drawingml/2006/main">
            <a:r>
              <a:t>      "검색·산식 검증",</a:t>
            </a:r>
          </a:p>
          <a:p xmlns:a="http://schemas.openxmlformats.org/drawingml/2006/main">
            <a:r>
              <a:t>      "평가·운영"</a:t>
            </a:r>
          </a:p>
          <a:p xmlns:a="http://schemas.openxmlformats.org/drawingml/2006/main">
            <a:r>
              <a:t>    ],</a:t>
            </a:r>
          </a:p>
          <a:p xmlns:a="http://schemas.openxmlformats.org/drawingml/2006/main">
            <a:r>
              <a:t>    "apply": "대민·내부 지식 경계와 데이터 카탈로그를 함께 설계하는 정보 제공",</a:t>
            </a:r>
          </a:p>
          <a:p xmlns:a="http://schemas.openxmlformats.org/drawingml/2006/main">
            <a:r>
              <a:t>    "delta": "내외부 지식·망 분리 / 문서 DRM·권한 / 안건·산식·데이터 카탈로그",</a:t>
            </a:r>
          </a:p>
          <a:p xmlns:a="http://schemas.openxmlformats.org/drawingml/2006/main">
            <a:r>
              <a:t>    "test": "외부 계정의 내부자료 요청·DRM·산식 오류에 대한 독립 검증",</a:t>
            </a:r>
          </a:p>
          <a:p xmlns:a="http://schemas.openxmlformats.org/drawingml/2006/main">
            <a:r>
              <a:t>    "url": "https://www.g2b.go.kr/pn/pnz/pnza/UntyAtchFile/downloadFile.do?bfSpecRegNo=R26BD00217546&amp;fileType=BFDTL&amp;fileSeq=1",</a:t>
            </a:r>
          </a:p>
          <a:p xmlns:a="http://schemas.openxmlformats.org/drawingml/2006/main">
            <a:r>
              <a:t>    "urls": [</a:t>
            </a:r>
          </a:p>
          <a:p xmlns:a="http://schemas.openxmlformats.org/drawingml/2006/main">
            <a:r>
              <a:t>      "https://www.g2b.go.kr/pn/pnz/pnza/UntyAtchFile/downloadFile.do?bfSpecRegNo=R26BD00217546&amp;fileType=BFDTL&amp;fileSeq=1",</a:t>
            </a:r>
          </a:p>
          <a:p xmlns:a="http://schemas.openxmlformats.org/drawingml/2006/main">
            <a:r>
              <a:t>      "https://clabi.ai/news/fe55039a-f069-4218-aa5a-0c1057c5ca92"</a:t>
            </a:r>
          </a:p>
          <a:p xmlns:a="http://schemas.openxmlformats.org/drawingml/2006/main">
            <a:r>
              <a:t>    ],</a:t>
            </a:r>
          </a:p>
          <a:p xmlns:a="http://schemas.openxmlformats.org/drawingml/2006/main">
            <a:r>
              <a:t>    "basis": "SFR-001~014, DAR·CNR / Word T089",</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"비인가 노출 건수 / 원천 추적률 / 안건 검토시간",</a:t>
            </a:r>
          </a:p>
          <a:p xmlns:a="http://schemas.openxmlformats.org/drawingml/2006/main">
            <a:r>
              <a:t>    "group": "요구·구축",</a:t>
            </a:r>
          </a:p>
          <a:p xmlns:a="http://schemas.openxmlformats.org/drawingml/2006/main">
            <a:r>
              <a:t>    "sourceDetail": "망·DRM·권한 연계; 안건 메타데이터 범위검색; 규정 산식 교차검증; 모델라우팅·평가·모니터링",</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"PF-R08",</a:t>
            </a:r>
          </a:p>
          <a:p xmlns:a="http://schemas.openxmlformats.org/drawingml/2006/main">
            <a:r>
              <a:t>    "canonicalId": "PF-R08",</a:t>
            </a:r>
          </a:p>
          <a:p xmlns:a="http://schemas.openxmlformats.org/drawingml/2006/main">
            <a:r>
              <a:t>    "purpose": "대민·사내 AI와 데이터 관리체계의 공동 구축",</a:t>
            </a:r>
          </a:p>
          <a:p xmlns:a="http://schemas.openxmlformats.org/drawingml/2006/main">
            <a:r>
              <a:t>    "users": "국민·직원·안건 검토자·데이터 담당",</a:t>
            </a:r>
          </a:p>
          <a:p xmlns:a="http://schemas.openxmlformats.org/drawingml/2006/main">
            <a:r>
              <a:t>    "scope": [</a:t>
            </a:r>
          </a:p>
          <a:p xmlns:a="http://schemas.openxmlformats.org/drawingml/2006/main">
            <a:r>
              <a:t>      "챗봇",</a:t>
            </a:r>
          </a:p>
          <a:p xmlns:a="http://schemas.openxmlformats.org/drawingml/2006/main">
            <a:r>
              <a:t>      "안건 검색·요약",</a:t>
            </a:r>
          </a:p>
          <a:p xmlns:a="http://schemas.openxmlformats.org/drawingml/2006/main">
            <a:r>
              <a:t>      "카탈로그"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"국민·직원 접점",</a:t>
            </a:r>
          </a:p>
          <a:p xmlns:a="http://schemas.openxmlformats.org/drawingml/2006/main">
            <a:r>
              <a:t>        "detail": "외부·내부 접점과 망·계정·DRM 경계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"챗봇 / 안건 검색·요약 / 카탈로그",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"검색·요약·산식 검토",</a:t>
            </a:r>
          </a:p>
          <a:p xmlns:a="http://schemas.openxmlformats.org/drawingml/2006/main">
            <a:r>
              <a:t>        "detail": "검색·요약·모델 라우팅·산식 검증",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검토자",</a:t>
            </a:r>
          </a:p>
          <a:p xmlns:a="http://schemas.openxmlformats.org/drawingml/2006/main">
            <a:r>
              <a:t>        "detail": "권한 내 요약·계산 결과의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"지식·안건·카탈로그",</a:t>
            </a:r>
          </a:p>
          <a:p xmlns:a="http://schemas.openxmlformats.org/drawingml/2006/main">
            <a:r>
              <a:t>        "detail": "안건 메타데이터·정형/비정형 데이터 카탈로그",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"데이터 품질·민감정보·답변 품질 모니터링",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"지식·안건",</a:t>
            </a:r>
          </a:p>
          <a:p xmlns:a="http://schemas.openxmlformats.org/drawingml/2006/main">
            <a:r>
              <a:t>        "input": "외부·내부 접점과 망·계정·DRM 경계 분리",</a:t>
            </a:r>
          </a:p>
          <a:p xmlns:a="http://schemas.openxmlformats.org/drawingml/2006/main">
            <a:r>
              <a:t>        "process": "안건 메타데이터·정형/비정형 데이터 카탈로그",</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"title": "권한·망·DRM",</a:t>
            </a:r>
          </a:p>
          <a:p xmlns:a="http://schemas.openxmlformats.org/drawingml/2006/main">
            <a:r>
              <a:t>        "input": "질의·권한",</a:t>
            </a:r>
          </a:p>
          <a:p xmlns:a="http://schemas.openxmlformats.org/drawingml/2006/main">
            <a:r>
              <a:t>        "process": "검색·요약·모델 라우팅·산식 검증",</a:t>
            </a:r>
          </a:p>
          <a:p xmlns:a="http://schemas.openxmlformats.org/drawingml/2006/main">
            <a:r>
              <a:t>        "output": "허용 근거"</a:t>
            </a:r>
          </a:p>
          <a:p xmlns:a="http://schemas.openxmlformats.org/drawingml/2006/main">
            <a:r>
              <a:t>      },</a:t>
            </a:r>
          </a:p>
          <a:p xmlns:a="http://schemas.openxmlformats.org/drawingml/2006/main">
            <a:r>
              <a:t>      {</a:t>
            </a:r>
          </a:p>
          <a:p xmlns:a="http://schemas.openxmlformats.org/drawingml/2006/main">
            <a:r>
              <a:t>        "title": "검색·산식 검증",</a:t>
            </a:r>
          </a:p>
          <a:p xmlns:a="http://schemas.openxmlformats.org/drawingml/2006/main">
            <a:r>
              <a:t>        "input": "허용 근거",</a:t>
            </a:r>
          </a:p>
          <a:p xmlns:a="http://schemas.openxmlformats.org/drawingml/2006/main">
            <a:r>
              <a:t>        "process": "망·권한·산식별 독립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"title": "평가·운영",</a:t>
            </a:r>
          </a:p>
          <a:p xmlns:a="http://schemas.openxmlformats.org/drawingml/2006/main">
            <a:r>
              <a:t>        "input": "요약·계산",</a:t>
            </a:r>
          </a:p>
          <a:p xmlns:a="http://schemas.openxmlformats.org/drawingml/2006/main">
            <a:r>
              <a:t>        "process":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"허용된 안건만 검색·요약하고 규정 산식을 독립 확인",</a:t>
            </a:r>
          </a:p>
          <a:p xmlns:a="http://schemas.openxmlformats.org/drawingml/2006/main">
            <a:r>
              <a:t>      "exception": "외부 계정의 내부 안건 요청·DRM 제한·단위 오류",</a:t>
            </a:r>
          </a:p>
          <a:p xmlns:a="http://schemas.openxmlformats.org/drawingml/2006/main">
            <a:r>
              <a:t>      "evidence": "망·권한별 노출 결과와 원문·계산·카탈로그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"국민·직원·안건 검토자·데이터 담당",</a:t>
            </a:r>
          </a:p>
          <a:p xmlns:a="http://schemas.openxmlformats.org/drawingml/2006/main">
            <a:r>
              <a:t>          "processing": "외부·내부 접점과 망·계정·DRM 경계 분리",</a:t>
            </a:r>
          </a:p>
          <a:p xmlns:a="http://schemas.openxmlformats.org/drawingml/2006/main">
            <a:r>
              <a:t>          "output": "질의·권한"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"지식·안건·카탈로그",</a:t>
            </a:r>
          </a:p>
          <a:p xmlns:a="http://schemas.openxmlformats.org/drawingml/2006/main">
            <a:r>
              <a:t>          "processing": "안건 메타데이터·정형/비정형 데이터 카탈로그",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"질의·권한",</a:t>
            </a:r>
          </a:p>
          <a:p xmlns:a="http://schemas.openxmlformats.org/drawingml/2006/main">
            <a:r>
              <a:t>          "processing": "검색·요약·모델 라우팅·산식 검증",</a:t>
            </a:r>
          </a:p>
          <a:p xmlns:a="http://schemas.openxmlformats.org/drawingml/2006/main">
            <a:r>
              <a:t>          "output": "요약·계산"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"요약·계산",</a:t>
            </a:r>
          </a:p>
          <a:p xmlns:a="http://schemas.openxmlformats.org/drawingml/2006/main">
            <a:r>
              <a:t>          "processing": "권한 내 요약·계산 결과의 담당자 검토",</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"데이터 품질·민감정보·답변 품질 모니터링",</a:t>
            </a:r>
          </a:p>
          <a:p xmlns:a="http://schemas.openxmlformats.org/drawingml/2006/main">
            <a:r>
              <a:t>          "output": "망·권한별 노출 결과와 원문·계산·카탈로그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"데이터 품질·민감정보·답변 품질 모니터링",</a:t>
            </a:r>
          </a:p>
          <a:p xmlns:a="http://schemas.openxmlformats.org/drawingml/2006/main">
            <a:r>
              <a:t>    "status": "RFP 기반 논리 설계",</a:t>
            </a:r>
          </a:p>
          <a:p xmlns:a="http://schemas.openxmlformats.org/drawingml/2006/main">
            <a:r>
              <a:t>    "basis": "사전공개 RFP 2026.04 · SFR-001~014·DAR·CNR",</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"SFR-001~014, DAR·CNR / Word T089",</a:t>
            </a:r>
          </a:p>
          <a:p xmlns:a="http://schemas.openxmlformats.org/drawingml/2006/main">
            <a:r>
              <a:t>        "url": "https://www.g2b.go.kr/pn/pnz/pnza/UntyAtchFile/downloadFile.do?bfSpecRegNo=R26BD00217546&amp;fileType=BFDTL&amp;fileSeq=1"</a:t>
            </a:r>
          </a:p>
          <a:p xmlns:a="http://schemas.openxmlformats.org/drawingml/2006/main">
            <a:r>
              <a:t>      }</a:t>
            </a:r>
          </a:p>
          <a:p xmlns:a="http://schemas.openxmlformats.org/drawingml/2006/main">
            <a:r>
              <a:t>    ],</a:t>
            </a:r>
          </a:p>
          <a:p xmlns:a="http://schemas.openxmlformats.org/drawingml/2006/main">
            <a:r>
              <a:t>    "implication": "대민·내부 지식 경계와 데이터 카탈로그를 함께 설계하는 정보 제공",</a:t>
            </a:r>
          </a:p>
          <a:p xmlns:a="http://schemas.openxmlformats.org/drawingml/2006/main">
            <a:r>
              <a:t>    "local": "대민·내부 지식 경계와 데이터 카탈로그를 함께 설계하는 정보 제공",</a:t>
            </a:r>
          </a:p>
          <a:p xmlns:a="http://schemas.openxmlformats.org/drawingml/2006/main">
            <a:r>
              <a:t>    "sourceDetail": "망·DRM·권한 연계; 안건 메타데이터 범위검색; 규정 산식 교차검증; 모델라우팅·평가·모니터링",</a:t>
            </a:r>
          </a:p>
          <a:p xmlns:a="http://schemas.openxmlformats.org/drawingml/2006/main">
            <a:r>
              <a:t>    "narrative": [</a:t>
            </a:r>
          </a:p>
          <a:p xmlns:a="http://schemas.openxmlformats.org/drawingml/2006/main">
            <a:r>
              <a:t>      "대국민 챗봇, 임직원 지식 활용, 안건 검색·요약과 데이터 카탈로그를 함께 다루는 생성형 AI 플랫폼 계획. 대외 공개 지식과 내부 업무 자료를 같은 검색 범위로 취급하지 않는 것이 구성의 출발점.",</a:t>
            </a:r>
          </a:p>
          <a:p xmlns:a="http://schemas.openxmlformats.org/drawingml/2006/main">
            <a:r>
              <a:t>      "사전공개 RFP 도면은 대민·임직원 서비스를 나누고 각각 보안·서비스·데이터·관리 서브넷을 배치. 내부 영역은 SSO/EAM·ECM·업무 시스템과 연결하고, 별도 데이터 카탈로그는 업무분류체계·담당부서·메타데이터·사용승인을 연결하는 구조.",</a:t>
            </a:r>
          </a:p>
          <a:p xmlns:a="http://schemas.openxmlformats.org/drawingml/2006/main">
            <a:r>
              <a:t>      "TS 조직 기반 플랫폼에서는 직원이 누구인지뿐 아니라 특정 데이터의 업무 소관·활용 목적·승인 조건을 함께 관리하는 참고 사례. CCK 추가 개발은 조직·업무 사전과 카탈로그의 연결, DRM·권한 전파, 안건 범위검색, 산식 검증의 업무별 분리. 사전공개 요구와 실제 운영 성과는 별도 증빙으로 평가."</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"SFR-003",</a:t>
            </a:r>
          </a:p>
          <a:p xmlns:a="http://schemas.openxmlformats.org/drawingml/2006/main">
            <a:r>
              <a:t>        "title": "AI 서비스 에이전트 관리 기능",</a:t>
            </a:r>
          </a:p>
          <a:p xmlns:a="http://schemas.openxmlformats.org/drawingml/2006/main">
            <a:r>
              <a:t>        "locator": "SFR-003",</a:t>
            </a:r>
          </a:p>
          <a:p xmlns:a="http://schemas.openxmlformats.org/drawingml/2006/main">
            <a:r>
              <a:t>        "summary": "AI 에이전트의 구성·운영 관리 기능.",</a:t>
            </a:r>
          </a:p>
          <a:p xmlns:a="http://schemas.openxmlformats.org/drawingml/2006/main">
            <a:r>
              <a:t>        "data": "에이전트 설정·도구 → 실행 상태·관리 기록",</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"C08"</a:t>
            </a:r>
          </a:p>
          <a:p xmlns:a="http://schemas.openxmlformats.org/drawingml/2006/main">
            <a:r>
              <a:t>        ],</a:t>
            </a:r>
          </a:p>
          <a:p xmlns:a="http://schemas.openxmlformats.org/drawingml/2006/main">
            <a:r>
              <a:t>        "acceptance": "잘못된 도구 권한과 구성 변경 시 실행 차단·판본 추적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"1590814bc8f7ceb1abe4749ac8c848bd13cc7c8da0eb672ad1ee7d69ba045a3f"</a:t>
            </a:r>
          </a:p>
          <a:p xmlns:a="http://schemas.openxmlformats.org/drawingml/2006/main">
            <a:r>
              <a:t>      },</a:t>
            </a:r>
          </a:p>
          <a:p xmlns:a="http://schemas.openxmlformats.org/drawingml/2006/main">
            <a:r>
              <a:t>      {</a:t>
            </a:r>
          </a:p>
          <a:p xmlns:a="http://schemas.openxmlformats.org/drawingml/2006/main">
            <a:r>
              <a:t>        "id": "SFR-004",</a:t>
            </a:r>
          </a:p>
          <a:p xmlns:a="http://schemas.openxmlformats.org/drawingml/2006/main">
            <a:r>
              <a:t>        "title": "AI 서비스 RAG 기능",</a:t>
            </a:r>
          </a:p>
          <a:p xmlns:a="http://schemas.openxmlformats.org/drawingml/2006/main">
            <a:r>
              <a:t>        "locator": "SFR-004",</a:t>
            </a:r>
          </a:p>
          <a:p xmlns:a="http://schemas.openxmlformats.org/drawingml/2006/main">
            <a:r>
              <a:t>        "summary": "업무 지식을 검색해 생성 응답에 연결하는 RAG 기능.",</a:t>
            </a:r>
          </a:p>
          <a:p xmlns:a="http://schemas.openxmlformats.org/drawingml/2006/main">
            <a:r>
              <a:t>        "data": "질의·허용 문서 → 근거·응답",</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"C11"</a:t>
            </a:r>
          </a:p>
          <a:p xmlns:a="http://schemas.openxmlformats.org/drawingml/2006/main">
            <a:r>
              <a:t>        ],</a:t>
            </a:r>
          </a:p>
          <a:p xmlns:a="http://schemas.openxmlformats.org/drawingml/2006/main">
            <a:r>
              <a:t>        "acceptance": "사내·대국민 문서 혼재 시 검색 범위 분리와 출처 정확성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"6779cdd1e875adfd01a03d244801be17e636a2a970a25d78c0009ee42d836beb"</a:t>
            </a:r>
          </a:p>
          <a:p xmlns:a="http://schemas.openxmlformats.org/drawingml/2006/main">
            <a:r>
              <a:t>      },</a:t>
            </a:r>
          </a:p>
          <a:p xmlns:a="http://schemas.openxmlformats.org/drawingml/2006/main">
            <a:r>
              <a:t>      {</a:t>
            </a:r>
          </a:p>
          <a:p xmlns:a="http://schemas.openxmlformats.org/drawingml/2006/main">
            <a:r>
              <a:t>        "id": "SFR-005",</a:t>
            </a:r>
          </a:p>
          <a:p xmlns:a="http://schemas.openxmlformats.org/drawingml/2006/main">
            <a:r>
              <a:t>        "title": "AI 서비스 데이터 파이프라인 자동화 기능",</a:t>
            </a:r>
          </a:p>
          <a:p xmlns:a="http://schemas.openxmlformats.org/drawingml/2006/main">
            <a:r>
              <a:t>        "locator": "SFR-005",</a:t>
            </a:r>
          </a:p>
          <a:p xmlns:a="http://schemas.openxmlformats.org/drawingml/2006/main">
            <a:r>
              <a:t>        "summary": "원천 자료의 수집·전처리·검색 반영 데이터 파이프라인.",</a:t>
            </a:r>
          </a:p>
          <a:p xmlns:a="http://schemas.openxmlformats.org/drawingml/2006/main">
            <a:r>
              <a:t>        "data": "원천 문서·메타정보 → 검색용 데이터",</a:t>
            </a:r>
          </a:p>
          <a:p xmlns:a="http://schemas.openxmlformats.org/drawingml/2006/main">
            <a:r>
              <a:t>        "components":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"등록·개정·삭제·정제 실패의 처리 결과와 원천 변경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"ce9810ce185079fa2fef5d1208af96a3a07ef6e6e5ca1ec36d2dd7a42c90df96"</a:t>
            </a:r>
          </a:p>
          <a:p xmlns:a="http://schemas.openxmlformats.org/drawingml/2006/main">
            <a:r>
              <a:t>      },</a:t>
            </a:r>
          </a:p>
          <a:p xmlns:a="http://schemas.openxmlformats.org/drawingml/2006/main">
            <a:r>
              <a:t>      {</a:t>
            </a:r>
          </a:p>
          <a:p xmlns:a="http://schemas.openxmlformats.org/drawingml/2006/main">
            <a:r>
              <a:t>        "id": "SFR-009",</a:t>
            </a:r>
          </a:p>
          <a:p xmlns:a="http://schemas.openxmlformats.org/drawingml/2006/main">
            <a:r>
              <a:t>        "title": "AI 서비스(사내 AI 챗봇 서비스) 구축",</a:t>
            </a:r>
          </a:p>
          <a:p xmlns:a="http://schemas.openxmlformats.org/drawingml/2006/main">
            <a:r>
              <a:t>        "locator": "SFR-009",</a:t>
            </a:r>
          </a:p>
          <a:p xmlns:a="http://schemas.openxmlformats.org/drawingml/2006/main">
            <a:r>
              <a:t>        "summary": "사내 직원용 업무 지식 챗봇 기능.",</a:t>
            </a:r>
          </a:p>
          <a:p xmlns:a="http://schemas.openxmlformats.org/drawingml/2006/main">
            <a:r>
              <a:t>        "data": "직원 질의·직무 문맥 → 업무 답변·근거",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"동일 질의의 직무별 관련성, 비공개 자료 접근, 최신 규정 인용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"45f7da3f2df0a14850c6f9716076e421210ba97cb8aefec195a8439a0225ff95"</a:t>
            </a:r>
          </a:p>
          <a:p xmlns:a="http://schemas.openxmlformats.org/drawingml/2006/main">
            <a:r>
              <a:t>      },</a:t>
            </a:r>
          </a:p>
          <a:p xmlns:a="http://schemas.openxmlformats.org/drawingml/2006/main">
            <a:r>
              <a:t>      {</a:t>
            </a:r>
          </a:p>
          <a:p xmlns:a="http://schemas.openxmlformats.org/drawingml/2006/main">
            <a:r>
              <a:t>        "id": "SFR-012",</a:t>
            </a:r>
          </a:p>
          <a:p xmlns:a="http://schemas.openxmlformats.org/drawingml/2006/main">
            <a:r>
              <a:t>        "title": "데이터 카탈로그 일반 사항",</a:t>
            </a:r>
          </a:p>
          <a:p xmlns:a="http://schemas.openxmlformats.org/drawingml/2006/main">
            <a:r>
              <a:t>        "locator": "SFR-012",</a:t>
            </a:r>
          </a:p>
          <a:p xmlns:a="http://schemas.openxmlformats.org/drawingml/2006/main">
            <a:r>
              <a:t>        "summary": "전사 데이터 카탈로그의 공통 기능 구성.",</a:t>
            </a:r>
          </a:p>
          <a:p xmlns:a="http://schemas.openxmlformats.org/drawingml/2006/main">
            <a:r>
              <a:t>        "data": "데이터 자산·설명 → 탐색 가능한 카탈로그",</a:t>
            </a:r>
          </a:p>
          <a:p xmlns:a="http://schemas.openxmlformats.org/drawingml/2006/main">
            <a:r>
              <a:t>        "components": [</a:t>
            </a:r>
          </a:p>
          <a:p xmlns:a="http://schemas.openxmlformats.org/drawingml/2006/main">
            <a:r>
              <a:t>          "C09",</a:t>
            </a:r>
          </a:p>
          <a:p xmlns:a="http://schemas.openxmlformats.org/drawingml/2006/main">
            <a:r>
              <a:t>          "C11"</a:t>
            </a:r>
          </a:p>
          <a:p xmlns:a="http://schemas.openxmlformats.org/drawingml/2006/main">
            <a:r>
              <a:t>        ],</a:t>
            </a:r>
          </a:p>
          <a:p xmlns:a="http://schemas.openxmlformats.org/drawingml/2006/main">
            <a:r>
              <a:t>        "acceptance": "자산 식별자·담당자·설명의 원천 일치와 누락 항목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"c47acd02115ea8639438099db14eb807ebb43602a58a27a75e57bd7c44a01747"</a:t>
            </a:r>
          </a:p>
          <a:p xmlns:a="http://schemas.openxmlformats.org/drawingml/2006/main">
            <a:r>
              <a:t>      },</a:t>
            </a:r>
          </a:p>
          <a:p xmlns:a="http://schemas.openxmlformats.org/drawingml/2006/main">
            <a:r>
              <a:t>      {</a:t>
            </a:r>
          </a:p>
          <a:p xmlns:a="http://schemas.openxmlformats.org/drawingml/2006/main">
            <a:r>
              <a:t>        "id": "SFR-013",</a:t>
            </a:r>
          </a:p>
          <a:p xmlns:a="http://schemas.openxmlformats.org/drawingml/2006/main">
            <a:r>
              <a:t>        "title": "데이터 카탈로그 공사 맞춤 개발",</a:t>
            </a:r>
          </a:p>
          <a:p xmlns:a="http://schemas.openxmlformats.org/drawingml/2006/main">
            <a:r>
              <a:t>        "locator": "SFR-013",</a:t>
            </a:r>
          </a:p>
          <a:p xmlns:a="http://schemas.openxmlformats.org/drawingml/2006/main">
            <a:r>
              <a:t>        "summary": "기관 업무에 맞춘 데이터 카탈로그 구성과 활용.",</a:t>
            </a:r>
          </a:p>
          <a:p xmlns:a="http://schemas.openxmlformats.org/drawingml/2006/main">
            <a:r>
              <a:t>        "data": "업무 분류·사용자 문맥 → 맞춤 자산 정보",</a:t>
            </a:r>
          </a:p>
          <a:p xmlns:a="http://schemas.openxmlformats.org/drawingml/2006/main">
            <a:r>
              <a:t>        "components": [</a:t>
            </a:r>
          </a:p>
          <a:p xmlns:a="http://schemas.openxmlformats.org/drawingml/2006/main">
            <a:r>
              <a:t>          "C02",</a:t>
            </a:r>
          </a:p>
          <a:p xmlns:a="http://schemas.openxmlformats.org/drawingml/2006/main">
            <a:r>
              <a:t>          "C11",</a:t>
            </a:r>
          </a:p>
          <a:p xmlns:a="http://schemas.openxmlformats.org/drawingml/2006/main">
            <a:r>
              <a:t>          "C12"</a:t>
            </a:r>
          </a:p>
          <a:p xmlns:a="http://schemas.openxmlformats.org/drawingml/2006/main">
            <a:r>
              <a:t>        ],</a:t>
            </a:r>
          </a:p>
          <a:p xmlns:a="http://schemas.openxmlformats.org/drawingml/2006/main">
            <a:r>
              <a:t>        "acceptance": "부서·업무 분류 변경과 사용자 권한에 따른 자산 정보 표시 대사",</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"dbe676ae5dc97c22a843994b927807e364fb8221c6d23ce8fb0b11a860ffc1b0"</a:t>
            </a:r>
          </a:p>
          <a:p xmlns:a="http://schemas.openxmlformats.org/drawingml/2006/main">
            <a:r>
              <a:t>      },</a:t>
            </a:r>
          </a:p>
          <a:p xmlns:a="http://schemas.openxmlformats.org/drawingml/2006/main">
            <a:r>
              <a:t>      {</a:t>
            </a:r>
          </a:p>
          <a:p xmlns:a="http://schemas.openxmlformats.org/drawingml/2006/main">
            <a:r>
              <a:t>        "id": "SFR-014",</a:t>
            </a:r>
          </a:p>
          <a:p xmlns:a="http://schemas.openxmlformats.org/drawingml/2006/main">
            <a:r>
              <a:t>        "title": "데이터 카탈로그 검색 기능",</a:t>
            </a:r>
          </a:p>
          <a:p xmlns:a="http://schemas.openxmlformats.org/drawingml/2006/main">
            <a:r>
              <a:t>        "locator": "SFR-014",</a:t>
            </a:r>
          </a:p>
          <a:p xmlns:a="http://schemas.openxmlformats.org/drawingml/2006/main">
            <a:r>
              <a:t>        "summary": "카탈로그의 데이터 자산 검색 기능.",</a:t>
            </a:r>
          </a:p>
          <a:p xmlns:a="http://schemas.openxmlformats.org/drawingml/2006/main">
            <a:r>
              <a:t>        "data": "자산명·업무 용어 → 관련 자산·설명",</a:t>
            </a:r>
          </a:p>
          <a:p xmlns:a="http://schemas.openxmlformats.org/drawingml/2006/main">
            <a:r>
              <a:t>        "components": [</a:t>
            </a:r>
          </a:p>
          <a:p xmlns:a="http://schemas.openxmlformats.org/drawingml/2006/main">
            <a:r>
              <a:t>          "C03",</a:t>
            </a:r>
          </a:p>
          <a:p xmlns:a="http://schemas.openxmlformats.org/drawingml/2006/main">
            <a:r>
              <a:t>          "C11"</a:t>
            </a:r>
          </a:p>
          <a:p xmlns:a="http://schemas.openxmlformats.org/drawingml/2006/main">
            <a:r>
              <a:t>        ],</a:t>
            </a:r>
          </a:p>
          <a:p xmlns:a="http://schemas.openxmlformats.org/drawingml/2006/main">
            <a:r>
              <a:t>        "acceptance": "다른 업무 용어로 같은 자산 탐색, 동명이자산 구분, 검색 결과 권한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"0d1cbe7ee72465436a3269eeb95106fa281de600b63107b9dfece31a434b39db"</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"국민·사내 접점",</a:t>
            </a:r>
          </a:p>
          <a:p xmlns:a="http://schemas.openxmlformats.org/drawingml/2006/main">
            <a:r>
              <a:t>          "layer": "이용 접점",</a:t>
            </a:r>
          </a:p>
          <a:p xmlns:a="http://schemas.openxmlformats.org/drawingml/2006/main">
            <a:r>
              <a:t>          "detail": "국민·직원·안건 검토자·데이터 담당",</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"SSO·DRM·망 구분",</a:t>
            </a:r>
          </a:p>
          <a:p xmlns:a="http://schemas.openxmlformats.org/drawingml/2006/main">
            <a:r>
              <a:t>          "layer": "업무 문맥",</a:t>
            </a:r>
          </a:p>
          <a:p xmlns:a="http://schemas.openxmlformats.org/drawingml/2006/main">
            <a:r>
              <a:t>          "detail": "외부·내부 접점과 망·계정·DRM 경계 분리",</a:t>
            </a:r>
          </a:p>
          <a:p xmlns:a="http://schemas.openxmlformats.org/drawingml/2006/main">
            <a:r>
              <a:t>          "requirements": [</a:t>
            </a:r>
          </a:p>
          <a:p xmlns:a="http://schemas.openxmlformats.org/drawingml/2006/main">
            <a:r>
              <a:t>            "SFR-003",</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"안건·허용자료 검색",</a:t>
            </a:r>
          </a:p>
          <a:p xmlns:a="http://schemas.openxmlformats.org/drawingml/2006/main">
            <a:r>
              <a:t>          "layer": "자료 조회",</a:t>
            </a:r>
          </a:p>
          <a:p xmlns:a="http://schemas.openxmlformats.org/drawingml/2006/main">
            <a:r>
              <a:t>          "detail": "질의·권한",</a:t>
            </a:r>
          </a:p>
          <a:p xmlns:a="http://schemas.openxmlformats.org/drawingml/2006/main">
            <a:r>
              <a:t>          "requirements": [</a:t>
            </a:r>
          </a:p>
          <a:p xmlns:a="http://schemas.openxmlformats.org/drawingml/2006/main">
            <a:r>
              <a:t>            "SFR-004",</a:t>
            </a:r>
          </a:p>
          <a:p xmlns:a="http://schemas.openxmlformats.org/drawingml/2006/main">
            <a:r>
              <a:t>            "SFR-009",</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"모델·요약·산식",</a:t>
            </a:r>
          </a:p>
          <a:p xmlns:a="http://schemas.openxmlformats.org/drawingml/2006/main">
            <a:r>
              <a:t>          "layer": "핵심 처리",</a:t>
            </a:r>
          </a:p>
          <a:p xmlns:a="http://schemas.openxmlformats.org/drawingml/2006/main">
            <a:r>
              <a:t>          "detail": "검색·요약·모델 라우팅·산식 검증",</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"산식·단위 대조",</a:t>
            </a:r>
          </a:p>
          <a:p xmlns:a="http://schemas.openxmlformats.org/drawingml/2006/main">
            <a:r>
              <a:t>          "layer": "결과 검증",</a:t>
            </a:r>
          </a:p>
          <a:p xmlns:a="http://schemas.openxmlformats.org/drawingml/2006/main">
            <a:r>
              <a:t>          "detail": "망·권한·산식별 독립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검토",</a:t>
            </a:r>
          </a:p>
          <a:p xmlns:a="http://schemas.openxmlformats.org/drawingml/2006/main">
            <a:r>
              <a:t>          "layer": "사람 확인",</a:t>
            </a:r>
          </a:p>
          <a:p xmlns:a="http://schemas.openxmlformats.org/drawingml/2006/main">
            <a:r>
              <a:t>          "detail": "허용된 안건만 검색·요약하고 규정 산식을 독립 확인",</a:t>
            </a:r>
          </a:p>
          <a:p xmlns:a="http://schemas.openxmlformats.org/drawingml/2006/main">
            <a:r>
              <a:t>          "requirements": [</a:t>
            </a:r>
          </a:p>
          <a:p xmlns:a="http://schemas.openxmlformats.org/drawingml/2006/main">
            <a:r>
              <a:t>            "SFR-009"</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"근거 요약·계산",</a:t>
            </a:r>
          </a:p>
          <a:p xmlns:a="http://schemas.openxmlformats.org/drawingml/2006/main">
            <a:r>
              <a:t>          "layer": "업무 연결",</a:t>
            </a:r>
          </a:p>
          <a:p xmlns:a="http://schemas.openxmlformats.org/drawingml/2006/main">
            <a:r>
              <a:t>          "detail": "권한 내 요약·계산 결과의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"품질·민감정보 점검",</a:t>
            </a:r>
          </a:p>
          <a:p xmlns:a="http://schemas.openxmlformats.org/drawingml/2006/main">
            <a:r>
              <a:t>          "layer": "운영 관측",</a:t>
            </a:r>
          </a:p>
          <a:p xmlns:a="http://schemas.openxmlformats.org/drawingml/2006/main">
            <a:r>
              <a:t>          "detail": "데이터 품질·민감정보·답변 품질 모니터링",</a:t>
            </a:r>
          </a:p>
          <a:p xmlns:a="http://schemas.openxmlformats.org/drawingml/2006/main">
            <a:r>
              <a:t>          "requirements": [</a:t>
            </a:r>
          </a:p>
          <a:p xmlns:a="http://schemas.openxmlformats.org/drawingml/2006/main">
            <a:r>
              <a:t>            "SFR-003"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"ECM·안건·공개자료",</a:t>
            </a:r>
          </a:p>
          <a:p xmlns:a="http://schemas.openxmlformats.org/drawingml/2006/main">
            <a:r>
              <a:t>          "layer": "데이터 원천",</a:t>
            </a:r>
          </a:p>
          <a:p xmlns:a="http://schemas.openxmlformats.org/drawingml/2006/main">
            <a:r>
              <a:t>          "detail": "지식·안건·카탈로그",</a:t>
            </a:r>
          </a:p>
          <a:p xmlns:a="http://schemas.openxmlformats.org/drawingml/2006/main">
            <a:r>
              <a:t>          "requirements": [</a:t>
            </a:r>
          </a:p>
          <a:p xmlns:a="http://schemas.openxmlformats.org/drawingml/2006/main">
            <a:r>
              <a:t>            "SFR-005",</a:t>
            </a:r>
          </a:p>
          <a:p xmlns:a="http://schemas.openxmlformats.org/drawingml/2006/main">
            <a:r>
              <a:t>            "SFR-012"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"메타정보·카탈로그",</a:t>
            </a:r>
          </a:p>
          <a:p xmlns:a="http://schemas.openxmlformats.org/drawingml/2006/main">
            <a:r>
              <a:t>          "layer": "준비·갱신",</a:t>
            </a:r>
          </a:p>
          <a:p xmlns:a="http://schemas.openxmlformats.org/drawingml/2006/main">
            <a:r>
              <a:t>          "detail": "안건 메타데이터·정형/비정형 데이터 카탈로그",</a:t>
            </a:r>
          </a:p>
          <a:p xmlns:a="http://schemas.openxmlformats.org/drawingml/2006/main">
            <a:r>
              <a:t>          "requirements": [</a:t>
            </a:r>
          </a:p>
          <a:p xmlns:a="http://schemas.openxmlformats.org/drawingml/2006/main">
            <a:r>
              <a:t>            "SFR-005"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"대민·사내 DB 분리",</a:t>
            </a:r>
          </a:p>
          <a:p xmlns:a="http://schemas.openxmlformats.org/drawingml/2006/main">
            <a:r>
              <a:t>          "layer": "상태·지식 저장",</a:t>
            </a:r>
          </a:p>
          <a:p xmlns:a="http://schemas.openxmlformats.org/drawingml/2006/main">
            <a:r>
              <a:t>          "detail": "망·권한별 노출 결과와 원문·계산·카탈로그 대사",</a:t>
            </a:r>
          </a:p>
          <a:p xmlns:a="http://schemas.openxmlformats.org/drawingml/2006/main">
            <a:r>
              <a:t>          "requirements": [</a:t>
            </a:r>
          </a:p>
          <a:p xmlns:a="http://schemas.openxmlformats.org/drawingml/2006/main">
            <a:r>
              <a:t>            "SFR-004",</a:t>
            </a:r>
          </a:p>
          <a:p xmlns:a="http://schemas.openxmlformats.org/drawingml/2006/main">
            <a:r>
              <a:t>            "SFR-005",</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"권한·망·모델 관리",</a:t>
            </a:r>
          </a:p>
          <a:p xmlns:a="http://schemas.openxmlformats.org/drawingml/2006/main">
            <a:r>
              <a:t>          "layer": "권한·정책",</a:t>
            </a:r>
          </a:p>
          <a:p xmlns:a="http://schemas.openxmlformats.org/drawingml/2006/main">
            <a:r>
              <a:t>          "detail": "외부 계정의 내부 안건 요청·DRM 제한·단위 오류",</a:t>
            </a:r>
          </a:p>
          <a:p xmlns:a="http://schemas.openxmlformats.org/drawingml/2006/main">
            <a:r>
              <a:t>          "requirements": [</a:t>
            </a:r>
          </a:p>
          <a:p xmlns:a="http://schemas.openxmlformats.org/drawingml/2006/main">
            <a:r>
              <a:t>            "SFR-013"</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"지식·안건 → 권한·망·DRM → 검색·산식 검증 → 평가·운영"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"외부·내부 접점과 망·계정·DRM 경계 분리",</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"질의·권한",</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"권한·망·모델 관리",</a:t>
            </a:r>
          </a:p>
          <a:p xmlns:a="http://schemas.openxmlformats.org/drawingml/2006/main">
            <a:r>
              <a:t>          "check": "망·권한·산식별 독립 검증"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"요약·계산",</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"요약·계산",</a:t>
            </a:r>
          </a:p>
          <a:p xmlns:a="http://schemas.openxmlformats.org/drawingml/2006/main">
            <a:r>
              <a:t>          "check": "외부 계정의 내부 안건 요청·DRM 제한·단위 오류"</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"망·권한별 노출 결과와 원문·계산·카탈로그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"사전공개 RFP 구성도·SFR-001~014",</a:t>
            </a:r>
          </a:p>
          <a:p xmlns:a="http://schemas.openxmlformats.org/drawingml/2006/main">
            <a:r>
              <a:t>        "extracted": "대민/임직원 서비스와 DB 분리, SSO/EAM·데이터 업로드 경계",</a:t>
            </a:r>
          </a:p>
          <a:p xmlns:a="http://schemas.openxmlformats.org/drawingml/2006/main">
            <a:r>
              <a:t>        "extension": "공개·내부 경계 교차 시험과 금융 산식의 독립 검산"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"PF-R08",</a:t>
            </a:r>
          </a:p>
          <a:p xmlns:a="http://schemas.openxmlformats.org/drawingml/2006/main">
            <a:r>
              <a:t>          "path": "assets/casebook-sources/PF-R08-01.png",</a:t>
            </a:r>
          </a:p>
          <a:p xmlns:a="http://schemas.openxmlformats.org/drawingml/2006/main">
            <a:r>
              <a:t>          "title": "대민·임직원 AI 서비스 분리",</a:t>
            </a:r>
          </a:p>
          <a:p xmlns:a="http://schemas.openxmlformats.org/drawingml/2006/main">
            <a:r>
              <a:t>          "status": "사전공개 RFP 목표 구성도",</a:t>
            </a:r>
          </a:p>
          <a:p xmlns:a="http://schemas.openxmlformats.org/drawingml/2006/main">
            <a:r>
              <a:t>          "caption": "보안·서비스·데이터·관리 서브넷과 SSO·업무 데이터 경계",</a:t>
            </a:r>
          </a:p>
          <a:p xmlns:a="http://schemas.openxmlformats.org/drawingml/2006/main">
            <a:r>
              <a:t>          "locator": "rId20 / BinData/BIN0002_bmp",</a:t>
            </a:r>
          </a:p>
          <a:p xmlns:a="http://schemas.openxmlformats.org/drawingml/2006/main">
            <a:r>
              <a:t>          "checked": "2026-10-16",</a:t>
            </a:r>
          </a:p>
          <a:p xmlns:a="http://schemas.openxmlformats.org/drawingml/2006/main">
            <a:r>
              <a:t>          "sha256": "dbd84b9d88acec3c54802ec4cc6eacaf8a872223e2a7ee89fadf50a173e38803",</a:t>
            </a:r>
          </a:p>
          <a:p xmlns:a="http://schemas.openxmlformats.org/drawingml/2006/main">
            <a:r>
              <a:t>          "explanation": {</a:t>
            </a:r>
          </a:p>
          <a:p xmlns:a="http://schemas.openxmlformats.org/drawingml/2006/main">
            <a:r>
              <a:t>            "read": "사전공개 요구의 대국민·임직원 서비스와 데이터·네트워크 경계를 구분한 목표 구성. 공개 상담용 자료와 내부 안건·업무 자료를 서비스·저장 계층에서 분리하는 구조.",</a:t>
            </a:r>
          </a:p>
          <a:p xmlns:a="http://schemas.openxmlformats.org/drawingml/2006/main">
            <a:r>
              <a:t>            "requirements": [</a:t>
            </a:r>
          </a:p>
          <a:p xmlns:a="http://schemas.openxmlformats.org/drawingml/2006/main">
            <a:r>
              <a:t>              "SFR-003",</a:t>
            </a:r>
          </a:p>
          <a:p xmlns:a="http://schemas.openxmlformats.org/drawingml/2006/main">
            <a:r>
              <a:t>              "SFR-004",</a:t>
            </a:r>
          </a:p>
          <a:p xmlns:a="http://schemas.openxmlformats.org/drawingml/2006/main">
            <a:r>
              <a:t>              "SFR-005",</a:t>
            </a:r>
          </a:p>
          <a:p xmlns:a="http://schemas.openxmlformats.org/drawingml/2006/main">
            <a:r>
              <a:t>              "SFR-009"</a:t>
            </a:r>
          </a:p>
          <a:p xmlns:a="http://schemas.openxmlformats.org/drawingml/2006/main">
            <a:r>
              <a:t>            ],</a:t>
            </a:r>
          </a:p>
          <a:p xmlns:a="http://schemas.openxmlformats.org/drawingml/2006/main">
            <a:r>
              <a:t>            "connection": "같은 AI 기반을 쓰더라도 공개·내부 검색 범위와 문서 반입 경로를 별도로 검수하고 사용자 문맥·SSO·DRM 등 기존 통제와 연결하는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"PF-R08",</a:t>
            </a:r>
          </a:p>
          <a:p xmlns:a="http://schemas.openxmlformats.org/drawingml/2006/main">
            <a:r>
              <a:t>          "path": "assets/casebook-sources/PF-R08-02.png",</a:t>
            </a:r>
          </a:p>
          <a:p xmlns:a="http://schemas.openxmlformats.org/drawingml/2006/main">
            <a:r>
              <a:t>          "title": "데이터 카탈로그·업무 매핑",</a:t>
            </a:r>
          </a:p>
          <a:p xmlns:a="http://schemas.openxmlformats.org/drawingml/2006/main">
            <a:r>
              <a:t>          "status": "사전공개 RFP 데이터 구성도",</a:t>
            </a:r>
          </a:p>
          <a:p xmlns:a="http://schemas.openxmlformats.org/drawingml/2006/main">
            <a:r>
              <a:t>          "caption": "대시보드·통합검색·데이터등록·표준·품질과 업무 매핑",</a:t>
            </a:r>
          </a:p>
          <a:p xmlns:a="http://schemas.openxmlformats.org/drawingml/2006/main">
            <a:r>
              <a:t>          "locator": "rId20 / BinData/BIN0001_bmp",</a:t>
            </a:r>
          </a:p>
          <a:p xmlns:a="http://schemas.openxmlformats.org/drawingml/2006/main">
            <a:r>
              <a:t>          "checked": "2026-10-16",</a:t>
            </a:r>
          </a:p>
          <a:p xmlns:a="http://schemas.openxmlformats.org/drawingml/2006/main">
            <a:r>
              <a:t>          "sha256": "e91edef465c1a60d5edcd6288eefa4a5d158cd9980b9b941428685ef6e32a0f5",</a:t>
            </a:r>
          </a:p>
          <a:p xmlns:a="http://schemas.openxmlformats.org/drawingml/2006/main">
            <a:r>
              <a:t>          "explanation": {</a:t>
            </a:r>
          </a:p>
          <a:p xmlns:a="http://schemas.openxmlformats.org/drawingml/2006/main">
            <a:r>
              <a:t>            "read": "카탈로그와 MDMS·ECM 등 기존 데이터·문서 체계의 업무 연결. AI 답변에 앞서 어떤 데이터가 존재하고 누가 관리하며 어떤 업무에서 쓰는지 찾을 수 있도록 하는 정보 기반.",</a:t>
            </a:r>
          </a:p>
          <a:p xmlns:a="http://schemas.openxmlformats.org/drawingml/2006/main">
            <a:r>
              <a:t>            "requirements": [</a:t>
            </a:r>
          </a:p>
          <a:p xmlns:a="http://schemas.openxmlformats.org/drawingml/2006/main">
            <a:r>
              <a:t>              "SFR-012",</a:t>
            </a:r>
          </a:p>
          <a:p xmlns:a="http://schemas.openxmlformats.org/drawingml/2006/main">
            <a:r>
              <a:t>              "SFR-013",</a:t>
            </a:r>
          </a:p>
          <a:p xmlns:a="http://schemas.openxmlformats.org/drawingml/2006/main">
            <a:r>
              <a:t>              "SFR-014"</a:t>
            </a:r>
          </a:p>
          <a:p xmlns:a="http://schemas.openxmlformats.org/drawingml/2006/main">
            <a:r>
              <a:t>            ],</a:t>
            </a:r>
          </a:p>
          <a:p xmlns:a="http://schemas.openxmlformats.org/drawingml/2006/main">
            <a:r>
              <a:t>            "connection": "TS의 조직·업무 ID와 데이터 자산·소관 부서를 연결하고 문서 검색 권한과 카탈로그 설명의 공개 범위를 분리해 관리하는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"외부 계정의 내부 안건 요청·DRM 제한·단위 오류",</a:t>
            </a:r>
          </a:p>
          <a:p xmlns:a="http://schemas.openxmlformats.org/drawingml/2006/main">
            <a:r>
              <a:t>        "hold": "망·권한·산식별 독립 검증",</a:t>
            </a:r>
          </a:p>
          <a:p xmlns:a="http://schemas.openxmlformats.org/drawingml/2006/main">
            <a:r>
              <a:t>        "recovery": "데이터 품질·민감정보·답변 품질 모니터링",</a:t>
            </a:r>
          </a:p>
          <a:p xmlns:a="http://schemas.openxmlformats.org/drawingml/2006/main">
            <a:r>
              <a:t>        "evidence": "망·권한별 노출 결과와 원문·계산·카탈로그 대사"</a:t>
            </a:r>
          </a:p>
          <a:p xmlns:a="http://schemas.openxmlformats.org/drawingml/2006/main">
            <a:r>
              <a:t>      },</a:t>
            </a:r>
          </a:p>
          <a:p xmlns:a="http://schemas.openxmlformats.org/drawingml/2006/main">
            <a:r>
              <a:t>      "data": {</a:t>
            </a:r>
          </a:p>
          <a:p xmlns:a="http://schemas.openxmlformats.org/drawingml/2006/main">
            <a:r>
              <a:t>        "source": "지식·안건·카탈로그",</a:t>
            </a:r>
          </a:p>
          <a:p xmlns:a="http://schemas.openxmlformats.org/drawingml/2006/main">
            <a:r>
              <a:t>        "prepare": "안건 메타데이터·정형/비정형 데이터 카탈로그",</a:t>
            </a:r>
          </a:p>
          <a:p xmlns:a="http://schemas.openxmlformats.org/drawingml/2006/main">
            <a:r>
              <a:t>        "output": "질의·권한",</a:t>
            </a:r>
          </a:p>
          <a:p xmlns:a="http://schemas.openxmlformats.org/drawingml/2006/main">
            <a:r>
              <a:t>        "refresh": "데이터 품질·민감정보·답변 품질 모니터링"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"PF-R08",</a:t>
            </a:r>
          </a:p>
          <a:p xmlns:a="http://schemas.openxmlformats.org/drawingml/2006/main">
            <a:r>
              <a:t>    "success": [</a:t>
            </a:r>
          </a:p>
          <a:p xmlns:a="http://schemas.openxmlformats.org/drawingml/2006/main">
            <a:r>
              <a:t>      "대국민·사내 지식 경계 분리",</a:t>
            </a:r>
          </a:p>
          <a:p xmlns:a="http://schemas.openxmlformats.org/drawingml/2006/main">
            <a:r>
              <a:t>      "카탈로그와 데이터 통제 결합"</a:t>
            </a:r>
          </a:p>
          <a:p xmlns:a="http://schemas.openxmlformats.org/drawingml/2006/main">
            <a:r>
              <a:t>    ],</a:t>
            </a:r>
          </a:p>
          <a:p xmlns:a="http://schemas.openxmlformats.org/drawingml/2006/main">
            <a:r>
              <a:t>    "risks": [</a:t>
            </a:r>
          </a:p>
          <a:p xmlns:a="http://schemas.openxmlformats.org/drawingml/2006/main">
            <a:r>
              <a:t>      "DRM·접근권한 전파 누락",</a:t>
            </a:r>
          </a:p>
          <a:p xmlns:a="http://schemas.openxmlformats.org/drawingml/2006/main">
            <a:r>
              <a:t>      "금융 산식·단위 오류"</a:t>
            </a:r>
          </a:p>
          <a:p xmlns:a="http://schemas.openxmlformats.org/drawingml/2006/main">
            <a:r>
              <a:t>    ],</a:t>
            </a:r>
          </a:p>
          <a:p xmlns:a="http://schemas.openxmlformats.org/drawingml/2006/main">
            <a:r>
              <a:t>    "architecture": [</a:t>
            </a:r>
          </a:p>
          <a:p xmlns:a="http://schemas.openxmlformats.org/drawingml/2006/main">
            <a:r>
              <a:t>      "국민·직원 접점",</a:t>
            </a:r>
          </a:p>
          <a:p xmlns:a="http://schemas.openxmlformats.org/drawingml/2006/main">
            <a:r>
              <a:t>      "검색·요약·산식 검토",</a:t>
            </a:r>
          </a:p>
          <a:p xmlns:a="http://schemas.openxmlformats.org/drawingml/2006/main">
            <a:r>
              <a:t>      "지식·안건·카탈로그",</a:t>
            </a:r>
          </a:p>
          <a:p xmlns:a="http://schemas.openxmlformats.org/drawingml/2006/main">
            <a:r>
              <a:t>      "업무 검토자"</a:t>
            </a:r>
          </a:p>
          <a:p xmlns:a="http://schemas.openxmlformats.org/drawingml/2006/main">
            <a:r>
              <a:t>    ],</a:t>
            </a:r>
          </a:p>
          <a:p xmlns:a="http://schemas.openxmlformats.org/drawingml/2006/main">
            <a:r>
              <a:t>    "transfers": [</a:t>
            </a:r>
          </a:p>
          <a:p xmlns:a="http://schemas.openxmlformats.org/drawingml/2006/main">
            <a:r>
              <a:t>      "질의·권한",</a:t>
            </a:r>
          </a:p>
          <a:p xmlns:a="http://schemas.openxmlformats.org/drawingml/2006/main">
            <a:r>
              <a:t>      "허용 근거",</a:t>
            </a:r>
          </a:p>
          <a:p xmlns:a="http://schemas.openxmlformats.org/drawingml/2006/main">
            <a:r>
              <a:t>      "요약·계산",</a:t>
            </a:r>
          </a:p>
          <a:p xmlns:a="http://schemas.openxmlformats.org/drawingml/2006/main">
            <a:r>
              <a:t>      "검토 결과"</a:t>
            </a:r>
          </a:p>
          <a:p xmlns:a="http://schemas.openxmlformats.org/drawingml/2006/main">
            <a:r>
              <a:t>    ],</a:t>
            </a:r>
          </a:p>
          <a:p xmlns:a="http://schemas.openxmlformats.org/drawingml/2006/main">
            <a:r>
              <a:t>    "control": "망·권한·산식별 독립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SFR-001~014, DAR·CNR / Word T089 https://www.g2b.go.kr/pn/pnz/pnza/UntyAtchFile/downloadFile.do?bfSpecRegNo=R26BD00217546&amp;fileType=BFDTL&amp;fileSeq=1</a:t>
            </a:r>
          </a:p>
          <a:p xmlns:a="http://schemas.openxmlformats.org/drawingml/2006/main">
            <a:r>
              <a:t>홈페이지 https://heen1987-ops.github.io/TS-business-Plan-001/index.html?view=platform-cases&amp;case=PF-R08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a:p xmlns:a="http://schemas.openxmlformats.org/drawingml/2006/main">
            <a:r>
              <a:t>한계: 별도 과제(오피넷 AICC·적정유가 등)를 이번 개발로 합산하지 않음</a:t>
            </a:r>
          </a:p>
          <a:p xmlns:a="http://schemas.openxmlformats.org/drawingml/2006/main">
            <a:r>
              <a:t>실패 위험: 도메인 지식의 혼합 / 안전·시추 권고를 자동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a:p xmlns:a="http://schemas.openxmlformats.org/drawingml/2006/main">
            <a:r>
              <a:t>이미지 모델 재구성 {"path":"assets/casebook-reconstructions/PF-R09.png","title":"석유공사 생성형 AI · 6개 업무 영역 재구성","basis":"정정 RFP SER-001~004·FUR-001~006","method":"이미지 모델 생성 후 RFP 요구와 경로 대조","status":"CCK 분석 재구성 · 원문 도면 아님","sha256":"23cb5bd40e90220c6e266428f74d1ed719a884bce99a06dd57d9b2542fc377e7"}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"PF-R09",</a:t>
            </a:r>
          </a:p>
          <a:p xmlns:a="http://schemas.openxmlformats.org/drawingml/2006/main">
            <a:r>
              <a:t>    "sourceId": "R09",</a:t>
            </a:r>
          </a:p>
          <a:p xmlns:a="http://schemas.openxmlformats.org/drawingml/2006/main">
            <a:r>
              <a:t>    "title": "석유공사 업무 AI",</a:t>
            </a:r>
          </a:p>
          <a:p xmlns:a="http://schemas.openxmlformats.org/drawingml/2006/main">
            <a:r>
              <a:t>    "region": "국내",</a:t>
            </a:r>
          </a:p>
          <a:p xmlns:a="http://schemas.openxmlformats.org/drawingml/2006/main">
            <a:r>
              <a:t>    "owner": "한국석유공사",</a:t>
            </a:r>
          </a:p>
          <a:p xmlns:a="http://schemas.openxmlformats.org/drawingml/2006/main">
            <a:r>
              <a:t>    "state": "정정 RFP 확인 / 구축·운영 성과 미확인",</a:t>
            </a:r>
          </a:p>
          <a:p xmlns:a="http://schemas.openxmlformats.org/drawingml/2006/main">
            <a:r>
              <a:t>    "period": "기존 원장 확인 2026.10.16",</a:t>
            </a:r>
          </a:p>
          <a:p xmlns:a="http://schemas.openxmlformats.org/drawingml/2006/main">
            <a:r>
              <a:t>    "fact": "범용 챗봇 + 인사복지·안전·시추·지질·비축설비·시장보고 6과제",</a:t>
            </a:r>
          </a:p>
          <a:p xmlns:a="http://schemas.openxmlformats.org/drawingml/2006/main">
            <a:r>
              <a:t>    "limit": "별도 과제(오피넷 AICC·적정유가 등)를 이번 개발로 합산하지 않음",</a:t>
            </a:r>
          </a:p>
          <a:p xmlns:a="http://schemas.openxmlformats.org/drawingml/2006/main">
            <a:r>
              <a:t>    "nodes": [</a:t>
            </a:r>
          </a:p>
          <a:p xmlns:a="http://schemas.openxmlformats.org/drawingml/2006/main">
            <a:r>
              <a:t>      "인사·안전 등 지식",</a:t>
            </a:r>
          </a:p>
          <a:p xmlns:a="http://schemas.openxmlformats.org/drawingml/2006/main">
            <a:r>
              <a:t>      "도메인 RAG",</a:t>
            </a:r>
          </a:p>
          <a:p xmlns:a="http://schemas.openxmlformats.org/drawingml/2006/main">
            <a:r>
              <a:t>      "업무 앱·ERP",</a:t>
            </a:r>
          </a:p>
          <a:p xmlns:a="http://schemas.openxmlformats.org/drawingml/2006/main">
            <a:r>
              <a:t>      "권한·성과 관리"</a:t>
            </a:r>
          </a:p>
          <a:p xmlns:a="http://schemas.openxmlformats.org/drawingml/2006/main">
            <a:r>
              <a:t>    ],</a:t>
            </a:r>
          </a:p>
          <a:p xmlns:a="http://schemas.openxmlformats.org/drawingml/2006/main">
            <a:r>
              <a:t>    "apply": "공통 사용자·권한 기반 위에 업무 도메인별 지식과 실행 경로 구성",</a:t>
            </a:r>
          </a:p>
          <a:p xmlns:a="http://schemas.openxmlformats.org/drawingml/2006/main">
            <a:r>
              <a:t>    "delta": "TS 업무 도메인 라우터 / 사용자 역할·효력일 / 업무별 검색·원천 연계",</a:t>
            </a:r>
          </a:p>
          <a:p xmlns:a="http://schemas.openxmlformats.org/drawingml/2006/main">
            <a:r>
              <a:t>    "test": "전보·겸직·다른 도메인 질의의 라우팅·근거·접근 허용 여부 대조",</a:t>
            </a:r>
          </a:p>
          <a:p xmlns:a="http://schemas.openxmlformats.org/drawingml/2006/main">
            <a:r>
              <a:t>    "url": "https://www.g2b.go.kr/pn/pnp/pnpe/UntyAtchFile/downloadFile.do?bidPbancNo=R26BK01705928&amp;bidPbancOrd=001&amp;fileSeq=4&amp;fileType=&amp;prcmBsneSeCd=03",</a:t>
            </a:r>
          </a:p>
          <a:p xmlns:a="http://schemas.openxmlformats.org/drawingml/2006/main">
            <a:r>
              <a:t>    "urls": [</a:t>
            </a:r>
          </a:p>
          <a:p xmlns:a="http://schemas.openxmlformats.org/drawingml/2006/main">
            <a:r>
              <a:t>      "https://www.g2b.go.kr/pn/pnp/pnpe/UntyAtchFile/downloadFile.do?bidPbancNo=R26BK01705928&amp;bidPbancOrd=001&amp;fileSeq=4&amp;fileType=&amp;prcmBsneSeCd=03"</a:t>
            </a:r>
          </a:p>
          <a:p xmlns:a="http://schemas.openxmlformats.org/drawingml/2006/main">
            <a:r>
              <a:t>    ],</a:t>
            </a:r>
          </a:p>
          <a:p xmlns:a="http://schemas.openxmlformats.org/drawingml/2006/main">
            <a:r>
              <a:t>    "basis": "SER-001~004, FUR-001~006, ASR·DAR / Word T098",</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"업무 분류 정확도 / 근거 적합률 / 도메인 추가 구축 공수",</a:t>
            </a:r>
          </a:p>
          <a:p xmlns:a="http://schemas.openxmlformats.org/drawingml/2006/main">
            <a:r>
              <a:t>    "group": "요구·구축",</a:t>
            </a:r>
          </a:p>
          <a:p xmlns:a="http://schemas.openxmlformats.org/drawingml/2006/main">
            <a:r>
              <a:t>    "sourceDetail": "대화형/전용화면, 에이전트·ERP·권한·문서/정형 데이터 연계, 도메인별 RAG/보고서",</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"PF-R09",</a:t>
            </a:r>
          </a:p>
          <a:p xmlns:a="http://schemas.openxmlformats.org/drawingml/2006/main">
            <a:r>
              <a:t>    "canonicalId": "PF-R09",</a:t>
            </a:r>
          </a:p>
          <a:p xmlns:a="http://schemas.openxmlformats.org/drawingml/2006/main">
            <a:r>
              <a:t>    "purpose": "공통 플랫폼 위의 6개 업무 특화 AI",</a:t>
            </a:r>
          </a:p>
          <a:p xmlns:a="http://schemas.openxmlformats.org/drawingml/2006/main">
            <a:r>
              <a:t>    "users": "인사·안전·개발·비축·시장 담당",</a:t>
            </a:r>
          </a:p>
          <a:p xmlns:a="http://schemas.openxmlformats.org/drawingml/2006/main">
            <a:r>
              <a:t>    "scope": [</a:t>
            </a:r>
          </a:p>
          <a:p xmlns:a="http://schemas.openxmlformats.org/drawingml/2006/main">
            <a:r>
              <a:t>      "공통 챗봇",</a:t>
            </a:r>
          </a:p>
          <a:p xmlns:a="http://schemas.openxmlformats.org/drawingml/2006/main">
            <a:r>
              <a:t>      "6개 업무 앱",</a:t>
            </a:r>
          </a:p>
          <a:p xmlns:a="http://schemas.openxmlformats.org/drawingml/2006/main">
            <a:r>
              <a:t>      "ERP 연계"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업무 앱",</a:t>
            </a:r>
          </a:p>
          <a:p xmlns:a="http://schemas.openxmlformats.org/drawingml/2006/main">
            <a:r>
              <a:t>        "detail": "사번·소속·직급·업무분장 기반 접근 판정",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챗봇 / 6개 업무 앱 / ERP 연계",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"도메인 RAG",</a:t>
            </a:r>
          </a:p>
          <a:p xmlns:a="http://schemas.openxmlformats.org/drawingml/2006/main">
            <a:r>
              <a:t>        "detail": "도메인 RAG·정형 조회·보고서 생성 라우팅",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"업무·ERP 담당",</a:t>
            </a:r>
          </a:p>
          <a:p xmlns:a="http://schemas.openxmlformats.org/drawingml/2006/main">
            <a:r>
              <a:t>        "detail": "원천 링크·업무 결과를 현업에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"인사·안전·설비 지식",</a:t>
            </a:r>
          </a:p>
          <a:p xmlns:a="http://schemas.openxmlformats.org/drawingml/2006/main">
            <a:r>
              <a:t>        "detail": "시추 일보·지질·설비·규정의 도메인별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"권한 변경 이력·도메인 평가·업무별 운영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"인사·안전 등 지식",</a:t>
            </a:r>
          </a:p>
          <a:p xmlns:a="http://schemas.openxmlformats.org/drawingml/2006/main">
            <a:r>
              <a:t>        "input": "사번·소속·직급·업무분장 기반 접근 판정",</a:t>
            </a:r>
          </a:p>
          <a:p xmlns:a="http://schemas.openxmlformats.org/drawingml/2006/main">
            <a:r>
              <a:t>        "process": "시추 일보·지질·설비·규정의 도메인별 색인",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"도메인 RAG",</a:t>
            </a:r>
          </a:p>
          <a:p xmlns:a="http://schemas.openxmlformats.org/drawingml/2006/main">
            <a:r>
              <a:t>        "input": "업무 목적",</a:t>
            </a:r>
          </a:p>
          <a:p xmlns:a="http://schemas.openxmlformats.org/drawingml/2006/main">
            <a:r>
              <a:t>        "process": "도메인 RAG·정형 조회·보고서 생성 라우팅",</a:t>
            </a:r>
          </a:p>
          <a:p xmlns:a="http://schemas.openxmlformats.org/drawingml/2006/main">
            <a:r>
              <a:t>        "output": "도메인 근거"</a:t>
            </a:r>
          </a:p>
          <a:p xmlns:a="http://schemas.openxmlformats.org/drawingml/2006/main">
            <a:r>
              <a:t>      },</a:t>
            </a:r>
          </a:p>
          <a:p xmlns:a="http://schemas.openxmlformats.org/drawingml/2006/main">
            <a:r>
              <a:t>      {</a:t>
            </a:r>
          </a:p>
          <a:p xmlns:a="http://schemas.openxmlformats.org/drawingml/2006/main">
            <a:r>
              <a:t>        "title": "업무 앱·ERP",</a:t>
            </a:r>
          </a:p>
          <a:p xmlns:a="http://schemas.openxmlformats.org/drawingml/2006/main">
            <a:r>
              <a:t>        "input": "도메인 근거",</a:t>
            </a:r>
          </a:p>
          <a:p xmlns:a="http://schemas.openxmlformats.org/drawingml/2006/main">
            <a:r>
              <a:t>        "process": "도메인 경계·현업 승인·결과 대사",</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"title": "권한·성과 관리",</a:t>
            </a:r>
          </a:p>
          <a:p xmlns:a="http://schemas.openxmlformats.org/drawingml/2006/main">
            <a:r>
              <a:t>        "input": "검토 초안",</a:t>
            </a:r>
          </a:p>
          <a:p xmlns:a="http://schemas.openxmlformats.org/drawingml/2006/main">
            <a:r>
              <a:t>        "process":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"직원의 업무 목적을 6개 도메인 중 해당 앱으로 연결",</a:t>
            </a:r>
          </a:p>
          <a:p xmlns:a="http://schemas.openxmlformats.org/drawingml/2006/main">
            <a:r>
              <a:t>      "exception": "직급·근속 변경·다른 도메인 자료·시추 원문 누락",</a:t>
            </a:r>
          </a:p>
          <a:p xmlns:a="http://schemas.openxmlformats.org/drawingml/2006/main">
            <a:r>
              <a:t>      "evidence": "업무별 라우팅·접근 결과와 원천 인용·변경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"인사·안전·개발·비축·시장 담당",</a:t>
            </a:r>
          </a:p>
          <a:p xmlns:a="http://schemas.openxmlformats.org/drawingml/2006/main">
            <a:r>
              <a:t>          "processing": "사번·소속·직급·업무분장 기반 접근 판정",</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"인사·안전·설비 지식",</a:t>
            </a:r>
          </a:p>
          <a:p xmlns:a="http://schemas.openxmlformats.org/drawingml/2006/main">
            <a:r>
              <a:t>          "processing": "시추 일보·지질·설비·규정의 도메인별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"도메인 RAG·정형 조회·보고서 생성 라우팅",</a:t>
            </a:r>
          </a:p>
          <a:p xmlns:a="http://schemas.openxmlformats.org/drawingml/2006/main">
            <a:r>
              <a:t>          "output": "검토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초안",</a:t>
            </a:r>
          </a:p>
          <a:p xmlns:a="http://schemas.openxmlformats.org/drawingml/2006/main">
            <a:r>
              <a:t>          "processing": "원천 링크·업무 결과를 현업에 제공",</a:t>
            </a:r>
          </a:p>
          <a:p xmlns:a="http://schemas.openxmlformats.org/drawingml/2006/main">
            <a:r>
              <a:t>          "output": "공식 업무 처리"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"권한 변경 이력·도메인 평가·업무별 운영 관리",</a:t>
            </a:r>
          </a:p>
          <a:p xmlns:a="http://schemas.openxmlformats.org/drawingml/2006/main">
            <a:r>
              <a:t>          "output": "업무별 라우팅·접근 결과와 원천 인용·변경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"권한 변경 이력·도메인 평가·업무별 운영 관리",</a:t>
            </a:r>
          </a:p>
          <a:p xmlns:a="http://schemas.openxmlformats.org/drawingml/2006/main">
            <a:r>
              <a:t>    "status": "RFP 기반 논리 설계",</a:t>
            </a:r>
          </a:p>
          <a:p xmlns:a="http://schemas.openxmlformats.org/drawingml/2006/main">
            <a:r>
              <a:t>    "basis": "RFP 2026.09 · SER-001~004·FUR-001~006",</a:t>
            </a:r>
          </a:p>
          <a:p xmlns:a="http://schemas.openxmlformats.org/drawingml/2006/main">
            <a:r>
              <a:t>    "rfp": true,</a:t>
            </a:r>
          </a:p>
          <a:p xmlns:a="http://schemas.openxmlformats.org/drawingml/2006/main">
            <a:r>
              <a:t>    "sources": [</a:t>
            </a:r>
          </a:p>
          <a:p xmlns:a="http://schemas.openxmlformats.org/drawingml/2006/main">
            <a:r>
              <a:t>      {</a:t>
            </a:r>
          </a:p>
          <a:p xmlns:a="http://schemas.openxmlformats.org/drawingml/2006/main">
            <a:r>
              <a:t>        "title": "SER-001~004, FUR-001~006, ASR·DAR / Word T098",</a:t>
            </a:r>
          </a:p>
          <a:p xmlns:a="http://schemas.openxmlformats.org/drawingml/2006/main">
            <a:r>
              <a:t>        "url": "https://www.g2b.go.kr/pn/pnp/pnpe/UntyAtchFile/downloadFile.do?bidPbancNo=R26BK01705928&amp;bidPbancOrd=001&amp;fileSeq=4&amp;fileType=&amp;prcmBsneSeCd=03"</a:t>
            </a:r>
          </a:p>
          <a:p xmlns:a="http://schemas.openxmlformats.org/drawingml/2006/main">
            <a:r>
              <a:t>      }</a:t>
            </a:r>
          </a:p>
          <a:p xmlns:a="http://schemas.openxmlformats.org/drawingml/2006/main">
            <a:r>
              <a:t>    ],</a:t>
            </a:r>
          </a:p>
          <a:p xmlns:a="http://schemas.openxmlformats.org/drawingml/2006/main">
            <a:r>
              <a:t>    "implication": "공통 사용자·권한 기반 위에 업무 도메인별 지식과 실행 경로 구성",</a:t>
            </a:r>
          </a:p>
          <a:p xmlns:a="http://schemas.openxmlformats.org/drawingml/2006/main">
            <a:r>
              <a:t>    "local": "공통 사용자·권한 기반 위에 업무 도메인별 지식과 실행 경로 구성",</a:t>
            </a:r>
          </a:p>
          <a:p xmlns:a="http://schemas.openxmlformats.org/drawingml/2006/main">
            <a:r>
              <a:t>    "sourceDetail": "대화형/전용화면, 에이전트·ERP·권한·문서/정형 데이터 연계, 도메인별 RAG/보고서",</a:t>
            </a:r>
          </a:p>
          <a:p xmlns:a="http://schemas.openxmlformats.org/drawingml/2006/main">
            <a:r>
              <a:t>    "narrative": [</a:t>
            </a:r>
          </a:p>
          <a:p xmlns:a="http://schemas.openxmlformats.org/drawingml/2006/main">
            <a:r>
              <a:t>      "공통 AI 대화·전용 업무 화면 위에 인사복지, 안전관리, 시추, 지질, 비축설비, 석유시장 보고서의 6개 업무를 구성하는 사업. 전사 공통 기반과 도메인별 지식·산출물의 경계를 비교하기 적합한 사례.",</a:t>
            </a:r>
          </a:p>
          <a:p xmlns:a="http://schemas.openxmlformats.org/drawingml/2006/main">
            <a:r>
              <a:t>      "SER 요구는 공통 접점·업무 범위·권한과 응용 서비스를 정의하고, FUR-001~006은 업무별 자료와 출력 기능을 분리. 직원 사번·소속·직급·업무분장, 문서 접근조건, 정형 데이터·ERP 연계를 각 업무 처리의 문맥으로 사용하는 구조.",</a:t>
            </a:r>
          </a:p>
          <a:p xmlns:a="http://schemas.openxmlformats.org/drawingml/2006/main">
            <a:r>
              <a:t>      "TS의 1차 조직·권한·업무 분류 기반을 만든 뒤 부서별 특화 서비스를 붙이는 순서에 활용할 대상. 공통 챗봇 설치와 6개 업무의 인수 완료를 같은 실적으로 보지 않고, 업무별 데이터 원천·전문가 정답셋·실행 승인·결과 대사를 따로 관리할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"SER-001",</a:t>
            </a:r>
          </a:p>
          <a:p xmlns:a="http://schemas.openxmlformats.org/drawingml/2006/main">
            <a:r>
              <a:t>        "title": "AI 대화형 서비스",</a:t>
            </a:r>
          </a:p>
          <a:p xmlns:a="http://schemas.openxmlformats.org/drawingml/2006/main">
            <a:r>
              <a:t>        "locator": "SER-001",</a:t>
            </a:r>
          </a:p>
          <a:p xmlns:a="http://schemas.openxmlformats.org/drawingml/2006/main">
            <a:r>
              <a:t>        "summary": "공통 AI 대화형 서비스 제공.",</a:t>
            </a:r>
          </a:p>
          <a:p xmlns:a="http://schemas.openxmlformats.org/drawingml/2006/main">
            <a:r>
              <a:t>        "data": "직원 질의·자료 → 대화 응답·근거",</a:t>
            </a:r>
          </a:p>
          <a:p xmlns:a="http://schemas.openxmlformats.org/drawingml/2006/main">
            <a:r>
              <a:t>        "components": [</a:t>
            </a:r>
          </a:p>
          <a:p xmlns:a="http://schemas.openxmlformats.org/drawingml/2006/main">
            <a:r>
              <a:t>          "C01",</a:t>
            </a:r>
          </a:p>
          <a:p xmlns:a="http://schemas.openxmlformats.org/drawingml/2006/main">
            <a:r>
              <a:t>          "C03",</a:t>
            </a:r>
          </a:p>
          <a:p xmlns:a="http://schemas.openxmlformats.org/drawingml/2006/main">
            <a:r>
              <a:t>          "C04"</a:t>
            </a:r>
          </a:p>
          <a:p xmlns:a="http://schemas.openxmlformats.org/drawingml/2006/main">
            <a:r>
              <a:t>        ],</a:t>
            </a:r>
          </a:p>
          <a:p xmlns:a="http://schemas.openxmlformats.org/drawingml/2006/main">
            <a:r>
              <a:t>        "acceptance": "문맥 유지·출처 확인·입력 범위·오류 안내의 대화 시나리오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"5c1be9c8c0ac6ecdc4d18ef05c6b02a80c9f5f082231b33b335733de34a142e2"</a:t>
            </a:r>
          </a:p>
          <a:p xmlns:a="http://schemas.openxmlformats.org/drawingml/2006/main">
            <a:r>
              <a:t>      },</a:t>
            </a:r>
          </a:p>
          <a:p xmlns:a="http://schemas.openxmlformats.org/drawingml/2006/main">
            <a:r>
              <a:t>      {</a:t>
            </a:r>
          </a:p>
          <a:p xmlns:a="http://schemas.openxmlformats.org/drawingml/2006/main">
            <a:r>
              <a:t>        "id": "SER-002",</a:t>
            </a:r>
          </a:p>
          <a:p xmlns:a="http://schemas.openxmlformats.org/drawingml/2006/main">
            <a:r>
              <a:t>        "title": "업무 특화 화면 서비스",</a:t>
            </a:r>
          </a:p>
          <a:p xmlns:a="http://schemas.openxmlformats.org/drawingml/2006/main">
            <a:r>
              <a:t>        "locator": "SER-002",</a:t>
            </a:r>
          </a:p>
          <a:p xmlns:a="http://schemas.openxmlformats.org/drawingml/2006/main">
            <a:r>
              <a:t>        "summary": "업무 특화 화면에서 필요한 입력과 결과를 제공.",</a:t>
            </a:r>
          </a:p>
          <a:p xmlns:a="http://schemas.openxmlformats.org/drawingml/2006/main">
            <a:r>
              <a:t>        "data": "업무 종류·필수 입력 → 특화 결과 화면",</a:t>
            </a:r>
          </a:p>
          <a:p xmlns:a="http://schemas.openxmlformats.org/drawingml/2006/main">
            <a:r>
              <a:t>        "components": [</a:t>
            </a:r>
          </a:p>
          <a:p xmlns:a="http://schemas.openxmlformats.org/drawingml/2006/main">
            <a:r>
              <a:t>          "C01",</a:t>
            </a:r>
          </a:p>
          <a:p xmlns:a="http://schemas.openxmlformats.org/drawingml/2006/main">
            <a:r>
              <a:t>          "C02",</a:t>
            </a:r>
          </a:p>
          <a:p xmlns:a="http://schemas.openxmlformats.org/drawingml/2006/main">
            <a:r>
              <a:t>          "C06"</a:t>
            </a:r>
          </a:p>
          <a:p xmlns:a="http://schemas.openxmlformats.org/drawingml/2006/main">
            <a:r>
              <a:t>        ],</a:t>
            </a:r>
          </a:p>
          <a:p xmlns:a="http://schemas.openxmlformats.org/drawingml/2006/main">
            <a:r>
              <a:t>        "acceptance": "업무별 필수 항목 누락·정정·결과 편집의 화면 동작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"4712f1694c7a46f76189d352fd3d252e83e6f128c095acdb1bfaf30e6453b7ea"</a:t>
            </a:r>
          </a:p>
          <a:p xmlns:a="http://schemas.openxmlformats.org/drawingml/2006/main">
            <a:r>
              <a:t>      },</a:t>
            </a:r>
          </a:p>
          <a:p xmlns:a="http://schemas.openxmlformats.org/drawingml/2006/main">
            <a:r>
              <a:t>      {</a:t>
            </a:r>
          </a:p>
          <a:p xmlns:a="http://schemas.openxmlformats.org/drawingml/2006/main">
            <a:r>
              <a:t>        "id": "SER-003",</a:t>
            </a:r>
          </a:p>
          <a:p xmlns:a="http://schemas.openxmlformats.org/drawingml/2006/main">
            <a:r>
              <a:t>        "title": "AI 응용 서비스 대상 업무",</a:t>
            </a:r>
          </a:p>
          <a:p xmlns:a="http://schemas.openxmlformats.org/drawingml/2006/main">
            <a:r>
              <a:t>        "locator": "SER-003",</a:t>
            </a:r>
          </a:p>
          <a:p xmlns:a="http://schemas.openxmlformats.org/drawingml/2006/main">
            <a:r>
              <a:t>        "summary": "AI 응용서비스 대상 업무의 범위 구성.",</a:t>
            </a:r>
          </a:p>
          <a:p xmlns:a="http://schemas.openxmlformats.org/drawingml/2006/main">
            <a:r>
              <a:t>        "data": "업무 요청·영역 → 해당 응용서비스",</a:t>
            </a:r>
          </a:p>
          <a:p xmlns:a="http://schemas.openxmlformats.org/drawingml/2006/main">
            <a:r>
              <a:t>        "components": [</a:t>
            </a:r>
          </a:p>
          <a:p xmlns:a="http://schemas.openxmlformats.org/drawingml/2006/main">
            <a:r>
              <a:t>          "C02",</a:t>
            </a:r>
          </a:p>
          <a:p xmlns:a="http://schemas.openxmlformats.org/drawingml/2006/main">
            <a:r>
              <a:t>          "C04"</a:t>
            </a:r>
          </a:p>
          <a:p xmlns:a="http://schemas.openxmlformats.org/drawingml/2006/main">
            <a:r>
              <a:t>        ],</a:t>
            </a:r>
          </a:p>
          <a:p xmlns:a="http://schemas.openxmlformats.org/drawingml/2006/main">
            <a:r>
              <a:t>        "acceptance": "인사·안전·시추·지질·설비·시장 업무의 잘못된 라우팅과 복합 요청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"f63574c927275ee8519741567d3f145890d5ed0b96c61b09e00920044886df77"</a:t>
            </a:r>
          </a:p>
          <a:p xmlns:a="http://schemas.openxmlformats.org/drawingml/2006/main">
            <a:r>
              <a:t>      },</a:t>
            </a:r>
          </a:p>
          <a:p xmlns:a="http://schemas.openxmlformats.org/drawingml/2006/main">
            <a:r>
              <a:t>      {</a:t>
            </a:r>
          </a:p>
          <a:p xmlns:a="http://schemas.openxmlformats.org/drawingml/2006/main">
            <a:r>
              <a:t>        "id": "SER-004",</a:t>
            </a:r>
          </a:p>
          <a:p xmlns:a="http://schemas.openxmlformats.org/drawingml/2006/main">
            <a:r>
              <a:t>        "title": "응용 서비스 공통",</a:t>
            </a:r>
          </a:p>
          <a:p xmlns:a="http://schemas.openxmlformats.org/drawingml/2006/main">
            <a:r>
              <a:t>        "locator": "SER-004",</a:t>
            </a:r>
          </a:p>
          <a:p xmlns:a="http://schemas.openxmlformats.org/drawingml/2006/main">
            <a:r>
              <a:t>        "summary": "업무 응용서비스에 공통 적용할 기능과 운영 기준 구성.",</a:t>
            </a:r>
          </a:p>
          <a:p xmlns:a="http://schemas.openxmlformats.org/drawingml/2006/main">
            <a:r>
              <a:t>        "data": "서비스 설정·권한·이용 기록 → 공통 통제·운영 결과",</a:t>
            </a:r>
          </a:p>
          <a:p xmlns:a="http://schemas.openxmlformats.org/drawingml/2006/main">
            <a:r>
              <a:t>        "components": [</a:t>
            </a:r>
          </a:p>
          <a:p xmlns:a="http://schemas.openxmlformats.org/drawingml/2006/main">
            <a:r>
              <a:t>          "C05",</a:t>
            </a:r>
          </a:p>
          <a:p xmlns:a="http://schemas.openxmlformats.org/drawingml/2006/main">
            <a:r>
              <a:t>          "C08",</a:t>
            </a:r>
          </a:p>
          <a:p xmlns:a="http://schemas.openxmlformats.org/drawingml/2006/main">
            <a:r>
              <a:t>          "C12"</a:t>
            </a:r>
          </a:p>
          <a:p xmlns:a="http://schemas.openxmlformats.org/drawingml/2006/main">
            <a:r>
              <a:t>        ],</a:t>
            </a:r>
          </a:p>
          <a:p xmlns:a="http://schemas.openxmlformats.org/drawingml/2006/main">
            <a:r>
              <a:t>        "acceptance": "개별 서비스 추가 시 공통 인증·통제·운영 기록 적용의 누락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"581ef5bd7d42a38fff5a1fa79a158712f59c915a988ed9e2f16244c505dd2ce9"</a:t>
            </a:r>
          </a:p>
          <a:p xmlns:a="http://schemas.openxmlformats.org/drawingml/2006/main">
            <a:r>
              <a:t>      },</a:t>
            </a:r>
          </a:p>
          <a:p xmlns:a="http://schemas.openxmlformats.org/drawingml/2006/main">
            <a:r>
              <a:t>      {</a:t>
            </a:r>
          </a:p>
          <a:p xmlns:a="http://schemas.openxmlformats.org/drawingml/2006/main">
            <a:r>
              <a:t>        "id": "FUR-001",</a:t>
            </a:r>
          </a:p>
          <a:p xmlns:a="http://schemas.openxmlformats.org/drawingml/2006/main">
            <a:r>
              <a:t>        "title": "[일반행정] 인사·복지 AI 서비스",</a:t>
            </a:r>
          </a:p>
          <a:p xmlns:a="http://schemas.openxmlformats.org/drawingml/2006/main">
            <a:r>
              <a:t>        "locator": "FUR-001",</a:t>
            </a:r>
          </a:p>
          <a:p xmlns:a="http://schemas.openxmlformats.org/drawingml/2006/main">
            <a:r>
              <a:t>        "summary": "인사·복지 규정과 업무 지식을 활용한 직원 지원.",</a:t>
            </a:r>
          </a:p>
          <a:p xmlns:a="http://schemas.openxmlformats.org/drawingml/2006/main">
            <a:r>
              <a:t>        "data": "직원 문맥·인사복지 질의 → 적용 규정·안내",</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"C06"</a:t>
            </a:r>
          </a:p>
          <a:p xmlns:a="http://schemas.openxmlformats.org/drawingml/2006/main">
            <a:r>
              <a:t>        ],</a:t>
            </a:r>
          </a:p>
          <a:p xmlns:a="http://schemas.openxmlformats.org/drawingml/2006/main">
            <a:r>
              <a:t>        "acceptance": "근무 조건·시행일·예외 조항이 다른 질문의 근거 선택 비교",</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"5cd185d2ca6f76c5606a274957c4915b34daac231353f6ab491b45ffb4fc8014"</a:t>
            </a:r>
          </a:p>
          <a:p xmlns:a="http://schemas.openxmlformats.org/drawingml/2006/main">
            <a:r>
              <a:t>      },</a:t>
            </a:r>
          </a:p>
          <a:p xmlns:a="http://schemas.openxmlformats.org/drawingml/2006/main">
            <a:r>
              <a:t>      {</a:t>
            </a:r>
          </a:p>
          <a:p xmlns:a="http://schemas.openxmlformats.org/drawingml/2006/main">
            <a:r>
              <a:t>        "id": "FUR-002",</a:t>
            </a:r>
          </a:p>
          <a:p xmlns:a="http://schemas.openxmlformats.org/drawingml/2006/main">
            <a:r>
              <a:t>        "title": "[안전관리] 안전관리 AI 서비스",</a:t>
            </a:r>
          </a:p>
          <a:p xmlns:a="http://schemas.openxmlformats.org/drawingml/2006/main">
            <a:r>
              <a:t>        "locator": "FUR-002",</a:t>
            </a:r>
          </a:p>
          <a:p xmlns:a="http://schemas.openxmlformats.org/drawingml/2006/main">
            <a:r>
              <a:t>        "summary": "안전 분야 자료를 활용한 업무 지원.",</a:t>
            </a:r>
          </a:p>
          <a:p xmlns:a="http://schemas.openxmlformats.org/drawingml/2006/main">
            <a:r>
              <a:t>        "data": "안전 업무 질의·자료 → 근거·검토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"C05"</a:t>
            </a:r>
          </a:p>
          <a:p xmlns:a="http://schemas.openxmlformats.org/drawingml/2006/main">
            <a:r>
              <a:t>        ],</a:t>
            </a:r>
          </a:p>
          <a:p xmlns:a="http://schemas.openxmlformats.org/drawingml/2006/main">
            <a:r>
              <a:t>        "acceptance": "현장 조건과 적용 기준의 불일치·필수 조치 누락을 포함한 검토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"ae5ca92e3dbf8291576889d17428fe931c780d6262138c9eaa06e5f28fc0d3e6"</a:t>
            </a:r>
          </a:p>
          <a:p xmlns:a="http://schemas.openxmlformats.org/drawingml/2006/main">
            <a:r>
              <a:t>      },</a:t>
            </a:r>
          </a:p>
          <a:p xmlns:a="http://schemas.openxmlformats.org/drawingml/2006/main">
            <a:r>
              <a:t>      {</a:t>
            </a:r>
          </a:p>
          <a:p xmlns:a="http://schemas.openxmlformats.org/drawingml/2006/main">
            <a:r>
              <a:t>        "id": "FUR-003",</a:t>
            </a:r>
          </a:p>
          <a:p xmlns:a="http://schemas.openxmlformats.org/drawingml/2006/main">
            <a:r>
              <a:t>        "title": "[석유개발] 석유 시추 정보 AI 서비스",</a:t>
            </a:r>
          </a:p>
          <a:p xmlns:a="http://schemas.openxmlformats.org/drawingml/2006/main">
            <a:r>
              <a:t>        "locator": "FUR-003",</a:t>
            </a:r>
          </a:p>
          <a:p xmlns:a="http://schemas.openxmlformats.org/drawingml/2006/main">
            <a:r>
              <a:t>        "summary": "시추 분야 자료와 전문 지식의 업무 활용.",</a:t>
            </a:r>
          </a:p>
          <a:p xmlns:a="http://schemas.openxmlformats.org/drawingml/2006/main">
            <a:r>
              <a:t>        "data": "시추 질의·기술자료 → 근거·분석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"전문 용어·설비 조건·단위 오류와 출처 없는 추론의 구분 평가",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"9acd9aea17e5f3417a6f8f17f19191240f88fedb58e28130587c9b97c113c023"</a:t>
            </a:r>
          </a:p>
          <a:p xmlns:a="http://schemas.openxmlformats.org/drawingml/2006/main">
            <a:r>
              <a:t>      },</a:t>
            </a:r>
          </a:p>
          <a:p xmlns:a="http://schemas.openxmlformats.org/drawingml/2006/main">
            <a:r>
              <a:t>      {</a:t>
            </a:r>
          </a:p>
          <a:p xmlns:a="http://schemas.openxmlformats.org/drawingml/2006/main">
            <a:r>
              <a:t>        "id": "FUR-004",</a:t>
            </a:r>
          </a:p>
          <a:p xmlns:a="http://schemas.openxmlformats.org/drawingml/2006/main">
            <a:r>
              <a:t>        "title": "[석유개발] 석유 지질 정보 AI 서비스",</a:t>
            </a:r>
          </a:p>
          <a:p xmlns:a="http://schemas.openxmlformats.org/drawingml/2006/main">
            <a:r>
              <a:t>        "locator": "FUR-004",</a:t>
            </a:r>
          </a:p>
          <a:p xmlns:a="http://schemas.openxmlformats.org/drawingml/2006/main">
            <a:r>
              <a:t>        "summary": "지질 자료와 분석 업무의 AI 지원.",</a:t>
            </a:r>
          </a:p>
          <a:p xmlns:a="http://schemas.openxmlformats.org/drawingml/2006/main">
            <a:r>
              <a:t>        "data": "지질 질의·연구 자료 → 탐색·분석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"서로 다른 지역·시기 자료의 혼용과 전문 수치·그림 근거 연결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"0c138c01d2c00b386c64812738ceda4a9d3dfa79e5c1ec90b1d8ca4f758908d5"</a:t>
            </a:r>
          </a:p>
          <a:p xmlns:a="http://schemas.openxmlformats.org/drawingml/2006/main">
            <a:r>
              <a:t>      },</a:t>
            </a:r>
          </a:p>
          <a:p xmlns:a="http://schemas.openxmlformats.org/drawingml/2006/main">
            <a:r>
              <a:t>      {</a:t>
            </a:r>
          </a:p>
          <a:p xmlns:a="http://schemas.openxmlformats.org/drawingml/2006/main">
            <a:r>
              <a:t>        "id": "FUR-005",</a:t>
            </a:r>
          </a:p>
          <a:p xmlns:a="http://schemas.openxmlformats.org/drawingml/2006/main">
            <a:r>
              <a:t>        "title": "[석유비축] 비축설비 정비·운영 AI 서비스",</a:t>
            </a:r>
          </a:p>
          <a:p xmlns:a="http://schemas.openxmlformats.org/drawingml/2006/main">
            <a:r>
              <a:t>        "locator": "FUR-005",</a:t>
            </a:r>
          </a:p>
          <a:p xmlns:a="http://schemas.openxmlformats.org/drawingml/2006/main">
            <a:r>
              <a:t>        "summary": "비축설비 관련 자료의 검색·업무 지원.",</a:t>
            </a:r>
          </a:p>
          <a:p xmlns:a="http://schemas.openxmlformats.org/drawingml/2006/main">
            <a:r>
              <a:t>        "data": "설비 식별·정비 자료 → 관련 근거·지원 결과",</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"설비 번호·점검 시점·부품 조건이 다른 자료의 구분과 최신 이력 확인",</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"4d18cc59bfa5560530dcceb2188516ebb10c10fe8e05807a6f1c8d14188bdec8"</a:t>
            </a:r>
          </a:p>
          <a:p xmlns:a="http://schemas.openxmlformats.org/drawingml/2006/main">
            <a:r>
              <a:t>      },</a:t>
            </a:r>
          </a:p>
          <a:p xmlns:a="http://schemas.openxmlformats.org/drawingml/2006/main">
            <a:r>
              <a:t>      {</a:t>
            </a:r>
          </a:p>
          <a:p xmlns:a="http://schemas.openxmlformats.org/drawingml/2006/main">
            <a:r>
              <a:t>        "id": "FUR-006",</a:t>
            </a:r>
          </a:p>
          <a:p xmlns:a="http://schemas.openxmlformats.org/drawingml/2006/main">
            <a:r>
              <a:t>        "title": "[석유정보] 석유시장 보고서 작성 AI 서비스",</a:t>
            </a:r>
          </a:p>
          <a:p xmlns:a="http://schemas.openxmlformats.org/drawingml/2006/main">
            <a:r>
              <a:t>        "locator": "FUR-006",</a:t>
            </a:r>
          </a:p>
          <a:p xmlns:a="http://schemas.openxmlformats.org/drawingml/2006/main">
            <a:r>
              <a:t>        "summary": "시장 자료를 활용한 보고서 작성 지원.",</a:t>
            </a:r>
          </a:p>
          <a:p xmlns:a="http://schemas.openxmlformats.org/drawingml/2006/main">
            <a:r>
              <a:t>        "data": "시장 자료·기준일 → 근거가 연결된 보고 초안",</a:t>
            </a:r>
          </a:p>
          <a:p xmlns:a="http://schemas.openxmlformats.org/drawingml/2006/main">
            <a:r>
              <a:t>        "components": [</a:t>
            </a:r>
          </a:p>
          <a:p xmlns:a="http://schemas.openxmlformats.org/drawingml/2006/main">
            <a:r>
              <a:t>          "C03",</a:t>
            </a:r>
          </a:p>
          <a:p xmlns:a="http://schemas.openxmlformats.org/drawingml/2006/main">
            <a:r>
              <a:t>          "C04",</a:t>
            </a:r>
          </a:p>
          <a:p xmlns:a="http://schemas.openxmlformats.org/drawingml/2006/main">
            <a:r>
              <a:t>          "C06"</a:t>
            </a:r>
          </a:p>
          <a:p xmlns:a="http://schemas.openxmlformats.org/drawingml/2006/main">
            <a:r>
              <a:t>        ],</a:t>
            </a:r>
          </a:p>
          <a:p xmlns:a="http://schemas.openxmlformats.org/drawingml/2006/main">
            <a:r>
              <a:t>        "acceptance": "기준일·통화·단위 혼용, 숫자 인용, 최신 자료 누락의 항목별 점검",</a:t>
            </a:r>
          </a:p>
          <a:p xmlns:a="http://schemas.openxmlformats.org/drawingml/2006/main">
            <a:r>
              <a:t>        "basis": "RFP 핵심 요구사항 요약",</a:t>
            </a:r>
          </a:p>
          <a:p xmlns:a="http://schemas.openxmlformats.org/drawingml/2006/main">
            <a:r>
              <a:t>        "testBasis": "CCK 비교·검수 설계",</a:t>
            </a:r>
          </a:p>
          <a:p xmlns:a="http://schemas.openxmlformats.org/drawingml/2006/main">
            <a:r>
              <a:t>        "excerptHash": "1a1e671fc8f1cfe4dc05c83144eb257e226afeea8a0f7096652aeec596b82a80"</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"직원·업무 앱",</a:t>
            </a:r>
          </a:p>
          <a:p xmlns:a="http://schemas.openxmlformats.org/drawingml/2006/main">
            <a:r>
              <a:t>          "layer": "이용 접점",</a:t>
            </a:r>
          </a:p>
          <a:p xmlns:a="http://schemas.openxmlformats.org/drawingml/2006/main">
            <a:r>
              <a:t>          "detail": "인사·안전·개발·비축·시장 담당",</a:t>
            </a:r>
          </a:p>
          <a:p xmlns:a="http://schemas.openxmlformats.org/drawingml/2006/main">
            <a:r>
              <a:t>          "requirements": [</a:t>
            </a:r>
          </a:p>
          <a:p xmlns:a="http://schemas.openxmlformats.org/drawingml/2006/main">
            <a:r>
              <a:t>            "SER-001",</a:t>
            </a:r>
          </a:p>
          <a:p xmlns:a="http://schemas.openxmlformats.org/drawingml/2006/main">
            <a:r>
              <a:t>            "SER-002"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"사번·소속·업무",</a:t>
            </a:r>
          </a:p>
          <a:p xmlns:a="http://schemas.openxmlformats.org/drawingml/2006/main">
            <a:r>
              <a:t>          "layer": "업무 문맥",</a:t>
            </a:r>
          </a:p>
          <a:p xmlns:a="http://schemas.openxmlformats.org/drawingml/2006/main">
            <a:r>
              <a:t>          "detail": "사번·소속·직급·업무분장 기반 접근 판정",</a:t>
            </a:r>
          </a:p>
          <a:p xmlns:a="http://schemas.openxmlformats.org/drawingml/2006/main">
            <a:r>
              <a:t>          "requirements": [</a:t>
            </a:r>
          </a:p>
          <a:p xmlns:a="http://schemas.openxmlformats.org/drawingml/2006/main">
            <a:r>
              <a:t>            "SER-002",</a:t>
            </a:r>
          </a:p>
          <a:p xmlns:a="http://schemas.openxmlformats.org/drawingml/2006/main">
            <a:r>
              <a:t>            "SER-003",</a:t>
            </a:r>
          </a:p>
          <a:p xmlns:a="http://schemas.openxmlformats.org/drawingml/2006/main">
            <a:r>
              <a:t>            "FUR-001"</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"도메인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"SER-001",</a:t>
            </a:r>
          </a:p>
          <a:p xmlns:a="http://schemas.openxmlformats.org/drawingml/2006/main">
            <a:r>
              <a:t>            "FUR-001",</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"6개 특화 AI 처리",</a:t>
            </a:r>
          </a:p>
          <a:p xmlns:a="http://schemas.openxmlformats.org/drawingml/2006/main">
            <a:r>
              <a:t>          "layer": "핵심 처리",</a:t>
            </a:r>
          </a:p>
          <a:p xmlns:a="http://schemas.openxmlformats.org/drawingml/2006/main">
            <a:r>
              <a:t>          "detail": "도메인 RAG·정형 조회·보고서 생성 라우팅",</a:t>
            </a:r>
          </a:p>
          <a:p xmlns:a="http://schemas.openxmlformats.org/drawingml/2006/main">
            <a:r>
              <a:t>          "requirements": [</a:t>
            </a:r>
          </a:p>
          <a:p xmlns:a="http://schemas.openxmlformats.org/drawingml/2006/main">
            <a:r>
              <a:t>            "SER-001",</a:t>
            </a:r>
          </a:p>
          <a:p xmlns:a="http://schemas.openxmlformats.org/drawingml/2006/main">
            <a:r>
              <a:t>            "SER-003",</a:t>
            </a:r>
          </a:p>
          <a:p xmlns:a="http://schemas.openxmlformats.org/drawingml/2006/main">
            <a:r>
              <a:t>            "FUR-002",</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"권한·근거 대조",</a:t>
            </a:r>
          </a:p>
          <a:p xmlns:a="http://schemas.openxmlformats.org/drawingml/2006/main">
            <a:r>
              <a:t>          "layer": "결과 검증",</a:t>
            </a:r>
          </a:p>
          <a:p xmlns:a="http://schemas.openxmlformats.org/drawingml/2006/main">
            <a:r>
              <a:t>          "detail": "도메인 경계·현업 승인·결과 대사",</a:t>
            </a:r>
          </a:p>
          <a:p xmlns:a="http://schemas.openxmlformats.org/drawingml/2006/main">
            <a:r>
              <a:t>          "requirements": [</a:t>
            </a:r>
          </a:p>
          <a:p xmlns:a="http://schemas.openxmlformats.org/drawingml/2006/main">
            <a:r>
              <a:t>            "SER-004",</a:t>
            </a:r>
          </a:p>
          <a:p xmlns:a="http://schemas.openxmlformats.org/drawingml/2006/main">
            <a:r>
              <a:t>            "FUR-002"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승인",</a:t>
            </a:r>
          </a:p>
          <a:p xmlns:a="http://schemas.openxmlformats.org/drawingml/2006/main">
            <a:r>
              <a:t>          "layer": "사람 확인",</a:t>
            </a:r>
          </a:p>
          <a:p xmlns:a="http://schemas.openxmlformats.org/drawingml/2006/main">
            <a:r>
              <a:t>          "detail": "직원의 업무 목적을 6개 도메인 중 해당 앱으로 연결",</a:t>
            </a:r>
          </a:p>
          <a:p xmlns:a="http://schemas.openxmlformats.org/drawingml/2006/main">
            <a:r>
              <a:t>          "requirements": [</a:t>
            </a:r>
          </a:p>
          <a:p xmlns:a="http://schemas.openxmlformats.org/drawingml/2006/main">
            <a:r>
              <a:t>            "SER-002",</a:t>
            </a:r>
          </a:p>
          <a:p xmlns:a="http://schemas.openxmlformats.org/drawingml/2006/main">
            <a:r>
              <a:t>            "FUR-001",</a:t>
            </a:r>
          </a:p>
          <a:p xmlns:a="http://schemas.openxmlformats.org/drawingml/2006/main">
            <a:r>
              <a:t>            "FUR-003",</a:t>
            </a:r>
          </a:p>
          <a:p xmlns:a="http://schemas.openxmlformats.org/drawingml/2006/main">
            <a:r>
              <a:t>            "FUR-004",</a:t>
            </a:r>
          </a:p>
          <a:p xmlns:a="http://schemas.openxmlformats.org/drawingml/2006/main">
            <a:r>
              <a:t>            "FUR-005",</a:t>
            </a:r>
          </a:p>
          <a:p xmlns:a="http://schemas.openxmlformats.org/drawingml/2006/main">
            <a:r>
              <a:t>            "FUR-006"</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"ERP·보고서 연계",</a:t>
            </a:r>
          </a:p>
          <a:p xmlns:a="http://schemas.openxmlformats.org/drawingml/2006/main">
            <a:r>
              <a:t>          "layer": "업무 연결",</a:t>
            </a:r>
          </a:p>
          <a:p xmlns:a="http://schemas.openxmlformats.org/drawingml/2006/main">
            <a:r>
              <a:t>          "detail": "원천 링크·업무 결과를 현업에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"도메인별 평가",</a:t>
            </a:r>
          </a:p>
          <a:p xmlns:a="http://schemas.openxmlformats.org/drawingml/2006/main">
            <a:r>
              <a:t>          "layer": "운영 관측",</a:t>
            </a:r>
          </a:p>
          <a:p xmlns:a="http://schemas.openxmlformats.org/drawingml/2006/main">
            <a:r>
              <a:t>          "detail": "권한 변경 이력·도메인 평가·업무별 운영 관리",</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"시추·설비·규정",</a:t>
            </a:r>
          </a:p>
          <a:p xmlns:a="http://schemas.openxmlformats.org/drawingml/2006/main">
            <a:r>
              <a:t>          "layer": "데이터 원천",</a:t>
            </a:r>
          </a:p>
          <a:p xmlns:a="http://schemas.openxmlformats.org/drawingml/2006/main">
            <a:r>
              <a:t>          "detail": "인사·안전·설비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"업무별 자료 정합화",</a:t>
            </a:r>
          </a:p>
          <a:p xmlns:a="http://schemas.openxmlformats.org/drawingml/2006/main">
            <a:r>
              <a:t>          "layer": "준비·갱신",</a:t>
            </a:r>
          </a:p>
          <a:p xmlns:a="http://schemas.openxmlformats.org/drawingml/2006/main">
            <a:r>
              <a:t>          "detail": "시추 일보·지질·설비·규정의 도메인별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"도메인 RAG 색인",</a:t>
            </a:r>
          </a:p>
          <a:p xmlns:a="http://schemas.openxmlformats.org/drawingml/2006/main">
            <a:r>
              <a:t>          "layer": "상태·지식 저장",</a:t>
            </a:r>
          </a:p>
          <a:p xmlns:a="http://schemas.openxmlformats.org/drawingml/2006/main">
            <a:r>
              <a:t>          "detail": "업무별 라우팅·접근 결과와 원천 인용·변경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"문서·ERP 권한",</a:t>
            </a:r>
          </a:p>
          <a:p xmlns:a="http://schemas.openxmlformats.org/drawingml/2006/main">
            <a:r>
              <a:t>          "layer": "권한·정책",</a:t>
            </a:r>
          </a:p>
          <a:p xmlns:a="http://schemas.openxmlformats.org/drawingml/2006/main">
            <a:r>
              <a:t>          "detail": "직급·근속 변경·다른 도메인 자료·시추 원문 누락",</a:t>
            </a:r>
          </a:p>
          <a:p xmlns:a="http://schemas.openxmlformats.org/drawingml/2006/main">
            <a:r>
              <a:t>          "requirements": [</a:t>
            </a:r>
          </a:p>
          <a:p xmlns:a="http://schemas.openxmlformats.org/drawingml/2006/main">
            <a:r>
              <a:t>            "SER-004"</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"인사·안전 등 지식 → 도메인 RAG → 업무 앱·ERP → 권한·성과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"사번·소속·직급·업무분장 기반 접근 판정",</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"문서·ERP 권한",</a:t>
            </a:r>
          </a:p>
          <a:p xmlns:a="http://schemas.openxmlformats.org/drawingml/2006/main">
            <a:r>
              <a:t>          "check": "도메인 경계·현업 승인·결과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"검토 초안",</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"검토 초안",</a:t>
            </a:r>
          </a:p>
          <a:p xmlns:a="http://schemas.openxmlformats.org/drawingml/2006/main">
            <a:r>
              <a:t>          "check": "직급·근속 변경·다른 도메인 자료·시추 원문 누락"</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"공식 업무 처리",</a:t>
            </a:r>
          </a:p>
          <a:p xmlns:a="http://schemas.openxmlformats.org/drawingml/2006/main">
            <a:r>
              <a:t>          "check": "업무별 라우팅·접근 결과와 원천 인용·변경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"SER-001~004·FUR-001~006",</a:t>
            </a:r>
          </a:p>
          <a:p xmlns:a="http://schemas.openxmlformats.org/drawingml/2006/main">
            <a:r>
              <a:t>        "extracted": "사번·소속·직급·업무분장, 문서별 권한, 6개 특화업무",</a:t>
            </a:r>
          </a:p>
          <a:p xmlns:a="http://schemas.openxmlformats.org/drawingml/2006/main">
            <a:r>
              <a:t>        "extension": "ERP 조회·실행 권한 분리 및 특화업무별 인수셋"</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"assets/casebook-reconstructions/PF-R09.png",</a:t>
            </a:r>
          </a:p>
          <a:p xmlns:a="http://schemas.openxmlformats.org/drawingml/2006/main">
            <a:r>
              <a:t>        "title": "석유공사 생성형 AI · 6개 업무 영역 재구성",</a:t>
            </a:r>
          </a:p>
          <a:p xmlns:a="http://schemas.openxmlformats.org/drawingml/2006/main">
            <a:r>
              <a:t>        "basis": "정정 RFP SER-001~004·FUR-001~006",</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"23cb5bd40e90220c6e266428f74d1ed719a884bce99a06dd57d9b2542fc377e7"</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"직급·근속 변경·다른 도메인 자료·시추 원문 누락",</a:t>
            </a:r>
          </a:p>
          <a:p xmlns:a="http://schemas.openxmlformats.org/drawingml/2006/main">
            <a:r>
              <a:t>        "hold": "도메인 경계·현업 승인·결과 대사",</a:t>
            </a:r>
          </a:p>
          <a:p xmlns:a="http://schemas.openxmlformats.org/drawingml/2006/main">
            <a:r>
              <a:t>        "recovery": "권한 변경 이력·도메인 평가·업무별 운영 관리",</a:t>
            </a:r>
          </a:p>
          <a:p xmlns:a="http://schemas.openxmlformats.org/drawingml/2006/main">
            <a:r>
              <a:t>        "evidence": "업무별 라우팅·접근 결과와 원천 인용·변경 이력"</a:t>
            </a:r>
          </a:p>
          <a:p xmlns:a="http://schemas.openxmlformats.org/drawingml/2006/main">
            <a:r>
              <a:t>      },</a:t>
            </a:r>
          </a:p>
          <a:p xmlns:a="http://schemas.openxmlformats.org/drawingml/2006/main">
            <a:r>
              <a:t>      "data": {</a:t>
            </a:r>
          </a:p>
          <a:p xmlns:a="http://schemas.openxmlformats.org/drawingml/2006/main">
            <a:r>
              <a:t>        "source": "인사·안전·설비 지식",</a:t>
            </a:r>
          </a:p>
          <a:p xmlns:a="http://schemas.openxmlformats.org/drawingml/2006/main">
            <a:r>
              <a:t>        "prepare": "시추 일보·지질·설비·규정의 도메인별 색인",</a:t>
            </a:r>
          </a:p>
          <a:p xmlns:a="http://schemas.openxmlformats.org/drawingml/2006/main">
            <a:r>
              <a:t>        "output": "업무 목적",</a:t>
            </a:r>
          </a:p>
          <a:p xmlns:a="http://schemas.openxmlformats.org/drawingml/2006/main">
            <a:r>
              <a:t>        "refresh": "권한 변경 이력·도메인 평가·업무별 운영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"PF-R09",</a:t>
            </a:r>
          </a:p>
          <a:p xmlns:a="http://schemas.openxmlformats.org/drawingml/2006/main">
            <a:r>
              <a:t>    "success": [</a:t>
            </a:r>
          </a:p>
          <a:p xmlns:a="http://schemas.openxmlformats.org/drawingml/2006/main">
            <a:r>
              <a:t>      "공통 챗봇과 6개 도메인 분리",</a:t>
            </a:r>
          </a:p>
          <a:p xmlns:a="http://schemas.openxmlformats.org/drawingml/2006/main">
            <a:r>
              <a:t>      "업무 지식·ERP 경로의 결합"</a:t>
            </a:r>
          </a:p>
          <a:p xmlns:a="http://schemas.openxmlformats.org/drawingml/2006/main">
            <a:r>
              <a:t>    ],</a:t>
            </a:r>
          </a:p>
          <a:p xmlns:a="http://schemas.openxmlformats.org/drawingml/2006/main">
            <a:r>
              <a:t>    "risks": [</a:t>
            </a:r>
          </a:p>
          <a:p xmlns:a="http://schemas.openxmlformats.org/drawingml/2006/main">
            <a:r>
              <a:t>      "도메인 지식의 혼합",</a:t>
            </a:r>
          </a:p>
          <a:p xmlns:a="http://schemas.openxmlformats.org/drawingml/2006/main">
            <a:r>
              <a:t>      "안전·시추 권고를 자동 실행"</a:t>
            </a:r>
          </a:p>
          <a:p xmlns:a="http://schemas.openxmlformats.org/drawingml/2006/main">
            <a:r>
              <a:t>    ],</a:t>
            </a:r>
          </a:p>
          <a:p xmlns:a="http://schemas.openxmlformats.org/drawingml/2006/main">
            <a:r>
              <a:t>    "architecture": [</a:t>
            </a:r>
          </a:p>
          <a:p xmlns:a="http://schemas.openxmlformats.org/drawingml/2006/main">
            <a:r>
              <a:t>      "직원 업무 앱",</a:t>
            </a:r>
          </a:p>
          <a:p xmlns:a="http://schemas.openxmlformats.org/drawingml/2006/main">
            <a:r>
              <a:t>      "도메인 RAG",</a:t>
            </a:r>
          </a:p>
          <a:p xmlns:a="http://schemas.openxmlformats.org/drawingml/2006/main">
            <a:r>
              <a:t>      "인사·안전·설비 지식",</a:t>
            </a:r>
          </a:p>
          <a:p xmlns:a="http://schemas.openxmlformats.org/drawingml/2006/main">
            <a:r>
              <a:t>      "업무·ERP 담당"</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"도메인 근거",</a:t>
            </a:r>
          </a:p>
          <a:p xmlns:a="http://schemas.openxmlformats.org/drawingml/2006/main">
            <a:r>
              <a:t>      "검토 초안",</a:t>
            </a:r>
          </a:p>
          <a:p xmlns:a="http://schemas.openxmlformats.org/drawingml/2006/main">
            <a:r>
              <a:t>      "공식 업무 처리"</a:t>
            </a:r>
          </a:p>
          <a:p xmlns:a="http://schemas.openxmlformats.org/drawingml/2006/main">
            <a:r>
              <a:t>    ],</a:t>
            </a:r>
          </a:p>
          <a:p xmlns:a="http://schemas.openxmlformats.org/drawingml/2006/main">
            <a:r>
              <a:t>    "control": "도메인 경계·현업 승인·결과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SER-001~004, FUR-001~006, ASR·DAR / Word T098 https://www.g2b.go.kr/pn/pnp/pnpe/UntyAtchFile/downloadFile.do?bidPbancNo=R26BK01705928&amp;bidPbancOrd=001&amp;fileSeq=4&amp;fileType=&amp;prcmBsneSeCd=03</a:t>
            </a:r>
          </a:p>
          <a:p xmlns:a="http://schemas.openxmlformats.org/drawingml/2006/main">
            <a:r>
              <a:t>홈페이지 https://heen1987-ops.github.io/TS-business-Plan-001/index.html?view=platform-cases&amp;case=PF-R09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a:p xmlns:a="http://schemas.openxmlformats.org/drawingml/2006/main">
            <a:r>
              <a:t>한계: 시범 개시와 범정부 확산 계획의 구분 · 업무시간 절감 실측 별도</a:t>
            </a:r>
          </a:p>
          <a:p xmlns:a="http://schemas.openxmlformats.org/drawingml/2006/main">
            <a:r>
              <a:t>실패 위험: 범용 답변과 적용 조문 판단의 차이 / 시범 서비스의 성과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"PF01",</a:t>
            </a:r>
          </a:p>
          <a:p xmlns:a="http://schemas.openxmlformats.org/drawingml/2006/main">
            <a:r>
              <a:t>    "sourceId": "A01",</a:t>
            </a:r>
          </a:p>
          <a:p xmlns:a="http://schemas.openxmlformats.org/drawingml/2006/main">
            <a:r>
              <a:t>    "title": "범정부 AI 공통기반·법령비서",</a:t>
            </a:r>
          </a:p>
          <a:p xmlns:a="http://schemas.openxmlformats.org/drawingml/2006/main">
            <a:r>
              <a:t>    "region": "국내",</a:t>
            </a:r>
          </a:p>
          <a:p xmlns:a="http://schemas.openxmlformats.org/drawingml/2006/main">
            <a:r>
              <a:t>    "owner": "행정안전부·법제처·과기정통부",</a:t>
            </a:r>
          </a:p>
          <a:p xmlns:a="http://schemas.openxmlformats.org/drawingml/2006/main">
            <a:r>
              <a:t>    "state": "공통기반 운영 / 업무 앱 시범",</a:t>
            </a:r>
          </a:p>
          <a:p xmlns:a="http://schemas.openxmlformats.org/drawingml/2006/main">
            <a:r>
              <a:t>    "period": "2025–2026",</a:t>
            </a:r>
          </a:p>
          <a:p xmlns:a="http://schemas.openxmlformats.org/drawingml/2006/main">
            <a:r>
              <a:t>    "fact": "공통 AI 이용환경에 법령·판례 지식을 결합한 법령비서 시범 서비스",</a:t>
            </a:r>
          </a:p>
          <a:p xmlns:a="http://schemas.openxmlformats.org/drawingml/2006/main">
            <a:r>
              <a:t>    "limit": "시범 개시와 범정부 확산 계획의 구분 · 업무시간 절감 실측 별도",</a:t>
            </a:r>
          </a:p>
          <a:p xmlns:a="http://schemas.openxmlformats.org/drawingml/2006/main">
            <a:r>
              <a:t>    "nodes": [</a:t>
            </a:r>
          </a:p>
          <a:p xmlns:a="http://schemas.openxmlformats.org/drawingml/2006/main">
            <a:r>
              <a:t>      "정부 공통 이용환경",</a:t>
            </a:r>
          </a:p>
          <a:p xmlns:a="http://schemas.openxmlformats.org/drawingml/2006/main">
            <a:r>
              <a:t>      "공통 모델·검색",</a:t>
            </a:r>
          </a:p>
          <a:p xmlns:a="http://schemas.openxmlformats.org/drawingml/2006/main">
            <a:r>
              <a:t>      "법령·판례 지식",</a:t>
            </a:r>
          </a:p>
          <a:p xmlns:a="http://schemas.openxmlformats.org/drawingml/2006/main">
            <a:r>
              <a:t>      "법령비서·직원 검토"</a:t>
            </a:r>
          </a:p>
          <a:p xmlns:a="http://schemas.openxmlformats.org/drawingml/2006/main">
            <a:r>
              <a:t>    ],</a:t>
            </a:r>
          </a:p>
          <a:p xmlns:a="http://schemas.openxmlformats.org/drawingml/2006/main">
            <a:r>
              <a:t>    "apply": "공통 AI 접속환경을 재사용하고 직무별 법령·업무 앱을 별도 구성",</a:t>
            </a:r>
          </a:p>
          <a:p xmlns:a="http://schemas.openxmlformats.org/drawingml/2006/main">
            <a:r>
              <a:t>    "delta": "소관·직무·규정 판본 연결 및 부서별 정답셋",</a:t>
            </a:r>
          </a:p>
          <a:p xmlns:a="http://schemas.openxmlformats.org/drawingml/2006/main">
            <a:r>
              <a:t>    "test": "동일 규정 질의의 판본·출처·소관 일치 검증",</a:t>
            </a:r>
          </a:p>
          <a:p xmlns:a="http://schemas.openxmlformats.org/drawingml/2006/main">
            <a:r>
              <a:t>    "url": "https://www.mois.go.kr/frt/bbs/type010/commonSelectBoardArticle.do?bbsId=BBSMSTR_000000000008&amp;nttId=127770",</a:t>
            </a:r>
          </a:p>
          <a:p xmlns:a="http://schemas.openxmlformats.org/drawingml/2006/main">
            <a:r>
              <a:t>    "basis": "공식 시범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"https://www.mois.go.kr/frt/bbs/type010/commonSelectBoardArticle.do?bbsId=BBSMSTR_000000000008&amp;nttId=127770",</a:t>
            </a:r>
          </a:p>
          <a:p xmlns:a="http://schemas.openxmlformats.org/drawingml/2006/main">
            <a:r>
              <a:t>      "https://mois.go.kr/frt/bbs/type002/commonSelectBoardArticle.do?bbsId=BBSMSTR_000000000010&amp;nttId=121989"</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"PF01",</a:t>
            </a:r>
          </a:p>
          <a:p xmlns:a="http://schemas.openxmlformats.org/drawingml/2006/main">
            <a:r>
              <a:t>    "canonicalId": "PF01",</a:t>
            </a:r>
          </a:p>
          <a:p xmlns:a="http://schemas.openxmlformats.org/drawingml/2006/main">
            <a:r>
              <a:t>    "purpose": "정부 공통 AI 이용환경의 법령 업무 확장",</a:t>
            </a:r>
          </a:p>
          <a:p xmlns:a="http://schemas.openxmlformats.org/drawingml/2006/main">
            <a:r>
              <a:t>    "users": "정부 직원·법제 검토 담당",</a:t>
            </a:r>
          </a:p>
          <a:p xmlns:a="http://schemas.openxmlformats.org/drawingml/2006/main">
            <a:r>
              <a:t>    "scope": [</a:t>
            </a:r>
          </a:p>
          <a:p xmlns:a="http://schemas.openxmlformats.org/drawingml/2006/main">
            <a:r>
              <a:t>      "공통 모델",</a:t>
            </a:r>
          </a:p>
          <a:p xmlns:a="http://schemas.openxmlformats.org/drawingml/2006/main">
            <a:r>
              <a:t>      "법령비서",</a:t>
            </a:r>
          </a:p>
          <a:p xmlns:a="http://schemas.openxmlformats.org/drawingml/2006/main">
            <a:r>
              <a:t>      "근거 검색"</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"계정·업무 질의·적용 시점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모델 / 법령비서 / 근거 검색",</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"공통 AI·법령비서",</a:t>
            </a:r>
          </a:p>
          <a:p xmlns:a="http://schemas.openxmlformats.org/drawingml/2006/main">
            <a:r>
              <a:t>        "detail": "공통 AI 호출과 법령·판례 검색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"법제 검토자",</a:t>
            </a:r>
          </a:p>
          <a:p xmlns:a="http://schemas.openxmlformats.org/drawingml/2006/main">
            <a:r>
              <a:t>        "detail": "근거 답변을 법제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"법령·판례 지식",</a:t>
            </a:r>
          </a:p>
          <a:p xmlns:a="http://schemas.openxmlformats.org/drawingml/2006/main">
            <a:r>
              <a:t>        "detail": "공식 법령·판례·문서의 기준일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"시범 질의의 정답·근거·사용성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공통 이용환경",</a:t>
            </a:r>
          </a:p>
          <a:p xmlns:a="http://schemas.openxmlformats.org/drawingml/2006/main">
            <a:r>
              <a:t>        "input": "계정·업무 질의·적용 시점 구성",</a:t>
            </a:r>
          </a:p>
          <a:p xmlns:a="http://schemas.openxmlformats.org/drawingml/2006/main">
            <a:r>
              <a:t>        "process": "공식 법령·판례·문서의 기준일 관리",</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"title": "공통 모델·검색",</a:t>
            </a:r>
          </a:p>
          <a:p xmlns:a="http://schemas.openxmlformats.org/drawingml/2006/main">
            <a:r>
              <a:t>        "input": "법률 질문",</a:t>
            </a:r>
          </a:p>
          <a:p xmlns:a="http://schemas.openxmlformats.org/drawingml/2006/main">
            <a:r>
              <a:t>        "process": "공통 AI 호출과 법령·판례 검색 연결",</a:t>
            </a:r>
          </a:p>
          <a:p xmlns:a="http://schemas.openxmlformats.org/drawingml/2006/main">
            <a:r>
              <a:t>        "output": "관련 근거"</a:t>
            </a:r>
          </a:p>
          <a:p xmlns:a="http://schemas.openxmlformats.org/drawingml/2006/main">
            <a:r>
              <a:t>      },</a:t>
            </a:r>
          </a:p>
          <a:p xmlns:a="http://schemas.openxmlformats.org/drawingml/2006/main">
            <a:r>
              <a:t>      {</a:t>
            </a:r>
          </a:p>
          <a:p xmlns:a="http://schemas.openxmlformats.org/drawingml/2006/main">
            <a:r>
              <a:t>        "title": "법령·판례 지식",</a:t>
            </a:r>
          </a:p>
          <a:p xmlns:a="http://schemas.openxmlformats.org/drawingml/2006/main">
            <a:r>
              <a:t>        "input": "관련 근거",</a:t>
            </a:r>
          </a:p>
          <a:p xmlns:a="http://schemas.openxmlformats.org/drawingml/2006/main">
            <a:r>
              <a:t>        "process": "적용 시점·소관·근거 일치",</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"title": "법령비서·직원 검토",</a:t>
            </a:r>
          </a:p>
          <a:p xmlns:a="http://schemas.openxmlformats.org/drawingml/2006/main">
            <a:r>
              <a:t>        "input": "업무 답변",</a:t>
            </a:r>
          </a:p>
          <a:p xmlns:a="http://schemas.openxmlformats.org/drawingml/2006/main">
            <a:r>
              <a:t>        "process":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"적용 업무와 시점에 맞는 법령·판례 근거 검토",</a:t>
            </a:r>
          </a:p>
          <a:p xmlns:a="http://schemas.openxmlformats.org/drawingml/2006/main">
            <a:r>
              <a:t>      "exception": "폐지 조문·유사 명칭 법률·소관 차이",</a:t>
            </a:r>
          </a:p>
          <a:p xmlns:a="http://schemas.openxmlformats.org/drawingml/2006/main">
            <a:r>
              <a:t>      "evidence": "조문·시점·소관 정답셋과 검토자 판정",</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직원·법제 검토 담당",</a:t>
            </a:r>
          </a:p>
          <a:p xmlns:a="http://schemas.openxmlformats.org/drawingml/2006/main">
            <a:r>
              <a:t>          "processing": "계정·업무 질의·적용 시점 구성",</a:t>
            </a:r>
          </a:p>
          <a:p xmlns:a="http://schemas.openxmlformats.org/drawingml/2006/main">
            <a:r>
              <a:t>          "output": "법률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"법령·판례 지식",</a:t>
            </a:r>
          </a:p>
          <a:p xmlns:a="http://schemas.openxmlformats.org/drawingml/2006/main">
            <a:r>
              <a:t>          "processing": "공식 법령·판례·문서의 기준일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"법률 질문",</a:t>
            </a:r>
          </a:p>
          <a:p xmlns:a="http://schemas.openxmlformats.org/drawingml/2006/main">
            <a:r>
              <a:t>          "processing": "공통 AI 호출과 법령·판례 검색 연결",</a:t>
            </a:r>
          </a:p>
          <a:p xmlns:a="http://schemas.openxmlformats.org/drawingml/2006/main">
            <a:r>
              <a:t>          "output": "업무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답변",</a:t>
            </a:r>
          </a:p>
          <a:p xmlns:a="http://schemas.openxmlformats.org/drawingml/2006/main">
            <a:r>
              <a:t>          "processing": "근거 답변을 법제 검토자에게 제공",</a:t>
            </a:r>
          </a:p>
          <a:p xmlns:a="http://schemas.openxmlformats.org/drawingml/2006/main">
            <a:r>
              <a:t>          "output": "직원 확인"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"시범 질의의 정답·근거·사용성 평가",</a:t>
            </a:r>
          </a:p>
          <a:p xmlns:a="http://schemas.openxmlformats.org/drawingml/2006/main">
            <a:r>
              <a:t>          "output": "조문·시점·소관 정답셋과 검토자 판정"</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"시범 질의의 정답·근거·사용성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"공식 시범 개시 발표",</a:t>
            </a:r>
          </a:p>
          <a:p xmlns:a="http://schemas.openxmlformats.org/drawingml/2006/main">
            <a:r>
              <a:t>        "url": "https://www.mois.go.kr/frt/bbs/type010/commonSelectBoardArticle.do?bbsId=BBSMSTR_000000000008&amp;nttId=127770"</a:t>
            </a:r>
          </a:p>
          <a:p xmlns:a="http://schemas.openxmlformats.org/drawingml/2006/main">
            <a:r>
              <a:t>      }</a:t>
            </a:r>
          </a:p>
          <a:p xmlns:a="http://schemas.openxmlformats.org/drawingml/2006/main">
            <a:r>
              <a:t>    ],</a:t>
            </a:r>
          </a:p>
          <a:p xmlns:a="http://schemas.openxmlformats.org/drawingml/2006/main">
            <a:r>
              <a:t>    "implication": "공통 AI 접속환경을 재사용하고 직무별 법령·업무 앱을 별도 구성",</a:t>
            </a:r>
          </a:p>
          <a:p xmlns:a="http://schemas.openxmlformats.org/drawingml/2006/main">
            <a:r>
              <a:t>    "local": "공통 AI 접속환경을 재사용하고 직무별 법령·업무 앱을 별도 구성",</a:t>
            </a:r>
          </a:p>
          <a:p xmlns:a="http://schemas.openxmlformats.org/drawingml/2006/main">
            <a:r>
              <a:t>    "sourceDetail": null,</a:t>
            </a:r>
          </a:p>
          <a:p xmlns:a="http://schemas.openxmlformats.org/drawingml/2006/main">
            <a:r>
              <a:t>    "narrative": [</a:t>
            </a:r>
          </a:p>
          <a:p xmlns:a="http://schemas.openxmlformats.org/drawingml/2006/main">
            <a:r>
              <a:t>      "범정부 AI 공통기반과 법령비서의 시범 서비스 사례. 공통 AI 이용 환경에 법령·판례 자료를 결합해 직원의 규정 탐색과 근거 확인을 지원하는 구조.",</a:t>
            </a:r>
          </a:p>
          <a:p xmlns:a="http://schemas.openxmlformats.org/drawingml/2006/main">
            <a:r>
              <a:t>      "공개된 서비스 범위에 따라 로그인·질의 문맥·법령 검색·근거 응답·사용자 검토로 재구성. 적용 시점과 법령·판례의 관계를 검색 메타데이터로 유지하고 생성 답변에서 해당 원문으로 돌아가는 확인 경로의 구성.",</a:t>
            </a:r>
          </a:p>
          <a:p xmlns:a="http://schemas.openxmlformats.org/drawingml/2006/main">
            <a:r>
              <a:t>      "TS에서는 법령 지식의 공통 이용과 부서별 업무 책임의 연결을 구분해 추가 개발할 필요. 같은 질문의 담당 직무·시행일별 적용 기준, 폐지·개정 조문 혼용, 근거 없는 단정 응답을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직원·법제 검토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"질의·적용시점",</a:t>
            </a:r>
          </a:p>
          <a:p xmlns:a="http://schemas.openxmlformats.org/drawingml/2006/main">
            <a:r>
              <a:t>          "layer": "업무 문맥",</a:t>
            </a:r>
          </a:p>
          <a:p xmlns:a="http://schemas.openxmlformats.org/drawingml/2006/main">
            <a:r>
              <a:t>          "detail": "계정·업무 질의·적용 시점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"법령·판례 검색",</a:t>
            </a:r>
          </a:p>
          <a:p xmlns:a="http://schemas.openxmlformats.org/drawingml/2006/main">
            <a:r>
              <a:t>          "layer": "자료 조회",</a:t>
            </a:r>
          </a:p>
          <a:p xmlns:a="http://schemas.openxmlformats.org/drawingml/2006/main">
            <a:r>
              <a:t>          "detail": "법률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"공통 AI·법령비서",</a:t>
            </a:r>
          </a:p>
          <a:p xmlns:a="http://schemas.openxmlformats.org/drawingml/2006/main">
            <a:r>
              <a:t>          "layer": "핵심 처리",</a:t>
            </a:r>
          </a:p>
          <a:p xmlns:a="http://schemas.openxmlformats.org/drawingml/2006/main">
            <a:r>
              <a:t>          "detail": "공통 AI 호출과 법령·판례 검색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"조문·시점 대조",</a:t>
            </a:r>
          </a:p>
          <a:p xmlns:a="http://schemas.openxmlformats.org/drawingml/2006/main">
            <a:r>
              <a:t>          "layer": "결과 검증",</a:t>
            </a:r>
          </a:p>
          <a:p xmlns:a="http://schemas.openxmlformats.org/drawingml/2006/main">
            <a:r>
              <a:t>          "detail": "적용 시점·소관·근거 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"법제 담당 검토",</a:t>
            </a:r>
          </a:p>
          <a:p xmlns:a="http://schemas.openxmlformats.org/drawingml/2006/main">
            <a:r>
              <a:t>          "layer": "사람 확인",</a:t>
            </a:r>
          </a:p>
          <a:p xmlns:a="http://schemas.openxmlformats.org/drawingml/2006/main">
            <a:r>
              <a:t>          "detail": "적용 업무와 시점에 맞는 법령·판례 근거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문서 참고",</a:t>
            </a:r>
          </a:p>
          <a:p xmlns:a="http://schemas.openxmlformats.org/drawingml/2006/main">
            <a:r>
              <a:t>          "layer": "업무 연결",</a:t>
            </a:r>
          </a:p>
          <a:p xmlns:a="http://schemas.openxmlformats.org/drawingml/2006/main">
            <a:r>
              <a:t>          "detail": "근거 답변을 법제 검토자에게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"시범 질의 평가",</a:t>
            </a:r>
          </a:p>
          <a:p xmlns:a="http://schemas.openxmlformats.org/drawingml/2006/main">
            <a:r>
              <a:t>          "layer": "운영 관측",</a:t>
            </a:r>
          </a:p>
          <a:p xmlns:a="http://schemas.openxmlformats.org/drawingml/2006/main">
            <a:r>
              <a:t>          "detail": "시범 질의의 정답·근거·사용성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법령·문서",</a:t>
            </a:r>
          </a:p>
          <a:p xmlns:a="http://schemas.openxmlformats.org/drawingml/2006/main">
            <a:r>
              <a:t>          "layer": "데이터 원천",</a:t>
            </a:r>
          </a:p>
          <a:p xmlns:a="http://schemas.openxmlformats.org/drawingml/2006/main">
            <a:r>
              <a:t>          "detail": "법령·판례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"기준일·근거 정리",</a:t>
            </a:r>
          </a:p>
          <a:p xmlns:a="http://schemas.openxmlformats.org/drawingml/2006/main">
            <a:r>
              <a:t>          "layer": "준비·갱신",</a:t>
            </a:r>
          </a:p>
          <a:p xmlns:a="http://schemas.openxmlformats.org/drawingml/2006/main">
            <a:r>
              <a:t>          "detail": "공식 법령·판례·문서의 기준일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"지식·평가 자료",</a:t>
            </a:r>
          </a:p>
          <a:p xmlns:a="http://schemas.openxmlformats.org/drawingml/2006/main">
            <a:r>
              <a:t>          "layer": "상태·지식 저장",</a:t>
            </a:r>
          </a:p>
          <a:p xmlns:a="http://schemas.openxmlformats.org/drawingml/2006/main">
            <a:r>
              <a:t>          "detail": "조문·시점·소관 정답셋과 검토자 판정",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"기관·업무 경계",</a:t>
            </a:r>
          </a:p>
          <a:p xmlns:a="http://schemas.openxmlformats.org/drawingml/2006/main">
            <a:r>
              <a:t>          "layer": "권한·정책",</a:t>
            </a:r>
          </a:p>
          <a:p xmlns:a="http://schemas.openxmlformats.org/drawingml/2006/main">
            <a:r>
              <a:t>          "detail": "폐지 조문·유사 명칭 법률·소관 차이",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공통 이용환경 → 공통 모델·검색 → 법령·판례 지식 → 법령비서·직원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"법령·판례 지식",</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"계정·업무 질의·적용 시점 구성",</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"조문·시점·소관 정답셋과 검토자 판정",</a:t>
            </a:r>
          </a:p>
          <a:p xmlns:a="http://schemas.openxmlformats.org/drawingml/2006/main">
            <a:r>
              <a:t>          "check": "공식 법령·판례·문서의 기준일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근거",</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답변",</a:t>
            </a:r>
          </a:p>
          <a:p xmlns:a="http://schemas.openxmlformats.org/drawingml/2006/main">
            <a:r>
              <a:t>          "check": "조문·시점·소관 정답셋과 검토자 판정"</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 이용환경의 법령 업무 확장 / 공통 모델·법령비서·근거 검색",</a:t>
            </a:r>
          </a:p>
          <a:p xmlns:a="http://schemas.openxmlformats.org/drawingml/2006/main">
            <a:r>
              <a:t>        "extension": "공통 AI 접속환경을 재사용하고 직무별 법령·업무 앱을 별도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조문·유사 명칭 법률·소관 차이",</a:t>
            </a:r>
          </a:p>
          <a:p xmlns:a="http://schemas.openxmlformats.org/drawingml/2006/main">
            <a:r>
              <a:t>        "hold": "적용 시점·소관·근거 일치",</a:t>
            </a:r>
          </a:p>
          <a:p xmlns:a="http://schemas.openxmlformats.org/drawingml/2006/main">
            <a:r>
              <a:t>        "recovery": "시범 질의의 정답·근거·사용성 평가",</a:t>
            </a:r>
          </a:p>
          <a:p xmlns:a="http://schemas.openxmlformats.org/drawingml/2006/main">
            <a:r>
              <a:t>        "evidence": "조문·시점·소관 정답셋과 검토자 판정"</a:t>
            </a:r>
          </a:p>
          <a:p xmlns:a="http://schemas.openxmlformats.org/drawingml/2006/main">
            <a:r>
              <a:t>      },</a:t>
            </a:r>
          </a:p>
          <a:p xmlns:a="http://schemas.openxmlformats.org/drawingml/2006/main">
            <a:r>
              <a:t>      "data": {</a:t>
            </a:r>
          </a:p>
          <a:p xmlns:a="http://schemas.openxmlformats.org/drawingml/2006/main">
            <a:r>
              <a:t>        "source": "법령·판례 지식",</a:t>
            </a:r>
          </a:p>
          <a:p xmlns:a="http://schemas.openxmlformats.org/drawingml/2006/main">
            <a:r>
              <a:t>        "prepare": "공식 법령·판례·문서의 기준일 관리",</a:t>
            </a:r>
          </a:p>
          <a:p xmlns:a="http://schemas.openxmlformats.org/drawingml/2006/main">
            <a:r>
              <a:t>        "output": "법률 질문",</a:t>
            </a:r>
          </a:p>
          <a:p xmlns:a="http://schemas.openxmlformats.org/drawingml/2006/main">
            <a:r>
              <a:t>        "refresh": "시범 질의의 정답·근거·사용성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"PF01",</a:t>
            </a:r>
          </a:p>
          <a:p xmlns:a="http://schemas.openxmlformats.org/drawingml/2006/main">
            <a:r>
              <a:t>    "success": [</a:t>
            </a:r>
          </a:p>
          <a:p xmlns:a="http://schemas.openxmlformats.org/drawingml/2006/main">
            <a:r>
              <a:t>      "공통 이용환경의 공동 활용",</a:t>
            </a:r>
          </a:p>
          <a:p xmlns:a="http://schemas.openxmlformats.org/drawingml/2006/main">
            <a:r>
              <a:t>      "법령비서 등 업무 앱 결합"</a:t>
            </a:r>
          </a:p>
          <a:p xmlns:a="http://schemas.openxmlformats.org/drawingml/2006/main">
            <a:r>
              <a:t>    ],</a:t>
            </a:r>
          </a:p>
          <a:p xmlns:a="http://schemas.openxmlformats.org/drawingml/2006/main">
            <a:r>
              <a:t>    "risks": [</a:t>
            </a:r>
          </a:p>
          <a:p xmlns:a="http://schemas.openxmlformats.org/drawingml/2006/main">
            <a:r>
              <a:t>      "범용 답변과 적용 조문 판단의 차이",</a:t>
            </a:r>
          </a:p>
          <a:p xmlns:a="http://schemas.openxmlformats.org/drawingml/2006/main">
            <a:r>
              <a:t>      "시범 서비스의 성과 일반화"</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"공통 AI·법령비서",</a:t>
            </a:r>
          </a:p>
          <a:p xmlns:a="http://schemas.openxmlformats.org/drawingml/2006/main">
            <a:r>
              <a:t>      "법령·판례 지식",</a:t>
            </a:r>
          </a:p>
          <a:p xmlns:a="http://schemas.openxmlformats.org/drawingml/2006/main">
            <a:r>
              <a:t>      "법제 검토자"</a:t>
            </a:r>
          </a:p>
          <a:p xmlns:a="http://schemas.openxmlformats.org/drawingml/2006/main">
            <a:r>
              <a:t>    ],</a:t>
            </a:r>
          </a:p>
          <a:p xmlns:a="http://schemas.openxmlformats.org/drawingml/2006/main">
            <a:r>
              <a:t>    "transfers": [</a:t>
            </a:r>
          </a:p>
          <a:p xmlns:a="http://schemas.openxmlformats.org/drawingml/2006/main">
            <a:r>
              <a:t>      "법률 질문",</a:t>
            </a:r>
          </a:p>
          <a:p xmlns:a="http://schemas.openxmlformats.org/drawingml/2006/main">
            <a:r>
              <a:t>      "관련 근거",</a:t>
            </a:r>
          </a:p>
          <a:p xmlns:a="http://schemas.openxmlformats.org/drawingml/2006/main">
            <a:r>
              <a:t>      "업무 답변",</a:t>
            </a:r>
          </a:p>
          <a:p xmlns:a="http://schemas.openxmlformats.org/drawingml/2006/main">
            <a:r>
              <a:t>      "직원 확인"</a:t>
            </a:r>
          </a:p>
          <a:p xmlns:a="http://schemas.openxmlformats.org/drawingml/2006/main">
            <a:r>
              <a:t>    ],</a:t>
            </a:r>
          </a:p>
          <a:p xmlns:a="http://schemas.openxmlformats.org/drawingml/2006/main">
            <a:r>
              <a:t>    "control": "적용 시점·소관·근거 일치",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공식 시범 개시 발표 https://www.mois.go.kr/frt/bbs/type010/commonSelectBoardArticle.do?bbsId=BBSMSTR_000000000008&amp;nttId=127770</a:t>
            </a:r>
          </a:p>
          <a:p xmlns:a="http://schemas.openxmlformats.org/drawingml/2006/main">
            <a:r>
              <a:t>홈페이지 https://heen1987-ops.github.io/TS-business-Plan-001/index.html?view=platform-cases&amp;case=PF01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a:p xmlns:a="http://schemas.openxmlformats.org/drawingml/2006/main">
            <a:r>
              <a:t>한계: 문서번호·답변 근거의 정비 부담 공개 · 제시된 절감 기대와 실측 성과의 구분</a:t>
            </a:r>
          </a:p>
          <a:p xmlns:a="http://schemas.openxmlformats.org/drawingml/2006/main">
            <a:r>
              <a:t>실패 위험: 규정 판본·효력일 불일치 / 개정 초안의 무승인 배포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"PF02",</a:t>
            </a:r>
          </a:p>
          <a:p xmlns:a="http://schemas.openxmlformats.org/drawingml/2006/main">
            <a:r>
              <a:t>    "sourceId": "A02",</a:t>
            </a:r>
          </a:p>
          <a:p xmlns:a="http://schemas.openxmlformats.org/drawingml/2006/main">
            <a:r>
              <a:t>    "title": "한전 사내표준 AI 플랫폼",</a:t>
            </a:r>
          </a:p>
          <a:p xmlns:a="http://schemas.openxmlformats.org/drawingml/2006/main">
            <a:r>
              <a:t>    "region": "국내",</a:t>
            </a:r>
          </a:p>
          <a:p xmlns:a="http://schemas.openxmlformats.org/drawingml/2006/main">
            <a:r>
              <a:t>    "owner": "한국전력",</a:t>
            </a:r>
          </a:p>
          <a:p xmlns:a="http://schemas.openxmlformats.org/drawingml/2006/main">
            <a:r>
              <a:t>    "state": "정식 운영 · 기관 발표",</a:t>
            </a:r>
          </a:p>
          <a:p xmlns:a="http://schemas.openxmlformats.org/drawingml/2006/main">
            <a:r>
              <a:t>    "period": "2026.05 개시 / 09 소개",</a:t>
            </a:r>
          </a:p>
          <a:p xmlns:a="http://schemas.openxmlformats.org/drawingml/2006/main">
            <a:r>
              <a:t>    "fact": "사내표준 질의·근거 조문과 개정 검토·전자결재를 연결한 업무 플랫폼",</a:t>
            </a:r>
          </a:p>
          <a:p xmlns:a="http://schemas.openxmlformats.org/drawingml/2006/main">
            <a:r>
              <a:t>    "limit": "문서번호·답변 근거의 정비 부담 공개 · 제시된 절감 기대와 실측 성과의 구분",</a:t>
            </a:r>
          </a:p>
          <a:p xmlns:a="http://schemas.openxmlformats.org/drawingml/2006/main">
            <a:r>
              <a:t>    "nodes": [</a:t>
            </a:r>
          </a:p>
          <a:p xmlns:a="http://schemas.openxmlformats.org/drawingml/2006/main">
            <a:r>
              <a:t>      "사내표준 정비",</a:t>
            </a:r>
          </a:p>
          <a:p xmlns:a="http://schemas.openxmlformats.org/drawingml/2006/main">
            <a:r>
              <a:t>      "근거 질의·응답",</a:t>
            </a:r>
          </a:p>
          <a:p xmlns:a="http://schemas.openxmlformats.org/drawingml/2006/main">
            <a:r>
              <a:t>      "개정·오류 점검",</a:t>
            </a:r>
          </a:p>
          <a:p xmlns:a="http://schemas.openxmlformats.org/drawingml/2006/main">
            <a:r>
              <a:t>      "전자결재·담당 검토"</a:t>
            </a:r>
          </a:p>
          <a:p xmlns:a="http://schemas.openxmlformats.org/drawingml/2006/main">
            <a:r>
              <a:t>    ],</a:t>
            </a:r>
          </a:p>
          <a:p xmlns:a="http://schemas.openxmlformats.org/drawingml/2006/main">
            <a:r>
              <a:t>    "apply": "규정 검색 결과를 개정 영향·책임부서·전자결재 절차까지 연결",</a:t>
            </a:r>
          </a:p>
          <a:p xmlns:a="http://schemas.openxmlformats.org/drawingml/2006/main">
            <a:r>
              <a:t>    "delta": "규정 개정 영향 업무 탐색 / 폐지 지식 차단 / 승인판본 배포",</a:t>
            </a:r>
          </a:p>
          <a:p xmlns:a="http://schemas.openxmlformats.org/drawingml/2006/main">
            <a:r>
              <a:t>    "test": "개정 전후 질문의 판본 일치 및 영향 업무 재평가",</a:t>
            </a:r>
          </a:p>
          <a:p xmlns:a="http://schemas.openxmlformats.org/drawingml/2006/main">
            <a:r>
              <a:t>    "url": "https://www.kepco.co.kr/KEPCO_FILE/html/2026_09/issue.html",</a:t>
            </a:r>
          </a:p>
          <a:p xmlns:a="http://schemas.openxmlformats.org/drawingml/2006/main">
            <a:r>
              <a:t>    "basis": "기관 사보 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"https://www.kepco.co.kr/KEPCO_FILE/html/2026_09/issue.html"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"PF02",</a:t>
            </a:r>
          </a:p>
          <a:p xmlns:a="http://schemas.openxmlformats.org/drawingml/2006/main">
            <a:r>
              <a:t>    "canonicalId": "PF02",</a:t>
            </a:r>
          </a:p>
          <a:p xmlns:a="http://schemas.openxmlformats.org/drawingml/2006/main">
            <a:r>
              <a:t>    "purpose": "사내표준 검색부터 개정 검토까지 연결",</a:t>
            </a:r>
          </a:p>
          <a:p xmlns:a="http://schemas.openxmlformats.org/drawingml/2006/main">
            <a:r>
              <a:t>    "users": "직원·규정 소관부서·결재자",</a:t>
            </a:r>
          </a:p>
          <a:p xmlns:a="http://schemas.openxmlformats.org/drawingml/2006/main">
            <a:r>
              <a:t>    "scope": [</a:t>
            </a:r>
          </a:p>
          <a:p xmlns:a="http://schemas.openxmlformats.org/drawingml/2006/main">
            <a:r>
              <a:t>      "표준 검색",</a:t>
            </a:r>
          </a:p>
          <a:p xmlns:a="http://schemas.openxmlformats.org/drawingml/2006/main">
            <a:r>
              <a:t>      "개정 검토",</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"직원·규정 담당",</a:t>
            </a:r>
          </a:p>
          <a:p xmlns:a="http://schemas.openxmlformats.org/drawingml/2006/main">
            <a:r>
              <a:t>        "detail": "문서번호·적용 업무·검토 사유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"표준 검색 / 개정 검토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"근거 검색·개정 검토",</a:t>
            </a:r>
          </a:p>
          <a:p xmlns:a="http://schemas.openxmlformats.org/drawingml/2006/main">
            <a:r>
              <a:t>        "detail": "사내표준 RAG와 조문 대조·개정 초안",</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"전자결재 검토자",</a:t>
            </a:r>
          </a:p>
          <a:p xmlns:a="http://schemas.openxmlformats.org/drawingml/2006/main">
            <a:r>
              <a:t>        "detail": "소관부서 검토 후 전자결재 절차 연계",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"사내표준·개정 이력",</a:t>
            </a:r>
          </a:p>
          <a:p xmlns:a="http://schemas.openxmlformats.org/drawingml/2006/main">
            <a:r>
              <a:t>        "detail": "사내표준·개정 이력·근거 조문의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"승인본 반영·구판 회수·개정 영향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"사내표준 정비",</a:t>
            </a:r>
          </a:p>
          <a:p xmlns:a="http://schemas.openxmlformats.org/drawingml/2006/main">
            <a:r>
              <a:t>        "input": "문서번호·적용 업무·검토 사유 식별",</a:t>
            </a:r>
          </a:p>
          <a:p xmlns:a="http://schemas.openxmlformats.org/drawingml/2006/main">
            <a:r>
              <a:t>        "process": "사내표준·개정 이력·근거 조문의 연결",</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"title": "근거 질의·응답",</a:t>
            </a:r>
          </a:p>
          <a:p xmlns:a="http://schemas.openxmlformats.org/drawingml/2006/main">
            <a:r>
              <a:t>        "input": "사내표준",</a:t>
            </a:r>
          </a:p>
          <a:p xmlns:a="http://schemas.openxmlformats.org/drawingml/2006/main">
            <a:r>
              <a:t>        "process": "사내표준 RAG와 조문 대조·개정 초안",</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"개정·오류 점검",</a:t>
            </a:r>
          </a:p>
          <a:p xmlns:a="http://schemas.openxmlformats.org/drawingml/2006/main">
            <a:r>
              <a:t>        "input": "관련 조문",</a:t>
            </a:r>
          </a:p>
          <a:p xmlns:a="http://schemas.openxmlformats.org/drawingml/2006/main">
            <a:r>
              <a:t>        "process": "승인 판본·효력일·영향 조문 대사",</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"title": "전자결재·담당 검토",</a:t>
            </a:r>
          </a:p>
          <a:p xmlns:a="http://schemas.openxmlformats.org/drawingml/2006/main">
            <a:r>
              <a:t>        "input": "개정·오류 후보",</a:t>
            </a:r>
          </a:p>
          <a:p xmlns:a="http://schemas.openxmlformats.org/drawingml/2006/main">
            <a:r>
              <a:t>        "process":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"특정 사내표준을 개정하고 영향 조문을 검토해 결재",</a:t>
            </a:r>
          </a:p>
          <a:p xmlns:a="http://schemas.openxmlformats.org/drawingml/2006/main">
            <a:r>
              <a:t>      "exception": "미승인 개정안·참조 조문 삭제·구판 재인용",</a:t>
            </a:r>
          </a:p>
          <a:p xmlns:a="http://schemas.openxmlformats.org/drawingml/2006/main">
            <a:r>
              <a:t>      "evidence": "판본별 변경·영향·결재·색인 반영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"직원·규정 소관부서·결재자",</a:t>
            </a:r>
          </a:p>
          <a:p xmlns:a="http://schemas.openxmlformats.org/drawingml/2006/main">
            <a:r>
              <a:t>          "processing": "문서번호·적용 업무·검토 사유 식별",</a:t>
            </a:r>
          </a:p>
          <a:p xmlns:a="http://schemas.openxmlformats.org/drawingml/2006/main">
            <a:r>
              <a:t>          "output": "사내표준"</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"사내표준·개정 이력",</a:t>
            </a:r>
          </a:p>
          <a:p xmlns:a="http://schemas.openxmlformats.org/drawingml/2006/main">
            <a:r>
              <a:t>          "processing": "사내표준·개정 이력·근거 조문의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"사내표준",</a:t>
            </a:r>
          </a:p>
          <a:p xmlns:a="http://schemas.openxmlformats.org/drawingml/2006/main">
            <a:r>
              <a:t>          "processing": "사내표준 RAG와 조문 대조·개정 초안",</a:t>
            </a:r>
          </a:p>
          <a:p xmlns:a="http://schemas.openxmlformats.org/drawingml/2006/main">
            <a:r>
              <a:t>          "output": "개정·오류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"개정·오류 후보",</a:t>
            </a:r>
          </a:p>
          <a:p xmlns:a="http://schemas.openxmlformats.org/drawingml/2006/main">
            <a:r>
              <a:t>          "processing": "소관부서 검토 후 전자결재 절차 연계",</a:t>
            </a:r>
          </a:p>
          <a:p xmlns:a="http://schemas.openxmlformats.org/drawingml/2006/main">
            <a:r>
              <a:t>          "output": "결재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"승인본 반영·구판 회수·개정 영향 점검",</a:t>
            </a:r>
          </a:p>
          <a:p xmlns:a="http://schemas.openxmlformats.org/drawingml/2006/main">
            <a:r>
              <a:t>          "output": "판본별 변경·영향·결재·색인 반영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"승인본 반영·구판 회수·개정 영향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"기관 사보 운영 소개",</a:t>
            </a:r>
          </a:p>
          <a:p xmlns:a="http://schemas.openxmlformats.org/drawingml/2006/main">
            <a:r>
              <a:t>        "url": "https://www.kepco.co.kr/KEPCO_FILE/html/2026_09/issue.html"</a:t>
            </a:r>
          </a:p>
          <a:p xmlns:a="http://schemas.openxmlformats.org/drawingml/2006/main">
            <a:r>
              <a:t>      }</a:t>
            </a:r>
          </a:p>
          <a:p xmlns:a="http://schemas.openxmlformats.org/drawingml/2006/main">
            <a:r>
              <a:t>    ],</a:t>
            </a:r>
          </a:p>
          <a:p xmlns:a="http://schemas.openxmlformats.org/drawingml/2006/main">
            <a:r>
              <a:t>    "implication": "규정 검색 결과를 개정 영향·책임부서·전자결재 절차까지 연결",</a:t>
            </a:r>
          </a:p>
          <a:p xmlns:a="http://schemas.openxmlformats.org/drawingml/2006/main">
            <a:r>
              <a:t>    "local": "규정 검색 결과를 개정 영향·책임부서·전자결재 절차까지 연결",</a:t>
            </a:r>
          </a:p>
          <a:p xmlns:a="http://schemas.openxmlformats.org/drawingml/2006/main">
            <a:r>
              <a:t>    "sourceDetail": null,</a:t>
            </a:r>
          </a:p>
          <a:p xmlns:a="http://schemas.openxmlformats.org/drawingml/2006/main">
            <a:r>
              <a:t>    "narrative": [</a:t>
            </a:r>
          </a:p>
          <a:p xmlns:a="http://schemas.openxmlformats.org/drawingml/2006/main">
            <a:r>
              <a:t>      "한국전력의 사내표준 AI 플랫폼 사례. 직원의 표준 질의에 근거 조문을 연결하고 표준 개정 검토와 전자결재까지 이어지는 업무 지원 구조.",</a:t>
            </a:r>
          </a:p>
          <a:p xmlns:a="http://schemas.openxmlformats.org/drawingml/2006/main">
            <a:r>
              <a:t>      "표준 문서의 조문·판본을 검색 단위로 구성하고 질의 응답에 근거를 제시하는 흐름. 개정 검토에서는 변경 대상과 관련 조문을 비교하고 검토자가 확인한 내용을 결재 과정으로 연결하는 논리 설계.",</a:t>
            </a:r>
          </a:p>
          <a:p xmlns:a="http://schemas.openxmlformats.org/drawingml/2006/main">
            <a:r>
              <a:t>      "CCK에서 참고할 지점은 검색 결과가 규정 개정·결재 업무로 이어지는 연결. TS 지침의 시행일·관련 조항·개정 책임 부서를 함께 관리하고 최신 조문 검색, 개정 영향 누락, 승인 전 반영을 각각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"사내표준 질의",</a:t>
            </a:r>
          </a:p>
          <a:p xmlns:a="http://schemas.openxmlformats.org/drawingml/2006/main">
            <a:r>
              <a:t>          "layer": "이용 접점",</a:t>
            </a:r>
          </a:p>
          <a:p xmlns:a="http://schemas.openxmlformats.org/drawingml/2006/main">
            <a:r>
              <a:t>          "detail": "직원·규정 소관부서·결재자",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"문서번호·개정사유",</a:t>
            </a:r>
          </a:p>
          <a:p xmlns:a="http://schemas.openxmlformats.org/drawingml/2006/main">
            <a:r>
              <a:t>          "layer": "업무 문맥",</a:t>
            </a:r>
          </a:p>
          <a:p xmlns:a="http://schemas.openxmlformats.org/drawingml/2006/main">
            <a:r>
              <a:t>          "detail": "문서번호·적용 업무·검토 사유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표준 검색",</a:t>
            </a:r>
          </a:p>
          <a:p xmlns:a="http://schemas.openxmlformats.org/drawingml/2006/main">
            <a:r>
              <a:t>          "layer": "자료 조회",</a:t>
            </a:r>
          </a:p>
          <a:p xmlns:a="http://schemas.openxmlformats.org/drawingml/2006/main">
            <a:r>
              <a:t>          "detail": "사내표준",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"조문 대조·초안",</a:t>
            </a:r>
          </a:p>
          <a:p xmlns:a="http://schemas.openxmlformats.org/drawingml/2006/main">
            <a:r>
              <a:t>          "layer": "핵심 처리",</a:t>
            </a:r>
          </a:p>
          <a:p xmlns:a="http://schemas.openxmlformats.org/drawingml/2006/main">
            <a:r>
              <a:t>          "detail": "사내표준 RAG와 조문 대조·개정 초안",</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"영향·판본 검사",</a:t>
            </a:r>
          </a:p>
          <a:p xmlns:a="http://schemas.openxmlformats.org/drawingml/2006/main">
            <a:r>
              <a:t>          "layer": "결과 검증",</a:t>
            </a:r>
          </a:p>
          <a:p xmlns:a="http://schemas.openxmlformats.org/drawingml/2006/main">
            <a:r>
              <a:t>          "detail": "승인 판본·효력일·영향 조문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"소관부서 검토",</a:t>
            </a:r>
          </a:p>
          <a:p xmlns:a="http://schemas.openxmlformats.org/drawingml/2006/main">
            <a:r>
              <a:t>          "layer": "사람 확인",</a:t>
            </a:r>
          </a:p>
          <a:p xmlns:a="http://schemas.openxmlformats.org/drawingml/2006/main">
            <a:r>
              <a:t>          "detail": "특정 사내표준을 개정하고 영향 조문을 검토해 결재",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"전자결재 연결",</a:t>
            </a:r>
          </a:p>
          <a:p xmlns:a="http://schemas.openxmlformats.org/drawingml/2006/main">
            <a:r>
              <a:t>          "layer": "업무 연결",</a:t>
            </a:r>
          </a:p>
          <a:p xmlns:a="http://schemas.openxmlformats.org/drawingml/2006/main">
            <a:r>
              <a:t>          "detail": "소관부서 검토 후 전자결재 절차 연계",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"승인본 갱신",</a:t>
            </a:r>
          </a:p>
          <a:p xmlns:a="http://schemas.openxmlformats.org/drawingml/2006/main">
            <a:r>
              <a:t>          "layer": "운영 관측",</a:t>
            </a:r>
          </a:p>
          <a:p xmlns:a="http://schemas.openxmlformats.org/drawingml/2006/main">
            <a:r>
              <a:t>          "detail": "승인본 반영·구판 회수·개정 영향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"사내표준·개정이력",</a:t>
            </a:r>
          </a:p>
          <a:p xmlns:a="http://schemas.openxmlformats.org/drawingml/2006/main">
            <a:r>
              <a:t>          "layer": "데이터 원천",</a:t>
            </a:r>
          </a:p>
          <a:p xmlns:a="http://schemas.openxmlformats.org/drawingml/2006/main">
            <a:r>
              <a:t>          "detail": "사내표준·개정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"조문·효력일 정합화",</a:t>
            </a:r>
          </a:p>
          <a:p xmlns:a="http://schemas.openxmlformats.org/drawingml/2006/main">
            <a:r>
              <a:t>          "layer": "준비·갱신",</a:t>
            </a:r>
          </a:p>
          <a:p xmlns:a="http://schemas.openxmlformats.org/drawingml/2006/main">
            <a:r>
              <a:t>          "detail": "사내표준·개정 이력·근거 조문의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"표준·개정 후보",</a:t>
            </a:r>
          </a:p>
          <a:p xmlns:a="http://schemas.openxmlformats.org/drawingml/2006/main">
            <a:r>
              <a:t>          "layer": "상태·지식 저장",</a:t>
            </a:r>
          </a:p>
          <a:p xmlns:a="http://schemas.openxmlformats.org/drawingml/2006/main">
            <a:r>
              <a:t>          "detail": "판본별 변경·영향·결재·색인 반영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"승인·배포 권한",</a:t>
            </a:r>
          </a:p>
          <a:p xmlns:a="http://schemas.openxmlformats.org/drawingml/2006/main">
            <a:r>
              <a:t>          "layer": "권한·정책",</a:t>
            </a:r>
          </a:p>
          <a:p xmlns:a="http://schemas.openxmlformats.org/drawingml/2006/main">
            <a:r>
              <a:t>          "detail": "미승인 개정안·참조 조문 삭제·구판 재인용",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"사내표준 정비 → 근거 질의·응답 → 개정·오류 점검 → 전자결재·담당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"사내표준·개정 이력",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"관련 조문",</a:t>
            </a:r>
          </a:p>
          <a:p xmlns:a="http://schemas.openxmlformats.org/drawingml/2006/main">
            <a:r>
              <a:t>          "check": "사내표준·개정 이력·근거 조문의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"개정·오류 후보",</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"결재 검토",</a:t>
            </a:r>
          </a:p>
          <a:p xmlns:a="http://schemas.openxmlformats.org/drawingml/2006/main">
            <a:r>
              <a:t>          "check": "판본별 변경·영향·결재·색인 반영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"사내표준 검색부터 개정 검토까지 연결 / 표준 검색·개정 검토·전자결재",</a:t>
            </a:r>
          </a:p>
          <a:p xmlns:a="http://schemas.openxmlformats.org/drawingml/2006/main">
            <a:r>
              <a:t>        "extension": "규정 검색 결과를 개정 영향·책임부서·전자결재 절차까지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"미승인 개정안·참조 조문 삭제·구판 재인용",</a:t>
            </a:r>
          </a:p>
          <a:p xmlns:a="http://schemas.openxmlformats.org/drawingml/2006/main">
            <a:r>
              <a:t>        "hold": "승인 판본·효력일·영향 조문 대사",</a:t>
            </a:r>
          </a:p>
          <a:p xmlns:a="http://schemas.openxmlformats.org/drawingml/2006/main">
            <a:r>
              <a:t>        "recovery": "승인본 반영·구판 회수·개정 영향 점검",</a:t>
            </a:r>
          </a:p>
          <a:p xmlns:a="http://schemas.openxmlformats.org/drawingml/2006/main">
            <a:r>
              <a:t>        "evidence": "판본별 변경·영향·결재·색인 반영 연결표"</a:t>
            </a:r>
          </a:p>
          <a:p xmlns:a="http://schemas.openxmlformats.org/drawingml/2006/main">
            <a:r>
              <a:t>      },</a:t>
            </a:r>
          </a:p>
          <a:p xmlns:a="http://schemas.openxmlformats.org/drawingml/2006/main">
            <a:r>
              <a:t>      "data": {</a:t>
            </a:r>
          </a:p>
          <a:p xmlns:a="http://schemas.openxmlformats.org/drawingml/2006/main">
            <a:r>
              <a:t>        "source": "사내표준·개정 이력",</a:t>
            </a:r>
          </a:p>
          <a:p xmlns:a="http://schemas.openxmlformats.org/drawingml/2006/main">
            <a:r>
              <a:t>        "prepare": "사내표준·개정 이력·근거 조문의 연결",</a:t>
            </a:r>
          </a:p>
          <a:p xmlns:a="http://schemas.openxmlformats.org/drawingml/2006/main">
            <a:r>
              <a:t>        "output": "사내표준",</a:t>
            </a:r>
          </a:p>
          <a:p xmlns:a="http://schemas.openxmlformats.org/drawingml/2006/main">
            <a:r>
              <a:t>        "refresh": "승인본 반영·구판 회수·개정 영향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"PF02",</a:t>
            </a:r>
          </a:p>
          <a:p xmlns:a="http://schemas.openxmlformats.org/drawingml/2006/main">
            <a:r>
              <a:t>    "success": [</a:t>
            </a:r>
          </a:p>
          <a:p xmlns:a="http://schemas.openxmlformats.org/drawingml/2006/main">
            <a:r>
              <a:t>      "사내표준 검색과 개정 검토 연결",</a:t>
            </a:r>
          </a:p>
          <a:p xmlns:a="http://schemas.openxmlformats.org/drawingml/2006/main">
            <a:r>
              <a:t>      "전자결재 흐름에서의 활용"</a:t>
            </a:r>
          </a:p>
          <a:p xmlns:a="http://schemas.openxmlformats.org/drawingml/2006/main">
            <a:r>
              <a:t>    ],</a:t>
            </a:r>
          </a:p>
          <a:p xmlns:a="http://schemas.openxmlformats.org/drawingml/2006/main">
            <a:r>
              <a:t>    "risks": [</a:t>
            </a:r>
          </a:p>
          <a:p xmlns:a="http://schemas.openxmlformats.org/drawingml/2006/main">
            <a:r>
              <a:t>      "규정 판본·효력일 불일치",</a:t>
            </a:r>
          </a:p>
          <a:p xmlns:a="http://schemas.openxmlformats.org/drawingml/2006/main">
            <a:r>
              <a:t>      "개정 초안의 무승인 배포"</a:t>
            </a:r>
          </a:p>
          <a:p xmlns:a="http://schemas.openxmlformats.org/drawingml/2006/main">
            <a:r>
              <a:t>    ],</a:t>
            </a:r>
          </a:p>
          <a:p xmlns:a="http://schemas.openxmlformats.org/drawingml/2006/main">
            <a:r>
              <a:t>    "architecture": [</a:t>
            </a:r>
          </a:p>
          <a:p xmlns:a="http://schemas.openxmlformats.org/drawingml/2006/main">
            <a:r>
              <a:t>      "직원·규정 담당",</a:t>
            </a:r>
          </a:p>
          <a:p xmlns:a="http://schemas.openxmlformats.org/drawingml/2006/main">
            <a:r>
              <a:t>      "근거 검색·개정 검토",</a:t>
            </a:r>
          </a:p>
          <a:p xmlns:a="http://schemas.openxmlformats.org/drawingml/2006/main">
            <a:r>
              <a:t>      "사내표준·개정 이력",</a:t>
            </a:r>
          </a:p>
          <a:p xmlns:a="http://schemas.openxmlformats.org/drawingml/2006/main">
            <a:r>
              <a:t>      "전자결재 검토자"</a:t>
            </a:r>
          </a:p>
          <a:p xmlns:a="http://schemas.openxmlformats.org/drawingml/2006/main">
            <a:r>
              <a:t>    ],</a:t>
            </a:r>
          </a:p>
          <a:p xmlns:a="http://schemas.openxmlformats.org/drawingml/2006/main">
            <a:r>
              <a:t>    "transfers": [</a:t>
            </a:r>
          </a:p>
          <a:p xmlns:a="http://schemas.openxmlformats.org/drawingml/2006/main">
            <a:r>
              <a:t>      "사내표준",</a:t>
            </a:r>
          </a:p>
          <a:p xmlns:a="http://schemas.openxmlformats.org/drawingml/2006/main">
            <a:r>
              <a:t>      "관련 조문",</a:t>
            </a:r>
          </a:p>
          <a:p xmlns:a="http://schemas.openxmlformats.org/drawingml/2006/main">
            <a:r>
              <a:t>      "개정·오류 후보",</a:t>
            </a:r>
          </a:p>
          <a:p xmlns:a="http://schemas.openxmlformats.org/drawingml/2006/main">
            <a:r>
              <a:t>      "결재 검토"</a:t>
            </a:r>
          </a:p>
          <a:p xmlns:a="http://schemas.openxmlformats.org/drawingml/2006/main">
            <a:r>
              <a:t>    ],</a:t>
            </a:r>
          </a:p>
          <a:p xmlns:a="http://schemas.openxmlformats.org/drawingml/2006/main">
            <a:r>
              <a:t>    "control": "승인 판본·효력일·영향 조문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기관 사보 운영 소개 https://www.kepco.co.kr/KEPCO_FILE/html/2026_09/issue.html</a:t>
            </a:r>
          </a:p>
          <a:p xmlns:a="http://schemas.openxmlformats.org/drawingml/2006/main">
            <a:r>
              <a:t>홈페이지 https://heen1987-ops.github.io/TS-business-Plan-001/index.html?view=platform-cases&amp;case=PF02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a:p xmlns:a="http://schemas.openxmlformats.org/drawingml/2006/main">
            <a:r>
              <a:t>한계: 로컬 PUBLIC 원본 재사용 사례. 최신 계약·검수·운영 상황은 별도 확인 필요</a:t>
            </a:r>
          </a:p>
          <a:p xmlns:a="http://schemas.openxmlformats.org/drawingml/2006/main">
            <a:r>
              <a:t>실패 위험: 해외사업 문서별 접근 차이 / RFP와 운영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a:p xmlns:a="http://schemas.openxmlformats.org/drawingml/2006/main">
            <a:r>
              <a:t>이미지 모델 재구성 {"path":"assets/casebook-reconstructions/PF-A03.png","title":"KIND 대내 생성형 AI · 권한 검색과 업무 실행 재구성","basis":"공식 사전규격 RFP Ⅰ.3·권한 메타데이터·API 에이전트","method":"이미지 모델 생성 후 RFP 요구와 경로 대조","status":"CCK 분석 재구성 · 원문 도면 아님","sha256":"416a3fdc64f81332d72e4c459fd0e51f83af0872e920e44e96824c2a7baa6f59"}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"PF-A03",</a:t>
            </a:r>
          </a:p>
          <a:p xmlns:a="http://schemas.openxmlformats.org/drawingml/2006/main">
            <a:r>
              <a:t>    "sourceId": "A03",</a:t>
            </a:r>
          </a:p>
          <a:p xmlns:a="http://schemas.openxmlformats.org/drawingml/2006/main">
            <a:r>
              <a:t>    "title": "KIND 생성형 AI",</a:t>
            </a:r>
          </a:p>
          <a:p xmlns:a="http://schemas.openxmlformats.org/drawingml/2006/main">
            <a:r>
              <a:t>    "region": "국내",</a:t>
            </a:r>
          </a:p>
          <a:p xmlns:a="http://schemas.openxmlformats.org/drawingml/2006/main">
            <a:r>
              <a:t>    "owner": "KIND / 대내 생성형 AI 서비스 구축",</a:t>
            </a:r>
          </a:p>
          <a:p xmlns:a="http://schemas.openxmlformats.org/drawingml/2006/main">
            <a:r>
              <a:t>    "state": "공식 RFP 확보 / 운영 성과 미확인",</a:t>
            </a:r>
          </a:p>
          <a:p xmlns:a="http://schemas.openxmlformats.org/drawingml/2006/main">
            <a:r>
              <a:t>    "period": "기존 원장 확인 2026.10.16",</a:t>
            </a:r>
          </a:p>
          <a:p xmlns:a="http://schemas.openxmlformats.org/drawingml/2006/main">
            <a:r>
              <a:t>    "fact": "사내 산출물의 RAG 검색·권한 필터와 내부 시스템 API 기반 업무 에이전트 구축 요구",</a:t>
            </a:r>
          </a:p>
          <a:p xmlns:a="http://schemas.openxmlformats.org/drawingml/2006/main">
            <a:r>
              <a:t>    "limit": "로컬 PUBLIC 원본 재사용 사례. 최신 계약·검수·운영 상황은 별도 확인 필요",</a:t>
            </a:r>
          </a:p>
          <a:p xmlns:a="http://schemas.openxmlformats.org/drawingml/2006/main">
            <a:r>
              <a:t>    "nodes": [</a:t>
            </a:r>
          </a:p>
          <a:p xmlns:a="http://schemas.openxmlformats.org/drawingml/2006/main">
            <a:r>
              <a:t>      "권한별 자료",</a:t>
            </a:r>
          </a:p>
          <a:p xmlns:a="http://schemas.openxmlformats.org/drawingml/2006/main">
            <a:r>
              <a:t>      "RAG·지식 갱신",</a:t>
            </a:r>
          </a:p>
          <a:p xmlns:a="http://schemas.openxmlformats.org/drawingml/2006/main">
            <a:r>
              <a:t>      "업무 에이전트",</a:t>
            </a:r>
          </a:p>
          <a:p xmlns:a="http://schemas.openxmlformats.org/drawingml/2006/main">
            <a:r>
              <a:t>      "현업 검토"</a:t>
            </a:r>
          </a:p>
          <a:p xmlns:a="http://schemas.openxmlformats.org/drawingml/2006/main">
            <a:r>
              <a:t>    ],</a:t>
            </a:r>
          </a:p>
          <a:p xmlns:a="http://schemas.openxmlformats.org/drawingml/2006/main">
            <a:r>
              <a:t>    "apply": "문서·청크의 업무 메타데이터와 검색 전 권한 필터를 함께 구성",</a:t>
            </a:r>
          </a:p>
          <a:p xmlns:a="http://schemas.openxmlformats.org/drawingml/2006/main">
            <a:r>
              <a:t>    "delta": "사업·문서·청크 메타데이터 / 동적 권한 필터 / 부서별 API 어댑터",</a:t>
            </a:r>
          </a:p>
          <a:p xmlns:a="http://schemas.openxmlformats.org/drawingml/2006/main">
            <a:r>
              <a:t>    "test": "암호문서·권한 회수·메타데이터 누락 상태에서 검색 결과와 원천 대사",</a:t>
            </a:r>
          </a:p>
          <a:p xmlns:a="http://schemas.openxmlformats.org/drawingml/2006/main">
            <a:r>
              <a:t>    "url": null,</a:t>
            </a:r>
          </a:p>
          <a:p xmlns:a="http://schemas.openxmlformats.org/drawingml/2006/main">
            <a:r>
              <a:t>    "urls": [],</a:t>
            </a:r>
          </a:p>
          <a:p xmlns:a="http://schemas.openxmlformats.org/drawingml/2006/main">
            <a:r>
              <a:t>    "basis": "P121~123 / 공통영역 요구 비교",</a:t>
            </a:r>
          </a:p>
          <a:p xmlns:a="http://schemas.openxmlformats.org/drawingml/2006/main">
            <a:r>
              <a:t>    "checked": "2026-10-16",</a:t>
            </a:r>
          </a:p>
          <a:p xmlns:a="http://schemas.openxmlformats.org/drawingml/2006/main">
            <a:r>
              <a:t>    "diagramBasis": "공개 요구사항 기반 설계 흐름 재구성 · 실제 구현·비공개 배치와 구분",</a:t>
            </a:r>
          </a:p>
          <a:p xmlns:a="http://schemas.openxmlformats.org/drawingml/2006/main">
            <a:r>
              <a:t>    "effect": "권한 오노출 / 근거 일치율 / 지식 갱신 지연",</a:t>
            </a:r>
          </a:p>
          <a:p xmlns:a="http://schemas.openxmlformats.org/drawingml/2006/main">
            <a:r>
              <a:t>    "group": "요구·구축",</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"PF-A03",</a:t>
            </a:r>
          </a:p>
          <a:p xmlns:a="http://schemas.openxmlformats.org/drawingml/2006/main">
            <a:r>
              <a:t>    "canonicalId": "PF-A03",</a:t>
            </a:r>
          </a:p>
          <a:p xmlns:a="http://schemas.openxmlformats.org/drawingml/2006/main">
            <a:r>
              <a:t>    "purpose": "해외 인프라 사업 지식의 공통 활용",</a:t>
            </a:r>
          </a:p>
          <a:p xmlns:a="http://schemas.openxmlformats.org/drawingml/2006/main">
            <a:r>
              <a:t>    "users": "사업부서·문서 담당·플랫폼 운영자",</a:t>
            </a:r>
          </a:p>
          <a:p xmlns:a="http://schemas.openxmlformats.org/drawingml/2006/main">
            <a:r>
              <a:t>    "scope": [</a:t>
            </a:r>
          </a:p>
          <a:p xmlns:a="http://schemas.openxmlformats.org/drawingml/2006/main">
            <a:r>
              <a:t>      "기관 RAG",</a:t>
            </a:r>
          </a:p>
          <a:p xmlns:a="http://schemas.openxmlformats.org/drawingml/2006/main">
            <a:r>
              <a:t>      "업무 에이전트",</a:t>
            </a:r>
          </a:p>
          <a:p xmlns:a="http://schemas.openxmlformats.org/drawingml/2006/main">
            <a:r>
              <a:t>      "데이터 거버넌스"</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사용자",</a:t>
            </a:r>
          </a:p>
          <a:p xmlns:a="http://schemas.openxmlformats.org/drawingml/2006/main">
            <a:r>
              <a:t>        "detail": "SSO와 부서·암호문서 접근조건 연결",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RAG / 업무 에이전트 / 데이터 거버넌스",</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"RAG·업무 에이전트",</a:t>
            </a:r>
          </a:p>
          <a:p xmlns:a="http://schemas.openxmlformats.org/drawingml/2006/main">
            <a:r>
              <a:t>        "detail": "하이브리드 검색의 동적 권한 필터와 API 연계",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"원문 근거·업무 초안을 부서별 검토자에게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"허용 문서",</a:t>
            </a:r>
          </a:p>
          <a:p xmlns:a="http://schemas.openxmlformats.org/drawingml/2006/main">
            <a:r>
              <a:t>        "detail": "사내 산출물 수집·청킹·메타데이터 부착",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"지식 갱신·응답 정확도·질의 유형의 지속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"권한별 자료",</a:t>
            </a:r>
          </a:p>
          <a:p xmlns:a="http://schemas.openxmlformats.org/drawingml/2006/main">
            <a:r>
              <a:t>        "input": "SSO와 부서·암호문서 접근조건 연결",</a:t>
            </a:r>
          </a:p>
          <a:p xmlns:a="http://schemas.openxmlformats.org/drawingml/2006/main">
            <a:r>
              <a:t>        "process": "사내 산출물 수집·청킹·메타데이터 부착",</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"title": "RAG·지식 갱신",</a:t>
            </a:r>
          </a:p>
          <a:p xmlns:a="http://schemas.openxmlformats.org/drawingml/2006/main">
            <a:r>
              <a:t>        "input": "자료·권한",</a:t>
            </a:r>
          </a:p>
          <a:p xmlns:a="http://schemas.openxmlformats.org/drawingml/2006/main">
            <a:r>
              <a:t>        "process": "하이브리드 검색의 동적 권한 필터와 API 연계",</a:t>
            </a:r>
          </a:p>
          <a:p xmlns:a="http://schemas.openxmlformats.org/drawingml/2006/main">
            <a:r>
              <a:t>        "output": "검색 근거"</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"검색 근거",</a:t>
            </a:r>
          </a:p>
          <a:p xmlns:a="http://schemas.openxmlformats.org/drawingml/2006/main">
            <a:r>
              <a:t>        "process": "사업·문서별 권한과 최신 판본 검증",</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"현업 검토",</a:t>
            </a:r>
          </a:p>
          <a:p xmlns:a="http://schemas.openxmlformats.org/drawingml/2006/main">
            <a:r>
              <a:t>        "input": "업무 초안",</a:t>
            </a:r>
          </a:p>
          <a:p xmlns:a="http://schemas.openxmlformats.org/drawingml/2006/main">
            <a:r>
              <a:t>        "process":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문서 질의에서 권한 내 근거를 찾고 업무 초안 생성",</a:t>
            </a:r>
          </a:p>
          <a:p xmlns:a="http://schemas.openxmlformats.org/drawingml/2006/main">
            <a:r>
              <a:t>      "exception": "암호문서·다른 부서 자료·메타데이터 누락",</a:t>
            </a:r>
          </a:p>
          <a:p xmlns:a="http://schemas.openxmlformats.org/drawingml/2006/main">
            <a:r>
              <a:t>      "evidence": "문서·청크별 접근시험과 근거·갱신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"사업부서·문서 담당·플랫폼 운영자",</a:t>
            </a:r>
          </a:p>
          <a:p xmlns:a="http://schemas.openxmlformats.org/drawingml/2006/main">
            <a:r>
              <a:t>          "processing": "SSO와 부서·암호문서 접근조건 연결",</a:t>
            </a:r>
          </a:p>
          <a:p xmlns:a="http://schemas.openxmlformats.org/drawingml/2006/main">
            <a:r>
              <a:t>          "output": "자료·권한"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"허용 문서",</a:t>
            </a:r>
          </a:p>
          <a:p xmlns:a="http://schemas.openxmlformats.org/drawingml/2006/main">
            <a:r>
              <a:t>          "processing": "사내 산출물 수집·청킹·메타데이터 부착",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"자료·권한",</a:t>
            </a:r>
          </a:p>
          <a:p xmlns:a="http://schemas.openxmlformats.org/drawingml/2006/main">
            <a:r>
              <a:t>          "processing": "하이브리드 검색의 동적 권한 필터와 API 연계",</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"원문 근거·업무 초안을 부서별 검토자에게 제공",</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"지식 갱신·응답 정확도·질의 유형의 지속 관측",</a:t>
            </a:r>
          </a:p>
          <a:p xmlns:a="http://schemas.openxmlformats.org/drawingml/2006/main">
            <a:r>
              <a:t>          "output": "문서·청크별 접근시험과 근거·갱신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"지식 갱신·응답 정확도·질의 유형의 지속 관측",</a:t>
            </a:r>
          </a:p>
          <a:p xmlns:a="http://schemas.openxmlformats.org/drawingml/2006/main">
            <a:r>
              <a:t>    "status": "RFP 기반 논리 설계",</a:t>
            </a:r>
          </a:p>
          <a:p xmlns:a="http://schemas.openxmlformats.org/drawingml/2006/main">
            <a:r>
              <a:t>    "basis": "대내 생성형 AI 서비스 구축 RFP · Ⅰ.3 사업범위·메타데이터 및 동적 권한 필터",</a:t>
            </a:r>
          </a:p>
          <a:p xmlns:a="http://schemas.openxmlformats.org/drawingml/2006/main">
            <a:r>
              <a:t>    "rfp": true,</a:t>
            </a:r>
          </a:p>
          <a:p xmlns:a="http://schemas.openxmlformats.org/drawingml/2006/main">
            <a:r>
              <a:t>    "sources": [],</a:t>
            </a:r>
          </a:p>
          <a:p xmlns:a="http://schemas.openxmlformats.org/drawingml/2006/main">
            <a:r>
              <a:t>    "implication": "문서·청크의 업무 메타데이터와 검색 전 권한 필터를 함께 구성",</a:t>
            </a:r>
          </a:p>
          <a:p xmlns:a="http://schemas.openxmlformats.org/drawingml/2006/main">
            <a:r>
              <a:t>    "local": "문서·청크의 업무 메타데이터와 검색 전 권한 필터를 함께 구성",</a:t>
            </a:r>
          </a:p>
          <a:p xmlns:a="http://schemas.openxmlformats.org/drawingml/2006/main">
            <a:r>
              <a:t>    "sourceDetail": "RAG·권한 메타데이터·부서별 업무 지원·에이전트/API 연계·지식 갱신을 요구\n데이터 권한·운영 피드백을 공통체계로 정의",</a:t>
            </a:r>
          </a:p>
          <a:p xmlns:a="http://schemas.openxmlformats.org/drawingml/2006/main">
            <a:r>
              <a:t>    "narrative": [</a:t>
            </a:r>
          </a:p>
          <a:p xmlns:a="http://schemas.openxmlformats.org/drawingml/2006/main">
            <a:r>
              <a:t>      "해외 인프라 사업 산출물의 검색과 업무별 에이전트 활용을 기관 공통 서비스로 구성하는 요구. 사업·부서마다 보유 문서와 접근조건이 달라 문서 수집 단계부터 소유·권한·업무 문맥을 연결해야 하는 유형.",</a:t>
            </a:r>
          </a:p>
          <a:p xmlns:a="http://schemas.openxmlformats.org/drawingml/2006/main">
            <a:r>
              <a:t>      "RFP 사업범위의 핵심은 문서 메타데이터 자동 부착, 청킹, 하이브리드 검색의 동적 권한 필터, API 기반 업무 에이전트. 검색 결과를 나중에 가리는 방식보다 검색 후보를 구성할 때 허용 자료만 전달하는 설계가 주요 비교 지점.",</a:t>
            </a:r>
          </a:p>
          <a:p xmlns:a="http://schemas.openxmlformats.org/drawingml/2006/main">
            <a:r>
              <a:t>      "CCK에서는 기관 공통 RAG를 재사용하면서 공식 조직·사업 ID와 문서 권한을 추가 연결하는 범위로 구체화. 전보·겸직·사업 종료·문서 회수에 따른 색인과 캐시의 갱신, API 도구별 실행권한을 별도 검수할 필요."</a:t>
            </a:r>
          </a:p>
          <a:p xmlns:a="http://schemas.openxmlformats.org/drawingml/2006/main">
            <a:r>
              <a:t>    ],</a:t>
            </a:r>
          </a:p>
          <a:p xmlns:a="http://schemas.openxmlformats.org/drawingml/2006/main">
            <a:r>
              <a:t>    "requirements": [</a:t>
            </a:r>
          </a:p>
          <a:p xmlns:a="http://schemas.openxmlformats.org/drawingml/2006/main">
            <a:r>
              <a:t>      {</a:t>
            </a:r>
          </a:p>
          <a:p xmlns:a="http://schemas.openxmlformats.org/drawingml/2006/main">
            <a:r>
              <a:t>        "id": "Ⅰ.3 / 지식검색",</a:t>
            </a:r>
          </a:p>
          <a:p xmlns:a="http://schemas.openxmlformats.org/drawingml/2006/main">
            <a:r>
              <a:t>        "title": "사내 산출물 기반 RAG",</a:t>
            </a:r>
          </a:p>
          <a:p xmlns:a="http://schemas.openxmlformats.org/drawingml/2006/main">
            <a:r>
              <a:t>        "locator": "Ⅰ.3 사업범위",</a:t>
            </a:r>
          </a:p>
          <a:p xmlns:a="http://schemas.openxmlformats.org/drawingml/2006/main">
            <a:r>
              <a:t>        "summary": "내부 산출물의 수집·정제·메타데이터와 검색 증강 기반 질의응답 구성.",</a:t>
            </a:r>
          </a:p>
          <a:p xmlns:a="http://schemas.openxmlformats.org/drawingml/2006/main">
            <a:r>
              <a:t>        "data": "내부 문서·질의 → 근거가 연결된 답변",</a:t>
            </a:r>
          </a:p>
          <a:p xmlns:a="http://schemas.openxmlformats.org/drawingml/2006/main">
            <a:r>
              <a:t>        "components": [</a:t>
            </a:r>
          </a:p>
          <a:p xmlns:a="http://schemas.openxmlformats.org/drawingml/2006/main">
            <a:r>
              <a:t>          "C03",</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a:t>
            </a:r>
          </a:p>
          <a:p xmlns:a="http://schemas.openxmlformats.org/drawingml/2006/main">
            <a:r>
              <a:t>        "acceptance": "문서 개정·삭제·다른 업무 자료 혼재 시 원문·판본·인용 위치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권한",</a:t>
            </a:r>
          </a:p>
          <a:p xmlns:a="http://schemas.openxmlformats.org/drawingml/2006/main">
            <a:r>
              <a:t>        "title": "메타데이터·동적 권한 필터",</a:t>
            </a:r>
          </a:p>
          <a:p xmlns:a="http://schemas.openxmlformats.org/drawingml/2006/main">
            <a:r>
              <a:t>        "locator": "Ⅰ.3 사업범위",</a:t>
            </a:r>
          </a:p>
          <a:p xmlns:a="http://schemas.openxmlformats.org/drawingml/2006/main">
            <a:r>
              <a:t>        "summary": "문서 메타데이터와 사용자 권한을 이용해 검색·응답 대상을 제한하는 요구.",</a:t>
            </a:r>
          </a:p>
          <a:p xmlns:a="http://schemas.openxmlformats.org/drawingml/2006/main">
            <a:r>
              <a:t>        "data": "사용자·권한·문서 속성 → 허용 자료 범위",</a:t>
            </a:r>
          </a:p>
          <a:p xmlns:a="http://schemas.openxmlformats.org/drawingml/2006/main">
            <a:r>
              <a:t>        "components":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a:t>
            </a:r>
          </a:p>
          <a:p xmlns:a="http://schemas.openxmlformats.org/drawingml/2006/main">
            <a:r>
              <a:t>        "acceptance": "전보·공유 해제·권한 회수 직후 검색 후보와 답변 인용에서 비허용 자료 제외 확인",</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"id": "Ⅰ.3 / 업무연계",</a:t>
            </a:r>
          </a:p>
          <a:p xmlns:a="http://schemas.openxmlformats.org/drawingml/2006/main">
            <a:r>
              <a:t>        "title": "내부 API 기반 업무 에이전트",</a:t>
            </a:r>
          </a:p>
          <a:p xmlns:a="http://schemas.openxmlformats.org/drawingml/2006/main">
            <a:r>
              <a:t>        "locator": "Ⅰ.3 사업범위",</a:t>
            </a:r>
          </a:p>
          <a:p xmlns:a="http://schemas.openxmlformats.org/drawingml/2006/main">
            <a:r>
              <a:t>        "summary": "내부 업무시스템의 API를 활용해 요청을 처리하는 업무 에이전트 구성.",</a:t>
            </a:r>
          </a:p>
          <a:p xmlns:a="http://schemas.openxmlformats.org/drawingml/2006/main">
            <a:r>
              <a:t>        "data": "업무 요청·연계 인자 → 시스템 결과·처리 상태",</a:t>
            </a:r>
          </a:p>
          <a:p xmlns:a="http://schemas.openxmlformats.org/drawingml/2006/main">
            <a:r>
              <a:t>        "components": [</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"acceptance": "권한 없는 실행·필수값 누락·중복 호출·부분 실패의 보류 및 처리 결과 대사",</a:t>
            </a:r>
          </a:p>
          <a:p xmlns:a="http://schemas.openxmlformats.org/drawingml/2006/main">
            <a:r>
              <a:t>        "basis": "RFP 사업범위 요약 · 항목명은 분석용 구분",</a:t>
            </a:r>
          </a:p>
          <a:p xmlns:a="http://schemas.openxmlformats.org/drawingml/2006/main">
            <a:r>
              <a:t>        "testBasis": "CCK 비교·검수 설계"</a:t>
            </a:r>
          </a:p>
          <a:p xmlns:a="http://schemas.openxmlformats.org/drawingml/2006/main">
            <a:r>
              <a:t>      }</a:t>
            </a:r>
          </a:p>
          <a:p xmlns:a="http://schemas.openxmlformats.org/drawingml/2006/main">
            <a:r>
              <a:t>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사용자 접점",</a:t>
            </a:r>
          </a:p>
          <a:p xmlns:a="http://schemas.openxmlformats.org/drawingml/2006/main">
            <a:r>
              <a:t>          "layer": "이용 접점",</a:t>
            </a:r>
          </a:p>
          <a:p xmlns:a="http://schemas.openxmlformats.org/drawingml/2006/main">
            <a:r>
              <a:t>          "detail": "사업부서·문서 담당·플랫폼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"SSO·부서·문서",</a:t>
            </a:r>
          </a:p>
          <a:p xmlns:a="http://schemas.openxmlformats.org/drawingml/2006/main">
            <a:r>
              <a:t>          "layer": "업무 문맥",</a:t>
            </a:r>
          </a:p>
          <a:p xmlns:a="http://schemas.openxmlformats.org/drawingml/2006/main">
            <a:r>
              <a:t>          "detail": "SSO와 부서·암호문서 접근조건 연결",</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"동적 권한 검색",</a:t>
            </a:r>
          </a:p>
          <a:p xmlns:a="http://schemas.openxmlformats.org/drawingml/2006/main">
            <a:r>
              <a:t>          "layer": "자료 조회",</a:t>
            </a:r>
          </a:p>
          <a:p xmlns:a="http://schemas.openxmlformats.org/drawingml/2006/main">
            <a:r>
              <a:t>          "detail": "자료·권한",</a:t>
            </a:r>
          </a:p>
          <a:p xmlns:a="http://schemas.openxmlformats.org/drawingml/2006/main">
            <a:r>
              <a:t>          "requirements": [</a:t>
            </a:r>
          </a:p>
          <a:p xmlns:a="http://schemas.openxmlformats.org/drawingml/2006/main">
            <a:r>
              <a:t>            "Ⅰ.3 / 지식검색",</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"RAG·API 에이전트",</a:t>
            </a:r>
          </a:p>
          <a:p xmlns:a="http://schemas.openxmlformats.org/drawingml/2006/main">
            <a:r>
              <a:t>          "layer": "핵심 처리",</a:t>
            </a:r>
          </a:p>
          <a:p xmlns:a="http://schemas.openxmlformats.org/drawingml/2006/main">
            <a:r>
              <a:t>          "detail": "하이브리드 검색의 동적 권한 필터와 API 연계",</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"원문·도구 결과 대조",</a:t>
            </a:r>
          </a:p>
          <a:p xmlns:a="http://schemas.openxmlformats.org/drawingml/2006/main">
            <a:r>
              <a:t>          "layer": "결과 검증",</a:t>
            </a:r>
          </a:p>
          <a:p xmlns:a="http://schemas.openxmlformats.org/drawingml/2006/main">
            <a:r>
              <a:t>          "detail": "사업·문서별 권한과 최신 판본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"사업부서 검토",</a:t>
            </a:r>
          </a:p>
          <a:p xmlns:a="http://schemas.openxmlformats.org/drawingml/2006/main">
            <a:r>
              <a:t>          "layer": "사람 확인",</a:t>
            </a:r>
          </a:p>
          <a:p xmlns:a="http://schemas.openxmlformats.org/drawingml/2006/main">
            <a:r>
              <a:t>          "detail": "사업 문서 질의에서 권한 내 근거를 찾고 업무 초안 생성",</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"해외사업 업무 초안",</a:t>
            </a:r>
          </a:p>
          <a:p xmlns:a="http://schemas.openxmlformats.org/drawingml/2006/main">
            <a:r>
              <a:t>          "layer": "업무 연결",</a:t>
            </a:r>
          </a:p>
          <a:p xmlns:a="http://schemas.openxmlformats.org/drawingml/2006/main">
            <a:r>
              <a:t>          "detail": "원문 근거·업무 초안을 부서별 검토자에게 제공",</a:t>
            </a:r>
          </a:p>
          <a:p xmlns:a="http://schemas.openxmlformats.org/drawingml/2006/main">
            <a:r>
              <a:t>          "requirements": [</a:t>
            </a:r>
          </a:p>
          <a:p xmlns:a="http://schemas.openxmlformats.org/drawingml/2006/main">
            <a:r>
              <a:t>            "Ⅰ.3 / 업무연계"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"지식·품질 갱신",</a:t>
            </a:r>
          </a:p>
          <a:p xmlns:a="http://schemas.openxmlformats.org/drawingml/2006/main">
            <a:r>
              <a:t>          "layer": "운영 관측",</a:t>
            </a:r>
          </a:p>
          <a:p xmlns:a="http://schemas.openxmlformats.org/drawingml/2006/main">
            <a:r>
              <a:t>          "detail": "지식 갱신·응답 정확도·질의 유형의 지속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사업 산출물",</a:t>
            </a:r>
          </a:p>
          <a:p xmlns:a="http://schemas.openxmlformats.org/drawingml/2006/main">
            <a:r>
              <a:t>          "layer": "데이터 원천",</a:t>
            </a:r>
          </a:p>
          <a:p xmlns:a="http://schemas.openxmlformats.org/drawingml/2006/main">
            <a:r>
              <a:t>          "detail": "허용 문서",</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"청킹·메타데이터",</a:t>
            </a:r>
          </a:p>
          <a:p xmlns:a="http://schemas.openxmlformats.org/drawingml/2006/main">
            <a:r>
              <a:t>          "layer": "준비·갱신",</a:t>
            </a:r>
          </a:p>
          <a:p xmlns:a="http://schemas.openxmlformats.org/drawingml/2006/main">
            <a:r>
              <a:t>          "detail": "사내 산출물 수집·청킹·메타데이터 부착",</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"하이브리드 색인",</a:t>
            </a:r>
          </a:p>
          <a:p xmlns:a="http://schemas.openxmlformats.org/drawingml/2006/main">
            <a:r>
              <a:t>          "layer": "상태·지식 저장",</a:t>
            </a:r>
          </a:p>
          <a:p xmlns:a="http://schemas.openxmlformats.org/drawingml/2006/main">
            <a:r>
              <a:t>          "detail": "문서·청크별 접근시험과 근거·갱신 이력",</a:t>
            </a:r>
          </a:p>
          <a:p xmlns:a="http://schemas.openxmlformats.org/drawingml/2006/main">
            <a:r>
              <a:t>          "requirements": [</a:t>
            </a:r>
          </a:p>
          <a:p xmlns:a="http://schemas.openxmlformats.org/drawingml/2006/main">
            <a:r>
              <a:t>            "Ⅰ.3 / 지식검색"</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"암호문서·접근정책",</a:t>
            </a:r>
          </a:p>
          <a:p xmlns:a="http://schemas.openxmlformats.org/drawingml/2006/main">
            <a:r>
              <a:t>          "layer": "권한·정책",</a:t>
            </a:r>
          </a:p>
          <a:p xmlns:a="http://schemas.openxmlformats.org/drawingml/2006/main">
            <a:r>
              <a:t>          "detail": "암호문서·다른 부서 자료·메타데이터 누락",</a:t>
            </a:r>
          </a:p>
          <a:p xmlns:a="http://schemas.openxmlformats.org/drawingml/2006/main">
            <a:r>
              <a:t>          "requirements": [</a:t>
            </a:r>
          </a:p>
          <a:p xmlns:a="http://schemas.openxmlformats.org/drawingml/2006/main">
            <a:r>
              <a:t>            "Ⅰ.3 / 권한"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"권한별 자료 → RAG·지식 갱신 → 업무 에이전트 → 현업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"허용 문서",</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"SSO와 부서·암호문서 접근조건 연결",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"문서·청크별 접근시험과 근거·갱신 이력",</a:t>
            </a:r>
          </a:p>
          <a:p xmlns:a="http://schemas.openxmlformats.org/drawingml/2006/main">
            <a:r>
              <a:t>          "check": "사내 산출물 수집·청킹·메타데이터 부착"</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근거",</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초안",</a:t>
            </a:r>
          </a:p>
          <a:p xmlns:a="http://schemas.openxmlformats.org/drawingml/2006/main">
            <a:r>
              <a:t>          "check": "문서·청크별 접근시험과 근거·갱신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"RFP Ⅰ.3 사업범위",</a:t>
            </a:r>
          </a:p>
          <a:p xmlns:a="http://schemas.openxmlformats.org/drawingml/2006/main">
            <a:r>
              <a:t>        "extracted": "메타데이터 자동 부착·동적 권한 필터·API 업무 에이전트",</a:t>
            </a:r>
          </a:p>
          <a:p xmlns:a="http://schemas.openxmlformats.org/drawingml/2006/main">
            <a:r>
              <a:t>        "extension": "해외사업별 문서 격리와 승인 후 도구 실행"</a:t>
            </a:r>
          </a:p>
          <a:p xmlns:a="http://schemas.openxmlformats.org/drawingml/2006/main">
            <a:r>
              <a:t>      },</a:t>
            </a:r>
          </a:p>
          <a:p xmlns:a="http://schemas.openxmlformats.org/drawingml/2006/main">
            <a:r>
              <a:t>      "figures": [],</a:t>
            </a:r>
          </a:p>
          <a:p xmlns:a="http://schemas.openxmlformats.org/drawingml/2006/main">
            <a:r>
              <a:t>      "reconstruction": {</a:t>
            </a:r>
          </a:p>
          <a:p xmlns:a="http://schemas.openxmlformats.org/drawingml/2006/main">
            <a:r>
              <a:t>        "path": "assets/casebook-reconstructions/PF-A03.png",</a:t>
            </a:r>
          </a:p>
          <a:p xmlns:a="http://schemas.openxmlformats.org/drawingml/2006/main">
            <a:r>
              <a:t>        "title": "KIND 대내 생성형 AI · 권한 검색과 업무 실행 재구성",</a:t>
            </a:r>
          </a:p>
          <a:p xmlns:a="http://schemas.openxmlformats.org/drawingml/2006/main">
            <a:r>
              <a:t>        "basis": "공식 사전규격 RFP Ⅰ.3·권한 메타데이터·API 에이전트",</a:t>
            </a:r>
          </a:p>
          <a:p xmlns:a="http://schemas.openxmlformats.org/drawingml/2006/main">
            <a:r>
              <a:t>        "method": "이미지 모델 생성 후 RFP 요구와 경로 대조",</a:t>
            </a:r>
          </a:p>
          <a:p xmlns:a="http://schemas.openxmlformats.org/drawingml/2006/main">
            <a:r>
              <a:t>        "status": "CCK 분석 재구성 · 원문 도면 아님",</a:t>
            </a:r>
          </a:p>
          <a:p xmlns:a="http://schemas.openxmlformats.org/drawingml/2006/main">
            <a:r>
              <a:t>        "sha256": "416a3fdc64f81332d72e4c459fd0e51f83af0872e920e44e96824c2a7baa6f59"</a:t>
            </a:r>
          </a:p>
          <a:p xmlns:a="http://schemas.openxmlformats.org/drawingml/2006/main">
            <a:r>
              <a:t>      },</a:t>
            </a:r>
          </a:p>
          <a:p xmlns:a="http://schemas.openxmlformats.org/drawingml/2006/main">
            <a:r>
              <a:t>      "source": null,</a:t>
            </a:r>
          </a:p>
          <a:p xmlns:a="http://schemas.openxmlformats.org/drawingml/2006/main">
            <a:r>
              <a:t>      "exception": {</a:t>
            </a:r>
          </a:p>
          <a:p xmlns:a="http://schemas.openxmlformats.org/drawingml/2006/main">
            <a:r>
              <a:t>        "input": "암호문서·다른 부서 자료·메타데이터 누락",</a:t>
            </a:r>
          </a:p>
          <a:p xmlns:a="http://schemas.openxmlformats.org/drawingml/2006/main">
            <a:r>
              <a:t>        "hold": "사업·문서별 권한과 최신 판본 검증",</a:t>
            </a:r>
          </a:p>
          <a:p xmlns:a="http://schemas.openxmlformats.org/drawingml/2006/main">
            <a:r>
              <a:t>        "recovery": "지식 갱신·응답 정확도·질의 유형의 지속 관측",</a:t>
            </a:r>
          </a:p>
          <a:p xmlns:a="http://schemas.openxmlformats.org/drawingml/2006/main">
            <a:r>
              <a:t>        "evidence": "문서·청크별 접근시험과 근거·갱신 이력"</a:t>
            </a:r>
          </a:p>
          <a:p xmlns:a="http://schemas.openxmlformats.org/drawingml/2006/main">
            <a:r>
              <a:t>      },</a:t>
            </a:r>
          </a:p>
          <a:p xmlns:a="http://schemas.openxmlformats.org/drawingml/2006/main">
            <a:r>
              <a:t>      "data": {</a:t>
            </a:r>
          </a:p>
          <a:p xmlns:a="http://schemas.openxmlformats.org/drawingml/2006/main">
            <a:r>
              <a:t>        "source": "허용 문서",</a:t>
            </a:r>
          </a:p>
          <a:p xmlns:a="http://schemas.openxmlformats.org/drawingml/2006/main">
            <a:r>
              <a:t>        "prepare": "사내 산출물 수집·청킹·메타데이터 부착",</a:t>
            </a:r>
          </a:p>
          <a:p xmlns:a="http://schemas.openxmlformats.org/drawingml/2006/main">
            <a:r>
              <a:t>        "output": "자료·권한",</a:t>
            </a:r>
          </a:p>
          <a:p xmlns:a="http://schemas.openxmlformats.org/drawingml/2006/main">
            <a:r>
              <a:t>        "refresh": "지식 갱신·응답 정확도·질의 유형의 지속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"PF-A03",</a:t>
            </a:r>
          </a:p>
          <a:p xmlns:a="http://schemas.openxmlformats.org/drawingml/2006/main">
            <a:r>
              <a:t>    "success": [</a:t>
            </a:r>
          </a:p>
          <a:p xmlns:a="http://schemas.openxmlformats.org/drawingml/2006/main">
            <a:r>
              <a:t>      "권한별 자료와 공통 검색 구성",</a:t>
            </a:r>
          </a:p>
          <a:p xmlns:a="http://schemas.openxmlformats.org/drawingml/2006/main">
            <a:r>
              <a:t>      "업무 에이전트의 현업 검토"</a:t>
            </a:r>
          </a:p>
          <a:p xmlns:a="http://schemas.openxmlformats.org/drawingml/2006/main">
            <a:r>
              <a:t>    ],</a:t>
            </a:r>
          </a:p>
          <a:p xmlns:a="http://schemas.openxmlformats.org/drawingml/2006/main">
            <a:r>
              <a:t>    "risks": [</a:t>
            </a:r>
          </a:p>
          <a:p xmlns:a="http://schemas.openxmlformats.org/drawingml/2006/main">
            <a:r>
              <a:t>      "해외사업 문서별 접근 차이",</a:t>
            </a:r>
          </a:p>
          <a:p xmlns:a="http://schemas.openxmlformats.org/drawingml/2006/main">
            <a:r>
              <a:t>      "RFP와 운영 완료의 혼동"</a:t>
            </a:r>
          </a:p>
          <a:p xmlns:a="http://schemas.openxmlformats.org/drawingml/2006/main">
            <a:r>
              <a:t>    ],</a:t>
            </a:r>
          </a:p>
          <a:p xmlns:a="http://schemas.openxmlformats.org/drawingml/2006/main">
            <a:r>
              <a:t>    "architecture": [</a:t>
            </a:r>
          </a:p>
          <a:p xmlns:a="http://schemas.openxmlformats.org/drawingml/2006/main">
            <a:r>
              <a:t>      "기관 사용자",</a:t>
            </a:r>
          </a:p>
          <a:p xmlns:a="http://schemas.openxmlformats.org/drawingml/2006/main">
            <a:r>
              <a:t>      "RAG·업무 에이전트",</a:t>
            </a:r>
          </a:p>
          <a:p xmlns:a="http://schemas.openxmlformats.org/drawingml/2006/main">
            <a:r>
              <a:t>      "허용 문서",</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"자료·권한",</a:t>
            </a:r>
          </a:p>
          <a:p xmlns:a="http://schemas.openxmlformats.org/drawingml/2006/main">
            <a:r>
              <a:t>      "검색 근거",</a:t>
            </a:r>
          </a:p>
          <a:p xmlns:a="http://schemas.openxmlformats.org/drawingml/2006/main">
            <a:r>
              <a:t>      "업무 초안",</a:t>
            </a:r>
          </a:p>
          <a:p xmlns:a="http://schemas.openxmlformats.org/drawingml/2006/main">
            <a:r>
              <a:t>      "검토 결과"</a:t>
            </a:r>
          </a:p>
          <a:p xmlns:a="http://schemas.openxmlformats.org/drawingml/2006/main">
            <a:r>
              <a:t>    ],</a:t>
            </a:r>
          </a:p>
          <a:p xmlns:a="http://schemas.openxmlformats.org/drawingml/2006/main">
            <a:r>
              <a:t>    "control": "사업·문서별 권한과 최신 판본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https://heen1987-ops.github.io/TS-business-Plan-001/index.html?view=platform-cases&amp;case=PF-A03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a:p xmlns:a="http://schemas.openxmlformats.org/drawingml/2006/main">
            <a:r>
              <a:t>한계: 공개 조회의 구축 사례 · 내부 결재·수정 실행의 검증과 별개</a:t>
            </a:r>
          </a:p>
          <a:p xmlns:a="http://schemas.openxmlformats.org/drawingml/2006/main">
            <a:r>
              <a:t>실패 위험: 도구 응답 지연·스키마 변경 / 조회 성공을 신청 완료로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"PF03",</a:t>
            </a:r>
          </a:p>
          <a:p xmlns:a="http://schemas.openxmlformats.org/drawingml/2006/main">
            <a:r>
              <a:t>    "sourceId": "A04",</a:t>
            </a:r>
          </a:p>
          <a:p xmlns:a="http://schemas.openxmlformats.org/drawingml/2006/main">
            <a:r>
              <a:t>    "title": "HRDKorea MCP",</a:t>
            </a:r>
          </a:p>
          <a:p xmlns:a="http://schemas.openxmlformats.org/drawingml/2006/main">
            <a:r>
              <a:t>    "region": "국내",</a:t>
            </a:r>
          </a:p>
          <a:p xmlns:a="http://schemas.openxmlformats.org/drawingml/2006/main">
            <a:r>
              <a:t>    "owner": "한국산업인력공단",</a:t>
            </a:r>
          </a:p>
          <a:p xmlns:a="http://schemas.openxmlformats.org/drawingml/2006/main">
            <a:r>
              <a:t>    "state": "공개 데이터 연계 서비스",</a:t>
            </a:r>
          </a:p>
          <a:p xmlns:a="http://schemas.openxmlformats.org/drawingml/2006/main">
            <a:r>
              <a:t>    "period": "2026.08 개시",</a:t>
            </a:r>
          </a:p>
          <a:p xmlns:a="http://schemas.openxmlformats.org/drawingml/2006/main">
            <a:r>
              <a:t>    "fact": "기존 공공 API를 MCP 도구로 제공하여 외부 AI의 공식 데이터 조회 지원",</a:t>
            </a:r>
          </a:p>
          <a:p xmlns:a="http://schemas.openxmlformats.org/drawingml/2006/main">
            <a:r>
              <a:t>    "limit": "공개 조회의 구축 사례 · 내부 결재·수정 실행의 검증과 별개",</a:t>
            </a:r>
          </a:p>
          <a:p xmlns:a="http://schemas.openxmlformats.org/drawingml/2006/main">
            <a:r>
              <a:t>    "nodes": [</a:t>
            </a:r>
          </a:p>
          <a:p xmlns:a="http://schemas.openxmlformats.org/drawingml/2006/main">
            <a:r>
              <a:t>      "외부 AI 요청",</a:t>
            </a:r>
          </a:p>
          <a:p xmlns:a="http://schemas.openxmlformats.org/drawingml/2006/main">
            <a:r>
              <a:t>      "MCP 도구 선택",</a:t>
            </a:r>
          </a:p>
          <a:p xmlns:a="http://schemas.openxmlformats.org/drawingml/2006/main">
            <a:r>
              <a:t>      "기존 공식 API",</a:t>
            </a:r>
          </a:p>
          <a:p xmlns:a="http://schemas.openxmlformats.org/drawingml/2006/main">
            <a:r>
              <a:t>      "최신 데이터 안내"</a:t>
            </a:r>
          </a:p>
          <a:p xmlns:a="http://schemas.openxmlformats.org/drawingml/2006/main">
            <a:r>
              <a:t>    ],</a:t>
            </a:r>
          </a:p>
          <a:p xmlns:a="http://schemas.openxmlformats.org/drawingml/2006/main">
            <a:r>
              <a:t>    "apply": "기존 공공 API를 AI 조회 도구로 연결하고 원천 응답과 안내의 일치 검증",</a:t>
            </a:r>
          </a:p>
          <a:p xmlns:a="http://schemas.openxmlformats.org/drawingml/2006/main">
            <a:r>
              <a:t>    "delta": "기관·직무별 도구 권한 / 요청키 / 오류·중복 처리",</a:t>
            </a:r>
          </a:p>
          <a:p xmlns:a="http://schemas.openxmlformats.org/drawingml/2006/main">
            <a:r>
              <a:t>    "test": "도구별 입력·응답·인증·오류 처리 계약 및 쓰기 요청 차단",</a:t>
            </a:r>
          </a:p>
          <a:p xmlns:a="http://schemas.openxmlformats.org/drawingml/2006/main">
            <a:r>
              <a:t>    "url": "https://www.moel.go.kr/news/enews/report/enewsView.do?news_seq=19787",</a:t>
            </a:r>
          </a:p>
          <a:p xmlns:a="http://schemas.openxmlformats.org/drawingml/2006/main">
            <a:r>
              <a:t>    "basis": "소관 부처 서비스 개시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"https://www.moel.go.kr/news/enews/report/enewsView.do?news_seq=19787"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"PF03",</a:t>
            </a:r>
          </a:p>
          <a:p xmlns:a="http://schemas.openxmlformats.org/drawingml/2006/main">
            <a:r>
              <a:t>    "canonicalId": "PF03",</a:t>
            </a:r>
          </a:p>
          <a:p xmlns:a="http://schemas.openxmlformats.org/drawingml/2006/main">
            <a:r>
              <a:t>    "purpose": "공공 API의 AI 도구 접점 제공",</a:t>
            </a:r>
          </a:p>
          <a:p xmlns:a="http://schemas.openxmlformats.org/drawingml/2006/main">
            <a:r>
              <a:t>    "users": "외부 AI 이용자·API 운영기관",</a:t>
            </a:r>
          </a:p>
          <a:p xmlns:a="http://schemas.openxmlformats.org/drawingml/2006/main">
            <a:r>
              <a:t>    "scope": [</a:t>
            </a:r>
          </a:p>
          <a:p xmlns:a="http://schemas.openxmlformats.org/drawingml/2006/main">
            <a:r>
              <a:t>      "MCP 도구",</a:t>
            </a:r>
          </a:p>
          <a:p xmlns:a="http://schemas.openxmlformats.org/drawingml/2006/main">
            <a:r>
              <a:t>      "공식 API 조회",</a:t>
            </a:r>
          </a:p>
          <a:p xmlns:a="http://schemas.openxmlformats.org/drawingml/2006/main">
            <a:r>
              <a:t>      "결과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"외부 AI",</a:t>
            </a:r>
          </a:p>
          <a:p xmlns:a="http://schemas.openxmlformats.org/drawingml/2006/main">
            <a:r>
              <a:t>        "detail": "자연어 질의를 조회 도구와 인자로 변환",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"MCP 도구 / 공식 API 조회 / 결과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"MCP 도구",</a:t>
            </a:r>
          </a:p>
          <a:p xmlns:a="http://schemas.openxmlformats.org/drawingml/2006/main">
            <a:r>
              <a:t>        "detail": "MCP 도구의 인자 검사·API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"데이터 이용자",</a:t>
            </a:r>
          </a:p>
          <a:p xmlns:a="http://schemas.openxmlformats.org/drawingml/2006/main">
            <a:r>
              <a:t>        "detail": "출처가 있는 공식 조회 결과를 AI에 반환",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공공 API",</a:t>
            </a:r>
          </a:p>
          <a:p xmlns:a="http://schemas.openxmlformats.org/drawingml/2006/main">
            <a:r>
              <a:t>        "detail": "공식 API 스키마·코드·갱신일 참조",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"실패 응답·스키마 변경·호출량의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"외부 AI 요청",</a:t>
            </a:r>
          </a:p>
          <a:p xmlns:a="http://schemas.openxmlformats.org/drawingml/2006/main">
            <a:r>
              <a:t>        "input": "자연어 질의를 조회 도구와 인자로 변환",</a:t>
            </a:r>
          </a:p>
          <a:p xmlns:a="http://schemas.openxmlformats.org/drawingml/2006/main">
            <a:r>
              <a:t>        "process": "공식 API 스키마·코드·갱신일 참조",</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"title": "MCP 도구 선택",</a:t>
            </a:r>
          </a:p>
          <a:p xmlns:a="http://schemas.openxmlformats.org/drawingml/2006/main">
            <a:r>
              <a:t>        "input": "조회 의도",</a:t>
            </a:r>
          </a:p>
          <a:p xmlns:a="http://schemas.openxmlformats.org/drawingml/2006/main">
            <a:r>
              <a:t>        "process": "MCP 도구의 인자 검사·API 호출 조정",</a:t>
            </a:r>
          </a:p>
          <a:p xmlns:a="http://schemas.openxmlformats.org/drawingml/2006/main">
            <a:r>
              <a:t>        "output": "도구 인자"</a:t>
            </a:r>
          </a:p>
          <a:p xmlns:a="http://schemas.openxmlformats.org/drawingml/2006/main">
            <a:r>
              <a:t>      },</a:t>
            </a:r>
          </a:p>
          <a:p xmlns:a="http://schemas.openxmlformats.org/drawingml/2006/main">
            <a:r>
              <a:t>      {</a:t>
            </a:r>
          </a:p>
          <a:p xmlns:a="http://schemas.openxmlformats.org/drawingml/2006/main">
            <a:r>
              <a:t>        "title": "기존 공식 API",</a:t>
            </a:r>
          </a:p>
          <a:p xmlns:a="http://schemas.openxmlformats.org/drawingml/2006/main">
            <a:r>
              <a:t>        "input": "도구 인자",</a:t>
            </a:r>
          </a:p>
          <a:p xmlns:a="http://schemas.openxmlformats.org/drawingml/2006/main">
            <a:r>
              <a:t>        "process": "인자·스키마·오류·최신성 대사",</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"title": "최신 데이터 안내",</a:t>
            </a:r>
          </a:p>
          <a:p xmlns:a="http://schemas.openxmlformats.org/drawingml/2006/main">
            <a:r>
              <a:t>        "input": "공식 API 결과",</a:t>
            </a:r>
          </a:p>
          <a:p xmlns:a="http://schemas.openxmlformats.org/drawingml/2006/main">
            <a:r>
              <a:t>        "process":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"자연어 요청을 공식 API 인자로 변환해 조회",</a:t>
            </a:r>
          </a:p>
          <a:p xmlns:a="http://schemas.openxmlformats.org/drawingml/2006/main">
            <a:r>
              <a:t>      "exception": "필수 인자 누락·스키마 변경·API 지연·빈 결과",</a:t>
            </a:r>
          </a:p>
          <a:p xmlns:a="http://schemas.openxmlformats.org/drawingml/2006/main">
            <a:r>
              <a:t>      "evidence": "도구 인자·원천 응답·사용자 안내의 일치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"외부 AI 이용자·API 운영기관",</a:t>
            </a:r>
          </a:p>
          <a:p xmlns:a="http://schemas.openxmlformats.org/drawingml/2006/main">
            <a:r>
              <a:t>          "processing": "자연어 질의를 조회 도구와 인자로 변환",</a:t>
            </a:r>
          </a:p>
          <a:p xmlns:a="http://schemas.openxmlformats.org/drawingml/2006/main">
            <a:r>
              <a:t>          "output": "조회 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공공 API",</a:t>
            </a:r>
          </a:p>
          <a:p xmlns:a="http://schemas.openxmlformats.org/drawingml/2006/main">
            <a:r>
              <a:t>          "processing": "공식 API 스키마·코드·갱신일 참조",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"조회 의도",</a:t>
            </a:r>
          </a:p>
          <a:p xmlns:a="http://schemas.openxmlformats.org/drawingml/2006/main">
            <a:r>
              <a:t>          "processing": "MCP 도구의 인자 검사·API 호출 조정",</a:t>
            </a:r>
          </a:p>
          <a:p xmlns:a="http://schemas.openxmlformats.org/drawingml/2006/main">
            <a:r>
              <a:t>          "output": "공식 API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"공식 API 결과",</a:t>
            </a:r>
          </a:p>
          <a:p xmlns:a="http://schemas.openxmlformats.org/drawingml/2006/main">
            <a:r>
              <a:t>          "processing": "출처가 있는 공식 조회 결과를 AI에 반환",</a:t>
            </a:r>
          </a:p>
          <a:p xmlns:a="http://schemas.openxmlformats.org/drawingml/2006/main">
            <a:r>
              <a:t>          "output": "출처 안내"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"실패 응답·스키마 변경·호출량의 검사",</a:t>
            </a:r>
          </a:p>
          <a:p xmlns:a="http://schemas.openxmlformats.org/drawingml/2006/main">
            <a:r>
              <a:t>          "output": "도구 인자·원천 응답·사용자 안내의 일치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"실패 응답·스키마 변경·호출량의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"소관 부처 서비스 개시 발표",</a:t>
            </a:r>
          </a:p>
          <a:p xmlns:a="http://schemas.openxmlformats.org/drawingml/2006/main">
            <a:r>
              <a:t>        "url": "https://www.moel.go.kr/news/enews/report/enewsView.do?news_seq=19787"</a:t>
            </a:r>
          </a:p>
          <a:p xmlns:a="http://schemas.openxmlformats.org/drawingml/2006/main">
            <a:r>
              <a:t>      }</a:t>
            </a:r>
          </a:p>
          <a:p xmlns:a="http://schemas.openxmlformats.org/drawingml/2006/main">
            <a:r>
              <a:t>    ],</a:t>
            </a:r>
          </a:p>
          <a:p xmlns:a="http://schemas.openxmlformats.org/drawingml/2006/main">
            <a:r>
              <a:t>    "implication": "기존 공공 API를 AI 조회 도구로 연결하고 원천 응답과 안내의 일치 검증",</a:t>
            </a:r>
          </a:p>
          <a:p xmlns:a="http://schemas.openxmlformats.org/drawingml/2006/main">
            <a:r>
              <a:t>    "local": "기존 공공 API를 AI 조회 도구로 연결하고 원천 응답과 안내의 일치 검증",</a:t>
            </a:r>
          </a:p>
          <a:p xmlns:a="http://schemas.openxmlformats.org/drawingml/2006/main">
            <a:r>
              <a:t>    "sourceDetail": null,</a:t>
            </a:r>
          </a:p>
          <a:p xmlns:a="http://schemas.openxmlformats.org/drawingml/2006/main">
            <a:r>
              <a:t>    "narrative": [</a:t>
            </a:r>
          </a:p>
          <a:p xmlns:a="http://schemas.openxmlformats.org/drawingml/2006/main">
            <a:r>
              <a:t>      "한국산업인력공단의 공공 API를 MCP 도구로 제공하는 사례. 외부 AI가 추정한 답을 생성하기 전에 기관의 공식 데이터를 조회할 수 있도록 접근 수단을 제공하는 방식.",</a:t>
            </a:r>
          </a:p>
          <a:p xmlns:a="http://schemas.openxmlformats.org/drawingml/2006/main">
            <a:r>
              <a:t>      "AI 클라이언트의 도구 요청을 MCP 서버에서 공식 API 호출로 변환하고 결과를 구조화해 반환하는 흐름. 도구 이름·입력 스키마·오류 형식·데이터 시점을 명확히 정의하는 것이 서비스 연결의 핵심.",</a:t>
            </a:r>
          </a:p>
          <a:p xmlns:a="http://schemas.openxmlformats.org/drawingml/2006/main">
            <a:r>
              <a:t>      "TS 공공데이터·자격·검사 안내에서도 공식 조회와 자연어 설명을 분리하는 참고. 잘못된 인자, 결과 없음, API 장애, 오래된 데이터의 처리와 읽기 전용 권한을 검수하고 외부 AI의 최종 설명에서 출처를 확인할 수 있도록 제공."</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"외부 AI 질의",</a:t>
            </a:r>
          </a:p>
          <a:p xmlns:a="http://schemas.openxmlformats.org/drawingml/2006/main">
            <a:r>
              <a:t>          "layer": "이용 접점",</a:t>
            </a:r>
          </a:p>
          <a:p xmlns:a="http://schemas.openxmlformats.org/drawingml/2006/main">
            <a:r>
              <a:t>          "detail": "외부 AI 이용자·API 운영기관",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"도구·인자 정의",</a:t>
            </a:r>
          </a:p>
          <a:p xmlns:a="http://schemas.openxmlformats.org/drawingml/2006/main">
            <a:r>
              <a:t>          "layer": "업무 문맥",</a:t>
            </a:r>
          </a:p>
          <a:p xmlns:a="http://schemas.openxmlformats.org/drawingml/2006/main">
            <a:r>
              <a:t>          "detail": "자연어 질의를 조회 도구와 인자로 변환",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API 선택",</a:t>
            </a:r>
          </a:p>
          <a:p xmlns:a="http://schemas.openxmlformats.org/drawingml/2006/main">
            <a:r>
              <a:t>          "layer": "자료 조회",</a:t>
            </a:r>
          </a:p>
          <a:p xmlns:a="http://schemas.openxmlformats.org/drawingml/2006/main">
            <a:r>
              <a:t>          "detail": "조회 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"MCP 호출 조정",</a:t>
            </a:r>
          </a:p>
          <a:p xmlns:a="http://schemas.openxmlformats.org/drawingml/2006/main">
            <a:r>
              <a:t>          "layer": "핵심 처리",</a:t>
            </a:r>
          </a:p>
          <a:p xmlns:a="http://schemas.openxmlformats.org/drawingml/2006/main">
            <a:r>
              <a:t>          "detail": "MCP 도구의 인자 검사·API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"스키마·상태 검사",</a:t>
            </a:r>
          </a:p>
          <a:p xmlns:a="http://schemas.openxmlformats.org/drawingml/2006/main">
            <a:r>
              <a:t>          "layer": "결과 검증",</a:t>
            </a:r>
          </a:p>
          <a:p xmlns:a="http://schemas.openxmlformats.org/drawingml/2006/main">
            <a:r>
              <a:t>          "detail": "인자·스키마·오류·최신성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"자연어 요청을 공식 API 인자로 변환해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"출처 조회 결과",</a:t>
            </a:r>
          </a:p>
          <a:p xmlns:a="http://schemas.openxmlformats.org/drawingml/2006/main">
            <a:r>
              <a:t>          "layer": "업무 연결",</a:t>
            </a:r>
          </a:p>
          <a:p xmlns:a="http://schemas.openxmlformats.org/drawingml/2006/main">
            <a:r>
              <a:t>          "detail": "출처가 있는 공식 조회 결과를 AI에 반환",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"호출·변경 검사",</a:t>
            </a:r>
          </a:p>
          <a:p xmlns:a="http://schemas.openxmlformats.org/drawingml/2006/main">
            <a:r>
              <a:t>          "layer": "운영 관측",</a:t>
            </a:r>
          </a:p>
          <a:p xmlns:a="http://schemas.openxmlformats.org/drawingml/2006/main">
            <a:r>
              <a:t>          "detail": "실패 응답·스키마 변경·호출량의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"공공 API·코드",</a:t>
            </a:r>
          </a:p>
          <a:p xmlns:a="http://schemas.openxmlformats.org/drawingml/2006/main">
            <a:r>
              <a:t>          "layer": "데이터 원천",</a:t>
            </a:r>
          </a:p>
          <a:p xmlns:a="http://schemas.openxmlformats.org/drawingml/2006/main">
            <a:r>
              <a:t>          "detail": "기존 공공 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"스키마·갱신일 정리",</a:t>
            </a:r>
          </a:p>
          <a:p xmlns:a="http://schemas.openxmlformats.org/drawingml/2006/main">
            <a:r>
              <a:t>          "layer": "준비·갱신",</a:t>
            </a:r>
          </a:p>
          <a:p xmlns:a="http://schemas.openxmlformats.org/drawingml/2006/main">
            <a:r>
              <a:t>          "detail": "공식 API 스키마·코드·갱신일 참조",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"도구·호출 기록",</a:t>
            </a:r>
          </a:p>
          <a:p xmlns:a="http://schemas.openxmlformats.org/drawingml/2006/main">
            <a:r>
              <a:t>          "layer": "상태·지식 저장",</a:t>
            </a:r>
          </a:p>
          <a:p xmlns:a="http://schemas.openxmlformats.org/drawingml/2006/main">
            <a:r>
              <a:t>          "detail": "도구 인자·원천 응답·사용자 안내의 일치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"호출 권한·한도",</a:t>
            </a:r>
          </a:p>
          <a:p xmlns:a="http://schemas.openxmlformats.org/drawingml/2006/main">
            <a:r>
              <a:t>          "layer": "권한·정책",</a:t>
            </a:r>
          </a:p>
          <a:p xmlns:a="http://schemas.openxmlformats.org/drawingml/2006/main">
            <a:r>
              <a:t>          "detail": "필수 인자 누락·스키마 변경·API 지연·빈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"외부 AI 요청 → MCP 도구 선택 → 기존 공식 API → 최신 데이터 안내"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"자연어 질의를 조회 도구와 인자로 변환",</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"조회 의도",</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"기존 공공 API",</a:t>
            </a:r>
          </a:p>
          <a:p xmlns:a="http://schemas.openxmlformats.org/drawingml/2006/main">
            <a:r>
              <a:t>          "check": "공식 API 스키마·코드·갱신일 참조"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"공식 API 결과",</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"출처 안내",</a:t>
            </a:r>
          </a:p>
          <a:p xmlns:a="http://schemas.openxmlformats.org/drawingml/2006/main">
            <a:r>
              <a:t>          "check": "도구 인자·원천 응답·사용자 안내의 일치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API의 AI 도구 접점 제공 / MCP 도구·공식 API 조회·결과 안내",</a:t>
            </a:r>
          </a:p>
          <a:p xmlns:a="http://schemas.openxmlformats.org/drawingml/2006/main">
            <a:r>
              <a:t>        "extension": "기존 공공 API를 AI 조회 도구로 연결하고 원천 응답과 안내의 일치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"필수 인자 누락·스키마 변경·API 지연·빈 결과",</a:t>
            </a:r>
          </a:p>
          <a:p xmlns:a="http://schemas.openxmlformats.org/drawingml/2006/main">
            <a:r>
              <a:t>        "hold": "인자·스키마·오류·최신성 대사",</a:t>
            </a:r>
          </a:p>
          <a:p xmlns:a="http://schemas.openxmlformats.org/drawingml/2006/main">
            <a:r>
              <a:t>        "recovery": "실패 응답·스키마 변경·호출량의 검사",</a:t>
            </a:r>
          </a:p>
          <a:p xmlns:a="http://schemas.openxmlformats.org/drawingml/2006/main">
            <a:r>
              <a:t>        "evidence": "도구 인자·원천 응답·사용자 안내의 일치 기록"</a:t>
            </a:r>
          </a:p>
          <a:p xmlns:a="http://schemas.openxmlformats.org/drawingml/2006/main">
            <a:r>
              <a:t>      },</a:t>
            </a:r>
          </a:p>
          <a:p xmlns:a="http://schemas.openxmlformats.org/drawingml/2006/main">
            <a:r>
              <a:t>      "data": {</a:t>
            </a:r>
          </a:p>
          <a:p xmlns:a="http://schemas.openxmlformats.org/drawingml/2006/main">
            <a:r>
              <a:t>        "source": "기존 공공 API",</a:t>
            </a:r>
          </a:p>
          <a:p xmlns:a="http://schemas.openxmlformats.org/drawingml/2006/main">
            <a:r>
              <a:t>        "prepare": "공식 API 스키마·코드·갱신일 참조",</a:t>
            </a:r>
          </a:p>
          <a:p xmlns:a="http://schemas.openxmlformats.org/drawingml/2006/main">
            <a:r>
              <a:t>        "output": "조회 의도",</a:t>
            </a:r>
          </a:p>
          <a:p xmlns:a="http://schemas.openxmlformats.org/drawingml/2006/main">
            <a:r>
              <a:t>        "refresh": "실패 응답·스키마 변경·호출량의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"PF03",</a:t>
            </a:r>
          </a:p>
          <a:p xmlns:a="http://schemas.openxmlformats.org/drawingml/2006/main">
            <a:r>
              <a:t>    "success": [</a:t>
            </a:r>
          </a:p>
          <a:p xmlns:a="http://schemas.openxmlformats.org/drawingml/2006/main">
            <a:r>
              <a:t>      "기존 공식 API의 재사용",</a:t>
            </a:r>
          </a:p>
          <a:p xmlns:a="http://schemas.openxmlformats.org/drawingml/2006/main">
            <a:r>
              <a:t>      "AI 도구의 공식 데이터 조회 연결"</a:t>
            </a:r>
          </a:p>
          <a:p xmlns:a="http://schemas.openxmlformats.org/drawingml/2006/main">
            <a:r>
              <a:t>    ],</a:t>
            </a:r>
          </a:p>
          <a:p xmlns:a="http://schemas.openxmlformats.org/drawingml/2006/main">
            <a:r>
              <a:t>    "risks": [</a:t>
            </a:r>
          </a:p>
          <a:p xmlns:a="http://schemas.openxmlformats.org/drawingml/2006/main">
            <a:r>
              <a:t>      "도구 응답 지연·스키마 변경",</a:t>
            </a:r>
          </a:p>
          <a:p xmlns:a="http://schemas.openxmlformats.org/drawingml/2006/main">
            <a:r>
              <a:t>      "조회 성공을 신청 완료로 오인"</a:t>
            </a:r>
          </a:p>
          <a:p xmlns:a="http://schemas.openxmlformats.org/drawingml/2006/main">
            <a:r>
              <a:t>    ],</a:t>
            </a:r>
          </a:p>
          <a:p xmlns:a="http://schemas.openxmlformats.org/drawingml/2006/main">
            <a:r>
              <a:t>    "architecture": [</a:t>
            </a:r>
          </a:p>
          <a:p xmlns:a="http://schemas.openxmlformats.org/drawingml/2006/main">
            <a:r>
              <a:t>      "외부 AI",</a:t>
            </a:r>
          </a:p>
          <a:p xmlns:a="http://schemas.openxmlformats.org/drawingml/2006/main">
            <a:r>
              <a:t>      "MCP 도구",</a:t>
            </a:r>
          </a:p>
          <a:p xmlns:a="http://schemas.openxmlformats.org/drawingml/2006/main">
            <a:r>
              <a:t>      "기존 공공 API",</a:t>
            </a:r>
          </a:p>
          <a:p xmlns:a="http://schemas.openxmlformats.org/drawingml/2006/main">
            <a:r>
              <a:t>      "데이터 이용자"</a:t>
            </a:r>
          </a:p>
          <a:p xmlns:a="http://schemas.openxmlformats.org/drawingml/2006/main">
            <a:r>
              <a:t>    ],</a:t>
            </a:r>
          </a:p>
          <a:p xmlns:a="http://schemas.openxmlformats.org/drawingml/2006/main">
            <a:r>
              <a:t>    "transfers": [</a:t>
            </a:r>
          </a:p>
          <a:p xmlns:a="http://schemas.openxmlformats.org/drawingml/2006/main">
            <a:r>
              <a:t>      "조회 의도",</a:t>
            </a:r>
          </a:p>
          <a:p xmlns:a="http://schemas.openxmlformats.org/drawingml/2006/main">
            <a:r>
              <a:t>      "도구 인자",</a:t>
            </a:r>
          </a:p>
          <a:p xmlns:a="http://schemas.openxmlformats.org/drawingml/2006/main">
            <a:r>
              <a:t>      "공식 API 결과",</a:t>
            </a:r>
          </a:p>
          <a:p xmlns:a="http://schemas.openxmlformats.org/drawingml/2006/main">
            <a:r>
              <a:t>      "출처 안내"</a:t>
            </a:r>
          </a:p>
          <a:p xmlns:a="http://schemas.openxmlformats.org/drawingml/2006/main">
            <a:r>
              <a:t>    ],</a:t>
            </a:r>
          </a:p>
          <a:p xmlns:a="http://schemas.openxmlformats.org/drawingml/2006/main">
            <a:r>
              <a:t>    "control": "인자·스키마·오류·최신성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소관 부처 서비스 개시 발표 https://www.moel.go.kr/news/enews/report/enewsView.do?news_seq=19787</a:t>
            </a:r>
          </a:p>
          <a:p xmlns:a="http://schemas.openxmlformats.org/drawingml/2006/main">
            <a:r>
              <a:t>홈페이지 https://heen1987-ops.github.io/TS-business-Plan-001/index.html?view=platform-cases&amp;case=PF03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a:p xmlns:a="http://schemas.openxmlformats.org/drawingml/2006/main">
            <a:r>
              <a:t>한계: 자사 발표 · 특정 직무 성과를 전사 생산성으로 일반화 불가</a:t>
            </a:r>
          </a:p>
          <a:p xmlns:a="http://schemas.openxmlformats.org/drawingml/2006/main">
            <a:r>
              <a:t>실패 위험: API별 권한·실패 상태 차이 / 전사 도입과 모든 업무의 효과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"PF04",</a:t>
            </a:r>
          </a:p>
          <a:p xmlns:a="http://schemas.openxmlformats.org/drawingml/2006/main">
            <a:r>
              <a:t>    "sourceId": "A05",</a:t>
            </a:r>
          </a:p>
          <a:p xmlns:a="http://schemas.openxmlformats.org/drawingml/2006/main">
            <a:r>
              <a:t>    "title": "삼성SDS FabriX 업무 플랫폼",</a:t>
            </a:r>
          </a:p>
          <a:p xmlns:a="http://schemas.openxmlformats.org/drawingml/2006/main">
            <a:r>
              <a:t>    "region": "국내",</a:t>
            </a:r>
          </a:p>
          <a:p xmlns:a="http://schemas.openxmlformats.org/drawingml/2006/main">
            <a:r>
              <a:t>    "owner": "삼성SDS",</a:t>
            </a:r>
          </a:p>
          <a:p xmlns:a="http://schemas.openxmlformats.org/drawingml/2006/main">
            <a:r>
              <a:t>    "state": "사내 운영 · 자사 발표",</a:t>
            </a:r>
          </a:p>
          <a:p xmlns:a="http://schemas.openxmlformats.org/drawingml/2006/main">
            <a:r>
              <a:t>    "period": "2025.10 소개",</a:t>
            </a:r>
          </a:p>
          <a:p xmlns:a="http://schemas.openxmlformats.org/drawingml/2006/main">
            <a:r>
              <a:t>    "fact": "공통 AI와 사내 시스템 API·협업 도구·개발 접점을 결합한 전사 활용",</a:t>
            </a:r>
          </a:p>
          <a:p xmlns:a="http://schemas.openxmlformats.org/drawingml/2006/main">
            <a:r>
              <a:t>    "limit": "자사 발표 · 특정 직무 성과를 전사 생산성으로 일반화 불가",</a:t>
            </a:r>
          </a:p>
          <a:p xmlns:a="http://schemas.openxmlformats.org/drawingml/2006/main">
            <a:r>
              <a:t>    "nodes": [</a:t>
            </a:r>
          </a:p>
          <a:p xmlns:a="http://schemas.openxmlformats.org/drawingml/2006/main">
            <a:r>
              <a:t>      "공통 AI 접점",</a:t>
            </a:r>
          </a:p>
          <a:p xmlns:a="http://schemas.openxmlformats.org/drawingml/2006/main">
            <a:r>
              <a:t>      "FabriX·검색",</a:t>
            </a:r>
          </a:p>
          <a:p xmlns:a="http://schemas.openxmlformats.org/drawingml/2006/main">
            <a:r>
              <a:t>      "사내 시스템 API",</a:t>
            </a:r>
          </a:p>
          <a:p xmlns:a="http://schemas.openxmlformats.org/drawingml/2006/main">
            <a:r>
              <a:t>      "직무 도구·현업 피드백"</a:t>
            </a:r>
          </a:p>
          <a:p xmlns:a="http://schemas.openxmlformats.org/drawingml/2006/main">
            <a:r>
              <a:t>    ],</a:t>
            </a:r>
          </a:p>
          <a:p xmlns:a="http://schemas.openxmlformats.org/drawingml/2006/main">
            <a:r>
              <a:t>    "apply": "공통 모델·검색과 직무별 시스템 도구를 분리해 단계적으로 확장",</a:t>
            </a:r>
          </a:p>
          <a:p xmlns:a="http://schemas.openxmlformats.org/drawingml/2006/main">
            <a:r>
              <a:t>    "delta": "업무단위 연계 모듈 / 현업 교육 / 품질·비용 관측",</a:t>
            </a:r>
          </a:p>
          <a:p xmlns:a="http://schemas.openxmlformats.org/drawingml/2006/main">
            <a:r>
              <a:t>    "test": "업무 완료율·오실행·재작업·총소요시간 동시 평가",</a:t>
            </a:r>
          </a:p>
          <a:p xmlns:a="http://schemas.openxmlformats.org/drawingml/2006/main">
            <a:r>
              <a:t>    "url": "https://www.samsungsds.com/kr/insights/samsung-sds-ai-journey.html",</a:t>
            </a:r>
          </a:p>
          <a:p xmlns:a="http://schemas.openxmlformats.org/drawingml/2006/main">
            <a:r>
              <a:t>    "basis": "기업 기술·운영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"https://www.samsungsds.com/kr/insights/samsung-sds-ai-journey.html"</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"PF04",</a:t>
            </a:r>
          </a:p>
          <a:p xmlns:a="http://schemas.openxmlformats.org/drawingml/2006/main">
            <a:r>
              <a:t>    "canonicalId": "PF04",</a:t>
            </a:r>
          </a:p>
          <a:p xmlns:a="http://schemas.openxmlformats.org/drawingml/2006/main">
            <a:r>
              <a:t>    "purpose": "전사 지식·시스템과 직무용 AI의 연결",</a:t>
            </a:r>
          </a:p>
          <a:p xmlns:a="http://schemas.openxmlformats.org/drawingml/2006/main">
            <a:r>
              <a:t>    "users": "임직원·개발자·업무 관리자",</a:t>
            </a:r>
          </a:p>
          <a:p xmlns:a="http://schemas.openxmlformats.org/drawingml/2006/main">
            <a:r>
              <a:t>    "scope": [</a:t>
            </a:r>
          </a:p>
          <a:p xmlns:a="http://schemas.openxmlformats.org/drawingml/2006/main">
            <a:r>
              <a:t>      "공통 AI",</a:t>
            </a:r>
          </a:p>
          <a:p xmlns:a="http://schemas.openxmlformats.org/drawingml/2006/main">
            <a:r>
              <a:t>      "사내 API",</a:t>
            </a:r>
          </a:p>
          <a:p xmlns:a="http://schemas.openxmlformats.org/drawingml/2006/main">
            <a:r>
              <a:t>      "업무 도구"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"임직원 접점",</a:t>
            </a:r>
          </a:p>
          <a:p xmlns:a="http://schemas.openxmlformats.org/drawingml/2006/main">
            <a:r>
              <a:t>        "detail": "직원 계정·업무 목적·도구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"공통 AI / 사내 API / 업무 도구",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"FabriX·검색·도구",</a:t>
            </a:r>
          </a:p>
          <a:p xmlns:a="http://schemas.openxmlformats.org/drawingml/2006/main">
            <a:r>
              <a:t>        "detail": "FabriX를 통한 검색·생성·도구 호출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"직무 담당",</a:t>
            </a:r>
          </a:p>
          <a:p xmlns:a="http://schemas.openxmlformats.org/drawingml/2006/main">
            <a:r>
              <a:t>        "detail": "직무 도구의 초안·조회·실행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지식·API",</a:t>
            </a:r>
          </a:p>
          <a:p xmlns:a="http://schemas.openxmlformats.org/drawingml/2006/main">
            <a:r>
              <a:t>        "detail": "사내 지식과 시스템별 데이터 인터페이스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"사용자 피드백·업무별 품질·실행 오류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AI 접점",</a:t>
            </a:r>
          </a:p>
          <a:p xmlns:a="http://schemas.openxmlformats.org/drawingml/2006/main">
            <a:r>
              <a:t>        "input": "직원 계정·업무 목적·도구 권한 확인",</a:t>
            </a:r>
          </a:p>
          <a:p xmlns:a="http://schemas.openxmlformats.org/drawingml/2006/main">
            <a:r>
              <a:t>        "process": "사내 지식과 시스템별 데이터 인터페이스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"FabriX·검색",</a:t>
            </a:r>
          </a:p>
          <a:p xmlns:a="http://schemas.openxmlformats.org/drawingml/2006/main">
            <a:r>
              <a:t>        "input": "업무 요청",</a:t>
            </a:r>
          </a:p>
          <a:p xmlns:a="http://schemas.openxmlformats.org/drawingml/2006/main">
            <a:r>
              <a:t>        "process": "FabriX를 통한 검색·생성·도구 호출 조정",</a:t>
            </a:r>
          </a:p>
          <a:p xmlns:a="http://schemas.openxmlformats.org/drawingml/2006/main">
            <a:r>
              <a:t>        "output": "검색·도구 인자"</a:t>
            </a:r>
          </a:p>
          <a:p xmlns:a="http://schemas.openxmlformats.org/drawingml/2006/main">
            <a:r>
              <a:t>      },</a:t>
            </a:r>
          </a:p>
          <a:p xmlns:a="http://schemas.openxmlformats.org/drawingml/2006/main">
            <a:r>
              <a:t>      {</a:t>
            </a:r>
          </a:p>
          <a:p xmlns:a="http://schemas.openxmlformats.org/drawingml/2006/main">
            <a:r>
              <a:t>        "title": "사내 시스템 API",</a:t>
            </a:r>
          </a:p>
          <a:p xmlns:a="http://schemas.openxmlformats.org/drawingml/2006/main">
            <a:r>
              <a:t>        "input": "검색·도구 인자",</a:t>
            </a:r>
          </a:p>
          <a:p xmlns:a="http://schemas.openxmlformats.org/drawingml/2006/main">
            <a:r>
              <a:t>        "process": "실행 권한·중복 호출·실패 복구",</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"title": "직무 도구·현업 피드백",</a:t>
            </a:r>
          </a:p>
          <a:p xmlns:a="http://schemas.openxmlformats.org/drawingml/2006/main">
            <a:r>
              <a:t>        "input": "시스템 결과",</a:t>
            </a:r>
          </a:p>
          <a:p xmlns:a="http://schemas.openxmlformats.org/drawingml/2006/main">
            <a:r>
              <a:t>        "process":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"사내 업무 목적을 검색·도구 호출에 연결",</a:t>
            </a:r>
          </a:p>
          <a:p xmlns:a="http://schemas.openxmlformats.org/drawingml/2006/main">
            <a:r>
              <a:t>      "exception": "권한 부족·API 부분 실패·같은 요청 재전송",</a:t>
            </a:r>
          </a:p>
          <a:p xmlns:a="http://schemas.openxmlformats.org/drawingml/2006/main">
            <a:r>
              <a:t>      "evidence": "업무별 도구 선택·실행 결과·복구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"임직원·개발자·업무 관리자",</a:t>
            </a:r>
          </a:p>
          <a:p xmlns:a="http://schemas.openxmlformats.org/drawingml/2006/main">
            <a:r>
              <a:t>          "processing": "직원 계정·업무 목적·도구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지식·API",</a:t>
            </a:r>
          </a:p>
          <a:p xmlns:a="http://schemas.openxmlformats.org/drawingml/2006/main">
            <a:r>
              <a:t>          "processing": "사내 지식과 시스템별 데이터 인터페이스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"FabriX를 통한 검색·생성·도구 호출 조정",</a:t>
            </a:r>
          </a:p>
          <a:p xmlns:a="http://schemas.openxmlformats.org/drawingml/2006/main">
            <a:r>
              <a:t>          "output": "시스템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"시스템 결과",</a:t>
            </a:r>
          </a:p>
          <a:p xmlns:a="http://schemas.openxmlformats.org/drawingml/2006/main">
            <a:r>
              <a:t>          "processing": "직무 도구의 초안·조회·실행 결과 제공",</a:t>
            </a:r>
          </a:p>
          <a:p xmlns:a="http://schemas.openxmlformats.org/drawingml/2006/main">
            <a:r>
              <a:t>          "output": "검토·후속조치"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"사용자 피드백·업무별 품질·실행 오류 분석",</a:t>
            </a:r>
          </a:p>
          <a:p xmlns:a="http://schemas.openxmlformats.org/drawingml/2006/main">
            <a:r>
              <a:t>          "output": "업무별 도구 선택·실행 결과·복구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"사용자 피드백·업무별 품질·실행 오류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"기업 기술·운영 소개",</a:t>
            </a:r>
          </a:p>
          <a:p xmlns:a="http://schemas.openxmlformats.org/drawingml/2006/main">
            <a:r>
              <a:t>        "url": "https://www.samsungsds.com/kr/insights/samsung-sds-ai-journey.html"</a:t>
            </a:r>
          </a:p>
          <a:p xmlns:a="http://schemas.openxmlformats.org/drawingml/2006/main">
            <a:r>
              <a:t>      }</a:t>
            </a:r>
          </a:p>
          <a:p xmlns:a="http://schemas.openxmlformats.org/drawingml/2006/main">
            <a:r>
              <a:t>    ],</a:t>
            </a:r>
          </a:p>
          <a:p xmlns:a="http://schemas.openxmlformats.org/drawingml/2006/main">
            <a:r>
              <a:t>    "implication": "공통 모델·검색과 직무별 시스템 도구를 분리해 단계적으로 확장",</a:t>
            </a:r>
          </a:p>
          <a:p xmlns:a="http://schemas.openxmlformats.org/drawingml/2006/main">
            <a:r>
              <a:t>    "local": "공통 모델·검색과 직무별 시스템 도구를 분리해 단계적으로 확장",</a:t>
            </a:r>
          </a:p>
          <a:p xmlns:a="http://schemas.openxmlformats.org/drawingml/2006/main">
            <a:r>
              <a:t>    "sourceDetail": null,</a:t>
            </a:r>
          </a:p>
          <a:p xmlns:a="http://schemas.openxmlformats.org/drawingml/2006/main">
            <a:r>
              <a:t>    "narrative": [</a:t>
            </a:r>
          </a:p>
          <a:p xmlns:a="http://schemas.openxmlformats.org/drawingml/2006/main">
            <a:r>
              <a:t>      "삼성SDS의 FabriX 공통 AI와 사내 시스템·협업·개발 도구의 연계 사례. 공통 대화 접점에서 API 기반 업무 적용, 협업 도구, 개발 플러그인으로 활용 경로를 확대하는 접근.",</a:t>
            </a:r>
          </a:p>
          <a:p xmlns:a="http://schemas.openxmlformats.org/drawingml/2006/main">
            <a:r>
              <a:t>      "공개 도입 설명은 업무 문서 정비와 공통 플랫폼 제공, 기존 시스템 API 연계, 현장 담당자·전담 조직의 운영을 함께 제시. MCP·권한 연계는 후속 고도화 방향으로 설명된 범위이며 모든 단계의 완료 성과로 묶지 않는 해석.",</a:t>
            </a:r>
          </a:p>
          <a:p xmlns:a="http://schemas.openxmlformats.org/drawingml/2006/main">
            <a:r>
              <a:t>      "CCK에서는 데이터 표준·업무 소유자·운영 책임을 플랫폼과 함께 구축하는 참고. AI혁신처의 공통 기반과 부서별 업무 API·검수 책임을 분리해 확장비용과 업무 완료 품질을 비교할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"직무용 AI 접점",</a:t>
            </a:r>
          </a:p>
          <a:p xmlns:a="http://schemas.openxmlformats.org/drawingml/2006/main">
            <a:r>
              <a:t>          "layer": "이용 접점",</a:t>
            </a:r>
          </a:p>
          <a:p xmlns:a="http://schemas.openxmlformats.org/drawingml/2006/main">
            <a:r>
              <a:t>          "detail": "임직원·개발자·업무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"직원·목적·도구",</a:t>
            </a:r>
          </a:p>
          <a:p xmlns:a="http://schemas.openxmlformats.org/drawingml/2006/main">
            <a:r>
              <a:t>          "layer": "업무 문맥",</a:t>
            </a:r>
          </a:p>
          <a:p xmlns:a="http://schemas.openxmlformats.org/drawingml/2006/main">
            <a:r>
              <a:t>          "detail": "직원 계정·업무 목적·도구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"사내 지식 검색",</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"FabriX·API 조정",</a:t>
            </a:r>
          </a:p>
          <a:p xmlns:a="http://schemas.openxmlformats.org/drawingml/2006/main">
            <a:r>
              <a:t>          "layer": "핵심 처리",</a:t>
            </a:r>
          </a:p>
          <a:p xmlns:a="http://schemas.openxmlformats.org/drawingml/2006/main">
            <a:r>
              <a:t>          "detail": "FabriX를 통한 검색·생성·도구 호출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"실행·결과 검사",</a:t>
            </a:r>
          </a:p>
          <a:p xmlns:a="http://schemas.openxmlformats.org/drawingml/2006/main">
            <a:r>
              <a:t>          "layer": "결과 검증",</a:t>
            </a:r>
          </a:p>
          <a:p xmlns:a="http://schemas.openxmlformats.org/drawingml/2006/main">
            <a:r>
              <a:t>          "detail": "실행 권한·중복 호출·실패 복구",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"현업 확인",</a:t>
            </a:r>
          </a:p>
          <a:p xmlns:a="http://schemas.openxmlformats.org/drawingml/2006/main">
            <a:r>
              <a:t>          "layer": "사람 확인",</a:t>
            </a:r>
          </a:p>
          <a:p xmlns:a="http://schemas.openxmlformats.org/drawingml/2006/main">
            <a:r>
              <a:t>          "detail": "사내 업무 목적을 검색·도구 호출에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"직무 시스템 연결",</a:t>
            </a:r>
          </a:p>
          <a:p xmlns:a="http://schemas.openxmlformats.org/drawingml/2006/main">
            <a:r>
              <a:t>          "layer": "업무 연결",</a:t>
            </a:r>
          </a:p>
          <a:p xmlns:a="http://schemas.openxmlformats.org/drawingml/2006/main">
            <a:r>
              <a:t>          "detail": "직무 도구의 초안·조회·실행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"실패·피드백 분석",</a:t>
            </a:r>
          </a:p>
          <a:p xmlns:a="http://schemas.openxmlformats.org/drawingml/2006/main">
            <a:r>
              <a:t>          "layer": "운영 관측",</a:t>
            </a:r>
          </a:p>
          <a:p xmlns:a="http://schemas.openxmlformats.org/drawingml/2006/main">
            <a:r>
              <a:t>          "detail": "사용자 피드백·업무별 품질·실행 오류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"사내 지식·API",</a:t>
            </a:r>
          </a:p>
          <a:p xmlns:a="http://schemas.openxmlformats.org/drawingml/2006/main">
            <a:r>
              <a:t>          "layer": "데이터 원천",</a:t>
            </a:r>
          </a:p>
          <a:p xmlns:a="http://schemas.openxmlformats.org/drawingml/2006/main">
            <a:r>
              <a:t>          "detail": "사내 지식·API",</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"인터페이스 정리",</a:t>
            </a:r>
          </a:p>
          <a:p xmlns:a="http://schemas.openxmlformats.org/drawingml/2006/main">
            <a:r>
              <a:t>          "layer": "준비·갱신",</a:t>
            </a:r>
          </a:p>
          <a:p xmlns:a="http://schemas.openxmlformats.org/drawingml/2006/main">
            <a:r>
              <a:t>          "detail": "사내 지식과 시스템별 데이터 인터페이스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"지식·처리 상태",</a:t>
            </a:r>
          </a:p>
          <a:p xmlns:a="http://schemas.openxmlformats.org/drawingml/2006/main">
            <a:r>
              <a:t>          "layer": "상태·지식 저장",</a:t>
            </a:r>
          </a:p>
          <a:p xmlns:a="http://schemas.openxmlformats.org/drawingml/2006/main">
            <a:r>
              <a:t>          "detail": "업무별 도구 선택·실행 결과·복구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"도구별 실행 권한",</a:t>
            </a:r>
          </a:p>
          <a:p xmlns:a="http://schemas.openxmlformats.org/drawingml/2006/main">
            <a:r>
              <a:t>          "layer": "권한·정책",</a:t>
            </a:r>
          </a:p>
          <a:p xmlns:a="http://schemas.openxmlformats.org/drawingml/2006/main">
            <a:r>
              <a:t>          "detail": "권한 부족·API 부분 실패·같은 요청 재전송",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"공통 AI 접점 → FabriX·검색 → 사내 시스템 API → 직무 도구·현업 피드백"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 계정·업무 목적·도구 권한 확인",</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"사내 지식·API",</a:t>
            </a:r>
          </a:p>
          <a:p xmlns:a="http://schemas.openxmlformats.org/drawingml/2006/main">
            <a:r>
              <a:t>          "check": "사내 지식과 시스템별 데이터 인터페이스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"시스템 결과",</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"검토·후속조치",</a:t>
            </a:r>
          </a:p>
          <a:p xmlns:a="http://schemas.openxmlformats.org/drawingml/2006/main">
            <a:r>
              <a:t>          "check": "업무별 도구 선택·실행 결과·복구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지식·시스템과 직무용 AI의 연결 / 공통 AI·사내 API·업무 도구",</a:t>
            </a:r>
          </a:p>
          <a:p xmlns:a="http://schemas.openxmlformats.org/drawingml/2006/main">
            <a:r>
              <a:t>        "extension": "공통 모델·검색과 직무별 시스템 도구를 분리해 단계적으로 확장"</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"권한 부족·API 부분 실패·같은 요청 재전송",</a:t>
            </a:r>
          </a:p>
          <a:p xmlns:a="http://schemas.openxmlformats.org/drawingml/2006/main">
            <a:r>
              <a:t>        "hold": "실행 권한·중복 호출·실패 복구",</a:t>
            </a:r>
          </a:p>
          <a:p xmlns:a="http://schemas.openxmlformats.org/drawingml/2006/main">
            <a:r>
              <a:t>        "recovery": "사용자 피드백·업무별 품질·실행 오류 분석",</a:t>
            </a:r>
          </a:p>
          <a:p xmlns:a="http://schemas.openxmlformats.org/drawingml/2006/main">
            <a:r>
              <a:t>        "evidence": "업무별 도구 선택·실행 결과·복구 로그"</a:t>
            </a:r>
          </a:p>
          <a:p xmlns:a="http://schemas.openxmlformats.org/drawingml/2006/main">
            <a:r>
              <a:t>      },</a:t>
            </a:r>
          </a:p>
          <a:p xmlns:a="http://schemas.openxmlformats.org/drawingml/2006/main">
            <a:r>
              <a:t>      "data": {</a:t>
            </a:r>
          </a:p>
          <a:p xmlns:a="http://schemas.openxmlformats.org/drawingml/2006/main">
            <a:r>
              <a:t>        "source": "사내 지식·API",</a:t>
            </a:r>
          </a:p>
          <a:p xmlns:a="http://schemas.openxmlformats.org/drawingml/2006/main">
            <a:r>
              <a:t>        "prepare": "사내 지식과 시스템별 데이터 인터페이스 연결",</a:t>
            </a:r>
          </a:p>
          <a:p xmlns:a="http://schemas.openxmlformats.org/drawingml/2006/main">
            <a:r>
              <a:t>        "output": "업무 요청",</a:t>
            </a:r>
          </a:p>
          <a:p xmlns:a="http://schemas.openxmlformats.org/drawingml/2006/main">
            <a:r>
              <a:t>        "refresh": "사용자 피드백·업무별 품질·실행 오류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"PF04",</a:t>
            </a:r>
          </a:p>
          <a:p xmlns:a="http://schemas.openxmlformats.org/drawingml/2006/main">
            <a:r>
              <a:t>    "success": [</a:t>
            </a:r>
          </a:p>
          <a:p xmlns:a="http://schemas.openxmlformats.org/drawingml/2006/main">
            <a:r>
              <a:t>      "공통 AI와 사내 시스템 연결",</a:t>
            </a:r>
          </a:p>
          <a:p xmlns:a="http://schemas.openxmlformats.org/drawingml/2006/main">
            <a:r>
              <a:t>      "직무 도구·피드백을 통한 확산"</a:t>
            </a:r>
          </a:p>
          <a:p xmlns:a="http://schemas.openxmlformats.org/drawingml/2006/main">
            <a:r>
              <a:t>    ],</a:t>
            </a:r>
          </a:p>
          <a:p xmlns:a="http://schemas.openxmlformats.org/drawingml/2006/main">
            <a:r>
              <a:t>    "risks": [</a:t>
            </a:r>
          </a:p>
          <a:p xmlns:a="http://schemas.openxmlformats.org/drawingml/2006/main">
            <a:r>
              <a:t>      "API별 권한·실패 상태 차이",</a:t>
            </a:r>
          </a:p>
          <a:p xmlns:a="http://schemas.openxmlformats.org/drawingml/2006/main">
            <a:r>
              <a:t>      "전사 도입과 모든 업무의 효과 혼동"</a:t>
            </a:r>
          </a:p>
          <a:p xmlns:a="http://schemas.openxmlformats.org/drawingml/2006/main">
            <a:r>
              <a:t>    ],</a:t>
            </a:r>
          </a:p>
          <a:p xmlns:a="http://schemas.openxmlformats.org/drawingml/2006/main">
            <a:r>
              <a:t>    "architecture": [</a:t>
            </a:r>
          </a:p>
          <a:p xmlns:a="http://schemas.openxmlformats.org/drawingml/2006/main">
            <a:r>
              <a:t>      "임직원 접점",</a:t>
            </a:r>
          </a:p>
          <a:p xmlns:a="http://schemas.openxmlformats.org/drawingml/2006/main">
            <a:r>
              <a:t>      "FabriX·검색·도구",</a:t>
            </a:r>
          </a:p>
          <a:p xmlns:a="http://schemas.openxmlformats.org/drawingml/2006/main">
            <a:r>
              <a:t>      "사내 지식·API",</a:t>
            </a:r>
          </a:p>
          <a:p xmlns:a="http://schemas.openxmlformats.org/drawingml/2006/main">
            <a:r>
              <a:t>      "직무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"검색·도구 인자",</a:t>
            </a:r>
          </a:p>
          <a:p xmlns:a="http://schemas.openxmlformats.org/drawingml/2006/main">
            <a:r>
              <a:t>      "시스템 결과",</a:t>
            </a:r>
          </a:p>
          <a:p xmlns:a="http://schemas.openxmlformats.org/drawingml/2006/main">
            <a:r>
              <a:t>      "검토·후속조치"</a:t>
            </a:r>
          </a:p>
          <a:p xmlns:a="http://schemas.openxmlformats.org/drawingml/2006/main">
            <a:r>
              <a:t>    ],</a:t>
            </a:r>
          </a:p>
          <a:p xmlns:a="http://schemas.openxmlformats.org/drawingml/2006/main">
            <a:r>
              <a:t>    "control": "실행 권한·중복 호출·실패 복구",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기업 기술·운영 소개 https://www.samsungsds.com/kr/insights/samsung-sds-ai-journey.html</a:t>
            </a:r>
          </a:p>
          <a:p xmlns:a="http://schemas.openxmlformats.org/drawingml/2006/main">
            <a:r>
              <a:t>홈페이지 https://heen1987-ops.github.io/TS-business-Plan-001/index.html?view=platform-cases&amp;case=PF04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a:p xmlns:a="http://schemas.openxmlformats.org/drawingml/2006/main">
            <a:r>
              <a:t>한계: 사용량은 시간·비용 절감이 아님. 2026 현재 사용률로 제시하지 않음</a:t>
            </a:r>
          </a:p>
          <a:p xmlns:a="http://schemas.openxmlformats.org/drawingml/2006/main">
            <a:r>
              <a:t>실패 위험: 코드 보안·품질 편차 / 생성 코드의 무검토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"PF-A06",</a:t>
            </a:r>
          </a:p>
          <a:p xmlns:a="http://schemas.openxmlformats.org/drawingml/2006/main">
            <a:r>
              <a:t>    "sourceId": "A06",</a:t>
            </a:r>
          </a:p>
          <a:p xmlns:a="http://schemas.openxmlformats.org/drawingml/2006/main">
            <a:r>
              <a:t>    "title": "삼성 Gauss Portal·code.i",</a:t>
            </a:r>
          </a:p>
          <a:p xmlns:a="http://schemas.openxmlformats.org/drawingml/2006/main">
            <a:r>
              <a:t>    "region": "국내",</a:t>
            </a:r>
          </a:p>
          <a:p xmlns:a="http://schemas.openxmlformats.org/drawingml/2006/main">
            <a:r>
              <a:t>    "owner": "삼성전자 / Gauss Portal·code.i",</a:t>
            </a:r>
          </a:p>
          <a:p xmlns:a="http://schemas.openxmlformats.org/drawingml/2006/main">
            <a:r>
              <a:t>    "state": "사내 운영(2024-11 발표)",</a:t>
            </a:r>
          </a:p>
          <a:p xmlns:a="http://schemas.openxmlformats.org/drawingml/2006/main">
            <a:r>
              <a:t>    "period": "기존 원장 확인 2026.10.16",</a:t>
            </a:r>
          </a:p>
          <a:p xmlns:a="http://schemas.openxmlformats.org/drawingml/2006/main">
            <a:r>
              <a:t>    "fact": "기업 공통 AI·개발 지원",</a:t>
            </a:r>
          </a:p>
          <a:p xmlns:a="http://schemas.openxmlformats.org/drawingml/2006/main">
            <a:r>
              <a:t>    "limit": "사용량은 시간·비용 절감이 아님. 2026 현재 사용률로 제시하지 않음",</a:t>
            </a:r>
          </a:p>
          <a:p xmlns:a="http://schemas.openxmlformats.org/drawingml/2006/main">
            <a:r>
              <a:t>    "nodes": [</a:t>
            </a:r>
          </a:p>
          <a:p xmlns:a="http://schemas.openxmlformats.org/drawingml/2006/main">
            <a:r>
              <a:t>      "사내 사용자",</a:t>
            </a:r>
          </a:p>
          <a:p xmlns:a="http://schemas.openxmlformats.org/drawingml/2006/main">
            <a:r>
              <a:t>      "Gauss 모델군",</a:t>
            </a:r>
          </a:p>
          <a:p xmlns:a="http://schemas.openxmlformats.org/drawingml/2006/main">
            <a:r>
              <a:t>      "일반·개발 도구",</a:t>
            </a:r>
          </a:p>
          <a:p xmlns:a="http://schemas.openxmlformats.org/drawingml/2006/main">
            <a:r>
              <a:t>      "업무 결과 검토"</a:t>
            </a:r>
          </a:p>
          <a:p xmlns:a="http://schemas.openxmlformats.org/drawingml/2006/main">
            <a:r>
              <a:t>    ],</a:t>
            </a:r>
          </a:p>
          <a:p xmlns:a="http://schemas.openxmlformats.org/drawingml/2006/main">
            <a:r>
              <a:t>    "apply": "일반 직원과 개발자의 입력 문맥·결과 검토 기준을 직무별 분리",</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"https://news.samsung.com/ca/samsung-electronics-hosts-samsung-developer-conference-korea-2024-unveils-its-improved-gen-ai-model",</a:t>
            </a:r>
          </a:p>
          <a:p xmlns:a="http://schemas.openxmlformats.org/drawingml/2006/main">
            <a:r>
              <a:t>    "urls": [</a:t>
            </a:r>
          </a:p>
          <a:p xmlns:a="http://schemas.openxmlformats.org/drawingml/2006/main">
            <a:r>
              <a:t>      "https://news.samsung.com/ca/samsung-electronics-hosts-samsung-developer-conference-korea-2024-unveils-its-improved-gen-ai-model"</a:t>
            </a:r>
          </a:p>
          <a:p xmlns:a="http://schemas.openxmlformats.org/drawingml/2006/main">
            <a:r>
              <a:t>    ],</a:t>
            </a:r>
          </a:p>
          <a:p xmlns:a="http://schemas.openxmlformats.org/drawingml/2006/main">
            <a:r>
              <a:t>    "basis": "T044 / 공통모델+직무 특화 접점",</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"PF-A06",</a:t>
            </a:r>
          </a:p>
          <a:p xmlns:a="http://schemas.openxmlformats.org/drawingml/2006/main">
            <a:r>
              <a:t>    "canonicalId": "PF-A06",</a:t>
            </a:r>
          </a:p>
          <a:p xmlns:a="http://schemas.openxmlformats.org/drawingml/2006/main">
            <a:r>
              <a:t>    "purpose": "범용 업무 지원과 개발자 지원의 분리",</a:t>
            </a:r>
          </a:p>
          <a:p xmlns:a="http://schemas.openxmlformats.org/drawingml/2006/main">
            <a:r>
              <a:t>    "users": "사내 직원·소프트웨어 개발자",</a:t>
            </a:r>
          </a:p>
          <a:p xmlns:a="http://schemas.openxmlformats.org/drawingml/2006/main">
            <a:r>
              <a:t>    "scope": [</a:t>
            </a:r>
          </a:p>
          <a:p xmlns:a="http://schemas.openxmlformats.org/drawingml/2006/main">
            <a:r>
              <a:t>      "Gauss Portal",</a:t>
            </a:r>
          </a:p>
          <a:p xmlns:a="http://schemas.openxmlformats.org/drawingml/2006/main">
            <a:r>
              <a:t>      "code.i",</a:t>
            </a:r>
          </a:p>
          <a:p xmlns:a="http://schemas.openxmlformats.org/drawingml/2006/main">
            <a:r>
              <a:t>      "모델군"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"사내 사용자",</a:t>
            </a:r>
          </a:p>
          <a:p xmlns:a="http://schemas.openxmlformats.org/drawingml/2006/main">
            <a:r>
              <a:t>        "detail": "포털 요청 또는 개발 도구의 코드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"Gauss Portal / code.i / 모델군",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"Gauss 모델군",</a:t>
            </a:r>
          </a:p>
          <a:p xmlns:a="http://schemas.openxmlformats.org/drawingml/2006/main">
            <a:r>
              <a:t>        "detail": "업무 유형에 맞는 Gauss 모델 기능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"개발자·현업",</a:t>
            </a:r>
          </a:p>
          <a:p xmlns:a="http://schemas.openxmlformats.org/drawingml/2006/main">
            <a:r>
              <a:t>        "detail": "문서·코드 초안을 현업·개발자에게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"업무·개발 문맥",</a:t>
            </a:r>
          </a:p>
          <a:p xmlns:a="http://schemas.openxmlformats.org/drawingml/2006/main">
            <a:r>
              <a:t>        "detail": "업무 문서·코드 문맥의 입력 경계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"생성 코드 검토·보안·회귀시험 결과 환류",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"사내 사용자",</a:t>
            </a:r>
          </a:p>
          <a:p xmlns:a="http://schemas.openxmlformats.org/drawingml/2006/main">
            <a:r>
              <a:t>        "input": "포털 요청 또는 개발 도구의 코드 문맥",</a:t>
            </a:r>
          </a:p>
          <a:p xmlns:a="http://schemas.openxmlformats.org/drawingml/2006/main">
            <a:r>
              <a:t>        "process": "업무 문서·코드 문맥의 입력 경계 구성",</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"title": "Gauss 모델군",</a:t>
            </a:r>
          </a:p>
          <a:p xmlns:a="http://schemas.openxmlformats.org/drawingml/2006/main">
            <a:r>
              <a:t>        "input": "요청·코드 문맥",</a:t>
            </a:r>
          </a:p>
          <a:p xmlns:a="http://schemas.openxmlformats.org/drawingml/2006/main">
            <a:r>
              <a:t>        "process": "업무 유형에 맞는 Gauss 모델 기능 호출",</a:t>
            </a:r>
          </a:p>
          <a:p xmlns:a="http://schemas.openxmlformats.org/drawingml/2006/main">
            <a:r>
              <a:t>        "output": "모델 입력"</a:t>
            </a:r>
          </a:p>
          <a:p xmlns:a="http://schemas.openxmlformats.org/drawingml/2006/main">
            <a:r>
              <a:t>      },</a:t>
            </a:r>
          </a:p>
          <a:p xmlns:a="http://schemas.openxmlformats.org/drawingml/2006/main">
            <a:r>
              <a:t>      {</a:t>
            </a:r>
          </a:p>
          <a:p xmlns:a="http://schemas.openxmlformats.org/drawingml/2006/main">
            <a:r>
              <a:t>        "title": "일반·개발 도구",</a:t>
            </a:r>
          </a:p>
          <a:p xmlns:a="http://schemas.openxmlformats.org/drawingml/2006/main">
            <a:r>
              <a:t>        "input": "모델 입력",</a:t>
            </a:r>
          </a:p>
          <a:p xmlns:a="http://schemas.openxmlformats.org/drawingml/2006/main">
            <a:r>
              <a:t>        "process": "보안 검사·회귀 시험·현업 검토",</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"title": "업무 결과 검토",</a:t>
            </a:r>
          </a:p>
          <a:p xmlns:a="http://schemas.openxmlformats.org/drawingml/2006/main">
            <a:r>
              <a:t>        "input": "생성 결과",</a:t>
            </a:r>
          </a:p>
          <a:p xmlns:a="http://schemas.openxmlformats.org/drawingml/2006/main">
            <a:r>
              <a:t>        "process":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"일반 문서와 개발 코드를 각 업무 도구에서 작성",</a:t>
            </a:r>
          </a:p>
          <a:p xmlns:a="http://schemas.openxmlformats.org/drawingml/2006/main">
            <a:r>
              <a:t>      "exception": "민감 코드 입력·취약 코드 생성·시험 실패",</a:t>
            </a:r>
          </a:p>
          <a:p xmlns:a="http://schemas.openxmlformats.org/drawingml/2006/main">
            <a:r>
              <a:t>      "evidence": "입력 경계·코드 검토·보안·회귀시험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"사내 직원·소프트웨어 개발자",</a:t>
            </a:r>
          </a:p>
          <a:p xmlns:a="http://schemas.openxmlformats.org/drawingml/2006/main">
            <a:r>
              <a:t>          "processing": "포털 요청 또는 개발 도구의 코드 문맥",</a:t>
            </a:r>
          </a:p>
          <a:p xmlns:a="http://schemas.openxmlformats.org/drawingml/2006/main">
            <a:r>
              <a:t>          "output": "요청·코드 문맥"</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"업무·개발 문맥",</a:t>
            </a:r>
          </a:p>
          <a:p xmlns:a="http://schemas.openxmlformats.org/drawingml/2006/main">
            <a:r>
              <a:t>          "processing": "업무 문서·코드 문맥의 입력 경계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"요청·코드 문맥",</a:t>
            </a:r>
          </a:p>
          <a:p xmlns:a="http://schemas.openxmlformats.org/drawingml/2006/main">
            <a:r>
              <a:t>          "processing": "업무 유형에 맞는 Gauss 모델 기능 호출",</a:t>
            </a:r>
          </a:p>
          <a:p xmlns:a="http://schemas.openxmlformats.org/drawingml/2006/main">
            <a:r>
              <a:t>          "output": "생성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"생성 결과",</a:t>
            </a:r>
          </a:p>
          <a:p xmlns:a="http://schemas.openxmlformats.org/drawingml/2006/main">
            <a:r>
              <a:t>          "processing": "문서·코드 초안을 현업·개발자에게 제공",</a:t>
            </a:r>
          </a:p>
          <a:p xmlns:a="http://schemas.openxmlformats.org/drawingml/2006/main">
            <a:r>
              <a:t>          "output": "검토·시험"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"생성 코드 검토·보안·회귀시험 결과 환류",</a:t>
            </a:r>
          </a:p>
          <a:p xmlns:a="http://schemas.openxmlformats.org/drawingml/2006/main">
            <a:r>
              <a:t>          "output": "입력 경계·코드 검토·보안·회귀시험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"생성 코드 검토·보안·회귀시험 결과 환류",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"T044 / 공통모델+직무 특화 접점",</a:t>
            </a:r>
          </a:p>
          <a:p xmlns:a="http://schemas.openxmlformats.org/drawingml/2006/main">
            <a:r>
              <a:t>        "url": "https://news.samsung.com/ca/samsung-electronics-hosts-samsung-developer-conference-korea-2024-unveils-its-improved-gen-ai-model"</a:t>
            </a:r>
          </a:p>
          <a:p xmlns:a="http://schemas.openxmlformats.org/drawingml/2006/main">
            <a:r>
              <a:t>      }</a:t>
            </a:r>
          </a:p>
          <a:p xmlns:a="http://schemas.openxmlformats.org/drawingml/2006/main">
            <a:r>
              <a:t>    ],</a:t>
            </a:r>
          </a:p>
          <a:p xmlns:a="http://schemas.openxmlformats.org/drawingml/2006/main">
            <a:r>
              <a:t>    "implication": "일반 직원과 개발자의 입력 문맥·결과 검토 기준을 직무별 분리",</a:t>
            </a:r>
          </a:p>
          <a:p xmlns:a="http://schemas.openxmlformats.org/drawingml/2006/main">
            <a:r>
              <a:t>    "local": "일반 직원과 개발자의 입력 문맥·결과 검토 기준을 직무별 분리",</a:t>
            </a:r>
          </a:p>
          <a:p xmlns:a="http://schemas.openxmlformats.org/drawingml/2006/main">
            <a:r>
              <a:t>    "sourceDetail": "자체 Gauss 모델군을 공통 포털과 code.i에 적용, 개발 도구와 업무 기능 결합\n개발 직무용 도구와 일반 업무 포털 분리",</a:t>
            </a:r>
          </a:p>
          <a:p xmlns:a="http://schemas.openxmlformats.org/drawingml/2006/main">
            <a:r>
              <a:t>    "narrative": [</a:t>
            </a:r>
          </a:p>
          <a:p xmlns:a="http://schemas.openxmlformats.org/drawingml/2006/main">
            <a:r>
              <a:t>      "삼성 Gauss Portal과 code.i의 기업 공통 AI·개발 지원 사례. 전 직원의 문서 업무와 개발자의 코드 작업을 다른 접점으로 지원하는 도입 방식.",</a:t>
            </a:r>
          </a:p>
          <a:p xmlns:a="http://schemas.openxmlformats.org/drawingml/2006/main">
            <a:r>
              <a:t>      "공개 제품 발표의 업무 지원 범위를 기준으로 직원 포털, 개발 도구 접점, AI 처리, 업무 자료·코드 문맥, 결과 검토 계층으로 재구성. 문서 작성과 코드 생성은 입력 데이터와 오류 판정 기준이 다른 서비스로 설계.",</a:t>
            </a:r>
          </a:p>
          <a:p xmlns:a="http://schemas.openxmlformats.org/drawingml/2006/main">
            <a:r>
              <a:t>      "CCK에서는 동일 모델의 이용률보다 직무별 결과물의 검증 가능성을 비교할 필요. 문서의 근거·서식 점검과 코드의 빌드·시험·보안 검토를 각각 수행하고 데이터 반출·소스코드 접근 범위를 공통 정책과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"포털·개발 도구",</a:t>
            </a:r>
          </a:p>
          <a:p xmlns:a="http://schemas.openxmlformats.org/drawingml/2006/main">
            <a:r>
              <a:t>          "layer": "이용 접점",</a:t>
            </a:r>
          </a:p>
          <a:p xmlns:a="http://schemas.openxmlformats.org/drawingml/2006/main">
            <a:r>
              <a:t>          "detail": "사내 직원·소프트웨어 개발자",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"문서·코드 문맥",</a:t>
            </a:r>
          </a:p>
          <a:p xmlns:a="http://schemas.openxmlformats.org/drawingml/2006/main">
            <a:r>
              <a:t>          "layer": "업무 문맥",</a:t>
            </a:r>
          </a:p>
          <a:p xmlns:a="http://schemas.openxmlformats.org/drawingml/2006/main">
            <a:r>
              <a:t>          "detail": "포털 요청 또는 개발 도구의 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"허용 문맥 구성",</a:t>
            </a:r>
          </a:p>
          <a:p xmlns:a="http://schemas.openxmlformats.org/drawingml/2006/main">
            <a:r>
              <a:t>          "layer": "자료 조회",</a:t>
            </a:r>
          </a:p>
          <a:p xmlns:a="http://schemas.openxmlformats.org/drawingml/2006/main">
            <a:r>
              <a:t>          "detail": "요청·코드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"Gauss 모델군",</a:t>
            </a:r>
          </a:p>
          <a:p xmlns:a="http://schemas.openxmlformats.org/drawingml/2006/main">
            <a:r>
              <a:t>          "layer": "핵심 처리",</a:t>
            </a:r>
          </a:p>
          <a:p xmlns:a="http://schemas.openxmlformats.org/drawingml/2006/main">
            <a:r>
              <a:t>          "detail": "업무 유형에 맞는 Gauss 모델 기능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"코드·보안 검사",</a:t>
            </a:r>
          </a:p>
          <a:p xmlns:a="http://schemas.openxmlformats.org/drawingml/2006/main">
            <a:r>
              <a:t>          "layer": "결과 검증",</a:t>
            </a:r>
          </a:p>
          <a:p xmlns:a="http://schemas.openxmlformats.org/drawingml/2006/main">
            <a:r>
              <a:t>          "detail": "보안 검사·회귀 시험·현업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"직원·개발자 검토",</a:t>
            </a:r>
          </a:p>
          <a:p xmlns:a="http://schemas.openxmlformats.org/drawingml/2006/main">
            <a:r>
              <a:t>          "layer": "사람 확인",</a:t>
            </a:r>
          </a:p>
          <a:p xmlns:a="http://schemas.openxmlformats.org/drawingml/2006/main">
            <a:r>
              <a:t>          "detail": "일반 문서와 개발 코드를 각 업무 도구에서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"업무·코드 초안",</a:t>
            </a:r>
          </a:p>
          <a:p xmlns:a="http://schemas.openxmlformats.org/drawingml/2006/main">
            <a:r>
              <a:t>          "layer": "업무 연결",</a:t>
            </a:r>
          </a:p>
          <a:p xmlns:a="http://schemas.openxmlformats.org/drawingml/2006/main">
            <a:r>
              <a:t>          "detail": "문서·코드 초안을 현업·개발자에게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"회귀시험 환류",</a:t>
            </a:r>
          </a:p>
          <a:p xmlns:a="http://schemas.openxmlformats.org/drawingml/2006/main">
            <a:r>
              <a:t>          "layer": "운영 관측",</a:t>
            </a:r>
          </a:p>
          <a:p xmlns:a="http://schemas.openxmlformats.org/drawingml/2006/main">
            <a:r>
              <a:t>          "detail": "생성 코드 검토·보안·회귀시험 결과 환류",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"업무문서·코드",</a:t>
            </a:r>
          </a:p>
          <a:p xmlns:a="http://schemas.openxmlformats.org/drawingml/2006/main">
            <a:r>
              <a:t>          "layer": "데이터 원천",</a:t>
            </a:r>
          </a:p>
          <a:p xmlns:a="http://schemas.openxmlformats.org/drawingml/2006/main">
            <a:r>
              <a:t>          "detail": "업무·개발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"입력 범위 정리",</a:t>
            </a:r>
          </a:p>
          <a:p xmlns:a="http://schemas.openxmlformats.org/drawingml/2006/main">
            <a:r>
              <a:t>          "layer": "준비·갱신",</a:t>
            </a:r>
          </a:p>
          <a:p xmlns:a="http://schemas.openxmlformats.org/drawingml/2006/main">
            <a:r>
              <a:t>          "detail": "업무 문서·코드 문맥의 입력 경계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"초안·시험 기록",</a:t>
            </a:r>
          </a:p>
          <a:p xmlns:a="http://schemas.openxmlformats.org/drawingml/2006/main">
            <a:r>
              <a:t>          "layer": "상태·지식 저장",</a:t>
            </a:r>
          </a:p>
          <a:p xmlns:a="http://schemas.openxmlformats.org/drawingml/2006/main">
            <a:r>
              <a:t>          "detail": "입력 경계·코드 검토·보안·회귀시험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"업무별 이용정책",</a:t>
            </a:r>
          </a:p>
          <a:p xmlns:a="http://schemas.openxmlformats.org/drawingml/2006/main">
            <a:r>
              <a:t>          "layer": "권한·정책",</a:t>
            </a:r>
          </a:p>
          <a:p xmlns:a="http://schemas.openxmlformats.org/drawingml/2006/main">
            <a:r>
              <a:t>          "detail": "민감 코드 입력·취약 코드 생성·시험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"사내 사용자 → Gauss 모델군 → 일반·개발 도구 → 업무 결과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"포털 요청 또는 개발 도구의 코드 문맥",</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"요청·코드 문맥",</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"업무별 이용정책",</a:t>
            </a:r>
          </a:p>
          <a:p xmlns:a="http://schemas.openxmlformats.org/drawingml/2006/main">
            <a:r>
              <a:t>          "check": "보안 검사·회귀 시험·현업 검토"</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"생성 결과",</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"생성 결과",</a:t>
            </a:r>
          </a:p>
          <a:p xmlns:a="http://schemas.openxmlformats.org/drawingml/2006/main">
            <a:r>
              <a:t>          "check": "민감 코드 입력·취약 코드 생성·시험 실패"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"검토·시험",</a:t>
            </a:r>
          </a:p>
          <a:p xmlns:a="http://schemas.openxmlformats.org/drawingml/2006/main">
            <a:r>
              <a:t>          "check": "입력 경계·코드 검토·보안·회귀시험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"범용 업무 지원과 개발자 지원의 분리 / Gauss Portal·code.i·모델군",</a:t>
            </a:r>
          </a:p>
          <a:p xmlns:a="http://schemas.openxmlformats.org/drawingml/2006/main">
            <a:r>
              <a:t>        "extension": "일반 직원과 개발자의 입력 문맥·결과 검토 기준을 직무별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"민감 코드 입력·취약 코드 생성·시험 실패",</a:t>
            </a:r>
          </a:p>
          <a:p xmlns:a="http://schemas.openxmlformats.org/drawingml/2006/main">
            <a:r>
              <a:t>        "hold": "보안 검사·회귀 시험·현업 검토",</a:t>
            </a:r>
          </a:p>
          <a:p xmlns:a="http://schemas.openxmlformats.org/drawingml/2006/main">
            <a:r>
              <a:t>        "recovery": "생성 코드 검토·보안·회귀시험 결과 환류",</a:t>
            </a:r>
          </a:p>
          <a:p xmlns:a="http://schemas.openxmlformats.org/drawingml/2006/main">
            <a:r>
              <a:t>        "evidence": "입력 경계·코드 검토·보안·회귀시험 결과"</a:t>
            </a:r>
          </a:p>
          <a:p xmlns:a="http://schemas.openxmlformats.org/drawingml/2006/main">
            <a:r>
              <a:t>      },</a:t>
            </a:r>
          </a:p>
          <a:p xmlns:a="http://schemas.openxmlformats.org/drawingml/2006/main">
            <a:r>
              <a:t>      "data": {</a:t>
            </a:r>
          </a:p>
          <a:p xmlns:a="http://schemas.openxmlformats.org/drawingml/2006/main">
            <a:r>
              <a:t>        "source": "업무·개발 문맥",</a:t>
            </a:r>
          </a:p>
          <a:p xmlns:a="http://schemas.openxmlformats.org/drawingml/2006/main">
            <a:r>
              <a:t>        "prepare": "업무 문서·코드 문맥의 입력 경계 구성",</a:t>
            </a:r>
          </a:p>
          <a:p xmlns:a="http://schemas.openxmlformats.org/drawingml/2006/main">
            <a:r>
              <a:t>        "output": "요청·코드 문맥",</a:t>
            </a:r>
          </a:p>
          <a:p xmlns:a="http://schemas.openxmlformats.org/drawingml/2006/main">
            <a:r>
              <a:t>        "refresh": "생성 코드 검토·보안·회귀시험 결과 환류"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"PF-A06",</a:t>
            </a:r>
          </a:p>
          <a:p xmlns:a="http://schemas.openxmlformats.org/drawingml/2006/main">
            <a:r>
              <a:t>    "success": [</a:t>
            </a:r>
          </a:p>
          <a:p xmlns:a="http://schemas.openxmlformats.org/drawingml/2006/main">
            <a:r>
              <a:t>      "범용 지원과 개발 지원의 구분",</a:t>
            </a:r>
          </a:p>
          <a:p xmlns:a="http://schemas.openxmlformats.org/drawingml/2006/main">
            <a:r>
              <a:t>      "공통 모델군의 업무 도구 적용"</a:t>
            </a:r>
          </a:p>
          <a:p xmlns:a="http://schemas.openxmlformats.org/drawingml/2006/main">
            <a:r>
              <a:t>    ],</a:t>
            </a:r>
          </a:p>
          <a:p xmlns:a="http://schemas.openxmlformats.org/drawingml/2006/main">
            <a:r>
              <a:t>    "risks": [</a:t>
            </a:r>
          </a:p>
          <a:p xmlns:a="http://schemas.openxmlformats.org/drawingml/2006/main">
            <a:r>
              <a:t>      "코드 보안·품질 편차",</a:t>
            </a:r>
          </a:p>
          <a:p xmlns:a="http://schemas.openxmlformats.org/drawingml/2006/main">
            <a:r>
              <a:t>      "생성 코드의 무검토 반영"</a:t>
            </a:r>
          </a:p>
          <a:p xmlns:a="http://schemas.openxmlformats.org/drawingml/2006/main">
            <a:r>
              <a:t>    ],</a:t>
            </a:r>
          </a:p>
          <a:p xmlns:a="http://schemas.openxmlformats.org/drawingml/2006/main">
            <a:r>
              <a:t>    "architecture": [</a:t>
            </a:r>
          </a:p>
          <a:p xmlns:a="http://schemas.openxmlformats.org/drawingml/2006/main">
            <a:r>
              <a:t>      "사내 사용자",</a:t>
            </a:r>
          </a:p>
          <a:p xmlns:a="http://schemas.openxmlformats.org/drawingml/2006/main">
            <a:r>
              <a:t>      "Gauss 모델군",</a:t>
            </a:r>
          </a:p>
          <a:p xmlns:a="http://schemas.openxmlformats.org/drawingml/2006/main">
            <a:r>
              <a:t>      "업무·개발 문맥",</a:t>
            </a:r>
          </a:p>
          <a:p xmlns:a="http://schemas.openxmlformats.org/drawingml/2006/main">
            <a:r>
              <a:t>      "개발자·현업"</a:t>
            </a:r>
          </a:p>
          <a:p xmlns:a="http://schemas.openxmlformats.org/drawingml/2006/main">
            <a:r>
              <a:t>    ],</a:t>
            </a:r>
          </a:p>
          <a:p xmlns:a="http://schemas.openxmlformats.org/drawingml/2006/main">
            <a:r>
              <a:t>    "transfers": [</a:t>
            </a:r>
          </a:p>
          <a:p xmlns:a="http://schemas.openxmlformats.org/drawingml/2006/main">
            <a:r>
              <a:t>      "요청·코드 문맥",</a:t>
            </a:r>
          </a:p>
          <a:p xmlns:a="http://schemas.openxmlformats.org/drawingml/2006/main">
            <a:r>
              <a:t>      "모델 입력",</a:t>
            </a:r>
          </a:p>
          <a:p xmlns:a="http://schemas.openxmlformats.org/drawingml/2006/main">
            <a:r>
              <a:t>      "생성 결과",</a:t>
            </a:r>
          </a:p>
          <a:p xmlns:a="http://schemas.openxmlformats.org/drawingml/2006/main">
            <a:r>
              <a:t>      "검토·시험"</a:t>
            </a:r>
          </a:p>
          <a:p xmlns:a="http://schemas.openxmlformats.org/drawingml/2006/main">
            <a:r>
              <a:t>    ],</a:t>
            </a:r>
          </a:p>
          <a:p xmlns:a="http://schemas.openxmlformats.org/drawingml/2006/main">
            <a:r>
              <a:t>    "control": "보안 검사·회귀 시험·현업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T044 / 공통모델+직무 특화 접점 https://news.samsung.com/ca/samsung-electronics-hosts-samsung-developer-conference-korea-2024-unveils-its-improved-gen-ai-model</a:t>
            </a:r>
          </a:p>
          <a:p xmlns:a="http://schemas.openxmlformats.org/drawingml/2006/main">
            <a:r>
              <a:t>홈페이지 https://heen1987-ops.github.io/TS-business-Plan-001/index.html?view=platform-cases&amp;case=PF-A06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a:p xmlns:a="http://schemas.openxmlformats.org/drawingml/2006/main">
            <a:r>
              <a:t>한계: 청내 운영 실적과 범정부 실증 대상 규모의 분리 · 도입 인원과 생산성 구분</a:t>
            </a:r>
          </a:p>
          <a:p xmlns:a="http://schemas.openxmlformats.org/drawingml/2006/main">
            <a:r>
              <a:t>실패 위험: 기관별 규정·문서 경계 차이 / 청내 운영 결과의 범정부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"PF05",</a:t>
            </a:r>
          </a:p>
          <a:p xmlns:a="http://schemas.openxmlformats.org/drawingml/2006/main">
            <a:r>
              <a:t>    "sourceId": "A07",</a:t>
            </a:r>
          </a:p>
          <a:p xmlns:a="http://schemas.openxmlformats.org/drawingml/2006/main">
            <a:r>
              <a:t>    "title": "일본 정부 AI 源内",</a:t>
            </a:r>
          </a:p>
          <a:p xmlns:a="http://schemas.openxmlformats.org/drawingml/2006/main">
            <a:r>
              <a:t>    "region": "해외",</a:t>
            </a:r>
          </a:p>
          <a:p xmlns:a="http://schemas.openxmlformats.org/drawingml/2006/main">
            <a:r>
              <a:t>    "owner": "일본 디지털청",</a:t>
            </a:r>
          </a:p>
          <a:p xmlns:a="http://schemas.openxmlformats.org/drawingml/2006/main">
            <a:r>
              <a:t>    "state": "청내 운영 / 범정부 실증",</a:t>
            </a:r>
          </a:p>
          <a:p xmlns:a="http://schemas.openxmlformats.org/drawingml/2006/main">
            <a:r>
              <a:t>    "period": "2025 운영 / 2026 확산",</a:t>
            </a:r>
          </a:p>
          <a:p xmlns:a="http://schemas.openxmlformats.org/drawingml/2006/main">
            <a:r>
              <a:t>    "fact": "정부 공통 환경의 범용 AI와 업무별 앱·템플릿 구성",</a:t>
            </a:r>
          </a:p>
          <a:p xmlns:a="http://schemas.openxmlformats.org/drawingml/2006/main">
            <a:r>
              <a:t>    "limit": "청내 운영 실적과 범정부 실증 대상 규모의 분리 · 도입 인원과 생산성 구분",</a:t>
            </a:r>
          </a:p>
          <a:p xmlns:a="http://schemas.openxmlformats.org/drawingml/2006/main">
            <a:r>
              <a:t>    "nodes": [</a:t>
            </a:r>
          </a:p>
          <a:p xmlns:a="http://schemas.openxmlformats.org/drawingml/2006/main">
            <a:r>
              <a:t>      "정부 인증·접점",</a:t>
            </a:r>
          </a:p>
          <a:p xmlns:a="http://schemas.openxmlformats.org/drawingml/2006/main">
            <a:r>
              <a:t>      "공통 AI 환경",</a:t>
            </a:r>
          </a:p>
          <a:p xmlns:a="http://schemas.openxmlformats.org/drawingml/2006/main">
            <a:r>
              <a:t>      "법제·답변 업무 앱",</a:t>
            </a:r>
          </a:p>
          <a:p xmlns:a="http://schemas.openxmlformats.org/drawingml/2006/main">
            <a:r>
              <a:t>      "이용 관측·현업 개선"</a:t>
            </a:r>
          </a:p>
          <a:p xmlns:a="http://schemas.openxmlformats.org/drawingml/2006/main">
            <a:r>
              <a:t>    ],</a:t>
            </a:r>
          </a:p>
          <a:p xmlns:a="http://schemas.openxmlformats.org/drawingml/2006/main">
            <a:r>
              <a:t>    "apply": "공통 AI 운영과 현업 앱의 소유·갱신·승인 책임을 함께 정의",</a:t>
            </a:r>
          </a:p>
          <a:p xmlns:a="http://schemas.openxmlformats.org/drawingml/2006/main">
            <a:r>
              <a:t>    "delta": "기관 설정·조직 사전·업무 스킬·배포판본 관리",</a:t>
            </a:r>
          </a:p>
          <a:p xmlns:a="http://schemas.openxmlformats.org/drawingml/2006/main">
            <a:r>
              <a:t>    "test": "두 번째 부서 적용의 수정 범위·추가 공수·격리 평가",</a:t>
            </a:r>
          </a:p>
          <a:p xmlns:a="http://schemas.openxmlformats.org/drawingml/2006/main">
            <a:r>
              <a:t>    "url": "https://www.digital.go.jp/policies/genai",</a:t>
            </a:r>
          </a:p>
          <a:p xmlns:a="http://schemas.openxmlformats.org/drawingml/2006/main">
            <a:r>
              <a:t>    "basis": "운영기관 정책·서비스 공개",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"https://www.digital.go.jp/policies/genai",</a:t>
            </a:r>
          </a:p>
          <a:p xmlns:a="http://schemas.openxmlformats.org/drawingml/2006/main">
            <a:r>
              <a:t>      "https://www.digital.go.jp/en/news/907c8e5d-2f4f-4bd7-9400-37c9f4221d7d",</a:t>
            </a:r>
          </a:p>
          <a:p xmlns:a="http://schemas.openxmlformats.org/drawingml/2006/main">
            <a:r>
              <a:t>      "https://www.digital.go.jp/assets/contents/node/information/field_ref_resources/08ded405-ca03-48c7-9b92-6b8878854a74/5147384f/20250829_news_ai_usage_report_01.pdf"</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"PF05",</a:t>
            </a:r>
          </a:p>
          <a:p xmlns:a="http://schemas.openxmlformats.org/drawingml/2006/main">
            <a:r>
              <a:t>    "canonicalId": "PF05",</a:t>
            </a:r>
          </a:p>
          <a:p xmlns:a="http://schemas.openxmlformats.org/drawingml/2006/main">
            <a:r>
              <a:t>    "purpose": "정부 공통 AI와 업무 앱의 단계적 확산",</a:t>
            </a:r>
          </a:p>
          <a:p xmlns:a="http://schemas.openxmlformats.org/drawingml/2006/main">
            <a:r>
              <a:t>    "users": "정부 직원·앱 담당·운영자",</a:t>
            </a:r>
          </a:p>
          <a:p xmlns:a="http://schemas.openxmlformats.org/drawingml/2006/main">
            <a:r>
              <a:t>    "scope": [</a:t>
            </a:r>
          </a:p>
          <a:p xmlns:a="http://schemas.openxmlformats.org/drawingml/2006/main">
            <a:r>
              <a:t>      "범용 AI",</a:t>
            </a:r>
          </a:p>
          <a:p xmlns:a="http://schemas.openxmlformats.org/drawingml/2006/main">
            <a:r>
              <a:t>      "업무 앱",</a:t>
            </a:r>
          </a:p>
          <a:p xmlns:a="http://schemas.openxmlformats.org/drawingml/2006/main">
            <a:r>
              <a:t>      "템플릿"</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사용자",</a:t>
            </a:r>
          </a:p>
          <a:p xmlns:a="http://schemas.openxmlformats.org/drawingml/2006/main">
            <a:r>
              <a:t>        "detail": "이용자·앱·업무 목적의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"범용 AI / 업무 앱 / 템플릿",</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"源内 공통 AI·앱",</a:t>
            </a:r>
          </a:p>
          <a:p xmlns:a="http://schemas.openxmlformats.org/drawingml/2006/main">
            <a:r>
              <a:t>        "detail": "공통 모델과 앱별 지식·도구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"공무원 검토",</a:t>
            </a:r>
          </a:p>
          <a:p xmlns:a="http://schemas.openxmlformats.org/drawingml/2006/main">
            <a:r>
              <a:t>        "detail": "직원이 검토 가능한 업무 초안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문서·템플릿",</a:t>
            </a:r>
          </a:p>
          <a:p xmlns:a="http://schemas.openxmlformats.org/drawingml/2006/main">
            <a:r>
              <a:t>        "detail": "앱별 문서·템플릿·프롬프트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"앱 이용·품질·개선 요청의 공통 운영",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인증·접점",</a:t>
            </a:r>
          </a:p>
          <a:p xmlns:a="http://schemas.openxmlformats.org/drawingml/2006/main">
            <a:r>
              <a:t>        "input": "이용자·앱·업무 목적의 문맥 구성",</a:t>
            </a:r>
          </a:p>
          <a:p xmlns:a="http://schemas.openxmlformats.org/drawingml/2006/main">
            <a:r>
              <a:t>        "process": "앱별 문서·템플릿·프롬프트 판본 관리",</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"title": "공통 AI 환경",</a:t>
            </a:r>
          </a:p>
          <a:p xmlns:a="http://schemas.openxmlformats.org/drawingml/2006/main">
            <a:r>
              <a:t>        "input": "질문·업무 선택",</a:t>
            </a:r>
          </a:p>
          <a:p xmlns:a="http://schemas.openxmlformats.org/drawingml/2006/main">
            <a:r>
              <a:t>        "process": "공통 모델과 앱별 지식·도구 연결",</a:t>
            </a:r>
          </a:p>
          <a:p xmlns:a="http://schemas.openxmlformats.org/drawingml/2006/main">
            <a:r>
              <a:t>        "output": "앱별 맥락"</a:t>
            </a:r>
          </a:p>
          <a:p xmlns:a="http://schemas.openxmlformats.org/drawingml/2006/main">
            <a:r>
              <a:t>      },</a:t>
            </a:r>
          </a:p>
          <a:p xmlns:a="http://schemas.openxmlformats.org/drawingml/2006/main">
            <a:r>
              <a:t>      {</a:t>
            </a:r>
          </a:p>
          <a:p xmlns:a="http://schemas.openxmlformats.org/drawingml/2006/main">
            <a:r>
              <a:t>        "title": "법제·답변 업무 앱",</a:t>
            </a:r>
          </a:p>
          <a:p xmlns:a="http://schemas.openxmlformats.org/drawingml/2006/main">
            <a:r>
              <a:t>        "input": "앱별 맥락",</a:t>
            </a:r>
          </a:p>
          <a:p xmlns:a="http://schemas.openxmlformats.org/drawingml/2006/main">
            <a:r>
              <a:t>        "process": "업무별 평가·기관별 데이터 경계",</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"title": "이용 관측·현업 개선",</a:t>
            </a:r>
          </a:p>
          <a:p xmlns:a="http://schemas.openxmlformats.org/drawingml/2006/main">
            <a:r>
              <a:t>        "input": "답변·초안",</a:t>
            </a:r>
          </a:p>
          <a:p xmlns:a="http://schemas.openxmlformats.org/drawingml/2006/main">
            <a:r>
              <a:t>        "process":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앱에서 승인된 지식과 템플릿으로 초안 작성",</a:t>
            </a:r>
          </a:p>
          <a:p xmlns:a="http://schemas.openxmlformats.org/drawingml/2006/main">
            <a:r>
              <a:t>      "exception": "앱 간 문서 혼입·구판 템플릿·담당자 변경",</a:t>
            </a:r>
          </a:p>
          <a:p xmlns:a="http://schemas.openxmlformats.org/drawingml/2006/main">
            <a:r>
              <a:t>      "evidence": "앱·판본·소관별 결과와 갱신·승인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직원·앱 담당·운영자",</a:t>
            </a:r>
          </a:p>
          <a:p xmlns:a="http://schemas.openxmlformats.org/drawingml/2006/main">
            <a:r>
              <a:t>          "processing": "이용자·앱·업무 목적의 문맥 구성",</a:t>
            </a:r>
          </a:p>
          <a:p xmlns:a="http://schemas.openxmlformats.org/drawingml/2006/main">
            <a:r>
              <a:t>          "output": "질문·업무 선택"</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문서·템플릿",</a:t>
            </a:r>
          </a:p>
          <a:p xmlns:a="http://schemas.openxmlformats.org/drawingml/2006/main">
            <a:r>
              <a:t>          "processing": "앱별 문서·템플릿·프롬프트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선택",</a:t>
            </a:r>
          </a:p>
          <a:p xmlns:a="http://schemas.openxmlformats.org/drawingml/2006/main">
            <a:r>
              <a:t>          "processing": "공통 모델과 앱별 지식·도구 연결",</a:t>
            </a:r>
          </a:p>
          <a:p xmlns:a="http://schemas.openxmlformats.org/drawingml/2006/main">
            <a:r>
              <a:t>          "output": "답변·초안"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"답변·초안",</a:t>
            </a:r>
          </a:p>
          <a:p xmlns:a="http://schemas.openxmlformats.org/drawingml/2006/main">
            <a:r>
              <a:t>          "processing": "직원이 검토 가능한 업무 초안 제공",</a:t>
            </a:r>
          </a:p>
          <a:p xmlns:a="http://schemas.openxmlformats.org/drawingml/2006/main">
            <a:r>
              <a:t>          "output": "이용·품질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"앱 이용·품질·개선 요청의 공통 운영",</a:t>
            </a:r>
          </a:p>
          <a:p xmlns:a="http://schemas.openxmlformats.org/drawingml/2006/main">
            <a:r>
              <a:t>          "output": "앱·판본·소관별 결과와 갱신·승인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"앱 이용·품질·개선 요청의 공통 운영",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정책·서비스 공개",</a:t>
            </a:r>
          </a:p>
          <a:p xmlns:a="http://schemas.openxmlformats.org/drawingml/2006/main">
            <a:r>
              <a:t>        "url": "https://www.digital.go.jp/policies/genai"</a:t>
            </a:r>
          </a:p>
          <a:p xmlns:a="http://schemas.openxmlformats.org/drawingml/2006/main">
            <a:r>
              <a:t>      }</a:t>
            </a:r>
          </a:p>
          <a:p xmlns:a="http://schemas.openxmlformats.org/drawingml/2006/main">
            <a:r>
              <a:t>    ],</a:t>
            </a:r>
          </a:p>
          <a:p xmlns:a="http://schemas.openxmlformats.org/drawingml/2006/main">
            <a:r>
              <a:t>    "implication": "공통 AI 운영과 현업 앱의 소유·갱신·승인 책임을 함께 정의",</a:t>
            </a:r>
          </a:p>
          <a:p xmlns:a="http://schemas.openxmlformats.org/drawingml/2006/main">
            <a:r>
              <a:t>    "local": "공통 AI 운영과 현업 앱의 소유·갱신·승인 책임을 함께 정의",</a:t>
            </a:r>
          </a:p>
          <a:p xmlns:a="http://schemas.openxmlformats.org/drawingml/2006/main">
            <a:r>
              <a:t>    "sourceDetail": null,</a:t>
            </a:r>
          </a:p>
          <a:p xmlns:a="http://schemas.openxmlformats.org/drawingml/2006/main">
            <a:r>
              <a:t>    "narrative": [</a:t>
            </a:r>
          </a:p>
          <a:p xmlns:a="http://schemas.openxmlformats.org/drawingml/2006/main">
            <a:r>
              <a:t>      "일본 정부 AI 源内의 공통 AI 도구와 업무 앱 확산 사례. 범용 도구 제공과 특정 업무를 수행하는 앱 개발을 함께 운영해 직원의 활용 진입점과 기관별 확장 경로를 마련하는 접근.",</a:t>
            </a:r>
          </a:p>
          <a:p xmlns:a="http://schemas.openxmlformats.org/drawingml/2006/main">
            <a:r>
              <a:t>      "공통 계정·모델 접근 계층 위에 업무 앱·지식·템플릿을 연결하는 논리 구성. 앱별 소유자, 사용 가능한 자료, 입력 형식, 출력 검토 절차를 정의하고 공통 운영에서 이용·오류·비용을 관찰하는 구조.",</a:t>
            </a:r>
          </a:p>
          <a:p xmlns:a="http://schemas.openxmlformats.org/drawingml/2006/main">
            <a:r>
              <a:t>      "TS의 AI혁신처는 공통 접속·권한·관측 기반을 담당하고 각 부서는 업무 지식과 결과물의 책임을 담당하는 운영 참고. 공통 기반 검수와 업무 앱 검수를 분리해 부서 확장 때 반복 구축을 줄이는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업무 접점",</a:t>
            </a:r>
          </a:p>
          <a:p xmlns:a="http://schemas.openxmlformats.org/drawingml/2006/main">
            <a:r>
              <a:t>          "layer": "이용 접점",</a:t>
            </a:r>
          </a:p>
          <a:p xmlns:a="http://schemas.openxmlformats.org/drawingml/2006/main">
            <a:r>
              <a:t>          "detail": "정부 직원·앱 담당·운영자",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"앱·업무 목적",</a:t>
            </a:r>
          </a:p>
          <a:p xmlns:a="http://schemas.openxmlformats.org/drawingml/2006/main">
            <a:r>
              <a:t>          "layer": "업무 문맥",</a:t>
            </a:r>
          </a:p>
          <a:p xmlns:a="http://schemas.openxmlformats.org/drawingml/2006/main">
            <a:r>
              <a:t>          "detail": "이용자·앱·업무 목적의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"앱 지식 검색",</a:t>
            </a:r>
          </a:p>
          <a:p xmlns:a="http://schemas.openxmlformats.org/drawingml/2006/main">
            <a:r>
              <a:t>          "layer": "자료 조회",</a:t>
            </a:r>
          </a:p>
          <a:p xmlns:a="http://schemas.openxmlformats.org/drawingml/2006/main">
            <a:r>
              <a:t>          "detail": "질문·업무 선택",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"源内 공통 AI",</a:t>
            </a:r>
          </a:p>
          <a:p xmlns:a="http://schemas.openxmlformats.org/drawingml/2006/main">
            <a:r>
              <a:t>          "layer": "핵심 처리",</a:t>
            </a:r>
          </a:p>
          <a:p xmlns:a="http://schemas.openxmlformats.org/drawingml/2006/main">
            <a:r>
              <a:t>          "detail": "공통 모델과 앱별 지식·도구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"근거·용도 검사",</a:t>
            </a:r>
          </a:p>
          <a:p xmlns:a="http://schemas.openxmlformats.org/drawingml/2006/main">
            <a:r>
              <a:t>          "layer": "결과 검증",</a:t>
            </a:r>
          </a:p>
          <a:p xmlns:a="http://schemas.openxmlformats.org/drawingml/2006/main">
            <a:r>
              <a:t>          "detail": "업무별 평가·기관별 데이터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확인",</a:t>
            </a:r>
          </a:p>
          <a:p xmlns:a="http://schemas.openxmlformats.org/drawingml/2006/main">
            <a:r>
              <a:t>          "layer": "사람 확인",</a:t>
            </a:r>
          </a:p>
          <a:p xmlns:a="http://schemas.openxmlformats.org/drawingml/2006/main">
            <a:r>
              <a:t>          "detail": "현업 앱에서 승인된 지식과 템플릿으로 초안 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"업무 앱 결과",</a:t>
            </a:r>
          </a:p>
          <a:p xmlns:a="http://schemas.openxmlformats.org/drawingml/2006/main">
            <a:r>
              <a:t>          "layer": "업무 연결",</a:t>
            </a:r>
          </a:p>
          <a:p xmlns:a="http://schemas.openxmlformats.org/drawingml/2006/main">
            <a:r>
              <a:t>          "detail": "직원이 검토 가능한 업무 초안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"앱별 품질 관측",</a:t>
            </a:r>
          </a:p>
          <a:p xmlns:a="http://schemas.openxmlformats.org/drawingml/2006/main">
            <a:r>
              <a:t>          "layer": "운영 관측",</a:t>
            </a:r>
          </a:p>
          <a:p xmlns:a="http://schemas.openxmlformats.org/drawingml/2006/main">
            <a:r>
              <a:t>          "detail": "앱 이용·품질·개선 요청의 공통 운영",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"문서·템플릿",</a:t>
            </a:r>
          </a:p>
          <a:p xmlns:a="http://schemas.openxmlformats.org/drawingml/2006/main">
            <a:r>
              <a:t>          "layer": "데이터 원천",</a:t>
            </a:r>
          </a:p>
          <a:p xmlns:a="http://schemas.openxmlformats.org/drawingml/2006/main">
            <a:r>
              <a:t>          "detail": "업무 문서·템플릿",</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"판본·소유부서 정리",</a:t>
            </a:r>
          </a:p>
          <a:p xmlns:a="http://schemas.openxmlformats.org/drawingml/2006/main">
            <a:r>
              <a:t>          "layer": "준비·갱신",</a:t>
            </a:r>
          </a:p>
          <a:p xmlns:a="http://schemas.openxmlformats.org/drawingml/2006/main">
            <a:r>
              <a:t>          "detail": "앱별 문서·템플릿·프롬프트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"앱별 지식",</a:t>
            </a:r>
          </a:p>
          <a:p xmlns:a="http://schemas.openxmlformats.org/drawingml/2006/main">
            <a:r>
              <a:t>          "layer": "상태·지식 저장",</a:t>
            </a:r>
          </a:p>
          <a:p xmlns:a="http://schemas.openxmlformats.org/drawingml/2006/main">
            <a:r>
              <a:t>          "detail": "앱·판본·소관별 결과와 갱신·승인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"기관별 이용정책",</a:t>
            </a:r>
          </a:p>
          <a:p xmlns:a="http://schemas.openxmlformats.org/drawingml/2006/main">
            <a:r>
              <a:t>          "layer": "권한·정책",</a:t>
            </a:r>
          </a:p>
          <a:p xmlns:a="http://schemas.openxmlformats.org/drawingml/2006/main">
            <a:r>
              <a:t>          "detail": "앱 간 문서 혼입·구판 템플릿·담당자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인증·접점 → 공통 AI 환경 → 법제·답변 업무 앱 → 이용 관측·현업 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문서·템플릿",</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"이용자·앱·업무 목적의 문맥 구성",</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"앱·판본·소관별 결과와 갱신·승인 기록",</a:t>
            </a:r>
          </a:p>
          <a:p xmlns:a="http://schemas.openxmlformats.org/drawingml/2006/main">
            <a:r>
              <a:t>          "check": "앱별 문서·템플릿·프롬프트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"앱별 맥락",</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"답변·초안",</a:t>
            </a:r>
          </a:p>
          <a:p xmlns:a="http://schemas.openxmlformats.org/drawingml/2006/main">
            <a:r>
              <a:t>          "check": "앱·판본·소관별 결과와 갱신·승인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공통 AI와 업무 앱의 단계적 확산 / 범용 AI·업무 앱·템플릿",</a:t>
            </a:r>
          </a:p>
          <a:p xmlns:a="http://schemas.openxmlformats.org/drawingml/2006/main">
            <a:r>
              <a:t>        "extension": "공통 AI 운영과 현업 앱의 소유·갱신·승인 책임을 함께 정의"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"앱 간 문서 혼입·구판 템플릿·담당자 변경",</a:t>
            </a:r>
          </a:p>
          <a:p xmlns:a="http://schemas.openxmlformats.org/drawingml/2006/main">
            <a:r>
              <a:t>        "hold": "업무별 평가·기관별 데이터 경계",</a:t>
            </a:r>
          </a:p>
          <a:p xmlns:a="http://schemas.openxmlformats.org/drawingml/2006/main">
            <a:r>
              <a:t>        "recovery": "앱 이용·품질·개선 요청의 공통 운영",</a:t>
            </a:r>
          </a:p>
          <a:p xmlns:a="http://schemas.openxmlformats.org/drawingml/2006/main">
            <a:r>
              <a:t>        "evidence": "앱·판본·소관별 결과와 갱신·승인 기록"</a:t>
            </a:r>
          </a:p>
          <a:p xmlns:a="http://schemas.openxmlformats.org/drawingml/2006/main">
            <a:r>
              <a:t>      },</a:t>
            </a:r>
          </a:p>
          <a:p xmlns:a="http://schemas.openxmlformats.org/drawingml/2006/main">
            <a:r>
              <a:t>      "data": {</a:t>
            </a:r>
          </a:p>
          <a:p xmlns:a="http://schemas.openxmlformats.org/drawingml/2006/main">
            <a:r>
              <a:t>        "source": "업무 문서·템플릿",</a:t>
            </a:r>
          </a:p>
          <a:p xmlns:a="http://schemas.openxmlformats.org/drawingml/2006/main">
            <a:r>
              <a:t>        "prepare": "앱별 문서·템플릿·프롬프트 판본 관리",</a:t>
            </a:r>
          </a:p>
          <a:p xmlns:a="http://schemas.openxmlformats.org/drawingml/2006/main">
            <a:r>
              <a:t>        "output": "질문·업무 선택",</a:t>
            </a:r>
          </a:p>
          <a:p xmlns:a="http://schemas.openxmlformats.org/drawingml/2006/main">
            <a:r>
              <a:t>        "refresh": "앱 이용·품질·개선 요청의 공통 운영"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"PF05",</a:t>
            </a:r>
          </a:p>
          <a:p xmlns:a="http://schemas.openxmlformats.org/drawingml/2006/main">
            <a:r>
              <a:t>    "success": [</a:t>
            </a:r>
          </a:p>
          <a:p xmlns:a="http://schemas.openxmlformats.org/drawingml/2006/main">
            <a:r>
              <a:t>      "정부 공통 환경과 업무 앱의 결합",</a:t>
            </a:r>
          </a:p>
          <a:p xmlns:a="http://schemas.openxmlformats.org/drawingml/2006/main">
            <a:r>
              <a:t>      "템플릿·이용 관측을 통한 개선"</a:t>
            </a:r>
          </a:p>
          <a:p xmlns:a="http://schemas.openxmlformats.org/drawingml/2006/main">
            <a:r>
              <a:t>    ],</a:t>
            </a:r>
          </a:p>
          <a:p xmlns:a="http://schemas.openxmlformats.org/drawingml/2006/main">
            <a:r>
              <a:t>    "risks": [</a:t>
            </a:r>
          </a:p>
          <a:p xmlns:a="http://schemas.openxmlformats.org/drawingml/2006/main">
            <a:r>
              <a:t>      "기관별 규정·문서 경계 차이",</a:t>
            </a:r>
          </a:p>
          <a:p xmlns:a="http://schemas.openxmlformats.org/drawingml/2006/main">
            <a:r>
              <a:t>      "청내 운영 결과의 범정부 일반화"</a:t>
            </a:r>
          </a:p>
          <a:p xmlns:a="http://schemas.openxmlformats.org/drawingml/2006/main">
            <a:r>
              <a:t>    ],</a:t>
            </a:r>
          </a:p>
          <a:p xmlns:a="http://schemas.openxmlformats.org/drawingml/2006/main">
            <a:r>
              <a:t>    "architecture": [</a:t>
            </a:r>
          </a:p>
          <a:p xmlns:a="http://schemas.openxmlformats.org/drawingml/2006/main">
            <a:r>
              <a:t>      "정부 사용자",</a:t>
            </a:r>
          </a:p>
          <a:p xmlns:a="http://schemas.openxmlformats.org/drawingml/2006/main">
            <a:r>
              <a:t>      "源内 공통 AI·앱",</a:t>
            </a:r>
          </a:p>
          <a:p xmlns:a="http://schemas.openxmlformats.org/drawingml/2006/main">
            <a:r>
              <a:t>      "업무 문서·템플릿",</a:t>
            </a:r>
          </a:p>
          <a:p xmlns:a="http://schemas.openxmlformats.org/drawingml/2006/main">
            <a:r>
              <a:t>      "공무원 검토"</a:t>
            </a:r>
          </a:p>
          <a:p xmlns:a="http://schemas.openxmlformats.org/drawingml/2006/main">
            <a:r>
              <a:t>    ],</a:t>
            </a:r>
          </a:p>
          <a:p xmlns:a="http://schemas.openxmlformats.org/drawingml/2006/main">
            <a:r>
              <a:t>    "transfers": [</a:t>
            </a:r>
          </a:p>
          <a:p xmlns:a="http://schemas.openxmlformats.org/drawingml/2006/main">
            <a:r>
              <a:t>      "질문·업무 선택",</a:t>
            </a:r>
          </a:p>
          <a:p xmlns:a="http://schemas.openxmlformats.org/drawingml/2006/main">
            <a:r>
              <a:t>      "앱별 맥락",</a:t>
            </a:r>
          </a:p>
          <a:p xmlns:a="http://schemas.openxmlformats.org/drawingml/2006/main">
            <a:r>
              <a:t>      "답변·초안",</a:t>
            </a:r>
          </a:p>
          <a:p xmlns:a="http://schemas.openxmlformats.org/drawingml/2006/main">
            <a:r>
              <a:t>      "이용·품질 기록"</a:t>
            </a:r>
          </a:p>
          <a:p xmlns:a="http://schemas.openxmlformats.org/drawingml/2006/main">
            <a:r>
              <a:t>    ],</a:t>
            </a:r>
          </a:p>
          <a:p xmlns:a="http://schemas.openxmlformats.org/drawingml/2006/main">
            <a:r>
              <a:t>    "control": "업무별 평가·기관별 데이터 경계",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정책·서비스 공개 https://www.digital.go.jp/policies/genai</a:t>
            </a:r>
          </a:p>
          <a:p xmlns:a="http://schemas.openxmlformats.org/drawingml/2006/main">
            <a:r>
              <a:t>홈페이지 https://heen1987-ops.github.io/TS-business-Plan-001/index.html?view=platform-cases&amp;case=PF05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a:p xmlns:a="http://schemas.openxmlformats.org/drawingml/2006/main">
            <a:r>
              <a:t>한계: 봇 개수·사용량이 업무성과는 아님. 2025 AIBots와 2026 Desk를 독립 실적으로 합산하지 않음</a:t>
            </a:r>
          </a:p>
          <a:p xmlns:a="http://schemas.openxmlformats.org/drawingml/2006/main">
            <a:r>
              <a:t>실패 위험: 출처 문서 갱신 누락 / 봇 공유 시 권한 확대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"PF-A08",</a:t>
            </a:r>
          </a:p>
          <a:p xmlns:a="http://schemas.openxmlformats.org/drawingml/2006/main">
            <a:r>
              <a:t>    "sourceId": "A08",</a:t>
            </a:r>
          </a:p>
          <a:p xmlns:a="http://schemas.openxmlformats.org/drawingml/2006/main">
            <a:r>
              <a:t>    "title": "싱가포르 AIBots·Desk",</a:t>
            </a:r>
          </a:p>
          <a:p xmlns:a="http://schemas.openxmlformats.org/drawingml/2006/main">
            <a:r>
              <a:t>    "region": "해외",</a:t>
            </a:r>
          </a:p>
          <a:p xmlns:a="http://schemas.openxmlformats.org/drawingml/2006/main">
            <a:r>
              <a:t>    "owner": "GovTech / AIBots→Desk",</a:t>
            </a:r>
          </a:p>
          <a:p xmlns:a="http://schemas.openxmlformats.org/drawingml/2006/main">
            <a:r>
              <a:t>    "state": "AIBots 사용 실적 / 현재 카탈로그 Desk 통합·POV",</a:t>
            </a:r>
          </a:p>
          <a:p xmlns:a="http://schemas.openxmlformats.org/drawingml/2006/main">
            <a:r>
              <a:t>    "period": "기존 원장 확인 2026.10.16",</a:t>
            </a:r>
          </a:p>
          <a:p xmlns:a="http://schemas.openxmlformats.org/drawingml/2006/main">
            <a:r>
              <a:t>    "fact": "정부 셀프서비스 AI 플랫폼",</a:t>
            </a:r>
          </a:p>
          <a:p xmlns:a="http://schemas.openxmlformats.org/drawingml/2006/main">
            <a:r>
              <a:t>    "limit": "봇 개수·사용량이 업무성과는 아님. 2025 AIBots와 2026 Desk를 독립 실적으로 합산하지 않음",</a:t>
            </a:r>
          </a:p>
          <a:p xmlns:a="http://schemas.openxmlformats.org/drawingml/2006/main">
            <a:r>
              <a:t>    "nodes": [</a:t>
            </a:r>
          </a:p>
          <a:p xmlns:a="http://schemas.openxmlformats.org/drawingml/2006/main">
            <a:r>
              <a:t>      "부서 문서",</a:t>
            </a:r>
          </a:p>
          <a:p xmlns:a="http://schemas.openxmlformats.org/drawingml/2006/main">
            <a:r>
              <a:t>      "RAG·업무 봇",</a:t>
            </a:r>
          </a:p>
          <a:p xmlns:a="http://schemas.openxmlformats.org/drawingml/2006/main">
            <a:r>
              <a:t>      "공유·이용 통제",</a:t>
            </a:r>
          </a:p>
          <a:p xmlns:a="http://schemas.openxmlformats.org/drawingml/2006/main">
            <a:r>
              <a:t>      "업무 접점"</a:t>
            </a:r>
          </a:p>
          <a:p xmlns:a="http://schemas.openxmlformats.org/drawingml/2006/main">
            <a:r>
              <a:t>    ],</a:t>
            </a:r>
          </a:p>
          <a:p xmlns:a="http://schemas.openxmlformats.org/drawingml/2006/main">
            <a:r>
              <a:t>    "apply": "현업이 제작하는 봇의 자료 등급·공유범위·승인판본 관리",</a:t>
            </a:r>
          </a:p>
          <a:p xmlns:a="http://schemas.openxmlformats.org/drawingml/2006/main">
            <a:r>
              <a:t>    "delta": "담당·승인판본·배포·폐기 조건",</a:t>
            </a:r>
          </a:p>
          <a:p xmlns:a="http://schemas.openxmlformats.org/drawingml/2006/main">
            <a:r>
              <a:t>    "test": "중복 도구·갱신 공수의 기준선·비교 평가",</a:t>
            </a:r>
          </a:p>
          <a:p xmlns:a="http://schemas.openxmlformats.org/drawingml/2006/main">
            <a:r>
              <a:t>    "url": "https://www.tech.gov.sg/products-and-services/for-government-agencies/productivity-and-marketing/aibots/",</a:t>
            </a:r>
          </a:p>
          <a:p xmlns:a="http://schemas.openxmlformats.org/drawingml/2006/main">
            <a:r>
              <a:t>    "urls": [</a:t>
            </a:r>
          </a:p>
          <a:p xmlns:a="http://schemas.openxmlformats.org/drawingml/2006/main">
            <a:r>
              <a:t>      "https://www.tech.gov.sg/products-and-services/for-government-agencies/productivity-and-marketing/aibots/",</a:t>
            </a:r>
          </a:p>
          <a:p xmlns:a="http://schemas.openxmlformats.org/drawingml/2006/main">
            <a:r>
              <a:t>      "https://v2.developer.tech.gov.sg/products/categories/productivity-tools/aibots/features-roadmap",</a:t>
            </a:r>
          </a:p>
          <a:p xmlns:a="http://schemas.openxmlformats.org/drawingml/2006/main">
            <a:r>
              <a:t>      "https://products.tech.gov.sg/products?category=all&amp;status=ga"</a:t>
            </a:r>
          </a:p>
          <a:p xmlns:a="http://schemas.openxmlformats.org/drawingml/2006/main">
            <a:r>
              <a:t>    ],</a:t>
            </a:r>
          </a:p>
          <a:p xmlns:a="http://schemas.openxmlformats.org/drawingml/2006/main">
            <a:r>
              <a:t>    "basis": "T053 / 부서지식·셀프서비스·운영 통제",</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"중복 도구·갱신 공수",</a:t>
            </a:r>
          </a:p>
          <a:p xmlns:a="http://schemas.openxmlformats.org/drawingml/2006/main">
            <a:r>
              <a:t>    "group": "운영·실증",</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"PF-A08",</a:t>
            </a:r>
          </a:p>
          <a:p xmlns:a="http://schemas.openxmlformats.org/drawingml/2006/main">
            <a:r>
              <a:t>    "canonicalId": "PF-A08",</a:t>
            </a:r>
          </a:p>
          <a:p xmlns:a="http://schemas.openxmlformats.org/drawingml/2006/main">
            <a:r>
              <a:t>    "purpose": "현업의 문서형 AI 봇 제작과 공유",</a:t>
            </a:r>
          </a:p>
          <a:p xmlns:a="http://schemas.openxmlformats.org/drawingml/2006/main">
            <a:r>
              <a:t>    "users": "정부 직원·봇 제작자·팀",</a:t>
            </a:r>
          </a:p>
          <a:p xmlns:a="http://schemas.openxmlformats.org/drawingml/2006/main">
            <a:r>
              <a:t>    "scope": [</a:t>
            </a:r>
          </a:p>
          <a:p xmlns:a="http://schemas.openxmlformats.org/drawingml/2006/main">
            <a:r>
              <a:t>      "문서 RAG",</a:t>
            </a:r>
          </a:p>
          <a:p xmlns:a="http://schemas.openxmlformats.org/drawingml/2006/main">
            <a:r>
              <a:t>      "지시 설정",</a:t>
            </a:r>
          </a:p>
          <a:p xmlns:a="http://schemas.openxmlformats.org/drawingml/2006/main">
            <a:r>
              <a:t>      "팀 공유"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"부서 제작자",</a:t>
            </a:r>
          </a:p>
          <a:p xmlns:a="http://schemas.openxmlformats.org/drawingml/2006/main">
            <a:r>
              <a:t>        "detail": "계정·봇 접근범위·입력정보 등급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RAG / 지시 설정 / 팀 공유",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"AIBots·Desk",</a:t>
            </a:r>
          </a:p>
          <a:p xmlns:a="http://schemas.openxmlformats.org/drawingml/2006/main">
            <a:r>
              <a:t>        "detail": "봇 지시와 문서 검색 문맥의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"업무 이용자",</a:t>
            </a:r>
          </a:p>
          <a:p xmlns:a="http://schemas.openxmlformats.org/drawingml/2006/main">
            <a:r>
              <a:t>        "detail": "출처 답변을 팀에 제공하고 고위험 용도 심사",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"부서 문서",</a:t>
            </a:r>
          </a:p>
          <a:p xmlns:a="http://schemas.openxmlformats.org/drawingml/2006/main">
            <a:r>
              <a:t>        "detail": "업로드 문서의 청킹·색인·소유팀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"봇 갱신·공유 범위·오답 피드백 관리",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"부서 문서",</a:t>
            </a:r>
          </a:p>
          <a:p xmlns:a="http://schemas.openxmlformats.org/drawingml/2006/main">
            <a:r>
              <a:t>        "input": "계정·봇 접근범위·입력정보 등급 확인",</a:t>
            </a:r>
          </a:p>
          <a:p xmlns:a="http://schemas.openxmlformats.org/drawingml/2006/main">
            <a:r>
              <a:t>        "process": "업로드 문서의 청킹·색인·소유팀 관리",</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"title": "RAG·업무 봇",</a:t>
            </a:r>
          </a:p>
          <a:p xmlns:a="http://schemas.openxmlformats.org/drawingml/2006/main">
            <a:r>
              <a:t>        "input": "등록 문서",</a:t>
            </a:r>
          </a:p>
          <a:p xmlns:a="http://schemas.openxmlformats.org/drawingml/2006/main">
            <a:r>
              <a:t>        "process": "봇 지시와 문서 검색 문맥의 조정",</a:t>
            </a:r>
          </a:p>
          <a:p xmlns:a="http://schemas.openxmlformats.org/drawingml/2006/main">
            <a:r>
              <a:t>        "output": "검색 지식"</a:t>
            </a:r>
          </a:p>
          <a:p xmlns:a="http://schemas.openxmlformats.org/drawingml/2006/main">
            <a:r>
              <a:t>      },</a:t>
            </a:r>
          </a:p>
          <a:p xmlns:a="http://schemas.openxmlformats.org/drawingml/2006/main">
            <a:r>
              <a:t>      {</a:t>
            </a:r>
          </a:p>
          <a:p xmlns:a="http://schemas.openxmlformats.org/drawingml/2006/main">
            <a:r>
              <a:t>        "title": "공유·이용 통제",</a:t>
            </a:r>
          </a:p>
          <a:p xmlns:a="http://schemas.openxmlformats.org/drawingml/2006/main">
            <a:r>
              <a:t>        "input": "검색 지식",</a:t>
            </a:r>
          </a:p>
          <a:p xmlns:a="http://schemas.openxmlformats.org/drawingml/2006/main">
            <a:r>
              <a:t>        "process": "자료 회수·봇 공유 범위 검증",</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"title": "업무 접점",</a:t>
            </a:r>
          </a:p>
          <a:p xmlns:a="http://schemas.openxmlformats.org/drawingml/2006/main">
            <a:r>
              <a:t>        "input": "업무 봇 응답",</a:t>
            </a:r>
          </a:p>
          <a:p xmlns:a="http://schemas.openxmlformats.org/drawingml/2006/main">
            <a:r>
              <a:t>        "process":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"팀이 지식 봇을 만들고 팀원에게 공유",</a:t>
            </a:r>
          </a:p>
          <a:p xmlns:a="http://schemas.openxmlformats.org/drawingml/2006/main">
            <a:r>
              <a:t>      "exception": "허용 등급 초과·공유 대상 오류·고위험 용도",</a:t>
            </a:r>
          </a:p>
          <a:p xmlns:a="http://schemas.openxmlformats.org/drawingml/2006/main">
            <a:r>
              <a:t>      "evidence": "문서 등급·봇 권한·심사·답변 출처 확인표",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직원·봇 제작자·팀",</a:t>
            </a:r>
          </a:p>
          <a:p xmlns:a="http://schemas.openxmlformats.org/drawingml/2006/main">
            <a:r>
              <a:t>          "processing": "계정·봇 접근범위·입력정보 등급 확인",</a:t>
            </a:r>
          </a:p>
          <a:p xmlns:a="http://schemas.openxmlformats.org/drawingml/2006/main">
            <a:r>
              <a:t>          "output": "등록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"부서 문서",</a:t>
            </a:r>
          </a:p>
          <a:p xmlns:a="http://schemas.openxmlformats.org/drawingml/2006/main">
            <a:r>
              <a:t>          "processing": "업로드 문서의 청킹·색인·소유팀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"등록 문서",</a:t>
            </a:r>
          </a:p>
          <a:p xmlns:a="http://schemas.openxmlformats.org/drawingml/2006/main">
            <a:r>
              <a:t>          "processing": "봇 지시와 문서 검색 문맥의 조정",</a:t>
            </a:r>
          </a:p>
          <a:p xmlns:a="http://schemas.openxmlformats.org/drawingml/2006/main">
            <a:r>
              <a:t>          "output": "업무 봇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봇 응답",</a:t>
            </a:r>
          </a:p>
          <a:p xmlns:a="http://schemas.openxmlformats.org/drawingml/2006/main">
            <a:r>
              <a:t>          "processing": "출처 답변을 팀에 제공하고 고위험 용도 심사",</a:t>
            </a:r>
          </a:p>
          <a:p xmlns:a="http://schemas.openxmlformats.org/drawingml/2006/main">
            <a:r>
              <a:t>          "output": "이용 피드백"</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"봇 갱신·공유 범위·오답 피드백 관리",</a:t>
            </a:r>
          </a:p>
          <a:p xmlns:a="http://schemas.openxmlformats.org/drawingml/2006/main">
            <a:r>
              <a:t>          "output": "문서 등급·봇 권한·심사·답변 출처 확인표"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"봇 갱신·공유 범위·오답 피드백 관리",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"T053 / 부서지식·셀프서비스·운영 통제",</a:t>
            </a:r>
          </a:p>
          <a:p xmlns:a="http://schemas.openxmlformats.org/drawingml/2006/main">
            <a:r>
              <a:t>        "url": "https://www.tech.gov.sg/products-and-services/for-government-agencies/productivity-and-marketing/aibots/"</a:t>
            </a:r>
          </a:p>
          <a:p xmlns:a="http://schemas.openxmlformats.org/drawingml/2006/main">
            <a:r>
              <a:t>      }</a:t>
            </a:r>
          </a:p>
          <a:p xmlns:a="http://schemas.openxmlformats.org/drawingml/2006/main">
            <a:r>
              <a:t>    ],</a:t>
            </a:r>
          </a:p>
          <a:p xmlns:a="http://schemas.openxmlformats.org/drawingml/2006/main">
            <a:r>
              <a:t>    "implication": "현업이 제작하는 봇의 자료 등급·공유범위·승인판본 관리",</a:t>
            </a:r>
          </a:p>
          <a:p xmlns:a="http://schemas.openxmlformats.org/drawingml/2006/main">
            <a:r>
              <a:t>    "local": "현업이 제작하는 봇의 자료 등급·공유범위·승인판본 관리",</a:t>
            </a:r>
          </a:p>
          <a:p xmlns:a="http://schemas.openxmlformats.org/drawingml/2006/main">
            <a:r>
              <a:t>    "sourceDetail": "문서 업로드·RAG·시스템프롬프트·팀 공유. Desk는 업무시스템 탐색·이해·실행 지향\nRestricted/Sensitive Normal 범위, 고위험 용도 승인. 최신 카탈로그의 성숙도 확인",</a:t>
            </a:r>
          </a:p>
          <a:p xmlns:a="http://schemas.openxmlformats.org/drawingml/2006/main">
            <a:r>
              <a:t>    "narrative": [</a:t>
            </a:r>
          </a:p>
          <a:p xmlns:a="http://schemas.openxmlformats.org/drawingml/2006/main">
            <a:r>
              <a:t>      "싱가포르 AIBots의 문서 기반 봇 제작·공유 사례. 전문 개발자 외의 직원이 지시와 문서를 설정해 팀의 반복 질문에 대응하는 봇을 구성하는 접근.",</a:t>
            </a:r>
          </a:p>
          <a:p xmlns:a="http://schemas.openxmlformats.org/drawingml/2006/main">
            <a:r>
              <a:t>      "문서 업로드·색인, 봇 지시 설정, 팀 공유, 질의 검색, 근거 응답의 흐름으로 재구성. 봇 소유자와 문서 소유자가 다를 수 있으므로 공유 권한 변경과 문서 삭제를 검색 결과에 함께 반영하는 통제 설계.",</a:t>
            </a:r>
          </a:p>
          <a:p xmlns:a="http://schemas.openxmlformats.org/drawingml/2006/main">
            <a:r>
              <a:t>      "CCK에서는 부서 봇을 개인 계정의 지식 저장소로 방치하지 않는 운영이 중요. 소유자 전보·퇴직, 공유 해제, 규정 개정 이후 검색 결과를 비교하고 봇의 인수인계와 자료 폐기 이력을 공통 관리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"봇 제작·대화",</a:t>
            </a:r>
          </a:p>
          <a:p xmlns:a="http://schemas.openxmlformats.org/drawingml/2006/main">
            <a:r>
              <a:t>          "layer": "이용 접점",</a:t>
            </a:r>
          </a:p>
          <a:p xmlns:a="http://schemas.openxmlformats.org/drawingml/2006/main">
            <a:r>
              <a:t>          "detail": "정부 직원·봇 제작자·팀",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"계정·봇·공유범위",</a:t>
            </a:r>
          </a:p>
          <a:p xmlns:a="http://schemas.openxmlformats.org/drawingml/2006/main">
            <a:r>
              <a:t>          "layer": "업무 문맥",</a:t>
            </a:r>
          </a:p>
          <a:p xmlns:a="http://schemas.openxmlformats.org/drawingml/2006/main">
            <a:r>
              <a:t>          "detail": "계정·봇 접근범위·입력정보 등급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"봇 문서 검색",</a:t>
            </a:r>
          </a:p>
          <a:p xmlns:a="http://schemas.openxmlformats.org/drawingml/2006/main">
            <a:r>
              <a:t>          "layer": "자료 조회",</a:t>
            </a:r>
          </a:p>
          <a:p xmlns:a="http://schemas.openxmlformats.org/drawingml/2006/main">
            <a:r>
              <a:t>          "detail": "등록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"AIBots 지시 처리",</a:t>
            </a:r>
          </a:p>
          <a:p xmlns:a="http://schemas.openxmlformats.org/drawingml/2006/main">
            <a:r>
              <a:t>          "layer": "핵심 처리",</a:t>
            </a:r>
          </a:p>
          <a:p xmlns:a="http://schemas.openxmlformats.org/drawingml/2006/main">
            <a:r>
              <a:t>          "detail": "봇 지시와 문서 검색 문맥의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"출처·정보등급 검사",</a:t>
            </a:r>
          </a:p>
          <a:p xmlns:a="http://schemas.openxmlformats.org/drawingml/2006/main">
            <a:r>
              <a:t>          "layer": "결과 검증",</a:t>
            </a:r>
          </a:p>
          <a:p xmlns:a="http://schemas.openxmlformats.org/drawingml/2006/main">
            <a:r>
              <a:t>          "detail": "자료 회수·봇 공유 범위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"팀 검토",</a:t>
            </a:r>
          </a:p>
          <a:p xmlns:a="http://schemas.openxmlformats.org/drawingml/2006/main">
            <a:r>
              <a:t>          "layer": "사람 확인",</a:t>
            </a:r>
          </a:p>
          <a:p xmlns:a="http://schemas.openxmlformats.org/drawingml/2006/main">
            <a:r>
              <a:t>          "detail": "팀이 지식 봇을 만들고 팀원에게 공유",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"봇 공유·응답",</a:t>
            </a:r>
          </a:p>
          <a:p xmlns:a="http://schemas.openxmlformats.org/drawingml/2006/main">
            <a:r>
              <a:t>          "layer": "업무 연결",</a:t>
            </a:r>
          </a:p>
          <a:p xmlns:a="http://schemas.openxmlformats.org/drawingml/2006/main">
            <a:r>
              <a:t>          "detail": "출처 답변을 팀에 제공하고 고위험 용도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"오답·갱신 관리",</a:t>
            </a:r>
          </a:p>
          <a:p xmlns:a="http://schemas.openxmlformats.org/drawingml/2006/main">
            <a:r>
              <a:t>          "layer": "운영 관측",</a:t>
            </a:r>
          </a:p>
          <a:p xmlns:a="http://schemas.openxmlformats.org/drawingml/2006/main">
            <a:r>
              <a:t>          "detail": "봇 갱신·공유 범위·오답 피드백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"업로드 문서",</a:t>
            </a:r>
          </a:p>
          <a:p xmlns:a="http://schemas.openxmlformats.org/drawingml/2006/main">
            <a:r>
              <a:t>          "layer": "데이터 원천",</a:t>
            </a:r>
          </a:p>
          <a:p xmlns:a="http://schemas.openxmlformats.org/drawingml/2006/main">
            <a:r>
              <a:t>          "detail": "부서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"청킹·소유팀 매핑",</a:t>
            </a:r>
          </a:p>
          <a:p xmlns:a="http://schemas.openxmlformats.org/drawingml/2006/main">
            <a:r>
              <a:t>          "layer": "준비·갱신",</a:t>
            </a:r>
          </a:p>
          <a:p xmlns:a="http://schemas.openxmlformats.org/drawingml/2006/main">
            <a:r>
              <a:t>          "detail": "업로드 문서의 청킹·색인·소유팀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"봇 지식·설정",</a:t>
            </a:r>
          </a:p>
          <a:p xmlns:a="http://schemas.openxmlformats.org/drawingml/2006/main">
            <a:r>
              <a:t>          "layer": "상태·지식 저장",</a:t>
            </a:r>
          </a:p>
          <a:p xmlns:a="http://schemas.openxmlformats.org/drawingml/2006/main">
            <a:r>
              <a:t>          "detail": "문서 등급·봇 권한·심사·답변 출처 확인표",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"공유·회수 정책",</a:t>
            </a:r>
          </a:p>
          <a:p xmlns:a="http://schemas.openxmlformats.org/drawingml/2006/main">
            <a:r>
              <a:t>          "layer": "권한·정책",</a:t>
            </a:r>
          </a:p>
          <a:p xmlns:a="http://schemas.openxmlformats.org/drawingml/2006/main">
            <a:r>
              <a:t>          "detail": "허용 등급 초과·공유 대상 오류·고위험 용도",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"부서 문서 → RAG·업무 봇 → 공유·이용 통제 → 업무 접점"</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"부서 문서",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"계정·봇 접근범위·입력정보 등급 확인",</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"문서 등급·봇 권한·심사·답변 출처 확인표",</a:t>
            </a:r>
          </a:p>
          <a:p xmlns:a="http://schemas.openxmlformats.org/drawingml/2006/main">
            <a:r>
              <a:t>          "check": "업로드 문서의 청킹·색인·소유팀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"검색 지식",</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"업무 봇 응답",</a:t>
            </a:r>
          </a:p>
          <a:p xmlns:a="http://schemas.openxmlformats.org/drawingml/2006/main">
            <a:r>
              <a:t>          "check": "문서 등급·봇 권한·심사·답변 출처 확인표"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"현업의 문서형 AI 봇 제작과 공유 / 문서 RAG·지시 설정·팀 공유",</a:t>
            </a:r>
          </a:p>
          <a:p xmlns:a="http://schemas.openxmlformats.org/drawingml/2006/main">
            <a:r>
              <a:t>        "extension": "현업이 제작하는 봇의 자료 등급·공유범위·승인판본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"허용 등급 초과·공유 대상 오류·고위험 용도",</a:t>
            </a:r>
          </a:p>
          <a:p xmlns:a="http://schemas.openxmlformats.org/drawingml/2006/main">
            <a:r>
              <a:t>        "hold": "자료 회수·봇 공유 범위 검증",</a:t>
            </a:r>
          </a:p>
          <a:p xmlns:a="http://schemas.openxmlformats.org/drawingml/2006/main">
            <a:r>
              <a:t>        "recovery": "봇 갱신·공유 범위·오답 피드백 관리",</a:t>
            </a:r>
          </a:p>
          <a:p xmlns:a="http://schemas.openxmlformats.org/drawingml/2006/main">
            <a:r>
              <a:t>        "evidence": "문서 등급·봇 권한·심사·답변 출처 확인표"</a:t>
            </a:r>
          </a:p>
          <a:p xmlns:a="http://schemas.openxmlformats.org/drawingml/2006/main">
            <a:r>
              <a:t>      },</a:t>
            </a:r>
          </a:p>
          <a:p xmlns:a="http://schemas.openxmlformats.org/drawingml/2006/main">
            <a:r>
              <a:t>      "data": {</a:t>
            </a:r>
          </a:p>
          <a:p xmlns:a="http://schemas.openxmlformats.org/drawingml/2006/main">
            <a:r>
              <a:t>        "source": "부서 문서",</a:t>
            </a:r>
          </a:p>
          <a:p xmlns:a="http://schemas.openxmlformats.org/drawingml/2006/main">
            <a:r>
              <a:t>        "prepare": "업로드 문서의 청킹·색인·소유팀 관리",</a:t>
            </a:r>
          </a:p>
          <a:p xmlns:a="http://schemas.openxmlformats.org/drawingml/2006/main">
            <a:r>
              <a:t>        "output": "등록 문서",</a:t>
            </a:r>
          </a:p>
          <a:p xmlns:a="http://schemas.openxmlformats.org/drawingml/2006/main">
            <a:r>
              <a:t>        "refresh": "봇 갱신·공유 범위·오답 피드백 관리"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"PF-A08",</a:t>
            </a:r>
          </a:p>
          <a:p xmlns:a="http://schemas.openxmlformats.org/drawingml/2006/main">
            <a:r>
              <a:t>    "success": [</a:t>
            </a:r>
          </a:p>
          <a:p xmlns:a="http://schemas.openxmlformats.org/drawingml/2006/main">
            <a:r>
              <a:t>      "부서 문서로 업무 봇 구성",</a:t>
            </a:r>
          </a:p>
          <a:p xmlns:a="http://schemas.openxmlformats.org/drawingml/2006/main">
            <a:r>
              <a:t>      "공유·이용 범위의 관리"</a:t>
            </a:r>
          </a:p>
          <a:p xmlns:a="http://schemas.openxmlformats.org/drawingml/2006/main">
            <a:r>
              <a:t>    ],</a:t>
            </a:r>
          </a:p>
          <a:p xmlns:a="http://schemas.openxmlformats.org/drawingml/2006/main">
            <a:r>
              <a:t>    "risks": [</a:t>
            </a:r>
          </a:p>
          <a:p xmlns:a="http://schemas.openxmlformats.org/drawingml/2006/main">
            <a:r>
              <a:t>      "출처 문서 갱신 누락",</a:t>
            </a:r>
          </a:p>
          <a:p xmlns:a="http://schemas.openxmlformats.org/drawingml/2006/main">
            <a:r>
              <a:t>      "봇 공유 시 권한 확대"</a:t>
            </a:r>
          </a:p>
          <a:p xmlns:a="http://schemas.openxmlformats.org/drawingml/2006/main">
            <a:r>
              <a:t>    ],</a:t>
            </a:r>
          </a:p>
          <a:p xmlns:a="http://schemas.openxmlformats.org/drawingml/2006/main">
            <a:r>
              <a:t>    "architecture": [</a:t>
            </a:r>
          </a:p>
          <a:p xmlns:a="http://schemas.openxmlformats.org/drawingml/2006/main">
            <a:r>
              <a:t>      "부서 제작자",</a:t>
            </a:r>
          </a:p>
          <a:p xmlns:a="http://schemas.openxmlformats.org/drawingml/2006/main">
            <a:r>
              <a:t>      "AIBots·Desk",</a:t>
            </a:r>
          </a:p>
          <a:p xmlns:a="http://schemas.openxmlformats.org/drawingml/2006/main">
            <a:r>
              <a:t>      "부서 문서",</a:t>
            </a:r>
          </a:p>
          <a:p xmlns:a="http://schemas.openxmlformats.org/drawingml/2006/main">
            <a:r>
              <a:t>      "업무 이용자"</a:t>
            </a:r>
          </a:p>
          <a:p xmlns:a="http://schemas.openxmlformats.org/drawingml/2006/main">
            <a:r>
              <a:t>    ],</a:t>
            </a:r>
          </a:p>
          <a:p xmlns:a="http://schemas.openxmlformats.org/drawingml/2006/main">
            <a:r>
              <a:t>    "transfers": [</a:t>
            </a:r>
          </a:p>
          <a:p xmlns:a="http://schemas.openxmlformats.org/drawingml/2006/main">
            <a:r>
              <a:t>      "등록 문서",</a:t>
            </a:r>
          </a:p>
          <a:p xmlns:a="http://schemas.openxmlformats.org/drawingml/2006/main">
            <a:r>
              <a:t>      "검색 지식",</a:t>
            </a:r>
          </a:p>
          <a:p xmlns:a="http://schemas.openxmlformats.org/drawingml/2006/main">
            <a:r>
              <a:t>      "업무 봇 응답",</a:t>
            </a:r>
          </a:p>
          <a:p xmlns:a="http://schemas.openxmlformats.org/drawingml/2006/main">
            <a:r>
              <a:t>      "이용 피드백"</a:t>
            </a:r>
          </a:p>
          <a:p xmlns:a="http://schemas.openxmlformats.org/drawingml/2006/main">
            <a:r>
              <a:t>    ],</a:t>
            </a:r>
          </a:p>
          <a:p xmlns:a="http://schemas.openxmlformats.org/drawingml/2006/main">
            <a:r>
              <a:t>    "control": "자료 회수·봇 공유 범위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T053 / 부서지식·셀프서비스·운영 통제 https://www.tech.gov.sg/products-and-services/for-government-agencies/productivity-and-marketing/aibots/</a:t>
            </a:r>
          </a:p>
          <a:p xmlns:a="http://schemas.openxmlformats.org/drawingml/2006/main">
            <a:r>
              <a:t>홈페이지 https://heen1987-ops.github.io/TS-business-Plan-001/index.html?view=platform-cases&amp;case=PF-A08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a:p xmlns:a="http://schemas.openxmlformats.org/drawingml/2006/main">
            <a:r>
              <a:t>한계: 오래된 소개 지표로 현재 규모를 추정하지 않음. 독립 정량 업무효과 미확인</a:t>
            </a:r>
          </a:p>
          <a:p xmlns:a="http://schemas.openxmlformats.org/drawingml/2006/main">
            <a:r>
              <a:t>실패 위험: 범용 도구의 전문 규정 한계 / 민감 정보 입력·검증 없는 재사용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"PF-A09",</a:t>
            </a:r>
          </a:p>
          <a:p xmlns:a="http://schemas.openxmlformats.org/drawingml/2006/main">
            <a:r>
              <a:t>    "sourceId": "A09",</a:t>
            </a:r>
          </a:p>
          <a:p xmlns:a="http://schemas.openxmlformats.org/drawingml/2006/main">
            <a:r>
              <a:t>    "title": "싱가포르 Pair",</a:t>
            </a:r>
          </a:p>
          <a:p xmlns:a="http://schemas.openxmlformats.org/drawingml/2006/main">
            <a:r>
              <a:t>    "region": "해외",</a:t>
            </a:r>
          </a:p>
          <a:p xmlns:a="http://schemas.openxmlformats.org/drawingml/2006/main">
            <a:r>
              <a:t>    "owner": "Open Government Products / Pair",</a:t>
            </a:r>
          </a:p>
          <a:p xmlns:a="http://schemas.openxmlformats.org/drawingml/2006/main">
            <a:r>
              <a:t>    "state": "2023년 이후 운영 / 공식 제품 목록 Active",</a:t>
            </a:r>
          </a:p>
          <a:p xmlns:a="http://schemas.openxmlformats.org/drawingml/2006/main">
            <a:r>
              <a:t>    "period": "기존 원장 확인 2026.10.16",</a:t>
            </a:r>
          </a:p>
          <a:p xmlns:a="http://schemas.openxmlformats.org/drawingml/2006/main">
            <a:r>
              <a:t>    "fact": "정부 공통 업무도구",</a:t>
            </a:r>
          </a:p>
          <a:p xmlns:a="http://schemas.openxmlformats.org/drawingml/2006/main">
            <a:r>
              <a:t>    "limit": "오래된 소개 지표로 현재 규모를 추정하지 않음. 독립 정량 업무효과 미확인",</a:t>
            </a:r>
          </a:p>
          <a:p xmlns:a="http://schemas.openxmlformats.org/drawingml/2006/main">
            <a:r>
              <a:t>    "nodes": [</a:t>
            </a:r>
          </a:p>
          <a:p xmlns:a="http://schemas.openxmlformats.org/drawingml/2006/main">
            <a:r>
              <a:t>      "정부 사용자",</a:t>
            </a:r>
          </a:p>
          <a:p xmlns:a="http://schemas.openxmlformats.org/drawingml/2006/main">
            <a:r>
              <a:t>      "공통 LLM 도구",</a:t>
            </a:r>
          </a:p>
          <a:p xmlns:a="http://schemas.openxmlformats.org/drawingml/2006/main">
            <a:r>
              <a:t>      "작성·조사 지원",</a:t>
            </a:r>
          </a:p>
          <a:p xmlns:a="http://schemas.openxmlformats.org/drawingml/2006/main">
            <a:r>
              <a:t>      "공무원 검토"</a:t>
            </a:r>
          </a:p>
          <a:p xmlns:a="http://schemas.openxmlformats.org/drawingml/2006/main">
            <a:r>
              <a:t>    ],</a:t>
            </a:r>
          </a:p>
          <a:p xmlns:a="http://schemas.openxmlformats.org/drawingml/2006/main">
            <a:r>
              <a:t>    "apply": "공통 이용환경 안에서 공공업무 입력 기준과 직원 검토 절차 정착",</a:t>
            </a:r>
          </a:p>
          <a:p xmlns:a="http://schemas.openxmlformats.org/drawingml/2006/main">
            <a:r>
              <a:t>    "delta": "기관·직무별 설정과 품질 기준",</a:t>
            </a:r>
          </a:p>
          <a:p xmlns:a="http://schemas.openxmlformats.org/drawingml/2006/main">
            <a:r>
              <a:t>    "test": "신규 연결 공수·요청당 비용의 기준선·비교 평가",</a:t>
            </a:r>
          </a:p>
          <a:p xmlns:a="http://schemas.openxmlformats.org/drawingml/2006/main">
            <a:r>
              <a:t>    "url": "https://www.tech.gov.sg/products-and-services/for-government-agencies/productivity-and-marketing/pair/",</a:t>
            </a:r>
          </a:p>
          <a:p xmlns:a="http://schemas.openxmlformats.org/drawingml/2006/main">
            <a:r>
              <a:t>    "urls": [</a:t>
            </a:r>
          </a:p>
          <a:p xmlns:a="http://schemas.openxmlformats.org/drawingml/2006/main">
            <a:r>
              <a:t>      "https://www.tech.gov.sg/products-and-services/for-government-agencies/productivity-and-marketing/pair/",</a:t>
            </a:r>
          </a:p>
          <a:p xmlns:a="http://schemas.openxmlformats.org/drawingml/2006/main">
            <a:r>
              <a:t>      "https://reports.open.gov.sg/pair"</a:t>
            </a:r>
          </a:p>
          <a:p xmlns:a="http://schemas.openxmlformats.org/drawingml/2006/main">
            <a:r>
              <a:t>    ],</a:t>
            </a:r>
          </a:p>
          <a:p xmlns:a="http://schemas.openxmlformats.org/drawingml/2006/main">
            <a:r>
              <a:t>    "basis": "P109~111 / 범용 생산성 도구 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"신규 연결 공수·요청당 비용",</a:t>
            </a:r>
          </a:p>
          <a:p xmlns:a="http://schemas.openxmlformats.org/drawingml/2006/main">
            <a:r>
              <a:t>    "group": "운영·실증",</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"PF-A09",</a:t>
            </a:r>
          </a:p>
          <a:p xmlns:a="http://schemas.openxmlformats.org/drawingml/2006/main">
            <a:r>
              <a:t>    "canonicalId": "PF-A09",</a:t>
            </a:r>
          </a:p>
          <a:p xmlns:a="http://schemas.openxmlformats.org/drawingml/2006/main">
            <a:r>
              <a:t>    "purpose": "정부 환경에 맞춘 공통 LLM 업무 지원",</a:t>
            </a:r>
          </a:p>
          <a:p xmlns:a="http://schemas.openxmlformats.org/drawingml/2006/main">
            <a:r>
              <a:t>    "users": "정부 직원·운영 담당",</a:t>
            </a:r>
          </a:p>
          <a:p xmlns:a="http://schemas.openxmlformats.org/drawingml/2006/main">
            <a:r>
              <a:t>    "scope": [</a:t>
            </a:r>
          </a:p>
          <a:p xmlns:a="http://schemas.openxmlformats.org/drawingml/2006/main">
            <a:r>
              <a:t>      "질의응답",</a:t>
            </a:r>
          </a:p>
          <a:p xmlns:a="http://schemas.openxmlformats.org/drawingml/2006/main">
            <a:r>
              <a:t>      "작성 보조",</a:t>
            </a:r>
          </a:p>
          <a:p xmlns:a="http://schemas.openxmlformats.org/drawingml/2006/main">
            <a:r>
              <a:t>      "정부 이용환경"</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"정부 직원",</a:t>
            </a:r>
          </a:p>
          <a:p xmlns:a="http://schemas.openxmlformats.org/drawingml/2006/main">
            <a:r>
              <a:t>        "detail": "정부 기기·사용자 문맥·업무 입력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작성 보조 / 정부 이용환경",</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"Pair 공통 LLM",</a:t>
            </a:r>
          </a:p>
          <a:p xmlns:a="http://schemas.openxmlformats.org/drawingml/2006/main">
            <a:r>
              <a:t>        "detail": "공공업무에 맞춘 모델 요청·응답 처리",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검토를 거친 문서·업무 초안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a:t>
            </a:r>
          </a:p>
          <a:p xmlns:a="http://schemas.openxmlformats.org/drawingml/2006/main">
            <a:r>
              <a:t>        "detail": "업무 문맥의 허용 입력범위·보관조건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"오류·사용성·정책 준수의 운영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"정부 사용자",</a:t>
            </a:r>
          </a:p>
          <a:p xmlns:a="http://schemas.openxmlformats.org/drawingml/2006/main">
            <a:r>
              <a:t>        "input": "정부 기기·사용자 문맥·업무 입력 구분",</a:t>
            </a:r>
          </a:p>
          <a:p xmlns:a="http://schemas.openxmlformats.org/drawingml/2006/main">
            <a:r>
              <a:t>        "process": "업무 문맥의 허용 입력범위·보관조건 관리",</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"공통 LLM 도구",</a:t>
            </a:r>
          </a:p>
          <a:p xmlns:a="http://schemas.openxmlformats.org/drawingml/2006/main">
            <a:r>
              <a:t>        "input": "업무 요청",</a:t>
            </a:r>
          </a:p>
          <a:p xmlns:a="http://schemas.openxmlformats.org/drawingml/2006/main">
            <a:r>
              <a:t>        "process": "공공업무에 맞춘 모델 요청·응답 처리",</a:t>
            </a:r>
          </a:p>
          <a:p xmlns:a="http://schemas.openxmlformats.org/drawingml/2006/main">
            <a:r>
              <a:t>        "output": "도구 입력"</a:t>
            </a:r>
          </a:p>
          <a:p xmlns:a="http://schemas.openxmlformats.org/drawingml/2006/main">
            <a:r>
              <a:t>      },</a:t>
            </a:r>
          </a:p>
          <a:p xmlns:a="http://schemas.openxmlformats.org/drawingml/2006/main">
            <a:r>
              <a:t>      {</a:t>
            </a:r>
          </a:p>
          <a:p xmlns:a="http://schemas.openxmlformats.org/drawingml/2006/main">
            <a:r>
              <a:t>        "title": "작성·조사 지원",</a:t>
            </a:r>
          </a:p>
          <a:p xmlns:a="http://schemas.openxmlformats.org/drawingml/2006/main">
            <a:r>
              <a:t>        "input": "도구 입력",</a:t>
            </a:r>
          </a:p>
          <a:p xmlns:a="http://schemas.openxmlformats.org/drawingml/2006/main">
            <a:r>
              <a:t>        "process": "공개 범위·근거·내용 대조",</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"title": "공무원 검토",</a:t>
            </a:r>
          </a:p>
          <a:p xmlns:a="http://schemas.openxmlformats.org/drawingml/2006/main">
            <a:r>
              <a:t>        "input": "작성·조사 초안",</a:t>
            </a:r>
          </a:p>
          <a:p xmlns:a="http://schemas.openxmlformats.org/drawingml/2006/main">
            <a:r>
              <a:t>        "process":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"정부 업무자료를 허용 범위에서 요약·작성",</a:t>
            </a:r>
          </a:p>
          <a:p xmlns:a="http://schemas.openxmlformats.org/drawingml/2006/main">
            <a:r>
              <a:t>      "exception": "금지 입력·근거 없는 질문·장시간 응답",</a:t>
            </a:r>
          </a:p>
          <a:p xmlns:a="http://schemas.openxmlformats.org/drawingml/2006/main">
            <a:r>
              <a:t>      "evidence": "입력 정책·답변 품질·서비스 실패 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"정부 직원·운영 담당",</a:t>
            </a:r>
          </a:p>
          <a:p xmlns:a="http://schemas.openxmlformats.org/drawingml/2006/main">
            <a:r>
              <a:t>          "processing": "정부 기기·사용자 문맥·업무 입력 구분",</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a:t>
            </a:r>
          </a:p>
          <a:p xmlns:a="http://schemas.openxmlformats.org/drawingml/2006/main">
            <a:r>
              <a:t>          "processing": "업무 문맥의 허용 입력범위·보관조건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"공공업무에 맞춘 모델 요청·응답 처리",</a:t>
            </a:r>
          </a:p>
          <a:p xmlns:a="http://schemas.openxmlformats.org/drawingml/2006/main">
            <a:r>
              <a:t>          "output": "작성·조사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"작성·조사 초안",</a:t>
            </a:r>
          </a:p>
          <a:p xmlns:a="http://schemas.openxmlformats.org/drawingml/2006/main">
            <a:r>
              <a:t>          "processing": "직원 검토를 거친 문서·업무 초안 활용",</a:t>
            </a:r>
          </a:p>
          <a:p xmlns:a="http://schemas.openxmlformats.org/drawingml/2006/main">
            <a:r>
              <a:t>          "output": "확인된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"오류·사용성·정책 준수의 운영 점검",</a:t>
            </a:r>
          </a:p>
          <a:p xmlns:a="http://schemas.openxmlformats.org/drawingml/2006/main">
            <a:r>
              <a:t>          "output": "입력 정책·답변 품질·서비스 실패 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"오류·사용성·정책 준수의 운영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"P109~111 / 범용 생산성 도구 확산",</a:t>
            </a:r>
          </a:p>
          <a:p xmlns:a="http://schemas.openxmlformats.org/drawingml/2006/main">
            <a:r>
              <a:t>        "url": "https://www.tech.gov.sg/products-and-services/for-government-agencies/productivity-and-marketing/pair/"</a:t>
            </a:r>
          </a:p>
          <a:p xmlns:a="http://schemas.openxmlformats.org/drawingml/2006/main">
            <a:r>
              <a:t>      }</a:t>
            </a:r>
          </a:p>
          <a:p xmlns:a="http://schemas.openxmlformats.org/drawingml/2006/main">
            <a:r>
              <a:t>    ],</a:t>
            </a:r>
          </a:p>
          <a:p xmlns:a="http://schemas.openxmlformats.org/drawingml/2006/main">
            <a:r>
              <a:t>    "implication": "공통 이용환경 안에서 공공업무 입력 기준과 직원 검토 절차 정착",</a:t>
            </a:r>
          </a:p>
          <a:p xmlns:a="http://schemas.openxmlformats.org/drawingml/2006/main">
            <a:r>
              <a:t>    "local": "공통 이용환경 안에서 공공업무 입력 기준과 직원 검토 절차 정착",</a:t>
            </a:r>
          </a:p>
          <a:p xmlns:a="http://schemas.openxmlformats.org/drawingml/2006/main">
            <a:r>
              <a:t>    "sourceDetail": "정부 기기에서 이용하는 공통 LLM 보조도구, 공공업무 맥락에 맞춘 서비스\n정부 사용환경·보안 조건을 공통으로 제공",</a:t>
            </a:r>
          </a:p>
          <a:p xmlns:a="http://schemas.openxmlformats.org/drawingml/2006/main">
            <a:r>
              <a:t>    "narrative": [</a:t>
            </a:r>
          </a:p>
          <a:p xmlns:a="http://schemas.openxmlformats.org/drawingml/2006/main">
            <a:r>
              <a:t>      "싱가포르 Pair의 공공부문 업무 지원 사례. 직원의 조사·작성·분석을 지원하면서 정부 사용 조건과 업무 자료 취급 기준을 적용하는 도입 방식.",</a:t>
            </a:r>
          </a:p>
          <a:p xmlns:a="http://schemas.openxmlformats.org/drawingml/2006/main">
            <a:r>
              <a:t>      "정부 사용자 접근, 허용된 업무 입력, 모델 처리, 결과 검토·활용으로 재구성. 공급사의 일반 제품 기능과 정부 도입 조건, 실제 이용 범위를 구분하고 기관 내부 시스템과의 자동 연계 여부를 별도 확인하는 구조.",</a:t>
            </a:r>
          </a:p>
          <a:p xmlns:a="http://schemas.openxmlformats.org/drawingml/2006/main">
            <a:r>
              <a:t>      "TS에서는 서비스 구매 자체를 조직 네이티브 기능 구현으로 보지 않는 것이 비교의 출발점. 공식 직원 ID·부서·업무 책임·자료 권한과 모델의 이용 문맥을 연결하는 추가 개발·운영 책임의 별도 정의."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"정부 직원 접점",</a:t>
            </a:r>
          </a:p>
          <a:p xmlns:a="http://schemas.openxmlformats.org/drawingml/2006/main">
            <a:r>
              <a:t>          "layer": "이용 접점",</a:t>
            </a:r>
          </a:p>
          <a:p xmlns:a="http://schemas.openxmlformats.org/drawingml/2006/main">
            <a:r>
              <a:t>          "detail": "정부 직원·운영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"업무·입력등급",</a:t>
            </a:r>
          </a:p>
          <a:p xmlns:a="http://schemas.openxmlformats.org/drawingml/2006/main">
            <a:r>
              <a:t>          "layer": "업무 문맥",</a:t>
            </a:r>
          </a:p>
          <a:p xmlns:a="http://schemas.openxmlformats.org/drawingml/2006/main">
            <a:r>
              <a:t>          "detail": "정부 기기·사용자 문맥·업무 입력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구성",</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"Pair 공통 LLM",</a:t>
            </a:r>
          </a:p>
          <a:p xmlns:a="http://schemas.openxmlformats.org/drawingml/2006/main">
            <a:r>
              <a:t>          "layer": "핵심 처리",</a:t>
            </a:r>
          </a:p>
          <a:p xmlns:a="http://schemas.openxmlformats.org/drawingml/2006/main">
            <a:r>
              <a:t>          "detail": "공공업무에 맞춘 모델 요청·응답 처리",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"근거·민감정보 검사",</a:t>
            </a:r>
          </a:p>
          <a:p xmlns:a="http://schemas.openxmlformats.org/drawingml/2006/main">
            <a:r>
              <a:t>          "layer": "결과 검증",</a:t>
            </a:r>
          </a:p>
          <a:p xmlns:a="http://schemas.openxmlformats.org/drawingml/2006/main">
            <a:r>
              <a:t>          "detail": "공개 범위·근거·내용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"정부 업무자료를 허용 범위에서 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"작성·조사 초안",</a:t>
            </a:r>
          </a:p>
          <a:p xmlns:a="http://schemas.openxmlformats.org/drawingml/2006/main">
            <a:r>
              <a:t>          "layer": "업무 연결",</a:t>
            </a:r>
          </a:p>
          <a:p xmlns:a="http://schemas.openxmlformats.org/drawingml/2006/main">
            <a:r>
              <a:t>          "detail": "직원 검토를 거친 문서·업무 초안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"오류·사용성 점검",</a:t>
            </a:r>
          </a:p>
          <a:p xmlns:a="http://schemas.openxmlformats.org/drawingml/2006/main">
            <a:r>
              <a:t>          "layer": "운영 관측",</a:t>
            </a:r>
          </a:p>
          <a:p xmlns:a="http://schemas.openxmlformats.org/drawingml/2006/main">
            <a:r>
              <a:t>          "detail": "오류·사용성·정책 준수의 운영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"허용 업무 입력",</a:t>
            </a:r>
          </a:p>
          <a:p xmlns:a="http://schemas.openxmlformats.org/drawingml/2006/main">
            <a:r>
              <a:t>          "layer": "데이터 원천",</a:t>
            </a:r>
          </a:p>
          <a:p xmlns:a="http://schemas.openxmlformats.org/drawingml/2006/main">
            <a:r>
              <a:t>          "detail": "업무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"보관조건 정리",</a:t>
            </a:r>
          </a:p>
          <a:p xmlns:a="http://schemas.openxmlformats.org/drawingml/2006/main">
            <a:r>
              <a:t>          "layer": "준비·갱신",</a:t>
            </a:r>
          </a:p>
          <a:p xmlns:a="http://schemas.openxmlformats.org/drawingml/2006/main">
            <a:r>
              <a:t>          "detail": "업무 문맥의 허용 입력범위·보관조건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"과업·평가 기록",</a:t>
            </a:r>
          </a:p>
          <a:p xmlns:a="http://schemas.openxmlformats.org/drawingml/2006/main">
            <a:r>
              <a:t>          "layer": "상태·지식 저장",</a:t>
            </a:r>
          </a:p>
          <a:p xmlns:a="http://schemas.openxmlformats.org/drawingml/2006/main">
            <a:r>
              <a:t>          "detail": "입력 정책·답변 품질·서비스 실패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"정부 이용정책",</a:t>
            </a:r>
          </a:p>
          <a:p xmlns:a="http://schemas.openxmlformats.org/drawingml/2006/main">
            <a:r>
              <a:t>          "layer": "권한·정책",</a:t>
            </a:r>
          </a:p>
          <a:p xmlns:a="http://schemas.openxmlformats.org/drawingml/2006/main">
            <a:r>
              <a:t>          "detail": "금지 입력·근거 없는 질문·장시간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"정부 사용자 → 공통 LLM 도구 → 작성·조사 지원 → 공무원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"업무 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"정부 기기·사용자 문맥·업무 입력 구분",</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"입력 정책·답변 품질·서비스 실패 대응 기록",</a:t>
            </a:r>
          </a:p>
          <a:p xmlns:a="http://schemas.openxmlformats.org/drawingml/2006/main">
            <a:r>
              <a:t>          "check": "업무 문맥의 허용 입력범위·보관조건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"도구 입력",</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"작성·조사 초안",</a:t>
            </a:r>
          </a:p>
          <a:p xmlns:a="http://schemas.openxmlformats.org/drawingml/2006/main">
            <a:r>
              <a:t>          "check": "입력 정책·답변 품질·서비스 실패 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"정부 환경에 맞춘 공통 LLM 업무 지원 / 질의응답·작성 보조·정부 이용환경",</a:t>
            </a:r>
          </a:p>
          <a:p xmlns:a="http://schemas.openxmlformats.org/drawingml/2006/main">
            <a:r>
              <a:t>        "extension": "공통 이용환경 안에서 공공업무 입력 기준과 직원 검토 절차 정착"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"금지 입력·근거 없는 질문·장시간 응답",</a:t>
            </a:r>
          </a:p>
          <a:p xmlns:a="http://schemas.openxmlformats.org/drawingml/2006/main">
            <a:r>
              <a:t>        "hold": "공개 범위·근거·내용 대조",</a:t>
            </a:r>
          </a:p>
          <a:p xmlns:a="http://schemas.openxmlformats.org/drawingml/2006/main">
            <a:r>
              <a:t>        "recovery": "오류·사용성·정책 준수의 운영 점검",</a:t>
            </a:r>
          </a:p>
          <a:p xmlns:a="http://schemas.openxmlformats.org/drawingml/2006/main">
            <a:r>
              <a:t>        "evidence": "입력 정책·답변 품질·서비스 실패 대응 기록"</a:t>
            </a:r>
          </a:p>
          <a:p xmlns:a="http://schemas.openxmlformats.org/drawingml/2006/main">
            <a:r>
              <a:t>      },</a:t>
            </a:r>
          </a:p>
          <a:p xmlns:a="http://schemas.openxmlformats.org/drawingml/2006/main">
            <a:r>
              <a:t>      "data": {</a:t>
            </a:r>
          </a:p>
          <a:p xmlns:a="http://schemas.openxmlformats.org/drawingml/2006/main">
            <a:r>
              <a:t>        "source": "업무 문맥",</a:t>
            </a:r>
          </a:p>
          <a:p xmlns:a="http://schemas.openxmlformats.org/drawingml/2006/main">
            <a:r>
              <a:t>        "prepare": "업무 문맥의 허용 입력범위·보관조건 관리",</a:t>
            </a:r>
          </a:p>
          <a:p xmlns:a="http://schemas.openxmlformats.org/drawingml/2006/main">
            <a:r>
              <a:t>        "output": "업무 요청",</a:t>
            </a:r>
          </a:p>
          <a:p xmlns:a="http://schemas.openxmlformats.org/drawingml/2006/main">
            <a:r>
              <a:t>        "refresh": "오류·사용성·정책 준수의 운영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"PF-A09",</a:t>
            </a:r>
          </a:p>
          <a:p xmlns:a="http://schemas.openxmlformats.org/drawingml/2006/main">
            <a:r>
              <a:t>    "success": [</a:t>
            </a:r>
          </a:p>
          <a:p xmlns:a="http://schemas.openxmlformats.org/drawingml/2006/main">
            <a:r>
              <a:t>      "공통 작성·조사 도구 접근",</a:t>
            </a:r>
          </a:p>
          <a:p xmlns:a="http://schemas.openxmlformats.org/drawingml/2006/main">
            <a:r>
              <a:t>      "공무원의 결과 검토"</a:t>
            </a:r>
          </a:p>
          <a:p xmlns:a="http://schemas.openxmlformats.org/drawingml/2006/main">
            <a:r>
              <a:t>    ],</a:t>
            </a:r>
          </a:p>
          <a:p xmlns:a="http://schemas.openxmlformats.org/drawingml/2006/main">
            <a:r>
              <a:t>    "risks": [</a:t>
            </a:r>
          </a:p>
          <a:p xmlns:a="http://schemas.openxmlformats.org/drawingml/2006/main">
            <a:r>
              <a:t>      "범용 도구의 전문 규정 한계",</a:t>
            </a:r>
          </a:p>
          <a:p xmlns:a="http://schemas.openxmlformats.org/drawingml/2006/main">
            <a:r>
              <a:t>      "민감 정보 입력·검증 없는 재사용"</a:t>
            </a:r>
          </a:p>
          <a:p xmlns:a="http://schemas.openxmlformats.org/drawingml/2006/main">
            <a:r>
              <a:t>    ],</a:t>
            </a:r>
          </a:p>
          <a:p xmlns:a="http://schemas.openxmlformats.org/drawingml/2006/main">
            <a:r>
              <a:t>    "architecture": [</a:t>
            </a:r>
          </a:p>
          <a:p xmlns:a="http://schemas.openxmlformats.org/drawingml/2006/main">
            <a:r>
              <a:t>      "정부 직원",</a:t>
            </a:r>
          </a:p>
          <a:p xmlns:a="http://schemas.openxmlformats.org/drawingml/2006/main">
            <a:r>
              <a:t>      "Pair 공통 LLM",</a:t>
            </a:r>
          </a:p>
          <a:p xmlns:a="http://schemas.openxmlformats.org/drawingml/2006/main">
            <a:r>
              <a:t>      "업무 문맥",</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"도구 입력",</a:t>
            </a:r>
          </a:p>
          <a:p xmlns:a="http://schemas.openxmlformats.org/drawingml/2006/main">
            <a:r>
              <a:t>      "작성·조사 초안",</a:t>
            </a:r>
          </a:p>
          <a:p xmlns:a="http://schemas.openxmlformats.org/drawingml/2006/main">
            <a:r>
              <a:t>      "확인된 결과"</a:t>
            </a:r>
          </a:p>
          <a:p xmlns:a="http://schemas.openxmlformats.org/drawingml/2006/main">
            <a:r>
              <a:t>    ],</a:t>
            </a:r>
          </a:p>
          <a:p xmlns:a="http://schemas.openxmlformats.org/drawingml/2006/main">
            <a:r>
              <a:t>    "control": "공개 범위·근거·내용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P109~111 / 범용 생산성 도구 확산 https://www.tech.gov.sg/products-and-services/for-government-agencies/productivity-and-marketing/pair/</a:t>
            </a:r>
          </a:p>
          <a:p xmlns:a="http://schemas.openxmlformats.org/drawingml/2006/main">
            <a:r>
              <a:t>홈페이지 https://heen1987-ops.github.io/TS-business-Plan-001/index.html?view=platform-cases&amp;case=PF-A09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a:p xmlns:a="http://schemas.openxmlformats.org/drawingml/2006/main">
            <a:r>
              <a:t>한계: 서비스 기능 확인 · 공개 이용 통계와 업무성과의 별도 평가</a:t>
            </a:r>
          </a:p>
          <a:p xmlns:a="http://schemas.openxmlformats.org/drawingml/2006/main">
            <a:r>
              <a:t>실패 위험: 공통 API 의존·장애 영향 / 기관별 정책을 공통 기능으로 대체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"PF06",</a:t>
            </a:r>
          </a:p>
          <a:p xmlns:a="http://schemas.openxmlformats.org/drawingml/2006/main">
            <a:r>
              <a:t>    "sourceId": "A10",</a:t>
            </a:r>
          </a:p>
          <a:p xmlns:a="http://schemas.openxmlformats.org/drawingml/2006/main">
            <a:r>
              <a:t>    "title": "프랑스 Albert API",</a:t>
            </a:r>
          </a:p>
          <a:p xmlns:a="http://schemas.openxmlformats.org/drawingml/2006/main">
            <a:r>
              <a:t>    "region": "해외",</a:t>
            </a:r>
          </a:p>
          <a:p xmlns:a="http://schemas.openxmlformats.org/drawingml/2006/main">
            <a:r>
              <a:t>    "owner": "DINUM",</a:t>
            </a:r>
          </a:p>
          <a:p xmlns:a="http://schemas.openxmlformats.org/drawingml/2006/main">
            <a:r>
              <a:t>    "state": "공통 API 운영",</a:t>
            </a:r>
          </a:p>
          <a:p xmlns:a="http://schemas.openxmlformats.org/drawingml/2006/main">
            <a:r>
              <a:t>    "period": "열람 2026.10",</a:t>
            </a:r>
          </a:p>
          <a:p xmlns:a="http://schemas.openxmlformats.org/drawingml/2006/main">
            <a:r>
              <a:t>    "fact": "모델·검색·OCR·음성전사 등 공통 AI 기능의 API 제공",</a:t>
            </a:r>
          </a:p>
          <a:p xmlns:a="http://schemas.openxmlformats.org/drawingml/2006/main">
            <a:r>
              <a:t>    "limit": "서비스 기능 확인 · 공개 이용 통계와 업무성과의 별도 평가",</a:t>
            </a:r>
          </a:p>
          <a:p xmlns:a="http://schemas.openxmlformats.org/drawingml/2006/main">
            <a:r>
              <a:t>    "nodes": [</a:t>
            </a:r>
          </a:p>
          <a:p xmlns:a="http://schemas.openxmlformats.org/drawingml/2006/main">
            <a:r>
              <a:t>      "업무 앱",</a:t>
            </a:r>
          </a:p>
          <a:p xmlns:a="http://schemas.openxmlformats.org/drawingml/2006/main">
            <a:r>
              <a:t>      "공통 API·접근관리",</a:t>
            </a:r>
          </a:p>
          <a:p xmlns:a="http://schemas.openxmlformats.org/drawingml/2006/main">
            <a:r>
              <a:t>      "모델·검색·문서·음성",</a:t>
            </a:r>
          </a:p>
          <a:p xmlns:a="http://schemas.openxmlformats.org/drawingml/2006/main">
            <a:r>
              <a:t>      "프로젝트·사용량 관리"</a:t>
            </a:r>
          </a:p>
          <a:p xmlns:a="http://schemas.openxmlformats.org/drawingml/2006/main">
            <a:r>
              <a:t>    ],</a:t>
            </a:r>
          </a:p>
          <a:p xmlns:a="http://schemas.openxmlformats.org/drawingml/2006/main">
            <a:r>
              <a:t>    "apply": "OCR·검색·전사 기능을 공통 서비스로 묶고 부서 업무 앱에서 조합",</a:t>
            </a:r>
          </a:p>
          <a:p xmlns:a="http://schemas.openxmlformats.org/drawingml/2006/main">
            <a:r>
              <a:t>    "delta": "API 계약·사용 정책·부서별 사용량·장애 격리",</a:t>
            </a:r>
          </a:p>
          <a:p xmlns:a="http://schemas.openxmlformats.org/drawingml/2006/main">
            <a:r>
              <a:t>    "test": "공통 기능 계약 시험 / 지연·실패·비용의 업무별 분리",</a:t>
            </a:r>
          </a:p>
          <a:p xmlns:a="http://schemas.openxmlformats.org/drawingml/2006/main">
            <a:r>
              <a:t>    "url": "https://ia.numerique.gouv.fr/outils-ia/albert-api/offre-de-services/",</a:t>
            </a:r>
          </a:p>
          <a:p xmlns:a="http://schemas.openxmlformats.org/drawingml/2006/main">
            <a:r>
              <a:t>    "basis": "운영기관 서비스·API 설명",</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"https://ia.numerique.gouv.fr/outils-ia/albert-api/offre-de-services/",</a:t>
            </a:r>
          </a:p>
          <a:p xmlns:a="http://schemas.openxmlformats.org/drawingml/2006/main">
            <a:r>
              <a:t>      "https://www.numerique.gouv.fr/offre-accompagnement/expertise-albert-ia-etat/",</a:t>
            </a:r>
          </a:p>
          <a:p xmlns:a="http://schemas.openxmlformats.org/drawingml/2006/main">
            <a:r>
              <a:t>      "https://ia.numerique.gouv.fr/outils-ia/albert-api/statistiques/"</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"PF06",</a:t>
            </a:r>
          </a:p>
          <a:p xmlns:a="http://schemas.openxmlformats.org/drawingml/2006/main">
            <a:r>
              <a:t>    "canonicalId": "PF06",</a:t>
            </a:r>
          </a:p>
          <a:p xmlns:a="http://schemas.openxmlformats.org/drawingml/2006/main">
            <a:r>
              <a:t>    "purpose": "기관별 AI 앱을 위한 공통 API 제공",</a:t>
            </a:r>
          </a:p>
          <a:p xmlns:a="http://schemas.openxmlformats.org/drawingml/2006/main">
            <a:r>
              <a:t>    "users": "공공기관 앱 개발자·운영자",</a:t>
            </a:r>
          </a:p>
          <a:p xmlns:a="http://schemas.openxmlformats.org/drawingml/2006/main">
            <a:r>
              <a:t>    "scope": [</a:t>
            </a:r>
          </a:p>
          <a:p xmlns:a="http://schemas.openxmlformats.org/drawingml/2006/main">
            <a:r>
              <a:t>      "모델·검색",</a:t>
            </a:r>
          </a:p>
          <a:p xmlns:a="http://schemas.openxmlformats.org/drawingml/2006/main">
            <a:r>
              <a:t>      "OCR",</a:t>
            </a:r>
          </a:p>
          <a:p xmlns:a="http://schemas.openxmlformats.org/drawingml/2006/main">
            <a:r>
              <a:t>      "음성전사"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업무 앱",</a:t>
            </a:r>
          </a:p>
          <a:p xmlns:a="http://schemas.openxmlformats.org/drawingml/2006/main">
            <a:r>
              <a:t>        "detail": "앱별 인증과 요청 종류·용량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"모델·검색 / OCR / 음성전사",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"Albert API",</a:t>
            </a:r>
          </a:p>
          <a:p xmlns:a="http://schemas.openxmlformats.org/drawingml/2006/main">
            <a:r>
              <a:t>        "detail": "작업에 맞는 모델·검색·변환 API 호출",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"프로젝트 운영자",</a:t>
            </a:r>
          </a:p>
          <a:p xmlns:a="http://schemas.openxmlformats.org/drawingml/2006/main">
            <a:r>
              <a:t>        "detail": "구조화된 API 결과를 기관 업무 앱에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"문서·검색·모델 서비스",</a:t>
            </a:r>
          </a:p>
          <a:p xmlns:a="http://schemas.openxmlformats.org/drawingml/2006/main">
            <a:r>
              <a:t>        "detail": "문서·음성의 전처리와 검색용 자료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"호출 실패·처리시간·사용량·품질 관측",</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"업무 앱",</a:t>
            </a:r>
          </a:p>
          <a:p xmlns:a="http://schemas.openxmlformats.org/drawingml/2006/main">
            <a:r>
              <a:t>        "input": "앱별 인증과 요청 종류·용량 확인",</a:t>
            </a:r>
          </a:p>
          <a:p xmlns:a="http://schemas.openxmlformats.org/drawingml/2006/main">
            <a:r>
              <a:t>        "process": "문서·음성의 전처리와 검색용 자료 구성",</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"title": "공통 API·접근관리",</a:t>
            </a:r>
          </a:p>
          <a:p xmlns:a="http://schemas.openxmlformats.org/drawingml/2006/main">
            <a:r>
              <a:t>        "input": "API 요청",</a:t>
            </a:r>
          </a:p>
          <a:p xmlns:a="http://schemas.openxmlformats.org/drawingml/2006/main">
            <a:r>
              <a:t>        "process": "작업에 맞는 모델·검색·변환 API 호출",</a:t>
            </a:r>
          </a:p>
          <a:p xmlns:a="http://schemas.openxmlformats.org/drawingml/2006/main">
            <a:r>
              <a:t>        "output": "인증·호출 인자"</a:t>
            </a:r>
          </a:p>
          <a:p xmlns:a="http://schemas.openxmlformats.org/drawingml/2006/main">
            <a:r>
              <a:t>      },</a:t>
            </a:r>
          </a:p>
          <a:p xmlns:a="http://schemas.openxmlformats.org/drawingml/2006/main">
            <a:r>
              <a:t>      {</a:t>
            </a:r>
          </a:p>
          <a:p xmlns:a="http://schemas.openxmlformats.org/drawingml/2006/main">
            <a:r>
              <a:t>        "title": "모델·검색·문서·음성",</a:t>
            </a:r>
          </a:p>
          <a:p xmlns:a="http://schemas.openxmlformats.org/drawingml/2006/main">
            <a:r>
              <a:t>        "input": "인증·호출 인자",</a:t>
            </a:r>
          </a:p>
          <a:p xmlns:a="http://schemas.openxmlformats.org/drawingml/2006/main">
            <a:r>
              <a:t>        "process": "호출 계약·오류·단가·대체 경로",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"title": "프로젝트·사용량 관리",</a:t>
            </a:r>
          </a:p>
          <a:p xmlns:a="http://schemas.openxmlformats.org/drawingml/2006/main">
            <a:r>
              <a:t>        "input": "공통 처리 결과",</a:t>
            </a:r>
          </a:p>
          <a:p xmlns:a="http://schemas.openxmlformats.org/drawingml/2006/main">
            <a:r>
              <a:t>        "process":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앱이 문서 OCR 후 검색·요약 API를 호출",</a:t>
            </a:r>
          </a:p>
          <a:p xmlns:a="http://schemas.openxmlformats.org/drawingml/2006/main">
            <a:r>
              <a:t>      "exception": "잘못된 파일·과도한 요청·일부 단계 실패",</a:t>
            </a:r>
          </a:p>
          <a:p xmlns:a="http://schemas.openxmlformats.org/drawingml/2006/main">
            <a:r>
              <a:t>      "evidence": "요청 ID별 API 입력·결과·오류·재시도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"공공기관 앱 개발자·운영자",</a:t>
            </a:r>
          </a:p>
          <a:p xmlns:a="http://schemas.openxmlformats.org/drawingml/2006/main">
            <a:r>
              <a:t>          "processing": "앱별 인증과 요청 종류·용량 확인",</a:t>
            </a:r>
          </a:p>
          <a:p xmlns:a="http://schemas.openxmlformats.org/drawingml/2006/main">
            <a:r>
              <a:t>          "output": "API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"문서·검색·모델 서비스",</a:t>
            </a:r>
          </a:p>
          <a:p xmlns:a="http://schemas.openxmlformats.org/drawingml/2006/main">
            <a:r>
              <a:t>          "processing": "문서·음성의 전처리와 검색용 자료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"API 요청",</a:t>
            </a:r>
          </a:p>
          <a:p xmlns:a="http://schemas.openxmlformats.org/drawingml/2006/main">
            <a:r>
              <a:t>          "processing": "작업에 맞는 모델·검색·변환 API 호출",</a:t>
            </a:r>
          </a:p>
          <a:p xmlns:a="http://schemas.openxmlformats.org/drawingml/2006/main">
            <a:r>
              <a:t>          "output": "공통 처리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"공통 처리 결과",</a:t>
            </a:r>
          </a:p>
          <a:p xmlns:a="http://schemas.openxmlformats.org/drawingml/2006/main">
            <a:r>
              <a:t>          "processing": "구조화된 API 결과를 기관 업무 앱에 전달",</a:t>
            </a:r>
          </a:p>
          <a:p xmlns:a="http://schemas.openxmlformats.org/drawingml/2006/main">
            <a:r>
              <a:t>          "output": "사용량·업무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"호출 실패·처리시간·사용량·품질 관측",</a:t>
            </a:r>
          </a:p>
          <a:p xmlns:a="http://schemas.openxmlformats.org/drawingml/2006/main">
            <a:r>
              <a:t>          "output": "요청 ID별 API 입력·결과·오류·재시도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"호출 실패·처리시간·사용량·품질 관측",</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서비스·API 설명",</a:t>
            </a:r>
          </a:p>
          <a:p xmlns:a="http://schemas.openxmlformats.org/drawingml/2006/main">
            <a:r>
              <a:t>        "url": "https://ia.numerique.gouv.fr/outils-ia/albert-api/offre-de-services/"</a:t>
            </a:r>
          </a:p>
          <a:p xmlns:a="http://schemas.openxmlformats.org/drawingml/2006/main">
            <a:r>
              <a:t>      }</a:t>
            </a:r>
          </a:p>
          <a:p xmlns:a="http://schemas.openxmlformats.org/drawingml/2006/main">
            <a:r>
              <a:t>    ],</a:t>
            </a:r>
          </a:p>
          <a:p xmlns:a="http://schemas.openxmlformats.org/drawingml/2006/main">
            <a:r>
              <a:t>    "implication": "OCR·검색·전사 기능을 공통 서비스로 묶고 부서 업무 앱에서 조합",</a:t>
            </a:r>
          </a:p>
          <a:p xmlns:a="http://schemas.openxmlformats.org/drawingml/2006/main">
            <a:r>
              <a:t>    "local": "OCR·검색·전사 기능을 공통 서비스로 묶고 부서 업무 앱에서 조합",</a:t>
            </a:r>
          </a:p>
          <a:p xmlns:a="http://schemas.openxmlformats.org/drawingml/2006/main">
            <a:r>
              <a:t>    "sourceDetail": null,</a:t>
            </a:r>
          </a:p>
          <a:p xmlns:a="http://schemas.openxmlformats.org/drawingml/2006/main">
            <a:r>
              <a:t>    "narrative": [</a:t>
            </a:r>
          </a:p>
          <a:p xmlns:a="http://schemas.openxmlformats.org/drawingml/2006/main">
            <a:r>
              <a:t>      "프랑스 Albert API는 공공기관이 자체 업무 서비스에 AI 기능을 붙일 수 있도록 공통 API를 제공하는 사례. 완성형 챗봇뿐 아니라 문서·음성 처리와 모델 기능을 업무 앱에서 선택해 활용하는 구조.",</a:t>
            </a:r>
          </a:p>
          <a:p xmlns:a="http://schemas.openxmlformats.org/drawingml/2006/main">
            <a:r>
              <a:t>      "공개 API 명세의 Bearer 인증, 모델 조회, OCR, 음성 전사, 사용량 관측 기능을 기준으로 요청·변환·추론·결과 반환 계층을 구성. 업무 서비스는 인증·입력 제약·오류 처리·출력 활용을 담당하고 공통 API는 호출 가능한 기능을 제공하는 책임 분리.",</a:t>
            </a:r>
          </a:p>
          <a:p xmlns:a="http://schemas.openxmlformats.org/drawingml/2006/main">
            <a:r>
              <a:t>      "CCK 기능 재사용 단위를 화면보다 API 계약으로 정의하는 참고. 요청 크기·형식 오류·인증 실패·타임아웃·재시도·중복 호출에 대한 시험과 부서별 호출 이력·비용·개인정보 처리 기준의 연결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"기관 앱 API",</a:t>
            </a:r>
          </a:p>
          <a:p xmlns:a="http://schemas.openxmlformats.org/drawingml/2006/main">
            <a:r>
              <a:t>          "layer": "이용 접점",</a:t>
            </a:r>
          </a:p>
          <a:p xmlns:a="http://schemas.openxmlformats.org/drawingml/2006/main">
            <a:r>
              <a:t>          "detail": "공공기관 앱 개발자·운영자",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"Bearer 인증",</a:t>
            </a:r>
          </a:p>
          <a:p xmlns:a="http://schemas.openxmlformats.org/drawingml/2006/main">
            <a:r>
              <a:t>          "layer": "업무 문맥",</a:t>
            </a:r>
          </a:p>
          <a:p xmlns:a="http://schemas.openxmlformats.org/drawingml/2006/main">
            <a:r>
              <a:t>          "detail": "앱별 인증과 요청 종류·용량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"모델·기능 선택",</a:t>
            </a:r>
          </a:p>
          <a:p xmlns:a="http://schemas.openxmlformats.org/drawingml/2006/main">
            <a:r>
              <a:t>          "layer": "자료 조회",</a:t>
            </a:r>
          </a:p>
          <a:p xmlns:a="http://schemas.openxmlformats.org/drawingml/2006/main">
            <a:r>
              <a:t>          "detail": "API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"검색·OCR·전사",</a:t>
            </a:r>
          </a:p>
          <a:p xmlns:a="http://schemas.openxmlformats.org/drawingml/2006/main">
            <a:r>
              <a:t>          "layer": "핵심 처리",</a:t>
            </a:r>
          </a:p>
          <a:p xmlns:a="http://schemas.openxmlformats.org/drawingml/2006/main">
            <a:r>
              <a:t>          "detail": "작업에 맞는 모델·검색·변환 API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"응답·오류 검사",</a:t>
            </a:r>
          </a:p>
          <a:p xmlns:a="http://schemas.openxmlformats.org/drawingml/2006/main">
            <a:r>
              <a:t>          "layer": "결과 검증",</a:t>
            </a:r>
          </a:p>
          <a:p xmlns:a="http://schemas.openxmlformats.org/drawingml/2006/main">
            <a:r>
              <a:t>          "detail": "호출 계약·오류·단가·대체 경로",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"앱 후처리",</a:t>
            </a:r>
          </a:p>
          <a:p xmlns:a="http://schemas.openxmlformats.org/drawingml/2006/main">
            <a:r>
              <a:t>          "layer": "사람 확인",</a:t>
            </a:r>
          </a:p>
          <a:p xmlns:a="http://schemas.openxmlformats.org/drawingml/2006/main">
            <a:r>
              <a:t>          "detail": "기관 앱이 문서 OCR 후 검색·요약 API를 호출",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"구조화 API 결과",</a:t>
            </a:r>
          </a:p>
          <a:p xmlns:a="http://schemas.openxmlformats.org/drawingml/2006/main">
            <a:r>
              <a:t>          "layer": "업무 연결",</a:t>
            </a:r>
          </a:p>
          <a:p xmlns:a="http://schemas.openxmlformats.org/drawingml/2006/main">
            <a:r>
              <a:t>          "detail": "구조화된 API 결과를 기관 업무 앱에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"상태·지표 수집",</a:t>
            </a:r>
          </a:p>
          <a:p xmlns:a="http://schemas.openxmlformats.org/drawingml/2006/main">
            <a:r>
              <a:t>          "layer": "운영 관측",</a:t>
            </a:r>
          </a:p>
          <a:p xmlns:a="http://schemas.openxmlformats.org/drawingml/2006/main">
            <a:r>
              <a:t>          "detail": "호출 실패·처리시간·사용량·품질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"문서·음성·질의",</a:t>
            </a:r>
          </a:p>
          <a:p xmlns:a="http://schemas.openxmlformats.org/drawingml/2006/main">
            <a:r>
              <a:t>          "layer": "데이터 원천",</a:t>
            </a:r>
          </a:p>
          <a:p xmlns:a="http://schemas.openxmlformats.org/drawingml/2006/main">
            <a:r>
              <a:t>          "detail": "문서·검색·모델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"파일·인자 정리",</a:t>
            </a:r>
          </a:p>
          <a:p xmlns:a="http://schemas.openxmlformats.org/drawingml/2006/main">
            <a:r>
              <a:t>          "layer": "준비·갱신",</a:t>
            </a:r>
          </a:p>
          <a:p xmlns:a="http://schemas.openxmlformats.org/drawingml/2006/main">
            <a:r>
              <a:t>          "detail": "문서·음성의 전처리와 검색용 자료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"처리·사용 기록",</a:t>
            </a:r>
          </a:p>
          <a:p xmlns:a="http://schemas.openxmlformats.org/drawingml/2006/main">
            <a:r>
              <a:t>          "layer": "상태·지식 저장",</a:t>
            </a:r>
          </a:p>
          <a:p xmlns:a="http://schemas.openxmlformats.org/drawingml/2006/main">
            <a:r>
              <a:t>          "detail": "요청 ID별 API 입력·결과·오류·재시도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"API 계약·한도",</a:t>
            </a:r>
          </a:p>
          <a:p xmlns:a="http://schemas.openxmlformats.org/drawingml/2006/main">
            <a:r>
              <a:t>          "layer": "권한·정책",</a:t>
            </a:r>
          </a:p>
          <a:p xmlns:a="http://schemas.openxmlformats.org/drawingml/2006/main">
            <a:r>
              <a:t>          "detail": "잘못된 파일·과도한 요청·일부 단계 실패",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"업무 앱 → 공통 API·접근관리 → 모델·검색·문서·음성 → 프로젝트·사용량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"앱별 인증과 요청 종류·용량 확인",</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"API 요청",</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"문서·검색·모델 서비스",</a:t>
            </a:r>
          </a:p>
          <a:p xmlns:a="http://schemas.openxmlformats.org/drawingml/2006/main">
            <a:r>
              <a:t>          "check": "문서·음성의 전처리와 검색용 자료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"공통 처리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"사용량·업무 결과",</a:t>
            </a:r>
          </a:p>
          <a:p xmlns:a="http://schemas.openxmlformats.org/drawingml/2006/main">
            <a:r>
              <a:t>          "check": "요청 ID별 API 입력·결과·오류·재시도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"Albert API 공식 OpenAPI 문서",</a:t>
            </a:r>
          </a:p>
          <a:p xmlns:a="http://schemas.openxmlformats.org/drawingml/2006/main">
            <a:r>
              <a:t>        "extracted": "Bearer 인증·모델 목록·음성 전사·OCR·모니터링 API",</a:t>
            </a:r>
          </a:p>
          <a:p xmlns:a="http://schemas.openxmlformats.org/drawingml/2006/main">
            <a:r>
              <a:t>        "extension": "앱별 오류 변환·요청 추적·재시도 한도의 적용 설계"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a:t>
            </a:r>
          </a:p>
          <a:p xmlns:a="http://schemas.openxmlformats.org/drawingml/2006/main">
            <a:r>
              <a:t>        "title": "DINUM Albert API · 공식 OpenAPI",</a:t>
            </a:r>
          </a:p>
          <a:p xmlns:a="http://schemas.openxmlformats.org/drawingml/2006/main">
            <a:r>
              <a:t>        "url": "https://albert.api.etalab.gouv.fr/reference"</a:t>
            </a:r>
          </a:p>
          <a:p xmlns:a="http://schemas.openxmlformats.org/drawingml/2006/main">
            <a:r>
              <a:t>      },</a:t>
            </a:r>
          </a:p>
          <a:p xmlns:a="http://schemas.openxmlformats.org/drawingml/2006/main">
            <a:r>
              <a:t>      "exception": {</a:t>
            </a:r>
          </a:p>
          <a:p xmlns:a="http://schemas.openxmlformats.org/drawingml/2006/main">
            <a:r>
              <a:t>        "input": "잘못된 파일·과도한 요청·일부 단계 실패",</a:t>
            </a:r>
          </a:p>
          <a:p xmlns:a="http://schemas.openxmlformats.org/drawingml/2006/main">
            <a:r>
              <a:t>        "hold": "호출 계약·오류·단가·대체 경로",</a:t>
            </a:r>
          </a:p>
          <a:p xmlns:a="http://schemas.openxmlformats.org/drawingml/2006/main">
            <a:r>
              <a:t>        "recovery": "호출 실패·처리시간·사용량·품질 관측",</a:t>
            </a:r>
          </a:p>
          <a:p xmlns:a="http://schemas.openxmlformats.org/drawingml/2006/main">
            <a:r>
              <a:t>        "evidence": "요청 ID별 API 입력·결과·오류·재시도 대사"</a:t>
            </a:r>
          </a:p>
          <a:p xmlns:a="http://schemas.openxmlformats.org/drawingml/2006/main">
            <a:r>
              <a:t>      },</a:t>
            </a:r>
          </a:p>
          <a:p xmlns:a="http://schemas.openxmlformats.org/drawingml/2006/main">
            <a:r>
              <a:t>      "data": {</a:t>
            </a:r>
          </a:p>
          <a:p xmlns:a="http://schemas.openxmlformats.org/drawingml/2006/main">
            <a:r>
              <a:t>        "source": "문서·검색·모델 서비스",</a:t>
            </a:r>
          </a:p>
          <a:p xmlns:a="http://schemas.openxmlformats.org/drawingml/2006/main">
            <a:r>
              <a:t>        "prepare": "문서·음성의 전처리와 검색용 자료 구성",</a:t>
            </a:r>
          </a:p>
          <a:p xmlns:a="http://schemas.openxmlformats.org/drawingml/2006/main">
            <a:r>
              <a:t>        "output": "API 요청",</a:t>
            </a:r>
          </a:p>
          <a:p xmlns:a="http://schemas.openxmlformats.org/drawingml/2006/main">
            <a:r>
              <a:t>        "refresh": "호출 실패·처리시간·사용량·품질 관측"</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"PF06",</a:t>
            </a:r>
          </a:p>
          <a:p xmlns:a="http://schemas.openxmlformats.org/drawingml/2006/main">
            <a:r>
              <a:t>    "success": [</a:t>
            </a:r>
          </a:p>
          <a:p xmlns:a="http://schemas.openxmlformats.org/drawingml/2006/main">
            <a:r>
              <a:t>      "모델·검색·문서·음성 기능의 API화",</a:t>
            </a:r>
          </a:p>
          <a:p xmlns:a="http://schemas.openxmlformats.org/drawingml/2006/main">
            <a:r>
              <a:t>      "프로젝트별 사용량 관리"</a:t>
            </a:r>
          </a:p>
          <a:p xmlns:a="http://schemas.openxmlformats.org/drawingml/2006/main">
            <a:r>
              <a:t>    ],</a:t>
            </a:r>
          </a:p>
          <a:p xmlns:a="http://schemas.openxmlformats.org/drawingml/2006/main">
            <a:r>
              <a:t>    "risks": [</a:t>
            </a:r>
          </a:p>
          <a:p xmlns:a="http://schemas.openxmlformats.org/drawingml/2006/main">
            <a:r>
              <a:t>      "공통 API 의존·장애 영향",</a:t>
            </a:r>
          </a:p>
          <a:p xmlns:a="http://schemas.openxmlformats.org/drawingml/2006/main">
            <a:r>
              <a:t>      "기관별 정책을 공통 기능으로 대체"</a:t>
            </a:r>
          </a:p>
          <a:p xmlns:a="http://schemas.openxmlformats.org/drawingml/2006/main">
            <a:r>
              <a:t>    ],</a:t>
            </a:r>
          </a:p>
          <a:p xmlns:a="http://schemas.openxmlformats.org/drawingml/2006/main">
            <a:r>
              <a:t>    "architecture": [</a:t>
            </a:r>
          </a:p>
          <a:p xmlns:a="http://schemas.openxmlformats.org/drawingml/2006/main">
            <a:r>
              <a:t>      "기관 업무 앱",</a:t>
            </a:r>
          </a:p>
          <a:p xmlns:a="http://schemas.openxmlformats.org/drawingml/2006/main">
            <a:r>
              <a:t>      "Albert API",</a:t>
            </a:r>
          </a:p>
          <a:p xmlns:a="http://schemas.openxmlformats.org/drawingml/2006/main">
            <a:r>
              <a:t>      "문서·검색·모델 서비스",</a:t>
            </a:r>
          </a:p>
          <a:p xmlns:a="http://schemas.openxmlformats.org/drawingml/2006/main">
            <a:r>
              <a:t>      "프로젝트 운영자"</a:t>
            </a:r>
          </a:p>
          <a:p xmlns:a="http://schemas.openxmlformats.org/drawingml/2006/main">
            <a:r>
              <a:t>    ],</a:t>
            </a:r>
          </a:p>
          <a:p xmlns:a="http://schemas.openxmlformats.org/drawingml/2006/main">
            <a:r>
              <a:t>    "transfers": [</a:t>
            </a:r>
          </a:p>
          <a:p xmlns:a="http://schemas.openxmlformats.org/drawingml/2006/main">
            <a:r>
              <a:t>      "API 요청",</a:t>
            </a:r>
          </a:p>
          <a:p xmlns:a="http://schemas.openxmlformats.org/drawingml/2006/main">
            <a:r>
              <a:t>      "인증·호출 인자",</a:t>
            </a:r>
          </a:p>
          <a:p xmlns:a="http://schemas.openxmlformats.org/drawingml/2006/main">
            <a:r>
              <a:t>      "공통 처리 결과",</a:t>
            </a:r>
          </a:p>
          <a:p xmlns:a="http://schemas.openxmlformats.org/drawingml/2006/main">
            <a:r>
              <a:t>      "사용량·업무 결과"</a:t>
            </a:r>
          </a:p>
          <a:p xmlns:a="http://schemas.openxmlformats.org/drawingml/2006/main">
            <a:r>
              <a:t>    ],</a:t>
            </a:r>
          </a:p>
          <a:p xmlns:a="http://schemas.openxmlformats.org/drawingml/2006/main">
            <a:r>
              <a:t>    "control": "호출 계약·오류·단가·대체 경로",</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서비스·API 설명 https://ia.numerique.gouv.fr/outils-ia/albert-api/offre-de-services/</a:t>
            </a:r>
          </a:p>
          <a:p xmlns:a="http://schemas.openxmlformats.org/drawingml/2006/main">
            <a:r>
              <a:t>홈페이지 https://heen1987-ops.github.io/TS-business-Plan-001/index.html?view=platform-cases&amp;case=PF06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한계: 운영기관 목록 확인 · 자율 행정 처리나 최신 LLM 스택의 근거와 구분</a:t>
            </a:r>
          </a:p>
          <a:p xmlns:a="http://schemas.openxmlformats.org/drawingml/2006/main">
            <a:r>
              <a:t>실패 위험: 기관 간 지식·소관 불일치 / 안내와 접수·처리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{"caseId":"PF07","path":"assets/casebook-sources/PF07-01.png","title":"Bürokratt 지식 기반 전체 구조","status":"공식 저장소 Mermaid 구성도 렌더","caption":"Ruuter·Resql·수집/정제/파일처리·PostgreSQL·S3 계층","locator":"Common-Knowledge/ARCHITECTURE.md / High-Level Architecture","sourceUrl":"https://github.com/buerokratt/Common-Knowledge/blob/main/ARCHITECTURE.md","sourceType":"mermaid","checked":"2026-10-16","sha256":"5b5d6850ad0bc4b47aed02003c3a77c2ed5bbd2308555d80e3b25feb249ec66d","explanation":{"read":"에스토니아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않는다.","requirements":[],"connection":"TS 대민 상담의 공통 지식 수집·정제·조회 계층과 소관 부서별 업무 인계 계층을 분리해 설계할 때 참고할 원본 구조."}}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{"caseId":"PF07","path":"assets/casebook-sources/PF07-02.png","title":"Bürokratt 정형 질의 흐름","status":"공식 저장소 Mermaid 시퀀스 렌더","caption":"Ruuter → Resql의 매개변수 검증·바인딩 → PostgreSQL","locator":"Common-Knowledge/ARCHITECTURE.md / Database Query Flow","sourceUrl":"https://github.com/buerokratt/Common-Knowledge/blob/main/ARCHITECTURE.md","sourceType":"mermaid","checked":"2026-10-16","sha256":"4c5c039a7109ebfecb9d0f236a4b191af971af62a672ab74e47f4bec36a32413","explanation":{"read":"공식 Mermaid 시퀀스를 렌더링한 정형 질의 경로. Ruuter가 이름 있는 질의를 Resql에 전달하고, Resql이 SQL 파일·메타데이터·매개변수를 검증한 뒤 PostgreSQL을 조회하여 형식화된 JSON을 반환한다.","requirements":[],"connection":"TS 업무시스템 조회 시 생성 모델이 임의 SQL을 작성·실행하는 경로와 승인된 질의 계약을 구분하고 입력 매개변수·결과 형식을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{"caseId":"PF07","path":"assets/casebook-sources/PF07-03.png","title":"Bürokratt 공식 콘텐츠 수집 흐름","status":"공식 저장소 Mermaid 시퀀스 렌더","caption":"출처 설정 → 수집 → 원본 저장·메타데이터 → 정제·상태 갱신","locator":"Common-Knowledge/ARCHITECTURE.md / Content Ingestion Pipeline","sourceUrl":"https://github.com/buerokratt/Common-Knowledge/blob/main/ARCHITECTURE.md","sourceType":"mermaid","checked":"2026-10-16","sha256":"a533875bb4e31c3d18fd48336358d1cb2d0c6f35a63adab7c789ef72732ec198","explanation":{"read":"공식 Mermaid 시퀀스를 렌더링한 콘텐츠 수집 경로. 출처 설정 이후 Scrapper가 원본과 메타데이터를 저장하고 Cleaning이 정제 텍스트와 처리 상태를 갱신한다. 공개된 도면의 수집·정제 경계를 그대로 유지했다.","requirements":[],"connection":"TS 규정·안내 자료의 원본·판본·정제 상태·색인 반영을 분리해 추적하고 갱신 실패 시 해당 원천만 재처리하도록 하는 적용 설계."}}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a:p xmlns:a="http://schemas.openxmlformats.org/drawingml/2006/main">
            <a:r>
              <a:t>원문 도면 {"caseId":"PF07","path":"assets/casebook-sources/PF07-04.png","title":"Bürokratt 파일 업로드 흐름","status":"공식 저장소 Mermaid 시퀀스 렌더","caption":"업로드 URL 발급 → 저장 → 파일 처리·메타데이터 등록","locator":"Common-Knowledge/ARCHITECTURE.md / File Upload Pipeline","sourceUrl":"https://github.com/buerokratt/Common-Knowledge/blob/main/ARCHITECTURE.md","sourceType":"mermaid","checked":"2026-10-16","sha256":"aedf90f3fcf44725fe2d56af59b040cd474826f76efe9bccdf3c712deec9a077","explanation":{"read":"공식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한다.","requirements":[],"connection":"TS 직원 문서 반입에서는 업로드 URL·원본 저장·메타데이터 등록 이후 권한 승인·악성코드 검사·색인 반영을 별도 검수 항목으로 연결한다."}}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"PF07",</a:t>
            </a:r>
          </a:p>
          <a:p xmlns:a="http://schemas.openxmlformats.org/drawingml/2006/main">
            <a:r>
              <a:t>    "sourceId": "A11",</a:t>
            </a:r>
          </a:p>
          <a:p xmlns:a="http://schemas.openxmlformats.org/drawingml/2006/main">
            <a:r>
              <a:t>    "title": "에스토니아 Bürokratt",</a:t>
            </a:r>
          </a:p>
          <a:p xmlns:a="http://schemas.openxmlformats.org/drawingml/2006/main">
            <a:r>
              <a:t>    "region": "해외",</a:t>
            </a:r>
          </a:p>
          <a:p xmlns:a="http://schemas.openxmlformats.org/drawingml/2006/main">
            <a:r>
              <a:t>    "owner": "RIA·참여 기관",</a:t>
            </a:r>
          </a:p>
          <a:p xmlns:a="http://schemas.openxmlformats.org/drawingml/2006/main">
            <a:r>
              <a:t>    "state": "다기관 안내 운영",</a:t>
            </a:r>
          </a:p>
          <a:p xmlns:a="http://schemas.openxmlformats.org/drawingml/2006/main">
            <a:r>
              <a:t>    "period": "열람 2026.10",</a:t>
            </a:r>
          </a:p>
          <a:p xmlns:a="http://schemas.openxmlformats.org/drawingml/2006/main">
            <a:r>
              <a:t>    "fact": "기관별 안내 지식과 상담원 연결을 공동 기반으로 제공",</a:t>
            </a:r>
          </a:p>
          <a:p xmlns:a="http://schemas.openxmlformats.org/drawingml/2006/main">
            <a:r>
              <a:t>    "limit": "운영기관 목록 확인 · 자율 행정 처리나 최신 LLM 스택의 근거와 구분",</a:t>
            </a:r>
          </a:p>
          <a:p xmlns:a="http://schemas.openxmlformats.org/drawingml/2006/main">
            <a:r>
              <a:t>    "nodes": [</a:t>
            </a:r>
          </a:p>
          <a:p xmlns:a="http://schemas.openxmlformats.org/drawingml/2006/main">
            <a:r>
              <a:t>      "자연어 질문",</a:t>
            </a:r>
          </a:p>
          <a:p xmlns:a="http://schemas.openxmlformats.org/drawingml/2006/main">
            <a:r>
              <a:t>      "기관별 안내 지식",</a:t>
            </a:r>
          </a:p>
          <a:p xmlns:a="http://schemas.openxmlformats.org/drawingml/2006/main">
            <a:r>
              <a:t>      "공통 대화 서비스",</a:t>
            </a:r>
          </a:p>
          <a:p xmlns:a="http://schemas.openxmlformats.org/drawingml/2006/main">
            <a:r>
              <a:t>      "해결·상담원 연결"</a:t>
            </a:r>
          </a:p>
          <a:p xmlns:a="http://schemas.openxmlformats.org/drawingml/2006/main">
            <a:r>
              <a:t>    ],</a:t>
            </a:r>
          </a:p>
          <a:p xmlns:a="http://schemas.openxmlformats.org/drawingml/2006/main">
            <a:r>
              <a:t>    "apply": "민원 안내의 끝점을 담당기관·상담원 수신과 해결 여부까지 확장",</a:t>
            </a:r>
          </a:p>
          <a:p xmlns:a="http://schemas.openxmlformats.org/drawingml/2006/main">
            <a:r>
              <a:t>    "delta": "관할·복수부서·개인정보 경계 및 인계 수락 상태",</a:t>
            </a:r>
          </a:p>
          <a:p xmlns:a="http://schemas.openxmlformats.org/drawingml/2006/main">
            <a:r>
              <a:t>    "test": "미해결·관할외·복수부서 문의의 상담 전환 완료 검증",</a:t>
            </a:r>
          </a:p>
          <a:p xmlns:a="http://schemas.openxmlformats.org/drawingml/2006/main">
            <a:r>
              <a:t>    "url": "https://ria.ee/en/state-information-system/artificial-intelligence/burokratt",</a:t>
            </a:r>
          </a:p>
          <a:p xmlns:a="http://schemas.openxmlformats.org/drawingml/2006/main">
            <a:r>
              <a:t>    "basis": "운영기관 서비스 소개",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"https://ria.ee/en/state-information-system/artificial-intelligence/burokratt"</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"PF07",</a:t>
            </a:r>
          </a:p>
          <a:p xmlns:a="http://schemas.openxmlformats.org/drawingml/2006/main">
            <a:r>
              <a:t>    "canonicalId": "PF07",</a:t>
            </a:r>
          </a:p>
          <a:p xmlns:a="http://schemas.openxmlformats.org/drawingml/2006/main">
            <a:r>
              <a:t>    "purpose": "기관 안내와 상담 연결의 공동 서비스",</a:t>
            </a:r>
          </a:p>
          <a:p xmlns:a="http://schemas.openxmlformats.org/drawingml/2006/main">
            <a:r>
              <a:t>    "users": "국민·상담원·기관 지식 담당",</a:t>
            </a:r>
          </a:p>
          <a:p xmlns:a="http://schemas.openxmlformats.org/drawingml/2006/main">
            <a:r>
              <a:t>    "scope": [</a:t>
            </a:r>
          </a:p>
          <a:p xmlns:a="http://schemas.openxmlformats.org/drawingml/2006/main">
            <a:r>
              <a:t>      "공동 대화",</a:t>
            </a:r>
          </a:p>
          <a:p xmlns:a="http://schemas.openxmlformats.org/drawingml/2006/main">
            <a:r>
              <a:t>      "기관 안내",</a:t>
            </a:r>
          </a:p>
          <a:p xmlns:a="http://schemas.openxmlformats.org/drawingml/2006/main">
            <a:r>
              <a:t>      "상담원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"이용자 대화",</a:t>
            </a:r>
          </a:p>
          <a:p xmlns:a="http://schemas.openxmlformats.org/drawingml/2006/main">
            <a:r>
              <a:t>        "detail": "문의 의도·소관기관·대화 맥락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"공동 대화 / 기관 안내 / 상담원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"Bürokratt 공동 대화",</a:t>
            </a:r>
          </a:p>
          <a:p xmlns:a="http://schemas.openxmlformats.org/drawingml/2006/main">
            <a:r>
              <a:t>        "detail": "기관 지식 탐색과 상담 전환 분기",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"상담원·기관 담당",</a:t>
            </a:r>
          </a:p>
          <a:p xmlns:a="http://schemas.openxmlformats.org/drawingml/2006/main">
            <a:r>
              <a:t>        "detail": "안내 응답 또는 대화 맥락을 포함한 상담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"기관 안내 지식",</a:t>
            </a:r>
          </a:p>
          <a:p xmlns:a="http://schemas.openxmlformats.org/drawingml/2006/main">
            <a:r>
              <a:t>        "detail": "기관 안내·FAQ·담당 창구의 갱신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"이관 수신·미해결 질의·지식 갱신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"자연어 질문",</a:t>
            </a:r>
          </a:p>
          <a:p xmlns:a="http://schemas.openxmlformats.org/drawingml/2006/main">
            <a:r>
              <a:t>        "input": "문의 의도·소관기관·대화 맥락 확인",</a:t>
            </a:r>
          </a:p>
          <a:p xmlns:a="http://schemas.openxmlformats.org/drawingml/2006/main">
            <a:r>
              <a:t>        "process": "기관 안내·FAQ·담당 창구의 갱신 관리",</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"title": "기관별 안내 지식",</a:t>
            </a:r>
          </a:p>
          <a:p xmlns:a="http://schemas.openxmlformats.org/drawingml/2006/main">
            <a:r>
              <a:t>        "input": "자연어 질문",</a:t>
            </a:r>
          </a:p>
          <a:p xmlns:a="http://schemas.openxmlformats.org/drawingml/2006/main">
            <a:r>
              <a:t>        "process": "기관 지식 탐색과 상담 전환 분기",</a:t>
            </a:r>
          </a:p>
          <a:p xmlns:a="http://schemas.openxmlformats.org/drawingml/2006/main">
            <a:r>
              <a:t>        "output": "소관·안내 근거"</a:t>
            </a:r>
          </a:p>
          <a:p xmlns:a="http://schemas.openxmlformats.org/drawingml/2006/main">
            <a:r>
              <a:t>      },</a:t>
            </a:r>
          </a:p>
          <a:p xmlns:a="http://schemas.openxmlformats.org/drawingml/2006/main">
            <a:r>
              <a:t>      {</a:t>
            </a:r>
          </a:p>
          <a:p xmlns:a="http://schemas.openxmlformats.org/drawingml/2006/main">
            <a:r>
              <a:t>        "title": "공통 대화 서비스",</a:t>
            </a:r>
          </a:p>
          <a:p xmlns:a="http://schemas.openxmlformats.org/drawingml/2006/main">
            <a:r>
              <a:t>        "input": "소관·안내 근거",</a:t>
            </a:r>
          </a:p>
          <a:p xmlns:a="http://schemas.openxmlformats.org/drawingml/2006/main">
            <a:r>
              <a:t>        "process": "인계 대상·대화 맥락·수신 확인",</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"title": "해결·상담원 연결",</a:t>
            </a:r>
          </a:p>
          <a:p xmlns:a="http://schemas.openxmlformats.org/drawingml/2006/main">
            <a:r>
              <a:t>        "input": "대화 응답",</a:t>
            </a:r>
          </a:p>
          <a:p xmlns:a="http://schemas.openxmlformats.org/drawingml/2006/main">
            <a:r>
              <a:t>        "process":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"기관 안내 후 해결이 어려운 문의를 상담원에게 인계",</a:t>
            </a:r>
          </a:p>
          <a:p xmlns:a="http://schemas.openxmlformats.org/drawingml/2006/main">
            <a:r>
              <a:t>      "exception": "소관 불명확·상담원 부재·대화 맥락 누락",</a:t>
            </a:r>
          </a:p>
          <a:p xmlns:a="http://schemas.openxmlformats.org/drawingml/2006/main">
            <a:r>
              <a:t>      "evidence": "기관 선택·인계 내용·수신·해결 여부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"국민·상담원·기관 지식 담당",</a:t>
            </a:r>
          </a:p>
          <a:p xmlns:a="http://schemas.openxmlformats.org/drawingml/2006/main">
            <a:r>
              <a:t>          "processing": "문의 의도·소관기관·대화 맥락 확인",</a:t>
            </a:r>
          </a:p>
          <a:p xmlns:a="http://schemas.openxmlformats.org/drawingml/2006/main">
            <a:r>
              <a:t>          "output": "자연어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"기관 안내 지식",</a:t>
            </a:r>
          </a:p>
          <a:p xmlns:a="http://schemas.openxmlformats.org/drawingml/2006/main">
            <a:r>
              <a:t>          "processing": "기관 안내·FAQ·담당 창구의 갱신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"자연어 질문",</a:t>
            </a:r>
          </a:p>
          <a:p xmlns:a="http://schemas.openxmlformats.org/drawingml/2006/main">
            <a:r>
              <a:t>          "processing": "기관 지식 탐색과 상담 전환 분기",</a:t>
            </a:r>
          </a:p>
          <a:p xmlns:a="http://schemas.openxmlformats.org/drawingml/2006/main">
            <a:r>
              <a:t>          "output": "대화 응답"</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"대화 응답",</a:t>
            </a:r>
          </a:p>
          <a:p xmlns:a="http://schemas.openxmlformats.org/drawingml/2006/main">
            <a:r>
              <a:t>          "processing": "안내 응답 또는 대화 맥락을 포함한 상담 인계",</a:t>
            </a:r>
          </a:p>
          <a:p xmlns:a="http://schemas.openxmlformats.org/drawingml/2006/main">
            <a:r>
              <a:t>          "output": "상담 인계"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"이관 수신·미해결 질의·지식 갱신 확인",</a:t>
            </a:r>
          </a:p>
          <a:p xmlns:a="http://schemas.openxmlformats.org/drawingml/2006/main">
            <a:r>
              <a:t>          "output": "기관 선택·인계 내용·수신·해결 여부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"이관 수신·미해결 질의·지식 갱신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"운영기관 서비스 소개",</a:t>
            </a:r>
          </a:p>
          <a:p xmlns:a="http://schemas.openxmlformats.org/drawingml/2006/main">
            <a:r>
              <a:t>        "url": "https://ria.ee/en/state-information-system/artificial-intelligence/burokratt"</a:t>
            </a:r>
          </a:p>
          <a:p xmlns:a="http://schemas.openxmlformats.org/drawingml/2006/main">
            <a:r>
              <a:t>      }</a:t>
            </a:r>
          </a:p>
          <a:p xmlns:a="http://schemas.openxmlformats.org/drawingml/2006/main">
            <a:r>
              <a:t>    ],</a:t>
            </a:r>
          </a:p>
          <a:p xmlns:a="http://schemas.openxmlformats.org/drawingml/2006/main">
            <a:r>
              <a:t>    "implication": "민원 안내의 끝점을 담당기관·상담원 수신과 해결 여부까지 확장",</a:t>
            </a:r>
          </a:p>
          <a:p xmlns:a="http://schemas.openxmlformats.org/drawingml/2006/main">
            <a:r>
              <a:t>    "local": "민원 안내의 끝점을 담당기관·상담원 수신과 해결 여부까지 확장",</a:t>
            </a:r>
          </a:p>
          <a:p xmlns:a="http://schemas.openxmlformats.org/drawingml/2006/main">
            <a:r>
              <a:t>    "sourceDetail": null,</a:t>
            </a:r>
          </a:p>
          <a:p xmlns:a="http://schemas.openxmlformats.org/drawingml/2006/main">
            <a:r>
              <a:t>    "narrative": [</a:t>
            </a:r>
          </a:p>
          <a:p xmlns:a="http://schemas.openxmlformats.org/drawingml/2006/main">
            <a:r>
              <a:t>      "에스토니아 Bürokratt의 기관 간 대화형 안내·상담 연계 사례. 질문이 한 기관 안에서 해결되지 않는 경우 소관 기관과 상담 경로를 연결하는 서비스 목표.",</a:t>
            </a:r>
          </a:p>
          <a:p xmlns:a="http://schemas.openxmlformats.org/drawingml/2006/main">
            <a:r>
              <a:t>      "공개 Common Knowledge 구성은 수집·정제·파일 처리·스케줄러·내보내기와 Ruuter·Resql·저장소로 구성된 지식 기반 영역. 수집 설정에서 원시 자료·메타데이터 저장, 텍스트 정제와 처리 상태 관리로 이어지는 흐름이며 전체 상담 엔진과는 별도 범위.",</a:t>
            </a:r>
          </a:p>
          <a:p xmlns:a="http://schemas.openxmlformats.org/drawingml/2006/main">
            <a:r>
              <a:t>      "TS 대국민 업무에서는 답변 생성보다 관할 부서 인계와 접수 완료까지의 책임 연결이 중요. 기관 지식 갱신 주기와 상담 수신 여부를 관리하고 이관 실패·담당 부서 변경·중복 접수의 복구 경로를 검수 대상으로 설정."</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"국민 대화 접점",</a:t>
            </a:r>
          </a:p>
          <a:p xmlns:a="http://schemas.openxmlformats.org/drawingml/2006/main">
            <a:r>
              <a:t>          "layer": "이용 접점",</a:t>
            </a:r>
          </a:p>
          <a:p xmlns:a="http://schemas.openxmlformats.org/drawingml/2006/main">
            <a:r>
              <a:t>          "detail": "국민·상담원·기관 지식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"의도·소관기관",</a:t>
            </a:r>
          </a:p>
          <a:p xmlns:a="http://schemas.openxmlformats.org/drawingml/2006/main">
            <a:r>
              <a:t>          "layer": "업무 문맥",</a:t>
            </a:r>
          </a:p>
          <a:p xmlns:a="http://schemas.openxmlformats.org/drawingml/2006/main">
            <a:r>
              <a:t>          "detail": "문의 의도·소관기관·대화 맥락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"Resql·지식 조회",</a:t>
            </a:r>
          </a:p>
          <a:p xmlns:a="http://schemas.openxmlformats.org/drawingml/2006/main">
            <a:r>
              <a:t>          "layer": "자료 조회",</a:t>
            </a:r>
          </a:p>
          <a:p xmlns:a="http://schemas.openxmlformats.org/drawingml/2006/main">
            <a:r>
              <a:t>          "detail": "자연어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"Ruuter 대화 라우팅",</a:t>
            </a:r>
          </a:p>
          <a:p xmlns:a="http://schemas.openxmlformats.org/drawingml/2006/main">
            <a:r>
              <a:t>          "layer": "핵심 처리",</a:t>
            </a:r>
          </a:p>
          <a:p xmlns:a="http://schemas.openxmlformats.org/drawingml/2006/main">
            <a:r>
              <a:t>          "detail": "기관 지식 탐색과 상담 전환 분기",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"미해결·소관 검사",</a:t>
            </a:r>
          </a:p>
          <a:p xmlns:a="http://schemas.openxmlformats.org/drawingml/2006/main">
            <a:r>
              <a:t>          "layer": "결과 검증",</a:t>
            </a:r>
          </a:p>
          <a:p xmlns:a="http://schemas.openxmlformats.org/drawingml/2006/main">
            <a:r>
              <a:t>          "detail": "인계 대상·대화 맥락·수신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"상담원 확인",</a:t>
            </a:r>
          </a:p>
          <a:p xmlns:a="http://schemas.openxmlformats.org/drawingml/2006/main">
            <a:r>
              <a:t>          "layer": "사람 확인",</a:t>
            </a:r>
          </a:p>
          <a:p xmlns:a="http://schemas.openxmlformats.org/drawingml/2006/main">
            <a:r>
              <a:t>          "detail": "기관 안내 후 해결이 어려운 문의를 상담원에게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"맥락 포함 인계",</a:t>
            </a:r>
          </a:p>
          <a:p xmlns:a="http://schemas.openxmlformats.org/drawingml/2006/main">
            <a:r>
              <a:t>          "layer": "업무 연결",</a:t>
            </a:r>
          </a:p>
          <a:p xmlns:a="http://schemas.openxmlformats.org/drawingml/2006/main">
            <a:r>
              <a:t>          "detail": "안내 응답 또는 대화 맥락을 포함한 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"수신·해결 추적",</a:t>
            </a:r>
          </a:p>
          <a:p xmlns:a="http://schemas.openxmlformats.org/drawingml/2006/main">
            <a:r>
              <a:t>          "layer": "운영 관측",</a:t>
            </a:r>
          </a:p>
          <a:p xmlns:a="http://schemas.openxmlformats.org/drawingml/2006/main">
            <a:r>
              <a:t>          "detail": "이관 수신·미해결 질의·지식 갱신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"공식 웹·API",</a:t>
            </a:r>
          </a:p>
          <a:p xmlns:a="http://schemas.openxmlformats.org/drawingml/2006/main">
            <a:r>
              <a:t>          "layer": "데이터 원천",</a:t>
            </a:r>
          </a:p>
          <a:p xmlns:a="http://schemas.openxmlformats.org/drawingml/2006/main">
            <a:r>
              <a:t>          "detail": "기관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"수집·정제·갱신",</a:t>
            </a:r>
          </a:p>
          <a:p xmlns:a="http://schemas.openxmlformats.org/drawingml/2006/main">
            <a:r>
              <a:t>          "layer": "준비·갱신",</a:t>
            </a:r>
          </a:p>
          <a:p xmlns:a="http://schemas.openxmlformats.org/drawingml/2006/main">
            <a:r>
              <a:t>          "detail": "기관 안내·FAQ·담당 창구의 갱신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"PostgreSQL·S3 이력",</a:t>
            </a:r>
          </a:p>
          <a:p xmlns:a="http://schemas.openxmlformats.org/drawingml/2006/main">
            <a:r>
              <a:t>          "layer": "상태·지식 저장",</a:t>
            </a:r>
          </a:p>
          <a:p xmlns:a="http://schemas.openxmlformats.org/drawingml/2006/main">
            <a:r>
              <a:t>          "detail": "기관 선택·인계 내용·수신·해결 여부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"기관·상담 권한",</a:t>
            </a:r>
          </a:p>
          <a:p xmlns:a="http://schemas.openxmlformats.org/drawingml/2006/main">
            <a:r>
              <a:t>          "layer": "권한·정책",</a:t>
            </a:r>
          </a:p>
          <a:p xmlns:a="http://schemas.openxmlformats.org/drawingml/2006/main">
            <a:r>
              <a:t>          "detail": "소관 불명확·상담원 부재·대화 맥락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"자연어 질문 → 기관별 안내 지식 → 공통 대화 서비스 → 해결·상담원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"문의 의도·소관기관·대화 맥락 확인",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"자연어 질문",</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"기관 안내 지식",</a:t>
            </a:r>
          </a:p>
          <a:p xmlns:a="http://schemas.openxmlformats.org/drawingml/2006/main">
            <a:r>
              <a:t>          "check": "기관 안내·FAQ·담당 창구의 갱신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"대화 응답",</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"상담 인계",</a:t>
            </a:r>
          </a:p>
          <a:p xmlns:a="http://schemas.openxmlformats.org/drawingml/2006/main">
            <a:r>
              <a:t>          "check": "기관 선택·인계 내용·수신·해결 여부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"Common-Knowledge ARCHITECTURE.md",</a:t>
            </a:r>
          </a:p>
          <a:p xmlns:a="http://schemas.openxmlformats.org/drawingml/2006/main">
            <a:r>
              <a:t>        "extracted": "Ruuter·Resql·수집/정제/파일처리·PostgreSQL·S3 지식 계층",</a:t>
            </a:r>
          </a:p>
          <a:p xmlns:a="http://schemas.openxmlformats.org/drawingml/2006/main">
            <a:r>
              <a:t>        "extension": "공동 지식 계층과 상담 이관의 서비스 연결 설계"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"PF07",</a:t>
            </a:r>
          </a:p>
          <a:p xmlns:a="http://schemas.openxmlformats.org/drawingml/2006/main">
            <a:r>
              <a:t>          "path": "assets/casebook-sources/PF07-01.png",</a:t>
            </a:r>
          </a:p>
          <a:p xmlns:a="http://schemas.openxmlformats.org/drawingml/2006/main">
            <a:r>
              <a:t>          "title": "Bürokratt 지식 기반 전체 구조",</a:t>
            </a:r>
          </a:p>
          <a:p xmlns:a="http://schemas.openxmlformats.org/drawingml/2006/main">
            <a:r>
              <a:t>          "status": "공식 저장소 Mermaid 구성도 렌더",</a:t>
            </a:r>
          </a:p>
          <a:p xmlns:a="http://schemas.openxmlformats.org/drawingml/2006/main">
            <a:r>
              <a:t>          "caption": "Ruuter·Resql·수집/정제/파일처리·PostgreSQL·S3 계층",</a:t>
            </a:r>
          </a:p>
          <a:p xmlns:a="http://schemas.openxmlformats.org/drawingml/2006/main">
            <a:r>
              <a:t>          "locator": "Common-Knowledge/ARCHITECTURE.md / High-Level Architecture",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"5b5d6850ad0bc4b47aed02003c3a77c2ed5bbd2308555d80e3b25feb249ec66d",</a:t>
            </a:r>
          </a:p>
          <a:p xmlns:a="http://schemas.openxmlformats.org/drawingml/2006/main">
            <a:r>
              <a:t>          "explanation": {</a:t>
            </a:r>
          </a:p>
          <a:p xmlns:a="http://schemas.openxmlformats.org/drawingml/2006/main">
            <a:r>
              <a:t>            "read": "에스토니아 Bürokratt Common Knowledge의 공식 저장소 Mermaid 구성도를 그대로 렌더링한 이미지. 외부·내부 Ruuter, Resql, 수집·정제·파일처리·일정·내보내기 서비스와 PostgreSQL·S3 저장 계층의 의존관계를 보여 준다. 이 도면은 공동 지식 기반의 구성으로, 전체 대화 서비스의 모든 운영 배치를 뜻하지 않는다.",</a:t>
            </a:r>
          </a:p>
          <a:p xmlns:a="http://schemas.openxmlformats.org/drawingml/2006/main">
            <a:r>
              <a:t>            "requirements": [],</a:t>
            </a:r>
          </a:p>
          <a:p xmlns:a="http://schemas.openxmlformats.org/drawingml/2006/main">
            <a:r>
              <a:t>            "connection": "TS 대민 상담의 공통 지식 수집·정제·조회 계층과 소관 부서별 업무 인계 계층을 분리해 설계할 때 참고할 원본 구조."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"assets/casebook-sources/PF07-02.png",</a:t>
            </a:r>
          </a:p>
          <a:p xmlns:a="http://schemas.openxmlformats.org/drawingml/2006/main">
            <a:r>
              <a:t>          "title": "Bürokratt 정형 질의 흐름",</a:t>
            </a:r>
          </a:p>
          <a:p xmlns:a="http://schemas.openxmlformats.org/drawingml/2006/main">
            <a:r>
              <a:t>          "status": "공식 저장소 Mermaid 시퀀스 렌더",</a:t>
            </a:r>
          </a:p>
          <a:p xmlns:a="http://schemas.openxmlformats.org/drawingml/2006/main">
            <a:r>
              <a:t>          "caption": "Ruuter → Resql의 매개변수 검증·바인딩 → PostgreSQL",</a:t>
            </a:r>
          </a:p>
          <a:p xmlns:a="http://schemas.openxmlformats.org/drawingml/2006/main">
            <a:r>
              <a:t>          "locator": "Common-Knowledge/ARCHITECTURE.md / Database Query Flow",</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"4c5c039a7109ebfecb9d0f236a4b191af971af62a672ab74e47f4bec36a32413",</a:t>
            </a:r>
          </a:p>
          <a:p xmlns:a="http://schemas.openxmlformats.org/drawingml/2006/main">
            <a:r>
              <a:t>          "explanation": {</a:t>
            </a:r>
          </a:p>
          <a:p xmlns:a="http://schemas.openxmlformats.org/drawingml/2006/main">
            <a:r>
              <a:t>            "read": "공식 Mermaid 시퀀스를 렌더링한 정형 질의 경로. Ruuter가 이름 있는 질의를 Resql에 전달하고, Resql이 SQL 파일·메타데이터·매개변수를 검증한 뒤 PostgreSQL을 조회하여 형식화된 JSON을 반환한다.",</a:t>
            </a:r>
          </a:p>
          <a:p xmlns:a="http://schemas.openxmlformats.org/drawingml/2006/main">
            <a:r>
              <a:t>            "requirements": [],</a:t>
            </a:r>
          </a:p>
          <a:p xmlns:a="http://schemas.openxmlformats.org/drawingml/2006/main">
            <a:r>
              <a:t>            "connection": "TS 업무시스템 조회 시 생성 모델이 임의 SQL을 작성·실행하는 경로와 승인된 질의 계약을 구분하고 입력 매개변수·결과 형식을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"assets/casebook-sources/PF07-03.png",</a:t>
            </a:r>
          </a:p>
          <a:p xmlns:a="http://schemas.openxmlformats.org/drawingml/2006/main">
            <a:r>
              <a:t>          "title": "Bürokratt 공식 콘텐츠 수집 흐름",</a:t>
            </a:r>
          </a:p>
          <a:p xmlns:a="http://schemas.openxmlformats.org/drawingml/2006/main">
            <a:r>
              <a:t>          "status": "공식 저장소 Mermaid 시퀀스 렌더",</a:t>
            </a:r>
          </a:p>
          <a:p xmlns:a="http://schemas.openxmlformats.org/drawingml/2006/main">
            <a:r>
              <a:t>          "caption": "출처 설정 → 수집 → 원본 저장·메타데이터 → 정제·상태 갱신",</a:t>
            </a:r>
          </a:p>
          <a:p xmlns:a="http://schemas.openxmlformats.org/drawingml/2006/main">
            <a:r>
              <a:t>          "locator": "Common-Knowledge/ARCHITECTURE.md / Content Ingestion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"a533875bb4e31c3d18fd48336358d1cb2d0c6f35a63adab7c789ef72732ec198",</a:t>
            </a:r>
          </a:p>
          <a:p xmlns:a="http://schemas.openxmlformats.org/drawingml/2006/main">
            <a:r>
              <a:t>          "explanation": {</a:t>
            </a:r>
          </a:p>
          <a:p xmlns:a="http://schemas.openxmlformats.org/drawingml/2006/main">
            <a:r>
              <a:t>            "read": "공식 Mermaid 시퀀스를 렌더링한 콘텐츠 수집 경로. 출처 설정 이후 Scrapper가 원본과 메타데이터를 저장하고 Cleaning이 정제 텍스트와 처리 상태를 갱신한다. 공개된 도면의 수집·정제 경계를 그대로 유지했다.",</a:t>
            </a:r>
          </a:p>
          <a:p xmlns:a="http://schemas.openxmlformats.org/drawingml/2006/main">
            <a:r>
              <a:t>            "requirements": [],</a:t>
            </a:r>
          </a:p>
          <a:p xmlns:a="http://schemas.openxmlformats.org/drawingml/2006/main">
            <a:r>
              <a:t>            "connection": "TS 규정·안내 자료의 원본·판본·정제 상태·색인 반영을 분리해 추적하고 갱신 실패 시 해당 원천만 재처리하도록 하는 적용 설계."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"PF07",</a:t>
            </a:r>
          </a:p>
          <a:p xmlns:a="http://schemas.openxmlformats.org/drawingml/2006/main">
            <a:r>
              <a:t>          "path": "assets/casebook-sources/PF07-04.png",</a:t>
            </a:r>
          </a:p>
          <a:p xmlns:a="http://schemas.openxmlformats.org/drawingml/2006/main">
            <a:r>
              <a:t>          "title": "Bürokratt 파일 업로드 흐름",</a:t>
            </a:r>
          </a:p>
          <a:p xmlns:a="http://schemas.openxmlformats.org/drawingml/2006/main">
            <a:r>
              <a:t>          "status": "공식 저장소 Mermaid 시퀀스 렌더",</a:t>
            </a:r>
          </a:p>
          <a:p xmlns:a="http://schemas.openxmlformats.org/drawingml/2006/main">
            <a:r>
              <a:t>          "caption": "업로드 URL 발급 → 저장 → 파일 처리·메타데이터 등록",</a:t>
            </a:r>
          </a:p>
          <a:p xmlns:a="http://schemas.openxmlformats.org/drawingml/2006/main">
            <a:r>
              <a:t>          "locator": "Common-Knowledge/ARCHITECTURE.md / File Upload Pipeline",</a:t>
            </a:r>
          </a:p>
          <a:p xmlns:a="http://schemas.openxmlformats.org/drawingml/2006/main">
            <a:r>
              <a:t>          "sourceUrl": "https://github.com/buerokratt/Common-Knowledge/blob/main/ARCHITECTURE.md",</a:t>
            </a:r>
          </a:p>
          <a:p xmlns:a="http://schemas.openxmlformats.org/drawingml/2006/main">
            <a:r>
              <a:t>          "sourceType": "mermaid",</a:t>
            </a:r>
          </a:p>
          <a:p xmlns:a="http://schemas.openxmlformats.org/drawingml/2006/main">
            <a:r>
              <a:t>          "checked": "2026-10-16",</a:t>
            </a:r>
          </a:p>
          <a:p xmlns:a="http://schemas.openxmlformats.org/drawingml/2006/main">
            <a:r>
              <a:t>          "sha256": "aedf90f3fcf44725fe2d56af59b040cd474826f76efe9bccdf3c712deec9a077",</a:t>
            </a:r>
          </a:p>
          <a:p xmlns:a="http://schemas.openxmlformats.org/drawingml/2006/main">
            <a:r>
              <a:t>          "explanation": {</a:t>
            </a:r>
          </a:p>
          <a:p xmlns:a="http://schemas.openxmlformats.org/drawingml/2006/main">
            <a:r>
              <a:t>            "read": "공식 Mermaid 시퀀스를 렌더링한 파일 업로드 경로. File Processing이 업로드 URL을 발급하고 GUI가 저장소에 파일을 보낸 뒤 Scrapper가 메타데이터를 등록하는 순서이다. 도면에 없는 승인·보안 검사는 추가 설계 대상으로 분리해야 한다.",</a:t>
            </a:r>
          </a:p>
          <a:p xmlns:a="http://schemas.openxmlformats.org/drawingml/2006/main">
            <a:r>
              <a:t>            "requirements": [],</a:t>
            </a:r>
          </a:p>
          <a:p xmlns:a="http://schemas.openxmlformats.org/drawingml/2006/main">
            <a:r>
              <a:t>            "connection": "TS 직원 문서 반입에서는 업로드 URL·원본 저장·메타데이터 등록 이후 권한 승인·악성코드 검사·색인 반영을 별도 검수 항목으로 연결한다."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a:t>
            </a:r>
          </a:p>
          <a:p xmlns:a="http://schemas.openxmlformats.org/drawingml/2006/main">
            <a:r>
              <a:t>        "title": "Bürokratt Common Knowledge · 공식 아키텍처",</a:t>
            </a:r>
          </a:p>
          <a:p xmlns:a="http://schemas.openxmlformats.org/drawingml/2006/main">
            <a:r>
              <a:t>        "url": "https://github.com/buerokratt/Common-Knowledge/blob/main/ARCHITECTURE.md"</a:t>
            </a:r>
          </a:p>
          <a:p xmlns:a="http://schemas.openxmlformats.org/drawingml/2006/main">
            <a:r>
              <a:t>      },</a:t>
            </a:r>
          </a:p>
          <a:p xmlns:a="http://schemas.openxmlformats.org/drawingml/2006/main">
            <a:r>
              <a:t>      "exception": {</a:t>
            </a:r>
          </a:p>
          <a:p xmlns:a="http://schemas.openxmlformats.org/drawingml/2006/main">
            <a:r>
              <a:t>        "input": "소관 불명확·상담원 부재·대화 맥락 누락",</a:t>
            </a:r>
          </a:p>
          <a:p xmlns:a="http://schemas.openxmlformats.org/drawingml/2006/main">
            <a:r>
              <a:t>        "hold": "인계 대상·대화 맥락·수신 확인",</a:t>
            </a:r>
          </a:p>
          <a:p xmlns:a="http://schemas.openxmlformats.org/drawingml/2006/main">
            <a:r>
              <a:t>        "recovery": "이관 수신·미해결 질의·지식 갱신 확인",</a:t>
            </a:r>
          </a:p>
          <a:p xmlns:a="http://schemas.openxmlformats.org/drawingml/2006/main">
            <a:r>
              <a:t>        "evidence": "기관 선택·인계 내용·수신·해결 여부 기록"</a:t>
            </a:r>
          </a:p>
          <a:p xmlns:a="http://schemas.openxmlformats.org/drawingml/2006/main">
            <a:r>
              <a:t>      },</a:t>
            </a:r>
          </a:p>
          <a:p xmlns:a="http://schemas.openxmlformats.org/drawingml/2006/main">
            <a:r>
              <a:t>      "data": {</a:t>
            </a:r>
          </a:p>
          <a:p xmlns:a="http://schemas.openxmlformats.org/drawingml/2006/main">
            <a:r>
              <a:t>        "source": "기관 안내 지식",</a:t>
            </a:r>
          </a:p>
          <a:p xmlns:a="http://schemas.openxmlformats.org/drawingml/2006/main">
            <a:r>
              <a:t>        "prepare": "기관 안내·FAQ·담당 창구의 갱신 관리",</a:t>
            </a:r>
          </a:p>
          <a:p xmlns:a="http://schemas.openxmlformats.org/drawingml/2006/main">
            <a:r>
              <a:t>        "output": "자연어 질문",</a:t>
            </a:r>
          </a:p>
          <a:p xmlns:a="http://schemas.openxmlformats.org/drawingml/2006/main">
            <a:r>
              <a:t>        "refresh": "이관 수신·미해결 질의·지식 갱신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"PF07",</a:t>
            </a:r>
          </a:p>
          <a:p xmlns:a="http://schemas.openxmlformats.org/drawingml/2006/main">
            <a:r>
              <a:t>    "success": [</a:t>
            </a:r>
          </a:p>
          <a:p xmlns:a="http://schemas.openxmlformats.org/drawingml/2006/main">
            <a:r>
              <a:t>      "기관 안내 지식의 공동 기반",</a:t>
            </a:r>
          </a:p>
          <a:p xmlns:a="http://schemas.openxmlformats.org/drawingml/2006/main">
            <a:r>
              <a:t>      "해결 불가 시 상담원 연결"</a:t>
            </a:r>
          </a:p>
          <a:p xmlns:a="http://schemas.openxmlformats.org/drawingml/2006/main">
            <a:r>
              <a:t>    ],</a:t>
            </a:r>
          </a:p>
          <a:p xmlns:a="http://schemas.openxmlformats.org/drawingml/2006/main">
            <a:r>
              <a:t>    "risks": [</a:t>
            </a:r>
          </a:p>
          <a:p xmlns:a="http://schemas.openxmlformats.org/drawingml/2006/main">
            <a:r>
              <a:t>      "기관 간 지식·소관 불일치",</a:t>
            </a:r>
          </a:p>
          <a:p xmlns:a="http://schemas.openxmlformats.org/drawingml/2006/main">
            <a:r>
              <a:t>      "안내와 접수·처리 완료의 혼동"</a:t>
            </a:r>
          </a:p>
          <a:p xmlns:a="http://schemas.openxmlformats.org/drawingml/2006/main">
            <a:r>
              <a:t>    ],</a:t>
            </a:r>
          </a:p>
          <a:p xmlns:a="http://schemas.openxmlformats.org/drawingml/2006/main">
            <a:r>
              <a:t>    "architecture": [</a:t>
            </a:r>
          </a:p>
          <a:p xmlns:a="http://schemas.openxmlformats.org/drawingml/2006/main">
            <a:r>
              <a:t>      "이용자 대화",</a:t>
            </a:r>
          </a:p>
          <a:p xmlns:a="http://schemas.openxmlformats.org/drawingml/2006/main">
            <a:r>
              <a:t>      "Bürokratt 공동 대화",</a:t>
            </a:r>
          </a:p>
          <a:p xmlns:a="http://schemas.openxmlformats.org/drawingml/2006/main">
            <a:r>
              <a:t>      "기관 안내 지식",</a:t>
            </a:r>
          </a:p>
          <a:p xmlns:a="http://schemas.openxmlformats.org/drawingml/2006/main">
            <a:r>
              <a:t>      "상담원·기관 담당"</a:t>
            </a:r>
          </a:p>
          <a:p xmlns:a="http://schemas.openxmlformats.org/drawingml/2006/main">
            <a:r>
              <a:t>    ],</a:t>
            </a:r>
          </a:p>
          <a:p xmlns:a="http://schemas.openxmlformats.org/drawingml/2006/main">
            <a:r>
              <a:t>    "transfers": [</a:t>
            </a:r>
          </a:p>
          <a:p xmlns:a="http://schemas.openxmlformats.org/drawingml/2006/main">
            <a:r>
              <a:t>      "자연어 질문",</a:t>
            </a:r>
          </a:p>
          <a:p xmlns:a="http://schemas.openxmlformats.org/drawingml/2006/main">
            <a:r>
              <a:t>      "소관·안내 근거",</a:t>
            </a:r>
          </a:p>
          <a:p xmlns:a="http://schemas.openxmlformats.org/drawingml/2006/main">
            <a:r>
              <a:t>      "대화 응답",</a:t>
            </a:r>
          </a:p>
          <a:p xmlns:a="http://schemas.openxmlformats.org/drawingml/2006/main">
            <a:r>
              <a:t>      "상담 인계"</a:t>
            </a:r>
          </a:p>
          <a:p xmlns:a="http://schemas.openxmlformats.org/drawingml/2006/main">
            <a:r>
              <a:t>    ],</a:t>
            </a:r>
          </a:p>
          <a:p xmlns:a="http://schemas.openxmlformats.org/drawingml/2006/main">
            <a:r>
              <a:t>    "control": "인계 대상·대화 맥락·수신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운영기관 서비스 소개 https://ria.ee/en/state-information-system/artificial-intelligence/burokratt</a:t>
            </a:r>
          </a:p>
          <a:p xmlns:a="http://schemas.openxmlformats.org/drawingml/2006/main">
            <a:r>
              <a:t>홈페이지 https://heen1987-ops.github.io/TS-business-Plan-001/index.html?view=platform-cases&amp;case=PF07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한계: 2026-03 시험: 모호한 질문은 추가 확인으로 개선, 개인자료 상담 연결 미지원. 범위 내 답변률88%, 평균응답10.7초. 정확도·답변률·앱 설문을 구분.</a:t>
            </a:r>
          </a:p>
          <a:p xmlns:a="http://schemas.openxmlformats.org/drawingml/2006/main">
            <a:r>
              <a:t>실패 위험: 지연·범위 밖 질문 / 안내 서비스를 행정 처리로 확대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원문 도면 {"caseId":"AX06","path":"assets/casebook-sources/AX06-01.png","title":"GOV.UK Chat 2025년 공개 베타 구성","status":"영국 정부 ATRS 공식 C4 아키텍처","caption":"앱·인증·Rails·Bedrock·OpenSearch·PostgreSQL·BigQuery의 운영 경계","locator":"DSIT ATRS 2025-10-07 / 4.1.1 System Architecture / August 2025 public beta","sourceUrl":"https://www.gov.uk/algorithmic-transparency-records/dsit-gov-dot-uk-chat","checked":"2026-10-16","sha256":"8efe82dfdfa8df7ee5312dd13369be76aaf53cb39df42957cad9be1de605fc25","explanation":{"read":"영국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없다.","requirements":[],"connection":"TS 대민 서비스에서는 로그인·공개 콘텐츠·대화 생성·품질 분석의 경계를 구분하고, 검색 원문과 응답·로그의 식별자 및 보존 정책을 별도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a:p xmlns:a="http://schemas.openxmlformats.org/drawingml/2006/main">
            <a:r>
              <a:t>원문 도면 {"caseId":"AX06","path":"assets/casebook-sources/AX06-02.png","title":"GOV.UK Chat 초기 파일럿 구성","status":"영국 정부 개발문서 초기 설계도","caption":"2023년 파일럿의 Rails·Redis·PostgreSQL·OpenAI·OpenSearch 계획. 2025년 운영 구성과 구분","locator":"govuk-chat ADR-0001 / Pilot Technical Architecture","sourceUrl":"https://docs.publishing.service.gov.uk/repos/govuk-chat/adr/0001-pilot-technical-architecture.html","checked":"2026-10-16","sha256":"220db41f02597aff9a66bca8744a6772cdc9190c34324538f7862519fb434fc2","explanation":{"read":"GOV.UK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된다.","requirements":[],"connection":"TS 고도화 시 파일럿과 운영 구성의 차이를 사례로 삼아 모델·인증·색인 교체 가능성을 인터페이스와 운영 이력에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"PF-A12",</a:t>
            </a:r>
          </a:p>
          <a:p xmlns:a="http://schemas.openxmlformats.org/drawingml/2006/main">
            <a:r>
              <a:t>    "sourceId": "A12",</a:t>
            </a:r>
          </a:p>
          <a:p xmlns:a="http://schemas.openxmlformats.org/drawingml/2006/main">
            <a:r>
              <a:t>    "title": "GOV.UK Chat",</a:t>
            </a:r>
          </a:p>
          <a:p xmlns:a="http://schemas.openxmlformats.org/drawingml/2006/main">
            <a:r>
              <a:t>    "region": "해외",</a:t>
            </a:r>
          </a:p>
          <a:p xmlns:a="http://schemas.openxmlformats.org/drawingml/2006/main">
            <a:r>
              <a:t>    "owner": "GDS / GOV.UK Chat",</a:t>
            </a:r>
          </a:p>
          <a:p xmlns:a="http://schemas.openxmlformats.org/drawingml/2006/main">
            <a:r>
              <a:t>    "state": "웹·앱 실증 평가 공개(2026-03)",</a:t>
            </a:r>
          </a:p>
          <a:p xmlns:a="http://schemas.openxmlformats.org/drawingml/2006/main">
            <a:r>
              <a:t>    "period": "기존 원장 확인 2026.10.16",</a:t>
            </a:r>
          </a:p>
          <a:p xmlns:a="http://schemas.openxmlformats.org/drawingml/2006/main">
            <a:r>
              <a:t>    "fact": "공통 지식 기반 대민 서비스",</a:t>
            </a:r>
          </a:p>
          <a:p xmlns:a="http://schemas.openxmlformats.org/drawingml/2006/main">
            <a:r>
              <a:t>    "limit": "2026-03 시험: 모호한 질문은 추가 확인으로 개선, 개인자료 상담 연결 미지원. 범위 내 답변률88%, 평균응답10.7초. 정확도·답변률·앱 설문을 구분.",</a:t>
            </a:r>
          </a:p>
          <a:p xmlns:a="http://schemas.openxmlformats.org/drawingml/2006/main">
            <a:r>
              <a:t>    "nodes": [</a:t>
            </a:r>
          </a:p>
          <a:p xmlns:a="http://schemas.openxmlformats.org/drawingml/2006/main">
            <a:r>
              <a:t>      "공식 공개 자료",</a:t>
            </a:r>
          </a:p>
          <a:p xmlns:a="http://schemas.openxmlformats.org/drawingml/2006/main">
            <a:r>
              <a:t>      "질문·범위 분류",</a:t>
            </a:r>
          </a:p>
          <a:p xmlns:a="http://schemas.openxmlformats.org/drawingml/2006/main">
            <a:r>
              <a:t>      "RAG 응답",</a:t>
            </a:r>
          </a:p>
          <a:p xmlns:a="http://schemas.openxmlformats.org/drawingml/2006/main">
            <a:r>
              <a:t>      "사용자 실증"</a:t>
            </a:r>
          </a:p>
          <a:p xmlns:a="http://schemas.openxmlformats.org/drawingml/2006/main">
            <a:r>
              <a:t>    ],</a:t>
            </a:r>
          </a:p>
          <a:p xmlns:a="http://schemas.openxmlformats.org/drawingml/2006/main">
            <a:r>
              <a:t>    "apply": "공개 지식의 출처 응답과 공식 신청 페이지를 연결하는 대민 접점",</a:t>
            </a:r>
          </a:p>
          <a:p xmlns:a="http://schemas.openxmlformats.org/drawingml/2006/main">
            <a:r>
              <a:t>    "delta": "발화 확인·준비서류·공식 메뉴·상담 연결",</a:t>
            </a:r>
          </a:p>
          <a:p xmlns:a="http://schemas.openxmlformats.org/drawingml/2006/main">
            <a:r>
              <a:t>    "test": "서비스 도달률·포기율의 기준선·비교 평가",</a:t>
            </a:r>
          </a:p>
          <a:p xmlns:a="http://schemas.openxmlformats.org/drawingml/2006/main">
            <a:r>
              <a:t>    "url": "https://insidegovuk.blog.gov.uk/2026/03/16/5-things-we-learned-testing-gov-uk-chat-an-ai-assistant-for-government/",</a:t>
            </a:r>
          </a:p>
          <a:p xmlns:a="http://schemas.openxmlformats.org/drawingml/2006/main">
            <a:r>
              <a:t>    "urls": [</a:t>
            </a:r>
          </a:p>
          <a:p xmlns:a="http://schemas.openxmlformats.org/drawingml/2006/main">
            <a:r>
              <a:t>      "https://insidegovuk.blog.gov.uk/2026/03/16/5-things-we-learned-testing-gov-uk-chat-an-ai-assistant-for-government/",</a:t>
            </a:r>
          </a:p>
          <a:p xmlns:a="http://schemas.openxmlformats.org/drawingml/2006/main">
            <a:r>
              <a:t>      "https://insidegovuk.blog.gov.uk/2026/05/15/developing-gov-uk-chat-our-data-science-and-ai-engineering-journey/"</a:t>
            </a:r>
          </a:p>
          <a:p xmlns:a="http://schemas.openxmlformats.org/drawingml/2006/main">
            <a:r>
              <a:t>    ],</a:t>
            </a:r>
          </a:p>
          <a:p xmlns:a="http://schemas.openxmlformats.org/drawingml/2006/main">
            <a:r>
              <a:t>    "basis": "T062·T080·P136~139 / 평가 설계",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"서비스 도달률·포기율",</a:t>
            </a:r>
          </a:p>
          <a:p xmlns:a="http://schemas.openxmlformats.org/drawingml/2006/main">
            <a:r>
              <a:t>    "group": "운영·실증",</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"PF-A12",</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"공식 공개 자료",</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"질문·범위 분류",</a:t>
            </a:r>
          </a:p>
          <a:p xmlns:a="http://schemas.openxmlformats.org/drawingml/2006/main">
            <a:r>
              <a:t>        "input": "질문",</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"RAG 응답",</a:t>
            </a:r>
          </a:p>
          <a:p xmlns:a="http://schemas.openxmlformats.org/drawingml/2006/main">
            <a:r>
              <a:t>        "input": "공식 문서 조각",</a:t>
            </a:r>
          </a:p>
          <a:p xmlns:a="http://schemas.openxmlformats.org/drawingml/2006/main">
            <a:r>
              <a:t>        "process": "의도 분류·근거·응답 품질 대조",</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"title": "사용자 실증",</a:t>
            </a:r>
          </a:p>
          <a:p xmlns:a="http://schemas.openxmlformats.org/drawingml/2006/main">
            <a:r>
              <a:t>        "input": "출처 답변",</a:t>
            </a:r>
          </a:p>
          <a:p xmlns:a="http://schemas.openxmlformats.org/drawingml/2006/main">
            <a:r>
              <a:t>        "process":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"질문 처리·검색·Claude 응답의 조정",</a:t>
            </a:r>
          </a:p>
          <a:p xmlns:a="http://schemas.openxmlformats.org/drawingml/2006/main">
            <a:r>
              <a:t>          "output": "출처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답변",</a:t>
            </a:r>
          </a:p>
          <a:p xmlns:a="http://schemas.openxmlformats.org/drawingml/2006/main">
            <a:r>
              <a:t>          "processing": "출처가 있는 답변과 공식 안내 페이지 제공",</a:t>
            </a:r>
          </a:p>
          <a:p xmlns:a="http://schemas.openxmlformats.org/drawingml/2006/main">
            <a:r>
              <a:t>          "output": "공식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"T062·T080·P136~139 / 평가 설계",</a:t>
            </a:r>
          </a:p>
          <a:p xmlns:a="http://schemas.openxmlformats.org/drawingml/2006/main">
            <a:r>
              <a:t>        "url": "https://insidegovuk.blog.gov.uk/2026/03/16/5-things-we-learned-testing-gov-uk-chat-an-ai-assistant-for-government/"</a:t>
            </a:r>
          </a:p>
          <a:p xmlns:a="http://schemas.openxmlformats.org/drawingml/2006/main">
            <a:r>
              <a:t>      },</a:t>
            </a:r>
          </a:p>
          <a:p xmlns:a="http://schemas.openxmlformats.org/drawingml/2006/main">
            <a:r>
              <a:t>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"공개 지식의 출처 응답과 공식 신청 페이지를 연결하는 대민 접점",</a:t>
            </a:r>
          </a:p>
          <a:p xmlns:a="http://schemas.openxmlformats.org/drawingml/2006/main">
            <a:r>
              <a:t>    "sourceDetail": "GOV.UK 콘텐츠 기반 RAG·출처 연결, 도메인/범위 제어, 전문가+자동 평가\n사용자 실증·질문셋·답변 품질 검토로 개선",</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"의도 분류·근거·응답 품질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"공식 공개 자료 → 질문·범위 분류 → RAG 응답 → 사용자 실증"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"의도 분류·근거·응답 품질 대조",</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"PF-A12",</a:t>
            </a:r>
          </a:p>
          <a:p xmlns:a="http://schemas.openxmlformats.org/drawingml/2006/main">
            <a:r>
              <a:t>    "success": [</a:t>
            </a:r>
          </a:p>
          <a:p xmlns:a="http://schemas.openxmlformats.org/drawingml/2006/main">
            <a:r>
              <a:t>      "공식 공개 지식에 한정한 RAG",</a:t>
            </a:r>
          </a:p>
          <a:p xmlns:a="http://schemas.openxmlformats.org/drawingml/2006/main">
            <a:r>
              <a:t>      "실제 이용자 실증 평가"</a:t>
            </a:r>
          </a:p>
          <a:p xmlns:a="http://schemas.openxmlformats.org/drawingml/2006/main">
            <a:r>
              <a:t>    ],</a:t>
            </a:r>
          </a:p>
          <a:p xmlns:a="http://schemas.openxmlformats.org/drawingml/2006/main">
            <a:r>
              <a:t>    "risks": [</a:t>
            </a:r>
          </a:p>
          <a:p xmlns:a="http://schemas.openxmlformats.org/drawingml/2006/main">
            <a:r>
              <a:t>      "지연·범위 밖 질문",</a:t>
            </a:r>
          </a:p>
          <a:p xmlns:a="http://schemas.openxmlformats.org/drawingml/2006/main">
            <a:r>
              <a:t>      "안내 서비스를 행정 처리로 확대"</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"공식 문서 조각",</a:t>
            </a:r>
          </a:p>
          <a:p xmlns:a="http://schemas.openxmlformats.org/drawingml/2006/main">
            <a:r>
              <a:t>      "출처 답변",</a:t>
            </a:r>
          </a:p>
          <a:p xmlns:a="http://schemas.openxmlformats.org/drawingml/2006/main">
            <a:r>
              <a:t>      "공식 서비스"</a:t>
            </a:r>
          </a:p>
          <a:p xmlns:a="http://schemas.openxmlformats.org/drawingml/2006/main">
            <a:r>
              <a:t>    ],</a:t>
            </a:r>
          </a:p>
          <a:p xmlns:a="http://schemas.openxmlformats.org/drawingml/2006/main">
            <a:r>
              <a:t>    "control": "의도 분류·근거·응답 품질 대조",</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T062·T080·P136~139 / 평가 설계 https://insidegovuk.blog.gov.uk/2026/03/16/5-things-we-learned-testing-gov-uk-chat-an-ai-assistant-for-government/</a:t>
            </a:r>
          </a:p>
          <a:p xmlns:a="http://schemas.openxmlformats.org/drawingml/2006/main">
            <a:r>
              <a:t>GOV.UK Chat 기술 공개 기록 · 2025-10-07 https://www.gov.uk/algorithmic-transparency-records/dsit-gov-dot-uk-chat</a:t>
            </a:r>
          </a:p>
          <a:p xmlns:a="http://schemas.openxmlformats.org/drawingml/2006/main">
            <a:r>
              <a:t>홈페이지 https://heen1987-ops.github.io/TS-business-Plan-001/index.html?view=platform-cases&amp;case=PF-A12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a:p xmlns:a="http://schemas.openxmlformats.org/drawingml/2006/main">
            <a:r>
              <a:t>한계: 두 보고서는 모집단 중복. 자기보고 시간은 객관 실측/예산절감 아님; HMRC는 무작위 배정 포함</a:t>
            </a:r>
          </a:p>
          <a:p xmlns:a="http://schemas.openxmlformats.org/drawingml/2006/main">
            <a:r>
              <a:t>실패 위험: 과업별 성과 편차 / 자기보고 절감시간의 과대 일반화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"PF-A13",</a:t>
            </a:r>
          </a:p>
          <a:p xmlns:a="http://schemas.openxmlformats.org/drawingml/2006/main">
            <a:r>
              <a:t>    "sourceId": "A13",</a:t>
            </a:r>
          </a:p>
          <a:p xmlns:a="http://schemas.openxmlformats.org/drawingml/2006/main">
            <a:r>
              <a:t>    "title": "영국 정부 Copilot 실험",</a:t>
            </a:r>
          </a:p>
          <a:p xmlns:a="http://schemas.openxmlformats.org/drawingml/2006/main">
            <a:r>
              <a:t>    "region": "해외",</a:t>
            </a:r>
          </a:p>
          <a:p xmlns:a="http://schemas.openxmlformats.org/drawingml/2006/main">
            <a:r>
              <a:t>    "owner": "정부 12기관 / M365 Copilot 실험(HMRC 포함)",</a:t>
            </a:r>
          </a:p>
          <a:p xmlns:a="http://schemas.openxmlformats.org/drawingml/2006/main">
            <a:r>
              <a:t>    "state": "2024-09~12 실험, 2025/2026 평가 공개",</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"두 보고서는 모집단 중복. 자기보고 시간은 객관 실측/예산절감 아님; HMRC는 무작위 배정 포함",</a:t>
            </a:r>
          </a:p>
          <a:p xmlns:a="http://schemas.openxmlformats.org/drawingml/2006/main">
            <a:r>
              <a:t>    "nodes": [</a:t>
            </a:r>
          </a:p>
          <a:p xmlns:a="http://schemas.openxmlformats.org/drawingml/2006/main">
            <a:r>
              <a:t>      "직원·기존 권한",</a:t>
            </a:r>
          </a:p>
          <a:p xmlns:a="http://schemas.openxmlformats.org/drawingml/2006/main">
            <a:r>
              <a:t>      "M365 업무",</a:t>
            </a:r>
          </a:p>
          <a:p xmlns:a="http://schemas.openxmlformats.org/drawingml/2006/main">
            <a:r>
              <a:t>      "AI 작성·검색",</a:t>
            </a:r>
          </a:p>
          <a:p xmlns:a="http://schemas.openxmlformats.org/drawingml/2006/main">
            <a:r>
              <a:t>      "로그·설문 평가"</a:t>
            </a:r>
          </a:p>
          <a:p xmlns:a="http://schemas.openxmlformats.org/drawingml/2006/main">
            <a:r>
              <a:t>    ],</a:t>
            </a:r>
          </a:p>
          <a:p xmlns:a="http://schemas.openxmlformats.org/drawingml/2006/main">
            <a:r>
              <a:t>    "apply": "부서별 활용량과 검토·재작업을 포함한 실제 업무 성과의 별도 측정",</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"urls": [</a:t>
            </a:r>
          </a:p>
          <a:p xmlns:a="http://schemas.openxmlformats.org/drawingml/2006/main">
            <a:r>
              <a:t>      "https://www.gov.uk/government/publications/microsoft-365-copilot-experiment-cross-government-findings-report/microsoft-365-copilot-experiment-cross-government-findings-report-html",</a:t>
            </a:r>
          </a:p>
          <a:p xmlns:a="http://schemas.openxmlformats.org/drawingml/2006/main">
            <a:r>
              <a:t>      "https://www.gov.uk/government/publications/evaluation-report-phase-3-trial-of-microsoft-copilot/evaluating-the-impact-of-microsoft-copilot-in-hmrc"</a:t>
            </a:r>
          </a:p>
          <a:p xmlns:a="http://schemas.openxmlformats.org/drawingml/2006/main">
            <a:r>
              <a:t>    ],</a:t>
            </a:r>
          </a:p>
          <a:p xmlns:a="http://schemas.openxmlformats.org/drawingml/2006/main">
            <a:r>
              <a:t>    "basis": "P139 / 도입효과 평가·확산",</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"PF-A13",</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"직원·평가자",</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자료·접근권한",</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"직원·기존 권한",</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"title": "M365 업무",</a:t>
            </a:r>
          </a:p>
          <a:p xmlns:a="http://schemas.openxmlformats.org/drawingml/2006/main">
            <a:r>
              <a:t>        "input": "요청",</a:t>
            </a:r>
          </a:p>
          <a:p xmlns:a="http://schemas.openxmlformats.org/drawingml/2006/main">
            <a:r>
              <a:t>        "process": "허용 자료에 근거한 검색·요약·작성",</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"AI 작성·검색",</a:t>
            </a:r>
          </a:p>
          <a:p xmlns:a="http://schemas.openxmlformats.org/drawingml/2006/main">
            <a:r>
              <a:t>        "input": "허용 문맥",</a:t>
            </a:r>
          </a:p>
          <a:p xmlns:a="http://schemas.openxmlformats.org/drawingml/2006/main">
            <a:r>
              <a:t>        "process": "동일 과업의 실제 검토시간 비교",</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"title": "로그·설문 평가",</a:t>
            </a:r>
          </a:p>
          <a:p xmlns:a="http://schemas.openxmlformats.org/drawingml/2006/main">
            <a:r>
              <a:t>        "input": "초안",</a:t>
            </a:r>
          </a:p>
          <a:p xmlns:a="http://schemas.openxmlformats.org/drawingml/2006/main">
            <a:r>
              <a:t>        "process":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자료·접근권한",</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"요청",</a:t>
            </a:r>
          </a:p>
          <a:p xmlns:a="http://schemas.openxmlformats.org/drawingml/2006/main">
            <a:r>
              <a:t>          "processing": "허용 자료에 근거한 검색·요약·작성",</a:t>
            </a:r>
          </a:p>
          <a:p xmlns:a="http://schemas.openxmlformats.org/drawingml/2006/main">
            <a:r>
              <a:t>          "output":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"초안",</a:t>
            </a:r>
          </a:p>
          <a:p xmlns:a="http://schemas.openxmlformats.org/drawingml/2006/main">
            <a:r>
              <a:t>          "processing": "직원 검토 후 공식 문서·회의 후속업무 반영",</a:t>
            </a:r>
          </a:p>
          <a:p xmlns:a="http://schemas.openxmlformats.org/drawingml/2006/main">
            <a:r>
              <a:t>          "output": "검토·설문"</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도입효과 평가·확산",</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"부서별 활용량과 검토·재작업을 포함한 실제 업무 성과의 별도 측정",</a:t>
            </a:r>
          </a:p>
          <a:p xmlns:a="http://schemas.openxmlformats.org/drawingml/2006/main">
            <a:r>
              <a:t>    "sourceDetail": "M365 업무 환경 내 Copilot 배포, 교육·사용 로그·설문·기관별 분석\n기관별 활용 업무와 라이선스/데이터 권한 조건 관리",</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"동일 과업의 실제 검토시간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"업무 자료·접근권한",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"직원·기존 권한 → M365 업무 → AI 작성·검색 → 로그·설문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"요청",</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"동일 과업의 실제 검토시간 비교"</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"검토·설문",</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"부서별 활용량과 검토·재작업을 포함한 실제 업무 성과의 별도 측정"</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"동일 과업의 실제 검토시간 비교",</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"업무 자료·접근권한",</a:t>
            </a:r>
          </a:p>
          <a:p xmlns:a="http://schemas.openxmlformats.org/drawingml/2006/main">
            <a:r>
              <a:t>        "prepare": "M365 문서·회의 자료의 공유범위 점검",</a:t>
            </a:r>
          </a:p>
          <a:p xmlns:a="http://schemas.openxmlformats.org/drawingml/2006/main">
            <a:r>
              <a:t>        "output":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"PF-A13",</a:t>
            </a:r>
          </a:p>
          <a:p xmlns:a="http://schemas.openxmlformats.org/drawingml/2006/main">
            <a:r>
              <a:t>    "success": [</a:t>
            </a:r>
          </a:p>
          <a:p xmlns:a="http://schemas.openxmlformats.org/drawingml/2006/main">
            <a:r>
              <a:t>      "기존 협업 도구 내 AI 지원",</a:t>
            </a:r>
          </a:p>
          <a:p xmlns:a="http://schemas.openxmlformats.org/drawingml/2006/main">
            <a:r>
              <a:t>      "교육·설문·활용 관측"</a:t>
            </a:r>
          </a:p>
          <a:p xmlns:a="http://schemas.openxmlformats.org/drawingml/2006/main">
            <a:r>
              <a:t>    ],</a:t>
            </a:r>
          </a:p>
          <a:p xmlns:a="http://schemas.openxmlformats.org/drawingml/2006/main">
            <a:r>
              <a:t>    "risks": [</a:t>
            </a:r>
          </a:p>
          <a:p xmlns:a="http://schemas.openxmlformats.org/drawingml/2006/main">
            <a:r>
              <a:t>      "과업별 성과 편차",</a:t>
            </a:r>
          </a:p>
          <a:p xmlns:a="http://schemas.openxmlformats.org/drawingml/2006/main">
            <a:r>
              <a:t>      "자기보고 절감시간의 과대 일반화"</a:t>
            </a:r>
          </a:p>
          <a:p xmlns:a="http://schemas.openxmlformats.org/drawingml/2006/main">
            <a:r>
              <a:t>    ],</a:t>
            </a:r>
          </a:p>
          <a:p xmlns:a="http://schemas.openxmlformats.org/drawingml/2006/main">
            <a:r>
              <a:t>    "architecture": [</a:t>
            </a:r>
          </a:p>
          <a:p xmlns:a="http://schemas.openxmlformats.org/drawingml/2006/main">
            <a:r>
              <a:t>      "직원 M365",</a:t>
            </a:r>
          </a:p>
          <a:p xmlns:a="http://schemas.openxmlformats.org/drawingml/2006/main">
            <a:r>
              <a:t>      "Copilot",</a:t>
            </a:r>
          </a:p>
          <a:p xmlns:a="http://schemas.openxmlformats.org/drawingml/2006/main">
            <a:r>
              <a:t>      "업무 자료·접근권한",</a:t>
            </a:r>
          </a:p>
          <a:p xmlns:a="http://schemas.openxmlformats.org/drawingml/2006/main">
            <a:r>
              <a:t>      "직원·평가자"</a:t>
            </a:r>
          </a:p>
          <a:p xmlns:a="http://schemas.openxmlformats.org/drawingml/2006/main">
            <a:r>
              <a:t>    ],</a:t>
            </a:r>
          </a:p>
          <a:p xmlns:a="http://schemas.openxmlformats.org/drawingml/2006/main">
            <a:r>
              <a:t>    "transfers": [</a:t>
            </a:r>
          </a:p>
          <a:p xmlns:a="http://schemas.openxmlformats.org/drawingml/2006/main">
            <a:r>
              <a:t>      "요청",</a:t>
            </a:r>
          </a:p>
          <a:p xmlns:a="http://schemas.openxmlformats.org/drawingml/2006/main">
            <a:r>
              <a:t>      "허용 문맥",</a:t>
            </a:r>
          </a:p>
          <a:p xmlns:a="http://schemas.openxmlformats.org/drawingml/2006/main">
            <a:r>
              <a:t>      "초안",</a:t>
            </a:r>
          </a:p>
          <a:p xmlns:a="http://schemas.openxmlformats.org/drawingml/2006/main">
            <a:r>
              <a:t>      "검토·설문"</a:t>
            </a:r>
          </a:p>
          <a:p xmlns:a="http://schemas.openxmlformats.org/drawingml/2006/main">
            <a:r>
              <a:t>    ],</a:t>
            </a:r>
          </a:p>
          <a:p xmlns:a="http://schemas.openxmlformats.org/drawingml/2006/main">
            <a:r>
              <a:t>    "control": "동일 과업의 실제 검토시간 비교",</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도입효과 평가·확산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https://heen1987-ops.github.io/TS-business-Plan-001/index.html?view=platform-cases&amp;case=PF-A13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a:p xmlns:a="http://schemas.openxmlformats.org/drawingml/2006/main">
            <a:r>
              <a:t>한계: F1을 정확도76%로 쓰지 않음. 연7.5만일/2천만파운드는 전정부 확산 추정, 실현절감 아님</a:t>
            </a:r>
          </a:p>
          <a:p xmlns:a="http://schemas.openxmlformats.org/drawingml/2006/main">
            <a:r>
              <a:t>실패 위험: 소수 의견·반대 근거 누락 / 주제 빈도와 정책 타당성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"PF-A14",</a:t>
            </a:r>
          </a:p>
          <a:p xmlns:a="http://schemas.openxmlformats.org/drawingml/2006/main">
            <a:r>
              <a:t>    "sourceId": "A14",</a:t>
            </a:r>
          </a:p>
          <a:p xmlns:a="http://schemas.openxmlformats.org/drawingml/2006/main">
            <a:r>
              <a:t>    "title": "영국 Consult",</a:t>
            </a:r>
          </a:p>
          <a:p xmlns:a="http://schemas.openxmlformats.org/drawingml/2006/main">
            <a:r>
              <a:t>    "region": "해외",</a:t>
            </a:r>
          </a:p>
          <a:p xmlns:a="http://schemas.openxmlformats.org/drawingml/2006/main">
            <a:r>
              <a:t>    "owner": "i.AI·스코틀랜드 / Consult(Humphrey)",</a:t>
            </a:r>
          </a:p>
          <a:p xmlns:a="http://schemas.openxmlformats.org/drawingml/2006/main">
            <a:r>
              <a:t>    "state": "정책 의견수렴 분석 최초 실증(2025-05 발표)",</a:t>
            </a:r>
          </a:p>
          <a:p xmlns:a="http://schemas.openxmlformats.org/drawingml/2006/main">
            <a:r>
              <a:t>    "period": "기존 원장 확인 2026.10.16",</a:t>
            </a:r>
          </a:p>
          <a:p xmlns:a="http://schemas.openxmlformats.org/drawingml/2006/main">
            <a:r>
              <a:t>    "fact": "공통 업무 앱 실증",</a:t>
            </a:r>
          </a:p>
          <a:p xmlns:a="http://schemas.openxmlformats.org/drawingml/2006/main">
            <a:r>
              <a:t>    "limit": "F1을 정확도76%로 쓰지 않음. 연7.5만일/2천만파운드는 전정부 확산 추정, 실현절감 아님",</a:t>
            </a:r>
          </a:p>
          <a:p xmlns:a="http://schemas.openxmlformats.org/drawingml/2006/main">
            <a:r>
              <a:t>    "nodes": [</a:t>
            </a:r>
          </a:p>
          <a:p xmlns:a="http://schemas.openxmlformats.org/drawingml/2006/main">
            <a:r>
              <a:t>      "정책 의견",</a:t>
            </a:r>
          </a:p>
          <a:p xmlns:a="http://schemas.openxmlformats.org/drawingml/2006/main">
            <a:r>
              <a:t>      "주제 분류",</a:t>
            </a:r>
          </a:p>
          <a:p xmlns:a="http://schemas.openxmlformats.org/drawingml/2006/main">
            <a:r>
              <a:t>      "분석·요약",</a:t>
            </a:r>
          </a:p>
          <a:p xmlns:a="http://schemas.openxmlformats.org/drawingml/2006/main">
            <a:r>
              <a:t>      "공무원 수정"</a:t>
            </a:r>
          </a:p>
          <a:p xmlns:a="http://schemas.openxmlformats.org/drawingml/2006/main">
            <a:r>
              <a:t>    ],</a:t>
            </a:r>
          </a:p>
          <a:p xmlns:a="http://schemas.openxmlformats.org/drawingml/2006/main">
            <a:r>
              <a:t>    "apply": "빈도 높은 의견과 소수·반대 의견을 함께 추적하는 정책 검토 지원",</a:t>
            </a:r>
          </a:p>
          <a:p xmlns:a="http://schemas.openxmlformats.org/drawingml/2006/main">
            <a:r>
              <a:t>    "delta": "업무분장·관할·복수부서 배정",</a:t>
            </a:r>
          </a:p>
          <a:p xmlns:a="http://schemas.openxmlformats.org/drawingml/2006/main">
            <a:r>
              <a:t>    "test": "재배정률·최종 해결시간의 기준선·비교 평가",</a:t>
            </a:r>
          </a:p>
          <a:p xmlns:a="http://schemas.openxmlformats.org/drawingml/2006/main">
            <a:r>
              <a:t>    "url": "https://www.gov.uk/government/news/government-built-humphrey-ai-tool-reviews-responses-to-consultation-for-first-time-in-bid-to-save-millions",</a:t>
            </a:r>
          </a:p>
          <a:p xmlns:a="http://schemas.openxmlformats.org/drawingml/2006/main">
            <a:r>
              <a:t>    "urls": [</a:t>
            </a:r>
          </a:p>
          <a:p xmlns:a="http://schemas.openxmlformats.org/drawingml/2006/main">
            <a:r>
              <a:t>      "https://www.gov.uk/government/news/government-built-humphrey-ai-tool-reviews-responses-to-consultation-for-first-time-in-bid-to-save-millions"</a:t>
            </a:r>
          </a:p>
          <a:p xmlns:a="http://schemas.openxmlformats.org/drawingml/2006/main">
            <a:r>
              <a:t>    ],</a:t>
            </a:r>
          </a:p>
          <a:p xmlns:a="http://schemas.openxmlformats.org/drawingml/2006/main">
            <a:r>
              <a:t>    "basis": "T035 / 분석지원·사람 검토·성과 구분",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"재배정률·최종 해결시간",</a:t>
            </a:r>
          </a:p>
          <a:p xmlns:a="http://schemas.openxmlformats.org/drawingml/2006/main">
            <a:r>
              <a:t>    "group": "운영·실증",</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"PF-A14",</a:t>
            </a:r>
          </a:p>
          <a:p xmlns:a="http://schemas.openxmlformats.org/drawingml/2006/main">
            <a:r>
              <a:t>    "canonicalId": "PF-A14",</a:t>
            </a:r>
          </a:p>
          <a:p xmlns:a="http://schemas.openxmlformats.org/drawingml/2006/main">
            <a:r>
              <a:t>    "purpose": "정책 의견수렴 자료의 주제별 분석",</a:t>
            </a:r>
          </a:p>
          <a:p xmlns:a="http://schemas.openxmlformats.org/drawingml/2006/main">
            <a:r>
              <a:t>    "users": "정책 담당·검토 공무원",</a:t>
            </a:r>
          </a:p>
          <a:p xmlns:a="http://schemas.openxmlformats.org/drawingml/2006/main">
            <a:r>
              <a:t>    "scope": [</a:t>
            </a:r>
          </a:p>
          <a:p xmlns:a="http://schemas.openxmlformats.org/drawingml/2006/main">
            <a:r>
              <a:t>      "의견 분류",</a:t>
            </a:r>
          </a:p>
          <a:p xmlns:a="http://schemas.openxmlformats.org/drawingml/2006/main">
            <a:r>
              <a:t>      "요약",</a:t>
            </a:r>
          </a:p>
          <a:p xmlns:a="http://schemas.openxmlformats.org/drawingml/2006/main">
            <a:r>
              <a:t>      "담당자 수정"</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"정책 의견수렴",</a:t>
            </a:r>
          </a:p>
          <a:p xmlns:a="http://schemas.openxmlformats.org/drawingml/2006/main">
            <a:r>
              <a:t>        "detail": "협의 주제·질문·응답 묶음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"의견 분류 / 요약 / 담당자 수정",</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"Consult 분류·요약",</a:t>
            </a:r>
          </a:p>
          <a:p xmlns:a="http://schemas.openxmlformats.org/drawingml/2006/main">
            <a:r>
              <a:t>        "detail": "의견의 주제 후보와 주제별 요약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"정책 분석 담당",</a:t>
            </a:r>
          </a:p>
          <a:p xmlns:a="http://schemas.openxmlformats.org/drawingml/2006/main">
            <a:r>
              <a:t>        "detail": "소수·반대 의견을 포함한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"의견 원문·주제",</a:t>
            </a:r>
          </a:p>
          <a:p xmlns:a="http://schemas.openxmlformats.org/drawingml/2006/main">
            <a:r>
              <a:t>        "detail": "응답 원문·문항·분류 결과의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"수작업 결과와 대조해 분류·누락 오류 보정",</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"정책 의견",</a:t>
            </a:r>
          </a:p>
          <a:p xmlns:a="http://schemas.openxmlformats.org/drawingml/2006/main">
            <a:r>
              <a:t>        "input": "협의 주제·질문·응답 묶음 정의",</a:t>
            </a:r>
          </a:p>
          <a:p xmlns:a="http://schemas.openxmlformats.org/drawingml/2006/main">
            <a:r>
              <a:t>        "process": "응답 원문·문항·분류 결과의 연결",</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"title": "주제 분류",</a:t>
            </a:r>
          </a:p>
          <a:p xmlns:a="http://schemas.openxmlformats.org/drawingml/2006/main">
            <a:r>
              <a:t>        "input": "의견 원문",</a:t>
            </a:r>
          </a:p>
          <a:p xmlns:a="http://schemas.openxmlformats.org/drawingml/2006/main">
            <a:r>
              <a:t>        "process": "의견의 주제 후보와 주제별 요약 생성",</a:t>
            </a:r>
          </a:p>
          <a:p xmlns:a="http://schemas.openxmlformats.org/drawingml/2006/main">
            <a:r>
              <a:t>        "output": "주제 후보"</a:t>
            </a:r>
          </a:p>
          <a:p xmlns:a="http://schemas.openxmlformats.org/drawingml/2006/main">
            <a:r>
              <a:t>      },</a:t>
            </a:r>
          </a:p>
          <a:p xmlns:a="http://schemas.openxmlformats.org/drawingml/2006/main">
            <a:r>
              <a:t>      {</a:t>
            </a:r>
          </a:p>
          <a:p xmlns:a="http://schemas.openxmlformats.org/drawingml/2006/main">
            <a:r>
              <a:t>        "title": "분석·요약",</a:t>
            </a:r>
          </a:p>
          <a:p xmlns:a="http://schemas.openxmlformats.org/drawingml/2006/main">
            <a:r>
              <a:t>        "input": "주제 후보",</a:t>
            </a:r>
          </a:p>
          <a:p xmlns:a="http://schemas.openxmlformats.org/drawingml/2006/main">
            <a:r>
              <a:t>        "process": "소수 의견 재현·원문 역추적",</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"title": "공무원 수정",</a:t>
            </a:r>
          </a:p>
          <a:p xmlns:a="http://schemas.openxmlformats.org/drawingml/2006/main">
            <a:r>
              <a:t>        "input": "주제별 요약",</a:t>
            </a:r>
          </a:p>
          <a:p xmlns:a="http://schemas.openxmlformats.org/drawingml/2006/main">
            <a:r>
              <a:t>        "process":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"정책 의견을 주제별 분류하고 원문을 검토",</a:t>
            </a:r>
          </a:p>
          <a:p xmlns:a="http://schemas.openxmlformats.org/drawingml/2006/main">
            <a:r>
              <a:t>      "exception": "소수 의견·반대 의견·복수 주제·중복 제출",</a:t>
            </a:r>
          </a:p>
          <a:p xmlns:a="http://schemas.openxmlformats.org/drawingml/2006/main">
            <a:r>
              <a:t>      "evidence": "주제별 원문 재현과 누락·오분류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"정책 담당·검토 공무원",</a:t>
            </a:r>
          </a:p>
          <a:p xmlns:a="http://schemas.openxmlformats.org/drawingml/2006/main">
            <a:r>
              <a:t>          "processing": "협의 주제·질문·응답 묶음 정의",</a:t>
            </a:r>
          </a:p>
          <a:p xmlns:a="http://schemas.openxmlformats.org/drawingml/2006/main">
            <a:r>
              <a:t>          "output": "의견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"의견 원문·주제",</a:t>
            </a:r>
          </a:p>
          <a:p xmlns:a="http://schemas.openxmlformats.org/drawingml/2006/main">
            <a:r>
              <a:t>          "processing": "응답 원문·문항·분류 결과의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"의견 원문",</a:t>
            </a:r>
          </a:p>
          <a:p xmlns:a="http://schemas.openxmlformats.org/drawingml/2006/main">
            <a:r>
              <a:t>          "processing": "의견의 주제 후보와 주제별 요약 생성",</a:t>
            </a:r>
          </a:p>
          <a:p xmlns:a="http://schemas.openxmlformats.org/drawingml/2006/main">
            <a:r>
              <a:t>          "output": "주제별 요약"</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"주제별 요약",</a:t>
            </a:r>
          </a:p>
          <a:p xmlns:a="http://schemas.openxmlformats.org/drawingml/2006/main">
            <a:r>
              <a:t>          "processing": "소수·반대 의견을 포함한 담당자 검토",</a:t>
            </a:r>
          </a:p>
          <a:p xmlns:a="http://schemas.openxmlformats.org/drawingml/2006/main">
            <a:r>
              <a:t>          "output": "담당자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"수작업 결과와 대조해 분류·누락 오류 보정",</a:t>
            </a:r>
          </a:p>
          <a:p xmlns:a="http://schemas.openxmlformats.org/drawingml/2006/main">
            <a:r>
              <a:t>          "output": "주제별 원문 재현과 누락·오분류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"수작업 결과와 대조해 분류·누락 오류 보정",</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"T035 / 분석지원·사람 검토·성과 구분",</a:t>
            </a:r>
          </a:p>
          <a:p xmlns:a="http://schemas.openxmlformats.org/drawingml/2006/main">
            <a:r>
              <a:t>        "url": "https://www.gov.uk/government/news/government-built-humphrey-ai-tool-reviews-responses-to-consultation-for-first-time-in-bid-to-save-millions"</a:t>
            </a:r>
          </a:p>
          <a:p xmlns:a="http://schemas.openxmlformats.org/drawingml/2006/main">
            <a:r>
              <a:t>      }</a:t>
            </a:r>
          </a:p>
          <a:p xmlns:a="http://schemas.openxmlformats.org/drawingml/2006/main">
            <a:r>
              <a:t>    ],</a:t>
            </a:r>
          </a:p>
          <a:p xmlns:a="http://schemas.openxmlformats.org/drawingml/2006/main">
            <a:r>
              <a:t>    "implication": "빈도 높은 의견과 소수·반대 의견을 함께 추적하는 정책 검토 지원",</a:t>
            </a:r>
          </a:p>
          <a:p xmlns:a="http://schemas.openxmlformats.org/drawingml/2006/main">
            <a:r>
              <a:t>    "local": "빈도 높은 의견과 소수·반대 의견을 함께 추적하는 정책 검토 지원",</a:t>
            </a:r>
          </a:p>
          <a:p xmlns:a="http://schemas.openxmlformats.org/drawingml/2006/main">
            <a:r>
              <a:t>    "sourceDetail": "응답을 AI로 주제 분류·요약하고 공무원이 수정·검토\n최초 실증은 기존 수작업 검토를 병행, 사람 검증",</a:t>
            </a:r>
          </a:p>
          <a:p xmlns:a="http://schemas.openxmlformats.org/drawingml/2006/main">
            <a:r>
              <a:t>    "narrative": [</a:t>
            </a:r>
          </a:p>
          <a:p xmlns:a="http://schemas.openxmlformats.org/drawingml/2006/main">
            <a:r>
              <a:t>      "영국 Consult의 정책 의견수렴 분석 사례. 다수의 응답을 주제별로 분류·요약해 정책 담당자의 검토를 돕는 방식이며 의견의 채택이나 정책 결정을 자동화하는 기능과 구분.",</a:t>
            </a:r>
          </a:p>
          <a:p xmlns:a="http://schemas.openxmlformats.org/drawingml/2006/main">
            <a:r>
              <a:t>      "설문 문항·응답 원문을 입력하고 주제 후보 생성, 응답별 분류, 주제별 요약, 검토자의 수정으로 이어지는 논리 흐름. 원문 응답과 요약의 연결을 유지해 소수·반대 의견이 요약에서 누락됐는지 추적하는 구성.",</a:t>
            </a:r>
          </a:p>
          <a:p xmlns:a="http://schemas.openxmlformats.org/drawingml/2006/main">
            <a:r>
              <a:t>      "CCK의 민원·의견 분석에서는 전체 빈도만으로 성과를 판단하기 어려움. 다중 주제, 소수 의견, 상반된 입장, 부정확한 인용을 포함한 정답셋과 담당자의 수정 시간을 함께 측정하는 방식의 적용."</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"정책 의견 접수",</a:t>
            </a:r>
          </a:p>
          <a:p xmlns:a="http://schemas.openxmlformats.org/drawingml/2006/main">
            <a:r>
              <a:t>          "layer": "이용 접점",</a:t>
            </a:r>
          </a:p>
          <a:p xmlns:a="http://schemas.openxmlformats.org/drawingml/2006/main">
            <a:r>
              <a:t>          "detail": "정책 담당·검토 공무원",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"협의·문항 범위",</a:t>
            </a:r>
          </a:p>
          <a:p xmlns:a="http://schemas.openxmlformats.org/drawingml/2006/main">
            <a:r>
              <a:t>          "layer": "업무 문맥",</a:t>
            </a:r>
          </a:p>
          <a:p xmlns:a="http://schemas.openxmlformats.org/drawingml/2006/main">
            <a:r>
              <a:t>          "detail": "협의 주제·질문·응답 묶음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"응답 원문 조회",</a:t>
            </a:r>
          </a:p>
          <a:p xmlns:a="http://schemas.openxmlformats.org/drawingml/2006/main">
            <a:r>
              <a:t>          "layer": "자료 조회",</a:t>
            </a:r>
          </a:p>
          <a:p xmlns:a="http://schemas.openxmlformats.org/drawingml/2006/main">
            <a:r>
              <a:t>          "detail": "의견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"주제 분류·요약",</a:t>
            </a:r>
          </a:p>
          <a:p xmlns:a="http://schemas.openxmlformats.org/drawingml/2006/main">
            <a:r>
              <a:t>          "layer": "핵심 처리",</a:t>
            </a:r>
          </a:p>
          <a:p xmlns:a="http://schemas.openxmlformats.org/drawingml/2006/main">
            <a:r>
              <a:t>          "detail": "의견의 주제 후보와 주제별 요약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"소수·반대 의견 검사",</a:t>
            </a:r>
          </a:p>
          <a:p xmlns:a="http://schemas.openxmlformats.org/drawingml/2006/main">
            <a:r>
              <a:t>          "layer": "결과 검증",</a:t>
            </a:r>
          </a:p>
          <a:p xmlns:a="http://schemas.openxmlformats.org/drawingml/2006/main">
            <a:r>
              <a:t>          "detail": "소수 의견 재현·원문 역추적",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"공무원 수정",</a:t>
            </a:r>
          </a:p>
          <a:p xmlns:a="http://schemas.openxmlformats.org/drawingml/2006/main">
            <a:r>
              <a:t>          "layer": "사람 확인",</a:t>
            </a:r>
          </a:p>
          <a:p xmlns:a="http://schemas.openxmlformats.org/drawingml/2006/main">
            <a:r>
              <a:t>          "detail": "정책 의견을 주제별 분류하고 원문을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"정책 분석 자료",</a:t>
            </a:r>
          </a:p>
          <a:p xmlns:a="http://schemas.openxmlformats.org/drawingml/2006/main">
            <a:r>
              <a:t>          "layer": "업무 연결",</a:t>
            </a:r>
          </a:p>
          <a:p xmlns:a="http://schemas.openxmlformats.org/drawingml/2006/main">
            <a:r>
              <a:t>          "detail": "소수·반대 의견을 포함한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"수작업 대조",</a:t>
            </a:r>
          </a:p>
          <a:p xmlns:a="http://schemas.openxmlformats.org/drawingml/2006/main">
            <a:r>
              <a:t>          "layer": "운영 관측",</a:t>
            </a:r>
          </a:p>
          <a:p xmlns:a="http://schemas.openxmlformats.org/drawingml/2006/main">
            <a:r>
              <a:t>          "detail": "수작업 결과와 대조해 분류·누락 오류 보정",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"응답·문항 자료",</a:t>
            </a:r>
          </a:p>
          <a:p xmlns:a="http://schemas.openxmlformats.org/drawingml/2006/main">
            <a:r>
              <a:t>          "layer": "데이터 원천",</a:t>
            </a:r>
          </a:p>
          <a:p xmlns:a="http://schemas.openxmlformats.org/drawingml/2006/main">
            <a:r>
              <a:t>          "detail": "의견 원문·주제",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"원문·분류 연결",</a:t>
            </a:r>
          </a:p>
          <a:p xmlns:a="http://schemas.openxmlformats.org/drawingml/2006/main">
            <a:r>
              <a:t>          "layer": "준비·갱신",</a:t>
            </a:r>
          </a:p>
          <a:p xmlns:a="http://schemas.openxmlformats.org/drawingml/2006/main">
            <a:r>
              <a:t>          "detail": "응답 원문·문항·분류 결과의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"주제·검토 이력",</a:t>
            </a:r>
          </a:p>
          <a:p xmlns:a="http://schemas.openxmlformats.org/drawingml/2006/main">
            <a:r>
              <a:t>          "layer": "상태·지식 저장",</a:t>
            </a:r>
          </a:p>
          <a:p xmlns:a="http://schemas.openxmlformats.org/drawingml/2006/main">
            <a:r>
              <a:t>          "detail": "주제별 원문 재현과 누락·오분류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"해석·채택 책임",</a:t>
            </a:r>
          </a:p>
          <a:p xmlns:a="http://schemas.openxmlformats.org/drawingml/2006/main">
            <a:r>
              <a:t>          "layer": "권한·정책",</a:t>
            </a:r>
          </a:p>
          <a:p xmlns:a="http://schemas.openxmlformats.org/drawingml/2006/main">
            <a:r>
              <a:t>          "detail": "소수 의견·반대 의견·복수 주제·중복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"정책 의견 → 주제 분류 → 분석·요약 → 공무원 수정"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"의견 원문·주제",</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"주제 후보",</a:t>
            </a:r>
          </a:p>
          <a:p xmlns:a="http://schemas.openxmlformats.org/drawingml/2006/main">
            <a:r>
              <a:t>          "check": "응답 원문·문항·분류 결과의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"주제별 요약",</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"담당자 검증",</a:t>
            </a:r>
          </a:p>
          <a:p xmlns:a="http://schemas.openxmlformats.org/drawingml/2006/main">
            <a:r>
              <a:t>          "check": "주제별 원문 재현과 누락·오분류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"정책 의견수렴 자료의 주제별 분석 / 의견 분류·요약·담당자 수정",</a:t>
            </a:r>
          </a:p>
          <a:p xmlns:a="http://schemas.openxmlformats.org/drawingml/2006/main">
            <a:r>
              <a:t>        "extension": "빈도 높은 의견과 소수·반대 의견을 함께 추적하는 정책 검토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"소수 의견·반대 의견·복수 주제·중복 제출",</a:t>
            </a:r>
          </a:p>
          <a:p xmlns:a="http://schemas.openxmlformats.org/drawingml/2006/main">
            <a:r>
              <a:t>        "hold": "소수 의견 재현·원문 역추적",</a:t>
            </a:r>
          </a:p>
          <a:p xmlns:a="http://schemas.openxmlformats.org/drawingml/2006/main">
            <a:r>
              <a:t>        "recovery": "수작업 결과와 대조해 분류·누락 오류 보정",</a:t>
            </a:r>
          </a:p>
          <a:p xmlns:a="http://schemas.openxmlformats.org/drawingml/2006/main">
            <a:r>
              <a:t>        "evidence": "주제별 원문 재현과 누락·오분류 수정 기록"</a:t>
            </a:r>
          </a:p>
          <a:p xmlns:a="http://schemas.openxmlformats.org/drawingml/2006/main">
            <a:r>
              <a:t>      },</a:t>
            </a:r>
          </a:p>
          <a:p xmlns:a="http://schemas.openxmlformats.org/drawingml/2006/main">
            <a:r>
              <a:t>      "data": {</a:t>
            </a:r>
          </a:p>
          <a:p xmlns:a="http://schemas.openxmlformats.org/drawingml/2006/main">
            <a:r>
              <a:t>        "source": "의견 원문·주제",</a:t>
            </a:r>
          </a:p>
          <a:p xmlns:a="http://schemas.openxmlformats.org/drawingml/2006/main">
            <a:r>
              <a:t>        "prepare": "응답 원문·문항·분류 결과의 연결",</a:t>
            </a:r>
          </a:p>
          <a:p xmlns:a="http://schemas.openxmlformats.org/drawingml/2006/main">
            <a:r>
              <a:t>        "output": "의견 원문",</a:t>
            </a:r>
          </a:p>
          <a:p xmlns:a="http://schemas.openxmlformats.org/drawingml/2006/main">
            <a:r>
              <a:t>        "refresh": "수작업 결과와 대조해 분류·누락 오류 보정"</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"PF-A14",</a:t>
            </a:r>
          </a:p>
          <a:p xmlns:a="http://schemas.openxmlformats.org/drawingml/2006/main">
            <a:r>
              <a:t>    "success": [</a:t>
            </a:r>
          </a:p>
          <a:p xmlns:a="http://schemas.openxmlformats.org/drawingml/2006/main">
            <a:r>
              <a:t>      "대량 의견의 주제 분류",</a:t>
            </a:r>
          </a:p>
          <a:p xmlns:a="http://schemas.openxmlformats.org/drawingml/2006/main">
            <a:r>
              <a:t>      "공무원 수정·해석과 결합"</a:t>
            </a:r>
          </a:p>
          <a:p xmlns:a="http://schemas.openxmlformats.org/drawingml/2006/main">
            <a:r>
              <a:t>    ],</a:t>
            </a:r>
          </a:p>
          <a:p xmlns:a="http://schemas.openxmlformats.org/drawingml/2006/main">
            <a:r>
              <a:t>    "risks": [</a:t>
            </a:r>
          </a:p>
          <a:p xmlns:a="http://schemas.openxmlformats.org/drawingml/2006/main">
            <a:r>
              <a:t>      "소수 의견·반대 근거 누락",</a:t>
            </a:r>
          </a:p>
          <a:p xmlns:a="http://schemas.openxmlformats.org/drawingml/2006/main">
            <a:r>
              <a:t>      "주제 빈도와 정책 타당성 혼동"</a:t>
            </a:r>
          </a:p>
          <a:p xmlns:a="http://schemas.openxmlformats.org/drawingml/2006/main">
            <a:r>
              <a:t>    ],</a:t>
            </a:r>
          </a:p>
          <a:p xmlns:a="http://schemas.openxmlformats.org/drawingml/2006/main">
            <a:r>
              <a:t>    "architecture": [</a:t>
            </a:r>
          </a:p>
          <a:p xmlns:a="http://schemas.openxmlformats.org/drawingml/2006/main">
            <a:r>
              <a:t>      "정책 의견수렴",</a:t>
            </a:r>
          </a:p>
          <a:p xmlns:a="http://schemas.openxmlformats.org/drawingml/2006/main">
            <a:r>
              <a:t>      "Consult 분류·요약",</a:t>
            </a:r>
          </a:p>
          <a:p xmlns:a="http://schemas.openxmlformats.org/drawingml/2006/main">
            <a:r>
              <a:t>      "의견 원문·주제",</a:t>
            </a:r>
          </a:p>
          <a:p xmlns:a="http://schemas.openxmlformats.org/drawingml/2006/main">
            <a:r>
              <a:t>      "정책 분석 담당"</a:t>
            </a:r>
          </a:p>
          <a:p xmlns:a="http://schemas.openxmlformats.org/drawingml/2006/main">
            <a:r>
              <a:t>    ],</a:t>
            </a:r>
          </a:p>
          <a:p xmlns:a="http://schemas.openxmlformats.org/drawingml/2006/main">
            <a:r>
              <a:t>    "transfers": [</a:t>
            </a:r>
          </a:p>
          <a:p xmlns:a="http://schemas.openxmlformats.org/drawingml/2006/main">
            <a:r>
              <a:t>      "의견 원문",</a:t>
            </a:r>
          </a:p>
          <a:p xmlns:a="http://schemas.openxmlformats.org/drawingml/2006/main">
            <a:r>
              <a:t>      "주제 후보",</a:t>
            </a:r>
          </a:p>
          <a:p xmlns:a="http://schemas.openxmlformats.org/drawingml/2006/main">
            <a:r>
              <a:t>      "주제별 요약",</a:t>
            </a:r>
          </a:p>
          <a:p xmlns:a="http://schemas.openxmlformats.org/drawingml/2006/main">
            <a:r>
              <a:t>      "담당자 검증"</a:t>
            </a:r>
          </a:p>
          <a:p xmlns:a="http://schemas.openxmlformats.org/drawingml/2006/main">
            <a:r>
              <a:t>    ],</a:t>
            </a:r>
          </a:p>
          <a:p xmlns:a="http://schemas.openxmlformats.org/drawingml/2006/main">
            <a:r>
              <a:t>    "control": "소수 의견 재현·원문 역추적",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T035 / 분석지원·사람 검토·성과 구분 https://www.gov.uk/government/news/government-built-humphrey-ai-tool-reviews-responses-to-consultation-for-first-time-in-bid-to-save-millions</a:t>
            </a:r>
          </a:p>
          <a:p xmlns:a="http://schemas.openxmlformats.org/drawingml/2006/main">
            <a:r>
              <a:t>홈페이지 https://heen1987-ops.github.io/TS-business-Plan-001/index.html?view=platform-cases&amp;case=PF-A14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a:p xmlns:a="http://schemas.openxmlformats.org/drawingml/2006/main">
            <a:r>
              <a:t>한계: 무작위 실험 아님. 일부 업무 하루1시간 체감 절감을 전직원 실측값으로 사용 금지</a:t>
            </a:r>
          </a:p>
          <a:p xmlns:a="http://schemas.openxmlformats.org/drawingml/2006/main">
            <a:r>
              <a:t>실패 위험: 학습·조직 준비도 차이 / 설문 변화의 인과효과 단정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"PF-A15",</a:t>
            </a:r>
          </a:p>
          <a:p xmlns:a="http://schemas.openxmlformats.org/drawingml/2006/main">
            <a:r>
              <a:t>    "sourceId": "A15",</a:t>
            </a:r>
          </a:p>
          <a:p xmlns:a="http://schemas.openxmlformats.org/drawingml/2006/main">
            <a:r>
              <a:t>    "title": "호주 APS Copilot 평가",</a:t>
            </a:r>
          </a:p>
          <a:p xmlns:a="http://schemas.openxmlformats.org/drawingml/2006/main">
            <a:r>
              <a:t>    "region": "해외",</a:t>
            </a:r>
          </a:p>
          <a:p xmlns:a="http://schemas.openxmlformats.org/drawingml/2006/main">
            <a:r>
              <a:t>    "owner": "DTA / APS M365 Copilot 평가",</a:t>
            </a:r>
          </a:p>
          <a:p xmlns:a="http://schemas.openxmlformats.org/drawingml/2006/main">
            <a:r>
              <a:t>    "state": "2024-01~06 정부 실험·평가",</a:t>
            </a:r>
          </a:p>
          <a:p xmlns:a="http://schemas.openxmlformats.org/drawingml/2006/main">
            <a:r>
              <a:t>    "period": "기존 원장 확인 2026.10.16",</a:t>
            </a:r>
          </a:p>
          <a:p xmlns:a="http://schemas.openxmlformats.org/drawingml/2006/main">
            <a:r>
              <a:t>    "fact": "기존 협업 플랫폼 AI 적용",</a:t>
            </a:r>
          </a:p>
          <a:p xmlns:a="http://schemas.openxmlformats.org/drawingml/2006/main">
            <a:r>
              <a:t>    "limit": "무작위 실험 아님. 일부 업무 하루1시간 체감 절감을 전직원 실측값으로 사용 금지",</a:t>
            </a:r>
          </a:p>
          <a:p xmlns:a="http://schemas.openxmlformats.org/drawingml/2006/main">
            <a:r>
              <a:t>    "nodes": [</a:t>
            </a:r>
          </a:p>
          <a:p xmlns:a="http://schemas.openxmlformats.org/drawingml/2006/main">
            <a:r>
              <a:t>      "참여 기관",</a:t>
            </a:r>
          </a:p>
          <a:p xmlns:a="http://schemas.openxmlformats.org/drawingml/2006/main">
            <a:r>
              <a:t>      "협업 AI 도구",</a:t>
            </a:r>
          </a:p>
          <a:p xmlns:a="http://schemas.openxmlformats.org/drawingml/2006/main">
            <a:r>
              <a:t>      "교육·업무 활용",</a:t>
            </a:r>
          </a:p>
          <a:p xmlns:a="http://schemas.openxmlformats.org/drawingml/2006/main">
            <a:r>
              <a:t>      "전후 설문 평가"</a:t>
            </a:r>
          </a:p>
          <a:p xmlns:a="http://schemas.openxmlformats.org/drawingml/2006/main">
            <a:r>
              <a:t>    ],</a:t>
            </a:r>
          </a:p>
          <a:p xmlns:a="http://schemas.openxmlformats.org/drawingml/2006/main">
            <a:r>
              <a:t>    "apply": "교육·숙련도·과업 차이를 반영한 부서별 AI 도입 효과 평가",</a:t>
            </a:r>
          </a:p>
          <a:p xmlns:a="http://schemas.openxmlformats.org/drawingml/2006/main">
            <a:r>
              <a:t>    "delta": "부서·직무·권한·변경 교차 평가",</a:t>
            </a:r>
          </a:p>
          <a:p xmlns:a="http://schemas.openxmlformats.org/drawingml/2006/main">
            <a:r>
              <a:t>    "test": "완료시간·오류·총비용의 기준선·비교 평가",</a:t>
            </a:r>
          </a:p>
          <a:p xmlns:a="http://schemas.openxmlformats.org/drawingml/2006/main">
            <a:r>
              <a:t>    "url": "https://www.digital.gov.au/initiatives/copilot-trial/microsoft-365-copilot-evaluation-report-full/executive-summary-glossary",</a:t>
            </a:r>
          </a:p>
          <a:p xmlns:a="http://schemas.openxmlformats.org/drawingml/2006/main">
            <a:r>
              <a:t>    "urls": [</a:t>
            </a:r>
          </a:p>
          <a:p xmlns:a="http://schemas.openxmlformats.org/drawingml/2006/main">
            <a:r>
              <a:t>      "https://www.digital.gov.au/initiatives/copilot-trial/microsoft-365-copilot-evaluation-report-full/executive-summary-glossary",</a:t>
            </a:r>
          </a:p>
          <a:p xmlns:a="http://schemas.openxmlformats.org/drawingml/2006/main">
            <a:r>
              <a:t>      "https://www.digital.gov.au/initiatives/copilot-trial/microsoft-365-copilot-evaluation-report-full/productivity"</a:t>
            </a:r>
          </a:p>
          <a:p xmlns:a="http://schemas.openxmlformats.org/drawingml/2006/main">
            <a:r>
              <a:t>    ],</a:t>
            </a:r>
          </a:p>
          <a:p xmlns:a="http://schemas.openxmlformats.org/drawingml/2006/main">
            <a:r>
              <a:t>    "basis": "P139 / 교육·도입 정착·평가 한계",</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"완료시간·오류·총비용",</a:t>
            </a:r>
          </a:p>
          <a:p xmlns:a="http://schemas.openxmlformats.org/drawingml/2006/main">
            <a:r>
              <a:t>    "group": "운영·실증",</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"PF-A15",</a:t>
            </a:r>
          </a:p>
          <a:p xmlns:a="http://schemas.openxmlformats.org/drawingml/2006/main">
            <a:r>
              <a:t>    "canonicalId": "PF-A15",</a:t>
            </a:r>
          </a:p>
          <a:p xmlns:a="http://schemas.openxmlformats.org/drawingml/2006/main">
            <a:r>
              <a:t>    "purpose": "공공부문 Copilot 도입 효과의 평가",</a:t>
            </a:r>
          </a:p>
          <a:p xmlns:a="http://schemas.openxmlformats.org/drawingml/2006/main">
            <a:r>
              <a:t>    "users": "참여기관 직원·교육·평가팀",</a:t>
            </a:r>
          </a:p>
          <a:p xmlns:a="http://schemas.openxmlformats.org/drawingml/2006/main">
            <a:r>
              <a:t>    "scope": [</a:t>
            </a:r>
          </a:p>
          <a:p xmlns:a="http://schemas.openxmlformats.org/drawingml/2006/main">
            <a:r>
              <a:t>      "협업 AI",</a:t>
            </a:r>
          </a:p>
          <a:p xmlns:a="http://schemas.openxmlformats.org/drawingml/2006/main">
            <a:r>
              <a:t>      "교육",</a:t>
            </a:r>
          </a:p>
          <a:p xmlns:a="http://schemas.openxmlformats.org/drawingml/2006/main">
            <a:r>
              <a:t>      "기관별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"APS 참여기관",</a:t>
            </a:r>
          </a:p>
          <a:p xmlns:a="http://schemas.openxmlformats.org/drawingml/2006/main">
            <a:r>
              <a:t>        "detail": "업무 유형·숙련도·기존 공유범위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"협업 AI / 교육 / 기관별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"M365 Copilot",</a:t>
            </a:r>
          </a:p>
          <a:p xmlns:a="http://schemas.openxmlformats.org/drawingml/2006/main">
            <a:r>
              <a:t>        "detail": "M365 문맥에서 문서·회의·정보 작업 지원",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"직원·평가팀",</a:t>
            </a:r>
          </a:p>
          <a:p xmlns:a="http://schemas.openxmlformats.org/drawingml/2006/main">
            <a:r>
              <a:t>        "detail": "직원의 검토 후 실제 업무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문맥·평가 기록",</a:t>
            </a:r>
          </a:p>
          <a:p xmlns:a="http://schemas.openxmlformats.org/drawingml/2006/main">
            <a:r>
              <a:t>        "detail": "업무 자료와 사용·설문·과업 평가 기록 분리",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"기관·과업별 효과와 학습 부담·실패 비용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"참여 기관",</a:t>
            </a:r>
          </a:p>
          <a:p xmlns:a="http://schemas.openxmlformats.org/drawingml/2006/main">
            <a:r>
              <a:t>        "input": "업무 유형·숙련도·기존 공유범위 구분",</a:t>
            </a:r>
          </a:p>
          <a:p xmlns:a="http://schemas.openxmlformats.org/drawingml/2006/main">
            <a:r>
              <a:t>        "process": "업무 자료와 사용·설문·과업 평가 기록 분리",</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"title": "협업 AI 도구",</a:t>
            </a:r>
          </a:p>
          <a:p xmlns:a="http://schemas.openxmlformats.org/drawingml/2006/main">
            <a:r>
              <a:t>        "input": "과업 요청",</a:t>
            </a:r>
          </a:p>
          <a:p xmlns:a="http://schemas.openxmlformats.org/drawingml/2006/main">
            <a:r>
              <a:t>        "process": "M365 문맥에서 문서·회의·정보 작업 지원",</a:t>
            </a:r>
          </a:p>
          <a:p xmlns:a="http://schemas.openxmlformats.org/drawingml/2006/main">
            <a:r>
              <a:t>        "output": "지원 결과"</a:t>
            </a:r>
          </a:p>
          <a:p xmlns:a="http://schemas.openxmlformats.org/drawingml/2006/main">
            <a:r>
              <a:t>      },</a:t>
            </a:r>
          </a:p>
          <a:p xmlns:a="http://schemas.openxmlformats.org/drawingml/2006/main">
            <a:r>
              <a:t>      {</a:t>
            </a:r>
          </a:p>
          <a:p xmlns:a="http://schemas.openxmlformats.org/drawingml/2006/main">
            <a:r>
              <a:t>        "title": "교육·업무 활용",</a:t>
            </a:r>
          </a:p>
          <a:p xmlns:a="http://schemas.openxmlformats.org/drawingml/2006/main">
            <a:r>
              <a:t>        "input": "지원 결과",</a:t>
            </a:r>
          </a:p>
          <a:p xmlns:a="http://schemas.openxmlformats.org/drawingml/2006/main">
            <a:r>
              <a:t>        "process": "과업·숙련도별 비교와 실패 비용 포함",</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"title": "전후 설문 평가",</a:t>
            </a:r>
          </a:p>
          <a:p xmlns:a="http://schemas.openxmlformats.org/drawingml/2006/main">
            <a:r>
              <a:t>        "input": "현업 활용",</a:t>
            </a:r>
          </a:p>
          <a:p xmlns:a="http://schemas.openxmlformats.org/drawingml/2006/main">
            <a:r>
              <a:t>        "process":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업무를 지원 전후 수행하고 검토시간까지 측정",</a:t>
            </a:r>
          </a:p>
          <a:p xmlns:a="http://schemas.openxmlformats.org/drawingml/2006/main">
            <a:r>
              <a:t>      "exception": "숙련도 차이·미사용자 제외·어려운 과업 누락",</a:t>
            </a:r>
          </a:p>
          <a:p xmlns:a="http://schemas.openxmlformats.org/drawingml/2006/main">
            <a:r>
              <a:t>      "evidence": "기관·과업·숙련도별 비교표와 오류·재작업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"참여기관 직원·교육·평가팀",</a:t>
            </a:r>
          </a:p>
          <a:p xmlns:a="http://schemas.openxmlformats.org/drawingml/2006/main">
            <a:r>
              <a:t>          "processing": "업무 유형·숙련도·기존 공유범위 구분",</a:t>
            </a:r>
          </a:p>
          <a:p xmlns:a="http://schemas.openxmlformats.org/drawingml/2006/main">
            <a:r>
              <a:t>          "output": "과업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문맥·평가 기록",</a:t>
            </a:r>
          </a:p>
          <a:p xmlns:a="http://schemas.openxmlformats.org/drawingml/2006/main">
            <a:r>
              <a:t>          "processing": "업무 자료와 사용·설문·과업 평가 기록 분리",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"과업 요청",</a:t>
            </a:r>
          </a:p>
          <a:p xmlns:a="http://schemas.openxmlformats.org/drawingml/2006/main">
            <a:r>
              <a:t>          "processing": "M365 문맥에서 문서·회의·정보 작업 지원",</a:t>
            </a:r>
          </a:p>
          <a:p xmlns:a="http://schemas.openxmlformats.org/drawingml/2006/main">
            <a:r>
              <a:t>          "output": "현업 활용"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"현업 활용",</a:t>
            </a:r>
          </a:p>
          <a:p xmlns:a="http://schemas.openxmlformats.org/drawingml/2006/main">
            <a:r>
              <a:t>          "processing": "직원의 검토 후 실제 업무 활용",</a:t>
            </a:r>
          </a:p>
          <a:p xmlns:a="http://schemas.openxmlformats.org/drawingml/2006/main">
            <a:r>
              <a:t>          "output": "전후 평가"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"기관·과업별 효과와 학습 부담·실패 비용 분석",</a:t>
            </a:r>
          </a:p>
          <a:p xmlns:a="http://schemas.openxmlformats.org/drawingml/2006/main">
            <a:r>
              <a:t>          "output": "기관·과업·숙련도별 비교표와 오류·재작업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"기관·과업별 효과와 학습 부담·실패 비용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"P139 / 교육·도입 정착·평가 한계",</a:t>
            </a:r>
          </a:p>
          <a:p xmlns:a="http://schemas.openxmlformats.org/drawingml/2006/main">
            <a:r>
              <a:t>        "url": "https://www.digital.gov.au/initiatives/copilot-trial/microsoft-365-copilot-evaluation-report-full/executive-summary-glossary"</a:t>
            </a:r>
          </a:p>
          <a:p xmlns:a="http://schemas.openxmlformats.org/drawingml/2006/main">
            <a:r>
              <a:t>      }</a:t>
            </a:r>
          </a:p>
          <a:p xmlns:a="http://schemas.openxmlformats.org/drawingml/2006/main">
            <a:r>
              <a:t>    ],</a:t>
            </a:r>
          </a:p>
          <a:p xmlns:a="http://schemas.openxmlformats.org/drawingml/2006/main">
            <a:r>
              <a:t>    "implication": "교육·숙련도·과업 차이를 반영한 부서별 AI 도입 효과 평가",</a:t>
            </a:r>
          </a:p>
          <a:p xmlns:a="http://schemas.openxmlformats.org/drawingml/2006/main">
            <a:r>
              <a:t>    "local": "교육·숙련도·과업 차이를 반영한 부서별 AI 도입 효과 평가",</a:t>
            </a:r>
          </a:p>
          <a:p xmlns:a="http://schemas.openxmlformats.org/drawingml/2006/main">
            <a:r>
              <a:t>    "sourceDetail": "5,765개 이상 라이선스, 기관 지명 방식 참여, 설문·기관 평가\n기관 맥락에 맞는 교육·활용 사례가 확산 요인. Nous 외부 평가 지원",</a:t>
            </a:r>
          </a:p>
          <a:p xmlns:a="http://schemas.openxmlformats.org/drawingml/2006/main">
            <a:r>
              <a:t>    "narrative": [</a:t>
            </a:r>
          </a:p>
          <a:p xmlns:a="http://schemas.openxmlformats.org/drawingml/2006/main">
            <a:r>
              <a:t>      "호주 공공부문 Microsoft 365 Copilot 시험의 평가 사례. 기관 직원이 실제 업무에서 협업 AI를 사용하고 이용 경험·과업 효과·교육 부담을 비교하는 접근.",</a:t>
            </a:r>
          </a:p>
          <a:p xmlns:a="http://schemas.openxmlformats.org/drawingml/2006/main">
            <a:r>
              <a:t>      "기존 협업 도구와 문서 공유 권한 위에서 문서·회의·검색 지원을 수행하는 구조. 이용 로그·설문 응답·과업 평가를 분리해 수집하고 기관·업무·숙련도에 따른 효과 편차를 확인하는 평가 설계.",</a:t>
            </a:r>
          </a:p>
          <a:p xmlns:a="http://schemas.openxmlformats.org/drawingml/2006/main">
            <a:r>
              <a:t>      "보고된 시간 절감 수치를 TS의 기대효과로 직접 전용하지 않는 것이 핵심. 도구 이용자와 미이용자의 업무 난도, 검토시간, 오류 수정비용을 맞추어 비교하고 과도하게 공유된 기존 문서의 검색 노출도 별도 점검."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"APS 직원 접점",</a:t>
            </a:r>
          </a:p>
          <a:p xmlns:a="http://schemas.openxmlformats.org/drawingml/2006/main">
            <a:r>
              <a:t>          "layer": "이용 접점",</a:t>
            </a:r>
          </a:p>
          <a:p xmlns:a="http://schemas.openxmlformats.org/drawingml/2006/main">
            <a:r>
              <a:t>          "detail": "참여기관 직원·교육·평가팀",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"과업·숙련도",</a:t>
            </a:r>
          </a:p>
          <a:p xmlns:a="http://schemas.openxmlformats.org/drawingml/2006/main">
            <a:r>
              <a:t>          "layer": "업무 문맥",</a:t>
            </a:r>
          </a:p>
          <a:p xmlns:a="http://schemas.openxmlformats.org/drawingml/2006/main">
            <a:r>
              <a:t>          "detail": "업무 유형·숙련도·기존 공유범위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"M365 문맥 검색",</a:t>
            </a:r>
          </a:p>
          <a:p xmlns:a="http://schemas.openxmlformats.org/drawingml/2006/main">
            <a:r>
              <a:t>          "layer": "자료 조회",</a:t>
            </a:r>
          </a:p>
          <a:p xmlns:a="http://schemas.openxmlformats.org/drawingml/2006/main">
            <a:r>
              <a:t>          "detail": "과업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"Copilot 업무 지원",</a:t>
            </a:r>
          </a:p>
          <a:p xmlns:a="http://schemas.openxmlformats.org/drawingml/2006/main">
            <a:r>
              <a:t>          "layer": "핵심 처리",</a:t>
            </a:r>
          </a:p>
          <a:p xmlns:a="http://schemas.openxmlformats.org/drawingml/2006/main">
            <a:r>
              <a:t>          "detail": "M365 문맥에서 문서·회의·정보 작업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"내용·공유 검사",</a:t>
            </a:r>
          </a:p>
          <a:p xmlns:a="http://schemas.openxmlformats.org/drawingml/2006/main">
            <a:r>
              <a:t>          "layer": "결과 검증",</a:t>
            </a:r>
          </a:p>
          <a:p xmlns:a="http://schemas.openxmlformats.org/drawingml/2006/main">
            <a:r>
              <a:t>          "detail": "과업·숙련도별 비교와 실패 비용 포함",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검토",</a:t>
            </a:r>
          </a:p>
          <a:p xmlns:a="http://schemas.openxmlformats.org/drawingml/2006/main">
            <a:r>
              <a:t>          "layer": "사람 확인",</a:t>
            </a:r>
          </a:p>
          <a:p xmlns:a="http://schemas.openxmlformats.org/drawingml/2006/main">
            <a:r>
              <a:t>          "detail": "같은 업무를 지원 전후 수행하고 검토시간까지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"직원의 검토 후 실제 업무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"기관·과업 평가",</a:t>
            </a:r>
          </a:p>
          <a:p xmlns:a="http://schemas.openxmlformats.org/drawingml/2006/main">
            <a:r>
              <a:t>          "layer": "운영 관측",</a:t>
            </a:r>
          </a:p>
          <a:p xmlns:a="http://schemas.openxmlformats.org/drawingml/2006/main">
            <a:r>
              <a:t>          "detail": "기관·과업별 효과와 학습 부담·실패 비용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"업무·설문 자료",</a:t>
            </a:r>
          </a:p>
          <a:p xmlns:a="http://schemas.openxmlformats.org/drawingml/2006/main">
            <a:r>
              <a:t>          "layer": "데이터 원천",</a:t>
            </a:r>
          </a:p>
          <a:p xmlns:a="http://schemas.openxmlformats.org/drawingml/2006/main">
            <a:r>
              <a:t>          "detail": "업무 문맥·평가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"평가 표본 분리",</a:t>
            </a:r>
          </a:p>
          <a:p xmlns:a="http://schemas.openxmlformats.org/drawingml/2006/main">
            <a:r>
              <a:t>          "layer": "준비·갱신",</a:t>
            </a:r>
          </a:p>
          <a:p xmlns:a="http://schemas.openxmlformats.org/drawingml/2006/main">
            <a:r>
              <a:t>          "detail": "업무 자료와 사용·설문·과업 평가 기록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"활용·비교 기록",</a:t>
            </a:r>
          </a:p>
          <a:p xmlns:a="http://schemas.openxmlformats.org/drawingml/2006/main">
            <a:r>
              <a:t>          "layer": "상태·지식 저장",</a:t>
            </a:r>
          </a:p>
          <a:p xmlns:a="http://schemas.openxmlformats.org/drawingml/2006/main">
            <a:r>
              <a:t>          "detail": "기관·과업·숙련도별 비교표와 오류·재작업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"공유·평가 정책",</a:t>
            </a:r>
          </a:p>
          <a:p xmlns:a="http://schemas.openxmlformats.org/drawingml/2006/main">
            <a:r>
              <a:t>          "layer": "권한·정책",</a:t>
            </a:r>
          </a:p>
          <a:p xmlns:a="http://schemas.openxmlformats.org/drawingml/2006/main">
            <a:r>
              <a:t>          "detail": "숙련도 차이·미사용자 제외·어려운 과업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"참여 기관 → 협업 AI 도구 → 교육·업무 활용 → 전후 설문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"업무 문맥·평가 기록",</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"지원 결과",</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"업무 자료와 사용·설문·과업 평가 기록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"현업 활용",</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"현업 활용",</a:t>
            </a:r>
          </a:p>
          <a:p xmlns:a="http://schemas.openxmlformats.org/drawingml/2006/main">
            <a:r>
              <a:t>          "check": "과업·숙련도별 비교와 실패 비용 포함"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"전후 평가",</a:t>
            </a:r>
          </a:p>
          <a:p xmlns:a="http://schemas.openxmlformats.org/drawingml/2006/main">
            <a:r>
              <a:t>          "check": "기관·과업·숙련도별 비교표와 오류·재작업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"공공부문 Copilot 도입 효과의 평가 / 협업 AI·교육·기관별 평가",</a:t>
            </a:r>
          </a:p>
          <a:p xmlns:a="http://schemas.openxmlformats.org/drawingml/2006/main">
            <a:r>
              <a:t>        "extension": "교육·숙련도·과업 차이를 반영한 부서별 AI 도입 효과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"숙련도 차이·미사용자 제외·어려운 과업 누락",</a:t>
            </a:r>
          </a:p>
          <a:p xmlns:a="http://schemas.openxmlformats.org/drawingml/2006/main">
            <a:r>
              <a:t>        "hold": "과업·숙련도별 비교와 실패 비용 포함",</a:t>
            </a:r>
          </a:p>
          <a:p xmlns:a="http://schemas.openxmlformats.org/drawingml/2006/main">
            <a:r>
              <a:t>        "recovery": "기관·과업별 효과와 학습 부담·실패 비용 분석",</a:t>
            </a:r>
          </a:p>
          <a:p xmlns:a="http://schemas.openxmlformats.org/drawingml/2006/main">
            <a:r>
              <a:t>        "evidence": "기관·과업·숙련도별 비교표와 오류·재작업 기록"</a:t>
            </a:r>
          </a:p>
          <a:p xmlns:a="http://schemas.openxmlformats.org/drawingml/2006/main">
            <a:r>
              <a:t>      },</a:t>
            </a:r>
          </a:p>
          <a:p xmlns:a="http://schemas.openxmlformats.org/drawingml/2006/main">
            <a:r>
              <a:t>      "data": {</a:t>
            </a:r>
          </a:p>
          <a:p xmlns:a="http://schemas.openxmlformats.org/drawingml/2006/main">
            <a:r>
              <a:t>        "source": "업무 문맥·평가 기록",</a:t>
            </a:r>
          </a:p>
          <a:p xmlns:a="http://schemas.openxmlformats.org/drawingml/2006/main">
            <a:r>
              <a:t>        "prepare": "업무 자료와 사용·설문·과업 평가 기록 분리",</a:t>
            </a:r>
          </a:p>
          <a:p xmlns:a="http://schemas.openxmlformats.org/drawingml/2006/main">
            <a:r>
              <a:t>        "output": "과업 요청",</a:t>
            </a:r>
          </a:p>
          <a:p xmlns:a="http://schemas.openxmlformats.org/drawingml/2006/main">
            <a:r>
              <a:t>        "refresh": "기관·과업별 효과와 학습 부담·실패 비용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"PF-A15",</a:t>
            </a:r>
          </a:p>
          <a:p xmlns:a="http://schemas.openxmlformats.org/drawingml/2006/main">
            <a:r>
              <a:t>    "success": [</a:t>
            </a:r>
          </a:p>
          <a:p xmlns:a="http://schemas.openxmlformats.org/drawingml/2006/main">
            <a:r>
              <a:t>      "기존 협업 환경과 교육 결합",</a:t>
            </a:r>
          </a:p>
          <a:p xmlns:a="http://schemas.openxmlformats.org/drawingml/2006/main">
            <a:r>
              <a:t>      "참여기관의 전후 평가"</a:t>
            </a:r>
          </a:p>
          <a:p xmlns:a="http://schemas.openxmlformats.org/drawingml/2006/main">
            <a:r>
              <a:t>    ],</a:t>
            </a:r>
          </a:p>
          <a:p xmlns:a="http://schemas.openxmlformats.org/drawingml/2006/main">
            <a:r>
              <a:t>    "risks": [</a:t>
            </a:r>
          </a:p>
          <a:p xmlns:a="http://schemas.openxmlformats.org/drawingml/2006/main">
            <a:r>
              <a:t>      "학습·조직 준비도 차이",</a:t>
            </a:r>
          </a:p>
          <a:p xmlns:a="http://schemas.openxmlformats.org/drawingml/2006/main">
            <a:r>
              <a:t>      "설문 변화의 인과효과 단정"</a:t>
            </a:r>
          </a:p>
          <a:p xmlns:a="http://schemas.openxmlformats.org/drawingml/2006/main">
            <a:r>
              <a:t>    ],</a:t>
            </a:r>
          </a:p>
          <a:p xmlns:a="http://schemas.openxmlformats.org/drawingml/2006/main">
            <a:r>
              <a:t>    "architecture": [</a:t>
            </a:r>
          </a:p>
          <a:p xmlns:a="http://schemas.openxmlformats.org/drawingml/2006/main">
            <a:r>
              <a:t>      "APS 참여기관",</a:t>
            </a:r>
          </a:p>
          <a:p xmlns:a="http://schemas.openxmlformats.org/drawingml/2006/main">
            <a:r>
              <a:t>      "M365 Copilot",</a:t>
            </a:r>
          </a:p>
          <a:p xmlns:a="http://schemas.openxmlformats.org/drawingml/2006/main">
            <a:r>
              <a:t>      "업무 문맥·평가 기록",</a:t>
            </a:r>
          </a:p>
          <a:p xmlns:a="http://schemas.openxmlformats.org/drawingml/2006/main">
            <a:r>
              <a:t>      "직원·평가팀"</a:t>
            </a:r>
          </a:p>
          <a:p xmlns:a="http://schemas.openxmlformats.org/drawingml/2006/main">
            <a:r>
              <a:t>    ],</a:t>
            </a:r>
          </a:p>
          <a:p xmlns:a="http://schemas.openxmlformats.org/drawingml/2006/main">
            <a:r>
              <a:t>    "transfers": [</a:t>
            </a:r>
          </a:p>
          <a:p xmlns:a="http://schemas.openxmlformats.org/drawingml/2006/main">
            <a:r>
              <a:t>      "과업 요청",</a:t>
            </a:r>
          </a:p>
          <a:p xmlns:a="http://schemas.openxmlformats.org/drawingml/2006/main">
            <a:r>
              <a:t>      "지원 결과",</a:t>
            </a:r>
          </a:p>
          <a:p xmlns:a="http://schemas.openxmlformats.org/drawingml/2006/main">
            <a:r>
              <a:t>      "현업 활용",</a:t>
            </a:r>
          </a:p>
          <a:p xmlns:a="http://schemas.openxmlformats.org/drawingml/2006/main">
            <a:r>
              <a:t>      "전후 평가"</a:t>
            </a:r>
          </a:p>
          <a:p xmlns:a="http://schemas.openxmlformats.org/drawingml/2006/main">
            <a:r>
              <a:t>    ],</a:t>
            </a:r>
          </a:p>
          <a:p xmlns:a="http://schemas.openxmlformats.org/drawingml/2006/main">
            <a:r>
              <a:t>    "control": "과업·숙련도별 비교와 실패 비용 포함",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P139 / 교육·도입 정착·평가 한계 https://www.digital.gov.au/initiatives/copilot-trial/microsoft-365-copilot-evaluation-report-full/executive-summary-glossary</a:t>
            </a:r>
          </a:p>
          <a:p xmlns:a="http://schemas.openxmlformats.org/drawingml/2006/main">
            <a:r>
              <a:t>홈페이지 https://heen1987-ops.github.io/TS-business-Plan-001/index.html?view=platform-cases&amp;case=PF-A15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a:p xmlns:a="http://schemas.openxmlformats.org/drawingml/2006/main">
            <a:r>
              <a:t>한계: 12만명 전사 확대는 발표 계획과 초기11,000명 실적을 구분. 독립 ROI 검증 아님</a:t>
            </a:r>
          </a:p>
          <a:p xmlns:a="http://schemas.openxmlformats.org/drawingml/2006/main">
            <a:r>
              <a:t>실패 위험: 활용자 수와 업무 완결성의 차이 / 규제·민감자료 통제의 확장 부담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"PF-A16",</a:t>
            </a:r>
          </a:p>
          <a:p xmlns:a="http://schemas.openxmlformats.org/drawingml/2006/main">
            <a:r>
              <a:t>    "sourceId": "A16",</a:t>
            </a:r>
          </a:p>
          <a:p xmlns:a="http://schemas.openxmlformats.org/drawingml/2006/main">
            <a:r>
              <a:t>    "title": "BBVA 기업 AI 도입",</a:t>
            </a:r>
          </a:p>
          <a:p xmlns:a="http://schemas.openxmlformats.org/drawingml/2006/main">
            <a:r>
              <a:t>    "region": "해외",</a:t>
            </a:r>
          </a:p>
          <a:p xmlns:a="http://schemas.openxmlformats.org/drawingml/2006/main">
            <a:r>
              <a:t>    "owner": "BBVA / 기업 AI 도입",</a:t>
            </a:r>
          </a:p>
          <a:p xmlns:a="http://schemas.openxmlformats.org/drawingml/2006/main">
            <a:r>
              <a:t>    "state": "초기11,000명 활용 후 전사 확대 협약(2025-12)",</a:t>
            </a:r>
          </a:p>
          <a:p xmlns:a="http://schemas.openxmlformats.org/drawingml/2006/main">
            <a:r>
              <a:t>    "period": "기존 원장 확인 2026.10.16",</a:t>
            </a:r>
          </a:p>
          <a:p xmlns:a="http://schemas.openxmlformats.org/drawingml/2006/main">
            <a:r>
              <a:t>    "fact": "전사 AX 확산·업무용 AI",</a:t>
            </a:r>
          </a:p>
          <a:p xmlns:a="http://schemas.openxmlformats.org/drawingml/2006/main">
            <a:r>
              <a:t>    "limit": "12만명 전사 확대는 발표 계획과 초기11,000명 실적을 구분. 독립 ROI 검증 아님",</a:t>
            </a:r>
          </a:p>
          <a:p xmlns:a="http://schemas.openxmlformats.org/drawingml/2006/main">
            <a:r>
              <a:t>    "nodes": [</a:t>
            </a:r>
          </a:p>
          <a:p xmlns:a="http://schemas.openxmlformats.org/drawingml/2006/main">
            <a:r>
              <a:t>      "기업 AI 환경",</a:t>
            </a:r>
          </a:p>
          <a:p xmlns:a="http://schemas.openxmlformats.org/drawingml/2006/main">
            <a:r>
              <a:t>      "업무 GPT",</a:t>
            </a:r>
          </a:p>
          <a:p xmlns:a="http://schemas.openxmlformats.org/drawingml/2006/main">
            <a:r>
              <a:t>      "현업 활용 지원",</a:t>
            </a:r>
          </a:p>
          <a:p xmlns:a="http://schemas.openxmlformats.org/drawingml/2006/main">
            <a:r>
              <a:t>      "확산·성과 관측"</a:t>
            </a:r>
          </a:p>
          <a:p xmlns:a="http://schemas.openxmlformats.org/drawingml/2006/main">
            <a:r>
              <a:t>    ],</a:t>
            </a:r>
          </a:p>
          <a:p xmlns:a="http://schemas.openxmlformats.org/drawingml/2006/main">
            <a:r>
              <a:t>    "apply": "공통 플랫폼과 현업 활용 발굴·교육·검토를 담당하는 확산 조직의 결합",</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"https://www.bbva.com/en/innovation/bbva-and-openai-seal-a-strategic-alliance-to-redefine-banking-with-artificial-intelligence/",</a:t>
            </a:r>
          </a:p>
          <a:p xmlns:a="http://schemas.openxmlformats.org/drawingml/2006/main">
            <a:r>
              <a:t>    "urls": [</a:t>
            </a:r>
          </a:p>
          <a:p xmlns:a="http://schemas.openxmlformats.org/drawingml/2006/main">
            <a:r>
              <a:t>      "https://www.bbva.com/en/innovation/bbva-and-openai-seal-a-strategic-alliance-to-redefine-banking-with-artificial-intelligence/",</a:t>
            </a:r>
          </a:p>
          <a:p xmlns:a="http://schemas.openxmlformats.org/drawingml/2006/main">
            <a:r>
              <a:t>      "https://www.bbva.com/en/innovation/alvaro-martin-bbva-ai-is-changing-the-way-we-work-and-serve-our-customers/"</a:t>
            </a:r>
          </a:p>
          <a:p xmlns:a="http://schemas.openxmlformats.org/drawingml/2006/main">
            <a:r>
              <a:t>    ],</a:t>
            </a:r>
          </a:p>
          <a:p xmlns:a="http://schemas.openxmlformats.org/drawingml/2006/main">
            <a:r>
              <a:t>    "basis": "T106·P139 / 조직 확산·업무성과",</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"PF-A16",</a:t>
            </a:r>
          </a:p>
          <a:p xmlns:a="http://schemas.openxmlformats.org/drawingml/2006/main">
            <a:r>
              <a:t>    "canonicalId": "PF-A16",</a:t>
            </a:r>
          </a:p>
          <a:p xmlns:a="http://schemas.openxmlformats.org/drawingml/2006/main">
            <a:r>
              <a:t>    "purpose": "전사 공통 AI와 현업 GPT 활용의 확산",</a:t>
            </a:r>
          </a:p>
          <a:p xmlns:a="http://schemas.openxmlformats.org/drawingml/2006/main">
            <a:r>
              <a:t>    "users": "은행 직원·AI 채택 조직",</a:t>
            </a:r>
          </a:p>
          <a:p xmlns:a="http://schemas.openxmlformats.org/drawingml/2006/main">
            <a:r>
              <a:t>    "scope": [</a:t>
            </a:r>
          </a:p>
          <a:p xmlns:a="http://schemas.openxmlformats.org/drawingml/2006/main">
            <a:r>
              <a:t>      "기업 AI",</a:t>
            </a:r>
          </a:p>
          <a:p xmlns:a="http://schemas.openxmlformats.org/drawingml/2006/main">
            <a:r>
              <a:t>      "전문화 GPT",</a:t>
            </a:r>
          </a:p>
          <a:p xmlns:a="http://schemas.openxmlformats.org/drawingml/2006/main">
            <a:r>
              <a:t>      "활용 지원"</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"은행 직원",</a:t>
            </a:r>
          </a:p>
          <a:p xmlns:a="http://schemas.openxmlformats.org/drawingml/2006/main">
            <a:r>
              <a:t>        "detail": "사용자·업무 목적·민감자료 범위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"기업 AI / 전문화 GPT / 활용 지원",</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"기업 AI·업무 GPT",</a:t>
            </a:r>
          </a:p>
          <a:p xmlns:a="http://schemas.openxmlformats.org/drawingml/2006/main">
            <a:r>
              <a:t>        "detail": "공통 AI와 전문화 GPT의 지시·자료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"현업 검토자",</a:t>
            </a:r>
          </a:p>
          <a:p xmlns:a="http://schemas.openxmlformats.org/drawingml/2006/main">
            <a:r>
              <a:t>        "detail": "담당자가 검토한 업무 결과의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"업무 문맥·지식",</a:t>
            </a:r>
          </a:p>
          <a:p xmlns:a="http://schemas.openxmlformats.org/drawingml/2006/main">
            <a:r>
              <a:t>        "detail": "현업 지식·프롬프트·검토 결과의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"전담 조직의 교육·활용 발굴·성과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"기업 AI 환경",</a:t>
            </a:r>
          </a:p>
          <a:p xmlns:a="http://schemas.openxmlformats.org/drawingml/2006/main">
            <a:r>
              <a:t>        "input": "사용자·업무 목적·민감자료 범위 확인",</a:t>
            </a:r>
          </a:p>
          <a:p xmlns:a="http://schemas.openxmlformats.org/drawingml/2006/main">
            <a:r>
              <a:t>        "process": "현업 지식·프롬프트·검토 결과의 관리",</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"title": "업무 GPT",</a:t>
            </a:r>
          </a:p>
          <a:p xmlns:a="http://schemas.openxmlformats.org/drawingml/2006/main">
            <a:r>
              <a:t>        "input": "업무 목적",</a:t>
            </a:r>
          </a:p>
          <a:p xmlns:a="http://schemas.openxmlformats.org/drawingml/2006/main">
            <a:r>
              <a:t>        "process": "공통 AI와 전문화 GPT의 지시·자료 연결",</a:t>
            </a:r>
          </a:p>
          <a:p xmlns:a="http://schemas.openxmlformats.org/drawingml/2006/main">
            <a:r>
              <a:t>        "output": "GPT 문맥"</a:t>
            </a:r>
          </a:p>
          <a:p xmlns:a="http://schemas.openxmlformats.org/drawingml/2006/main">
            <a:r>
              <a:t>      },</a:t>
            </a:r>
          </a:p>
          <a:p xmlns:a="http://schemas.openxmlformats.org/drawingml/2006/main">
            <a:r>
              <a:t>      {</a:t>
            </a:r>
          </a:p>
          <a:p xmlns:a="http://schemas.openxmlformats.org/drawingml/2006/main">
            <a:r>
              <a:t>        "title": "현업 활용 지원",</a:t>
            </a:r>
          </a:p>
          <a:p xmlns:a="http://schemas.openxmlformats.org/drawingml/2006/main">
            <a:r>
              <a:t>        "input": "GPT 문맥",</a:t>
            </a:r>
          </a:p>
          <a:p xmlns:a="http://schemas.openxmlformats.org/drawingml/2006/main">
            <a:r>
              <a:t>        "process": "부서별 권한·완료율·재작업 평가",</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"title": "확산·성과 관측",</a:t>
            </a:r>
          </a:p>
          <a:p xmlns:a="http://schemas.openxmlformats.org/drawingml/2006/main">
            <a:r>
              <a:t>        "input": "업무 결과",</a:t>
            </a:r>
          </a:p>
          <a:p xmlns:a="http://schemas.openxmlformats.org/drawingml/2006/main">
            <a:r>
              <a:t>        "process":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"현업 GPT를 구성하고 담당 조직이 교육·활용 지원",</a:t>
            </a:r>
          </a:p>
          <a:p xmlns:a="http://schemas.openxmlformats.org/drawingml/2006/main">
            <a:r>
              <a:t>      "exception": "승인되지 않은 지식·민감 입력·성과 자기보고 편향",</a:t>
            </a:r>
          </a:p>
          <a:p xmlns:a="http://schemas.openxmlformats.org/drawingml/2006/main">
            <a:r>
              <a:t>      "evidence": "업무별 수용률·오류·완료시간·입력 통제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"은행 직원·AI 채택 조직",</a:t>
            </a:r>
          </a:p>
          <a:p xmlns:a="http://schemas.openxmlformats.org/drawingml/2006/main">
            <a:r>
              <a:t>          "processing": "사용자·업무 목적·민감자료 범위 확인",</a:t>
            </a:r>
          </a:p>
          <a:p xmlns:a="http://schemas.openxmlformats.org/drawingml/2006/main">
            <a:r>
              <a:t>          "output": "업무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"업무 문맥·지식",</a:t>
            </a:r>
          </a:p>
          <a:p xmlns:a="http://schemas.openxmlformats.org/drawingml/2006/main">
            <a:r>
              <a:t>          "processing": "현업 지식·프롬프트·검토 결과의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목적",</a:t>
            </a:r>
          </a:p>
          <a:p xmlns:a="http://schemas.openxmlformats.org/drawingml/2006/main">
            <a:r>
              <a:t>          "processing": "공통 AI와 전문화 GPT의 지시·자료 연결",</a:t>
            </a:r>
          </a:p>
          <a:p xmlns:a="http://schemas.openxmlformats.org/drawingml/2006/main">
            <a:r>
              <a:t>          "output": "업무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결과",</a:t>
            </a:r>
          </a:p>
          <a:p xmlns:a="http://schemas.openxmlformats.org/drawingml/2006/main">
            <a:r>
              <a:t>          "processing": "담당자가 검토한 업무 결과의 활용",</a:t>
            </a:r>
          </a:p>
          <a:p xmlns:a="http://schemas.openxmlformats.org/drawingml/2006/main">
            <a:r>
              <a:t>          "output": "활용·평가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"전담 조직의 교육·활용 발굴·성과 검토",</a:t>
            </a:r>
          </a:p>
          <a:p xmlns:a="http://schemas.openxmlformats.org/drawingml/2006/main">
            <a:r>
              <a:t>          "output": "업무별 수용률·오류·완료시간·입력 통제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"전담 조직의 교육·활용 발굴·성과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"T106·P139 / 조직 확산·업무성과",</a:t>
            </a:r>
          </a:p>
          <a:p xmlns:a="http://schemas.openxmlformats.org/drawingml/2006/main">
            <a:r>
              <a:t>        "url": "https://www.bbva.com/en/innovation/bbva-and-openai-seal-a-strategic-alliance-to-redefine-banking-with-artificial-intelligence/"</a:t>
            </a:r>
          </a:p>
          <a:p xmlns:a="http://schemas.openxmlformats.org/drawingml/2006/main">
            <a:r>
              <a:t>      }</a:t>
            </a:r>
          </a:p>
          <a:p xmlns:a="http://schemas.openxmlformats.org/drawingml/2006/main">
            <a:r>
              <a:t>    ],</a:t>
            </a:r>
          </a:p>
          <a:p xmlns:a="http://schemas.openxmlformats.org/drawingml/2006/main">
            <a:r>
              <a:t>    "implication": "공통 플랫폼과 현업 활용 발굴·교육·검토를 담당하는 확산 조직의 결합",</a:t>
            </a:r>
          </a:p>
          <a:p xmlns:a="http://schemas.openxmlformats.org/drawingml/2006/main">
            <a:r>
              <a:t>    "local": "공통 플랫폼과 현업 활용 발굴·교육·검토를 담당하는 확산 조직의 결합",</a:t>
            </a:r>
          </a:p>
          <a:p xmlns:a="http://schemas.openxmlformats.org/drawingml/2006/main">
            <a:r>
              <a:t>    "sourceDetail": "ChatGPT Enterprise·전문화 GPT와 전사 활용 발굴, Global AI Adoption 조직\n전담 채택 조직·현업 사례 확장, 안전한 기업 이용환경",</a:t>
            </a:r>
          </a:p>
          <a:p xmlns:a="http://schemas.openxmlformats.org/drawingml/2006/main">
            <a:r>
              <a:t>    "narrative": [</a:t>
            </a:r>
          </a:p>
          <a:p xmlns:a="http://schemas.openxmlformats.org/drawingml/2006/main">
            <a:r>
              <a:t>      "BBVA의 전사 AI 활용과 전문화 GPT 확산 사례. 공통 도구 도입 이후 현업 사용자가 자신의 업무에 맞는 지시·자료를 구성하고 전담 조직이 활용과 교육을 지원하는 운영 방식.",</a:t>
            </a:r>
          </a:p>
          <a:p xmlns:a="http://schemas.openxmlformats.org/drawingml/2006/main">
            <a:r>
              <a:t>      "직원 접근, 기업용 AI 환경, 업무별 GPT, 지식·프롬프트 관리, 현업 검토, 활용 피드백의 흐름으로 재구성. 실제 내부 권한 구현은 공개된 활용 설명과 구분하고 민감 자료 입력과 업무 결과 사용의 책임을 별도 설계.",</a:t>
            </a:r>
          </a:p>
          <a:p xmlns:a="http://schemas.openxmlformats.org/drawingml/2006/main">
            <a:r>
              <a:t>      "TS에서의 비교 기준은 생성한 봇 수보다 검증된 업무 단위의 정착 여부. 부서 소유자·업무 범위·근거 자료·시험 결과·중단 조건을 갖춘 서비스 목록을 운영하고 전보 이후 소유권 이전을 공통 기능으로 관리할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"직원·GPT 접점",</a:t>
            </a:r>
          </a:p>
          <a:p xmlns:a="http://schemas.openxmlformats.org/drawingml/2006/main">
            <a:r>
              <a:t>          "layer": "이용 접점",</a:t>
            </a:r>
          </a:p>
          <a:p xmlns:a="http://schemas.openxmlformats.org/drawingml/2006/main">
            <a:r>
              <a:t>          "detail": "은행 직원·AI 채택 조직",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"업무·민감범위",</a:t>
            </a:r>
          </a:p>
          <a:p xmlns:a="http://schemas.openxmlformats.org/drawingml/2006/main">
            <a:r>
              <a:t>          "layer": "업무 문맥",</a:t>
            </a:r>
          </a:p>
          <a:p xmlns:a="http://schemas.openxmlformats.org/drawingml/2006/main">
            <a:r>
              <a:t>          "detail": "사용자·업무 목적·민감자료 범위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"현업 지식 조회",</a:t>
            </a:r>
          </a:p>
          <a:p xmlns:a="http://schemas.openxmlformats.org/drawingml/2006/main">
            <a:r>
              <a:t>          "layer": "자료 조회",</a:t>
            </a:r>
          </a:p>
          <a:p xmlns:a="http://schemas.openxmlformats.org/drawingml/2006/main">
            <a:r>
              <a:t>          "detail": "업무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"기업 AI·전문화 GPT",</a:t>
            </a:r>
          </a:p>
          <a:p xmlns:a="http://schemas.openxmlformats.org/drawingml/2006/main">
            <a:r>
              <a:t>          "layer": "핵심 처리",</a:t>
            </a:r>
          </a:p>
          <a:p xmlns:a="http://schemas.openxmlformats.org/drawingml/2006/main">
            <a:r>
              <a:t>          "detail": "공통 AI와 전문화 GPT의 지시·자료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"근거·권한 검사",</a:t>
            </a:r>
          </a:p>
          <a:p xmlns:a="http://schemas.openxmlformats.org/drawingml/2006/main">
            <a:r>
              <a:t>          "layer": "결과 검증",</a:t>
            </a:r>
          </a:p>
          <a:p xmlns:a="http://schemas.openxmlformats.org/drawingml/2006/main">
            <a:r>
              <a:t>          "detail": "부서별 권한·완료율·재작업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"업무 담당 확인",</a:t>
            </a:r>
          </a:p>
          <a:p xmlns:a="http://schemas.openxmlformats.org/drawingml/2006/main">
            <a:r>
              <a:t>          "layer": "사람 확인",</a:t>
            </a:r>
          </a:p>
          <a:p xmlns:a="http://schemas.openxmlformats.org/drawingml/2006/main">
            <a:r>
              <a:t>          "detail": "현업 GPT를 구성하고 담당 조직이 교육·활용 지원",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"현업 결과 활용",</a:t>
            </a:r>
          </a:p>
          <a:p xmlns:a="http://schemas.openxmlformats.org/drawingml/2006/main">
            <a:r>
              <a:t>          "layer": "업무 연결",</a:t>
            </a:r>
          </a:p>
          <a:p xmlns:a="http://schemas.openxmlformats.org/drawingml/2006/main">
            <a:r>
              <a:t>          "detail": "담당자가 검토한 업무 결과의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"채택 조직 평가",</a:t>
            </a:r>
          </a:p>
          <a:p xmlns:a="http://schemas.openxmlformats.org/drawingml/2006/main">
            <a:r>
              <a:t>          "layer": "운영 관측",</a:t>
            </a:r>
          </a:p>
          <a:p xmlns:a="http://schemas.openxmlformats.org/drawingml/2006/main">
            <a:r>
              <a:t>          "detail": "전담 조직의 교육·활용 발굴·성과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"현업 지식·지시",</a:t>
            </a:r>
          </a:p>
          <a:p xmlns:a="http://schemas.openxmlformats.org/drawingml/2006/main">
            <a:r>
              <a:t>          "layer": "데이터 원천",</a:t>
            </a:r>
          </a:p>
          <a:p xmlns:a="http://schemas.openxmlformats.org/drawingml/2006/main">
            <a:r>
              <a:t>          "detail": "업무 문맥·지식",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"프롬프트·판본 정리",</a:t>
            </a:r>
          </a:p>
          <a:p xmlns:a="http://schemas.openxmlformats.org/drawingml/2006/main">
            <a:r>
              <a:t>          "layer": "준비·갱신",</a:t>
            </a:r>
          </a:p>
          <a:p xmlns:a="http://schemas.openxmlformats.org/drawingml/2006/main">
            <a:r>
              <a:t>          "detail": "현업 지식·프롬프트·검토 결과의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"GPT·활용 기록",</a:t>
            </a:r>
          </a:p>
          <a:p xmlns:a="http://schemas.openxmlformats.org/drawingml/2006/main">
            <a:r>
              <a:t>          "layer": "상태·지식 저장",</a:t>
            </a:r>
          </a:p>
          <a:p xmlns:a="http://schemas.openxmlformats.org/drawingml/2006/main">
            <a:r>
              <a:t>          "detail": "업무별 수용률·오류·완료시간·입력 통제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"부서별 이용범위",</a:t>
            </a:r>
          </a:p>
          <a:p xmlns:a="http://schemas.openxmlformats.org/drawingml/2006/main">
            <a:r>
              <a:t>          "layer": "권한·정책",</a:t>
            </a:r>
          </a:p>
          <a:p xmlns:a="http://schemas.openxmlformats.org/drawingml/2006/main">
            <a:r>
              <a:t>          "detail": "승인되지 않은 지식·민감 입력·성과 자기보고 편향",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"기업 AI 환경 → 업무 GPT → 현업 활용 지원 → 확산·성과 관측"</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"사용자·업무 목적·민감자료 범위 확인",</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목적",</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"부서별 이용범위",</a:t>
            </a:r>
          </a:p>
          <a:p xmlns:a="http://schemas.openxmlformats.org/drawingml/2006/main">
            <a:r>
              <a:t>          "check": "부서별 권한·완료율·재작업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"업무 결과",</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"업무 결과",</a:t>
            </a:r>
          </a:p>
          <a:p xmlns:a="http://schemas.openxmlformats.org/drawingml/2006/main">
            <a:r>
              <a:t>          "check": "승인되지 않은 지식·민감 입력·성과 자기보고 편향"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"활용·평가 기록",</a:t>
            </a:r>
          </a:p>
          <a:p xmlns:a="http://schemas.openxmlformats.org/drawingml/2006/main">
            <a:r>
              <a:t>          "check": "업무별 수용률·오류·완료시간·입력 통제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"전사 공통 AI와 현업 GPT 활용의 확산 / 기업 AI·전문화 GPT·활용 지원",</a:t>
            </a:r>
          </a:p>
          <a:p xmlns:a="http://schemas.openxmlformats.org/drawingml/2006/main">
            <a:r>
              <a:t>        "extension": "공통 플랫폼과 현업 활용 발굴·교육·검토를 담당하는 확산 조직의 결합"</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"승인되지 않은 지식·민감 입력·성과 자기보고 편향",</a:t>
            </a:r>
          </a:p>
          <a:p xmlns:a="http://schemas.openxmlformats.org/drawingml/2006/main">
            <a:r>
              <a:t>        "hold": "부서별 권한·완료율·재작업 평가",</a:t>
            </a:r>
          </a:p>
          <a:p xmlns:a="http://schemas.openxmlformats.org/drawingml/2006/main">
            <a:r>
              <a:t>        "recovery": "전담 조직의 교육·활용 발굴·성과 검토",</a:t>
            </a:r>
          </a:p>
          <a:p xmlns:a="http://schemas.openxmlformats.org/drawingml/2006/main">
            <a:r>
              <a:t>        "evidence": "업무별 수용률·오류·완료시간·입력 통제 결과"</a:t>
            </a:r>
          </a:p>
          <a:p xmlns:a="http://schemas.openxmlformats.org/drawingml/2006/main">
            <a:r>
              <a:t>      },</a:t>
            </a:r>
          </a:p>
          <a:p xmlns:a="http://schemas.openxmlformats.org/drawingml/2006/main">
            <a:r>
              <a:t>      "data": {</a:t>
            </a:r>
          </a:p>
          <a:p xmlns:a="http://schemas.openxmlformats.org/drawingml/2006/main">
            <a:r>
              <a:t>        "source": "업무 문맥·지식",</a:t>
            </a:r>
          </a:p>
          <a:p xmlns:a="http://schemas.openxmlformats.org/drawingml/2006/main">
            <a:r>
              <a:t>        "prepare": "현업 지식·프롬프트·검토 결과의 관리",</a:t>
            </a:r>
          </a:p>
          <a:p xmlns:a="http://schemas.openxmlformats.org/drawingml/2006/main">
            <a:r>
              <a:t>        "output": "업무 목적",</a:t>
            </a:r>
          </a:p>
          <a:p xmlns:a="http://schemas.openxmlformats.org/drawingml/2006/main">
            <a:r>
              <a:t>        "refresh": "전담 조직의 교육·활용 발굴·성과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"PF-A16",</a:t>
            </a:r>
          </a:p>
          <a:p xmlns:a="http://schemas.openxmlformats.org/drawingml/2006/main">
            <a:r>
              <a:t>    "success": [</a:t>
            </a:r>
          </a:p>
          <a:p xmlns:a="http://schemas.openxmlformats.org/drawingml/2006/main">
            <a:r>
              <a:t>      "현업 업무 GPT의 구성",</a:t>
            </a:r>
          </a:p>
          <a:p xmlns:a="http://schemas.openxmlformats.org/drawingml/2006/main">
            <a:r>
              <a:t>      "교육·활용 지원과 단계적 확산"</a:t>
            </a:r>
          </a:p>
          <a:p xmlns:a="http://schemas.openxmlformats.org/drawingml/2006/main">
            <a:r>
              <a:t>    ],</a:t>
            </a:r>
          </a:p>
          <a:p xmlns:a="http://schemas.openxmlformats.org/drawingml/2006/main">
            <a:r>
              <a:t>    "risks": [</a:t>
            </a:r>
          </a:p>
          <a:p xmlns:a="http://schemas.openxmlformats.org/drawingml/2006/main">
            <a:r>
              <a:t>      "활용자 수와 업무 완결성의 차이",</a:t>
            </a:r>
          </a:p>
          <a:p xmlns:a="http://schemas.openxmlformats.org/drawingml/2006/main">
            <a:r>
              <a:t>      "규제·민감자료 통제의 확장 부담"</a:t>
            </a:r>
          </a:p>
          <a:p xmlns:a="http://schemas.openxmlformats.org/drawingml/2006/main">
            <a:r>
              <a:t>    ],</a:t>
            </a:r>
          </a:p>
          <a:p xmlns:a="http://schemas.openxmlformats.org/drawingml/2006/main">
            <a:r>
              <a:t>    "architecture": [</a:t>
            </a:r>
          </a:p>
          <a:p xmlns:a="http://schemas.openxmlformats.org/drawingml/2006/main">
            <a:r>
              <a:t>      "은행 직원",</a:t>
            </a:r>
          </a:p>
          <a:p xmlns:a="http://schemas.openxmlformats.org/drawingml/2006/main">
            <a:r>
              <a:t>      "기업 AI·업무 GPT",</a:t>
            </a:r>
          </a:p>
          <a:p xmlns:a="http://schemas.openxmlformats.org/drawingml/2006/main">
            <a:r>
              <a:t>      "업무 문맥·지식",</a:t>
            </a:r>
          </a:p>
          <a:p xmlns:a="http://schemas.openxmlformats.org/drawingml/2006/main">
            <a:r>
              <a:t>      "현업 검토자"</a:t>
            </a:r>
          </a:p>
          <a:p xmlns:a="http://schemas.openxmlformats.org/drawingml/2006/main">
            <a:r>
              <a:t>    ],</a:t>
            </a:r>
          </a:p>
          <a:p xmlns:a="http://schemas.openxmlformats.org/drawingml/2006/main">
            <a:r>
              <a:t>    "transfers": [</a:t>
            </a:r>
          </a:p>
          <a:p xmlns:a="http://schemas.openxmlformats.org/drawingml/2006/main">
            <a:r>
              <a:t>      "업무 목적",</a:t>
            </a:r>
          </a:p>
          <a:p xmlns:a="http://schemas.openxmlformats.org/drawingml/2006/main">
            <a:r>
              <a:t>      "GPT 문맥",</a:t>
            </a:r>
          </a:p>
          <a:p xmlns:a="http://schemas.openxmlformats.org/drawingml/2006/main">
            <a:r>
              <a:t>      "업무 결과",</a:t>
            </a:r>
          </a:p>
          <a:p xmlns:a="http://schemas.openxmlformats.org/drawingml/2006/main">
            <a:r>
              <a:t>      "활용·평가 기록"</a:t>
            </a:r>
          </a:p>
          <a:p xmlns:a="http://schemas.openxmlformats.org/drawingml/2006/main">
            <a:r>
              <a:t>    ],</a:t>
            </a:r>
          </a:p>
          <a:p xmlns:a="http://schemas.openxmlformats.org/drawingml/2006/main">
            <a:r>
              <a:t>    "control": "부서별 권한·완료율·재작업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T106·P139 / 조직 확산·업무성과 https://www.bbva.com/en/innovation/bbva-and-openai-seal-a-strategic-alliance-to-redefine-banking-with-artificial-intelligence/</a:t>
            </a:r>
          </a:p>
          <a:p xmlns:a="http://schemas.openxmlformats.org/drawingml/2006/main">
            <a:r>
              <a:t>홈페이지 https://heen1987-ops.github.io/TS-business-Plan-001/index.html?view=platform-cases&amp;case=PF-A16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a:p xmlns:a="http://schemas.openxmlformats.org/drawingml/2006/main">
            <a:r>
              <a:t>한계: Assistant 채택률과 Debrief 시간절감의 구분 · 사용자 동의·편집 판단 포함</a:t>
            </a:r>
          </a:p>
          <a:p xmlns:a="http://schemas.openxmlformats.org/drawingml/2006/main">
            <a:r>
              <a:t>실패 위험: 대화의 잘못된 요약·할일 추출 / 확인 전 CRM·이메일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"PF08",</a:t>
            </a:r>
          </a:p>
          <a:p xmlns:a="http://schemas.openxmlformats.org/drawingml/2006/main">
            <a:r>
              <a:t>    "sourceId": "A17",</a:t>
            </a:r>
          </a:p>
          <a:p xmlns:a="http://schemas.openxmlformats.org/drawingml/2006/main">
            <a:r>
              <a:t>    "title": "Morgan Stanley Assistant·Debrief",</a:t>
            </a:r>
          </a:p>
          <a:p xmlns:a="http://schemas.openxmlformats.org/drawingml/2006/main">
            <a:r>
              <a:t>    "region": "해외",</a:t>
            </a:r>
          </a:p>
          <a:p xmlns:a="http://schemas.openxmlformats.org/drawingml/2006/main">
            <a:r>
              <a:t>    "owner": "Morgan Stanley",</a:t>
            </a:r>
          </a:p>
          <a:p xmlns:a="http://schemas.openxmlformats.org/drawingml/2006/main">
            <a:r>
              <a:t>    "state": "업무 도구 운영 · 기업 발표",</a:t>
            </a:r>
          </a:p>
          <a:p xmlns:a="http://schemas.openxmlformats.org/drawingml/2006/main">
            <a:r>
              <a:t>    "period": "2023 Assistant / 2024 Debrief",</a:t>
            </a:r>
          </a:p>
          <a:p xmlns:a="http://schemas.openxmlformats.org/drawingml/2006/main">
            <a:r>
              <a:t>    "fact": "사내 지식 검색과 동의받은 회의 요약·후속조치·CRM 기록의 업무 흐름 결합",</a:t>
            </a:r>
          </a:p>
          <a:p xmlns:a="http://schemas.openxmlformats.org/drawingml/2006/main">
            <a:r>
              <a:t>    "limit": "Assistant 채택률과 Debrief 시간절감의 구분 · 사용자 동의·편집 판단 포함",</a:t>
            </a:r>
          </a:p>
          <a:p xmlns:a="http://schemas.openxmlformats.org/drawingml/2006/main">
            <a:r>
              <a:t>    "nodes": [</a:t>
            </a:r>
          </a:p>
          <a:p xmlns:a="http://schemas.openxmlformats.org/drawingml/2006/main">
            <a:r>
              <a:t>      "동의받은 회의",</a:t>
            </a:r>
          </a:p>
          <a:p xmlns:a="http://schemas.openxmlformats.org/drawingml/2006/main">
            <a:r>
              <a:t>      "요약·후속조치 초안",</a:t>
            </a:r>
          </a:p>
          <a:p xmlns:a="http://schemas.openxmlformats.org/drawingml/2006/main">
            <a:r>
              <a:t>      "자문가 편집·확인",</a:t>
            </a:r>
          </a:p>
          <a:p xmlns:a="http://schemas.openxmlformats.org/drawingml/2006/main">
            <a:r>
              <a:t>      "CRM·이메일 업무"</a:t>
            </a:r>
          </a:p>
          <a:p xmlns:a="http://schemas.openxmlformats.org/drawingml/2006/main">
            <a:r>
              <a:t>    ],</a:t>
            </a:r>
          </a:p>
          <a:p xmlns:a="http://schemas.openxmlformats.org/drawingml/2006/main">
            <a:r>
              <a:t>    "apply": "회의 동의·요약 확인·할일 수정·업무시스템 반영의 단계별 책임 연결",</a:t>
            </a:r>
          </a:p>
          <a:p xmlns:a="http://schemas.openxmlformats.org/drawingml/2006/main">
            <a:r>
              <a:t>    "delta": "전결·발송 확인 / 원문 근거 / 진행상태·인사이동 인계",</a:t>
            </a:r>
          </a:p>
          <a:p xmlns:a="http://schemas.openxmlformats.org/drawingml/2006/main">
            <a:r>
              <a:t>    "test": "발송 전 확인·판본 변경 재승인·담당 변경 후 인계 대사",</a:t>
            </a:r>
          </a:p>
          <a:p xmlns:a="http://schemas.openxmlformats.org/drawingml/2006/main">
            <a:r>
              <a:t>    "url": "https://www.morganstanley.com/press-releases/ai-at-morgan-stanley-debrief-launch",</a:t>
            </a:r>
          </a:p>
          <a:p xmlns:a="http://schemas.openxmlformats.org/drawingml/2006/main">
            <a:r>
              <a:t>    "basis": "도입기업 공식 서비스 발표",</a:t>
            </a:r>
          </a:p>
          <a:p xmlns:a="http://schemas.openxmlformats.org/drawingml/2006/main">
            <a:r>
              <a:t>    "checked": "2026-10-16",</a:t>
            </a:r>
          </a:p>
          <a:p xmlns:a="http://schemas.openxmlformats.org/drawingml/2006/main">
            <a:r>
              <a:t>    "diagramBasis": "공개 기능 설명 기반 서비스 흐름 재구성 · 실제 배치·비공개 인터페이스와 구분",</a:t>
            </a:r>
          </a:p>
          <a:p xmlns:a="http://schemas.openxmlformats.org/drawingml/2006/main">
            <a:r>
              <a:t>    "effect": "TS 업무 완료시간·오류·추가 구축 공수의 비교 평가",</a:t>
            </a:r>
          </a:p>
          <a:p xmlns:a="http://schemas.openxmlformats.org/drawingml/2006/main">
            <a:r>
              <a:t>    "group": "운영·실증",</a:t>
            </a:r>
          </a:p>
          <a:p xmlns:a="http://schemas.openxmlformats.org/drawingml/2006/main">
            <a:r>
              <a:t>    "urls": [</a:t>
            </a:r>
          </a:p>
          <a:p xmlns:a="http://schemas.openxmlformats.org/drawingml/2006/main">
            <a:r>
              <a:t>      "https://www.morganstanley.com/press-releases/ai-at-morgan-stanley-debrief-launch"</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"PF08",</a:t>
            </a:r>
          </a:p>
          <a:p xmlns:a="http://schemas.openxmlformats.org/drawingml/2006/main">
            <a:r>
              <a:t>    "canonicalId": "PF08",</a:t>
            </a:r>
          </a:p>
          <a:p xmlns:a="http://schemas.openxmlformats.org/drawingml/2006/main">
            <a:r>
              <a:t>    "purpose": "전문지식 검색과 회의 후속업무 연결",</a:t>
            </a:r>
          </a:p>
          <a:p xmlns:a="http://schemas.openxmlformats.org/drawingml/2006/main">
            <a:r>
              <a:t>    "users": "자문가·고객·CRM 담당",</a:t>
            </a:r>
          </a:p>
          <a:p xmlns:a="http://schemas.openxmlformats.org/drawingml/2006/main">
            <a:r>
              <a:t>    "scope": [</a:t>
            </a:r>
          </a:p>
          <a:p xmlns:a="http://schemas.openxmlformats.org/drawingml/2006/main">
            <a:r>
              <a:t>      "Assistant 검색",</a:t>
            </a:r>
          </a:p>
          <a:p xmlns:a="http://schemas.openxmlformats.org/drawingml/2006/main">
            <a:r>
              <a:t>      "회의 요약",</a:t>
            </a:r>
          </a:p>
          <a:p xmlns:a="http://schemas.openxmlformats.org/drawingml/2006/main">
            <a:r>
              <a:t>      "후속조치"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"동의받은 회의",</a:t>
            </a:r>
          </a:p>
          <a:p xmlns:a="http://schemas.openxmlformats.org/drawingml/2006/main">
            <a:r>
              <a:t>        "detail": "지식 질의와 동의받은 회의 입력 분리",</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"Assistant 검색 / 회의 요약 / 후속조치",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"Debrief 요약·후속조치",</a:t>
            </a:r>
          </a:p>
          <a:p xmlns:a="http://schemas.openxmlformats.org/drawingml/2006/main">
            <a:r>
              <a:t>        "detail": "검색 응답·회의 요약·할일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"자문가·CRM",</a:t>
            </a:r>
          </a:p>
          <a:p xmlns:a="http://schemas.openxmlformats.org/drawingml/2006/main">
            <a:r>
              <a:t>        "detail": "자문가 편집·확인 후 CRM·이메일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"회의·업무 기록",</a:t>
            </a:r>
          </a:p>
          <a:p xmlns:a="http://schemas.openxmlformats.org/drawingml/2006/main">
            <a:r>
              <a:t>        "detail": "승인 지식·회의 기록·고객업무 문맥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"요약 사실·할일·수신자·후속조치 완료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"동의받은 회의",</a:t>
            </a:r>
          </a:p>
          <a:p xmlns:a="http://schemas.openxmlformats.org/drawingml/2006/main">
            <a:r>
              <a:t>        "input": "지식 질의와 동의받은 회의 입력 분리",</a:t>
            </a:r>
          </a:p>
          <a:p xmlns:a="http://schemas.openxmlformats.org/drawingml/2006/main">
            <a:r>
              <a:t>        "process": "승인 지식·회의 기록·고객업무 문맥 연결",</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"title": "요약·후속조치 초안",</a:t>
            </a:r>
          </a:p>
          <a:p xmlns:a="http://schemas.openxmlformats.org/drawingml/2006/main">
            <a:r>
              <a:t>        "input": "회의 내용",</a:t>
            </a:r>
          </a:p>
          <a:p xmlns:a="http://schemas.openxmlformats.org/drawingml/2006/main">
            <a:r>
              <a:t>        "process": "검색 응답·회의 요약·할일 초안 생성",</a:t>
            </a:r>
          </a:p>
          <a:p xmlns:a="http://schemas.openxmlformats.org/drawingml/2006/main">
            <a:r>
              <a:t>        "output": "요약·할일 초안"</a:t>
            </a:r>
          </a:p>
          <a:p xmlns:a="http://schemas.openxmlformats.org/drawingml/2006/main">
            <a:r>
              <a:t>      },</a:t>
            </a:r>
          </a:p>
          <a:p xmlns:a="http://schemas.openxmlformats.org/drawingml/2006/main">
            <a:r>
              <a:t>      {</a:t>
            </a:r>
          </a:p>
          <a:p xmlns:a="http://schemas.openxmlformats.org/drawingml/2006/main">
            <a:r>
              <a:t>        "title": "자문가 편집·확인",</a:t>
            </a:r>
          </a:p>
          <a:p xmlns:a="http://schemas.openxmlformats.org/drawingml/2006/main">
            <a:r>
              <a:t>        "input": "요약·할일 초안",</a:t>
            </a:r>
          </a:p>
          <a:p xmlns:a="http://schemas.openxmlformats.org/drawingml/2006/main">
            <a:r>
              <a:t>        "process": "녹취 동의·사실·수신자·실행 확인",</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"title": "CRM·이메일 업무",</a:t>
            </a:r>
          </a:p>
          <a:p xmlns:a="http://schemas.openxmlformats.org/drawingml/2006/main">
            <a:r>
              <a:t>        "input": "자문가 확인",</a:t>
            </a:r>
          </a:p>
          <a:p xmlns:a="http://schemas.openxmlformats.org/drawingml/2006/main">
            <a:r>
              <a:t>        "process":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"동의받은 회의에서 요약·할일을 만든 뒤 CRM 반영",</a:t>
            </a:r>
          </a:p>
          <a:p xmlns:a="http://schemas.openxmlformats.org/drawingml/2006/main">
            <a:r>
              <a:t>      "exception": "잘못된 수신자·발언자 혼동·삭제 요청·미확인 할일",</a:t>
            </a:r>
          </a:p>
          <a:p xmlns:a="http://schemas.openxmlformats.org/drawingml/2006/main">
            <a:r>
              <a:t>      "evidence": "동의·원 발화·수정·승인·CRM 반영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"자문가·고객·CRM 담당",</a:t>
            </a:r>
          </a:p>
          <a:p xmlns:a="http://schemas.openxmlformats.org/drawingml/2006/main">
            <a:r>
              <a:t>          "processing": "지식 질의와 동의받은 회의 입력 분리",</a:t>
            </a:r>
          </a:p>
          <a:p xmlns:a="http://schemas.openxmlformats.org/drawingml/2006/main">
            <a:r>
              <a:t>          "output": "회의 내용"</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"회의·업무 기록",</a:t>
            </a:r>
          </a:p>
          <a:p xmlns:a="http://schemas.openxmlformats.org/drawingml/2006/main">
            <a:r>
              <a:t>          "processing": "승인 지식·회의 기록·고객업무 문맥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"회의 내용",</a:t>
            </a:r>
          </a:p>
          <a:p xmlns:a="http://schemas.openxmlformats.org/drawingml/2006/main">
            <a:r>
              <a:t>          "processing": "검색 응답·회의 요약·할일 초안 생성",</a:t>
            </a:r>
          </a:p>
          <a:p xmlns:a="http://schemas.openxmlformats.org/drawingml/2006/main">
            <a:r>
              <a:t>          "output": "자문가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"자문가 확인",</a:t>
            </a:r>
          </a:p>
          <a:p xmlns:a="http://schemas.openxmlformats.org/drawingml/2006/main">
            <a:r>
              <a:t>          "processing": "자문가 편집·확인 후 CRM·이메일 반영",</a:t>
            </a:r>
          </a:p>
          <a:p xmlns:a="http://schemas.openxmlformats.org/drawingml/2006/main">
            <a:r>
              <a:t>          "output": "CRM·이메일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"요약 사실·할일·수신자·후속조치 완료 확인",</a:t>
            </a:r>
          </a:p>
          <a:p xmlns:a="http://schemas.openxmlformats.org/drawingml/2006/main">
            <a:r>
              <a:t>          "output": "동의·원 발화·수정·승인·CRM 반영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"요약 사실·할일·수신자·후속조치 완료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"도입기업 공식 서비스 발표",</a:t>
            </a:r>
          </a:p>
          <a:p xmlns:a="http://schemas.openxmlformats.org/drawingml/2006/main">
            <a:r>
              <a:t>        "url": "https://www.morganstanley.com/press-releases/ai-at-morgan-stanley-debrief-launch"</a:t>
            </a:r>
          </a:p>
          <a:p xmlns:a="http://schemas.openxmlformats.org/drawingml/2006/main">
            <a:r>
              <a:t>      }</a:t>
            </a:r>
          </a:p>
          <a:p xmlns:a="http://schemas.openxmlformats.org/drawingml/2006/main">
            <a:r>
              <a:t>    ],</a:t>
            </a:r>
          </a:p>
          <a:p xmlns:a="http://schemas.openxmlformats.org/drawingml/2006/main">
            <a:r>
              <a:t>    "implication": "회의 동의·요약 확인·할일 수정·업무시스템 반영의 단계별 책임 연결",</a:t>
            </a:r>
          </a:p>
          <a:p xmlns:a="http://schemas.openxmlformats.org/drawingml/2006/main">
            <a:r>
              <a:t>    "local": "회의 동의·요약 확인·할일 수정·업무시스템 반영의 단계별 책임 연결",</a:t>
            </a:r>
          </a:p>
          <a:p xmlns:a="http://schemas.openxmlformats.org/drawingml/2006/main">
            <a:r>
              <a:t>    "sourceDetail": null,</a:t>
            </a:r>
          </a:p>
          <a:p xmlns:a="http://schemas.openxmlformats.org/drawingml/2006/main">
            <a:r>
              <a:t>    "narrative": [</a:t>
            </a:r>
          </a:p>
          <a:p xmlns:a="http://schemas.openxmlformats.org/drawingml/2006/main">
            <a:r>
              <a:t>      "Morgan Stanley의 지식 검색 Assistant와 회의 후속업무 Debrief 사례. 자문가가 승인된 지식을 찾는 업무와 고객 회의에서 요약·할일을 정리하는 업무를 서로 다른 입력 경로로 지원.",</a:t>
            </a:r>
          </a:p>
          <a:p xmlns:a="http://schemas.openxmlformats.org/drawingml/2006/main">
            <a:r>
              <a:t>      "지식 검색은 승인 문서의 검색·근거 응답으로, 회의 지원은 동의받은 기록의 요약·실행 항목 초안·자문가 검토·CRM 또는 후속 메시지 연결로 재구성. 검색 근거와 고객 대화 기록의 접근·보관 정책을 분리하는 설계.",</a:t>
            </a:r>
          </a:p>
          <a:p xmlns:a="http://schemas.openxmlformats.org/drawingml/2006/main">
            <a:r>
              <a:t>      "CCK의 상담·민원 후속 처리에서는 생성된 요약과 실제 등록·발송을 구분할 필요. 화자·수신자·기한·해야 할 일의 누락과 중복을 시험하고 담당자 확인 이후 업무 시스템에 반영된 결과까지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"질문·회의 접점",</a:t>
            </a:r>
          </a:p>
          <a:p xmlns:a="http://schemas.openxmlformats.org/drawingml/2006/main">
            <a:r>
              <a:t>          "layer": "이용 접점",</a:t>
            </a:r>
          </a:p>
          <a:p xmlns:a="http://schemas.openxmlformats.org/drawingml/2006/main">
            <a:r>
              <a:t>          "detail": "자문가·고객·CRM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"동의·고객 문맥",</a:t>
            </a:r>
          </a:p>
          <a:p xmlns:a="http://schemas.openxmlformats.org/drawingml/2006/main">
            <a:r>
              <a:t>          "layer": "업무 문맥",</a:t>
            </a:r>
          </a:p>
          <a:p xmlns:a="http://schemas.openxmlformats.org/drawingml/2006/main">
            <a:r>
              <a:t>          "detail": "지식 질의와 동의받은 회의 입력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조회",</a:t>
            </a:r>
          </a:p>
          <a:p xmlns:a="http://schemas.openxmlformats.org/drawingml/2006/main">
            <a:r>
              <a:t>          "layer": "자료 조회",</a:t>
            </a:r>
          </a:p>
          <a:p xmlns:a="http://schemas.openxmlformats.org/drawingml/2006/main">
            <a:r>
              <a:t>          "detail": "회의 내용",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"요약·할일 생성",</a:t>
            </a:r>
          </a:p>
          <a:p xmlns:a="http://schemas.openxmlformats.org/drawingml/2006/main">
            <a:r>
              <a:t>          "layer": "핵심 처리",</a:t>
            </a:r>
          </a:p>
          <a:p xmlns:a="http://schemas.openxmlformats.org/drawingml/2006/main">
            <a:r>
              <a:t>          "detail": "검색 응답·회의 요약·할일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"사실·수신자 검사",</a:t>
            </a:r>
          </a:p>
          <a:p xmlns:a="http://schemas.openxmlformats.org/drawingml/2006/main">
            <a:r>
              <a:t>          "layer": "결과 검증",</a:t>
            </a:r>
          </a:p>
          <a:p xmlns:a="http://schemas.openxmlformats.org/drawingml/2006/main">
            <a:r>
              <a:t>          "detail": "녹취 동의·사실·수신자·실행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편집·확인",</a:t>
            </a:r>
          </a:p>
          <a:p xmlns:a="http://schemas.openxmlformats.org/drawingml/2006/main">
            <a:r>
              <a:t>          "layer": "사람 확인",</a:t>
            </a:r>
          </a:p>
          <a:p xmlns:a="http://schemas.openxmlformats.org/drawingml/2006/main">
            <a:r>
              <a:t>          "detail": "동의받은 회의에서 요약·할일을 만든 뒤 CRM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"CRM·이메일 반영",</a:t>
            </a:r>
          </a:p>
          <a:p xmlns:a="http://schemas.openxmlformats.org/drawingml/2006/main">
            <a:r>
              <a:t>          "layer": "업무 연결",</a:t>
            </a:r>
          </a:p>
          <a:p xmlns:a="http://schemas.openxmlformats.org/drawingml/2006/main">
            <a:r>
              <a:t>          "detail": "자문가 편집·확인 후 CRM·이메일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"후속조치 추적",</a:t>
            </a:r>
          </a:p>
          <a:p xmlns:a="http://schemas.openxmlformats.org/drawingml/2006/main">
            <a:r>
              <a:t>          "layer": "운영 관측",</a:t>
            </a:r>
          </a:p>
          <a:p xmlns:a="http://schemas.openxmlformats.org/drawingml/2006/main">
            <a:r>
              <a:t>          "detail": "요약 사실·할일·수신자·후속조치 완료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지식·회의",</a:t>
            </a:r>
          </a:p>
          <a:p xmlns:a="http://schemas.openxmlformats.org/drawingml/2006/main">
            <a:r>
              <a:t>          "layer": "데이터 원천",</a:t>
            </a:r>
          </a:p>
          <a:p xmlns:a="http://schemas.openxmlformats.org/drawingml/2006/main">
            <a:r>
              <a:t>          "detail": "회의·업무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"참석자·발언 정합화",</a:t>
            </a:r>
          </a:p>
          <a:p xmlns:a="http://schemas.openxmlformats.org/drawingml/2006/main">
            <a:r>
              <a:t>          "layer": "준비·갱신",</a:t>
            </a:r>
          </a:p>
          <a:p xmlns:a="http://schemas.openxmlformats.org/drawingml/2006/main">
            <a:r>
              <a:t>          "detail": "승인 지식·회의 기록·고객업무 문맥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"요약·확인 기록",</a:t>
            </a:r>
          </a:p>
          <a:p xmlns:a="http://schemas.openxmlformats.org/drawingml/2006/main">
            <a:r>
              <a:t>          "layer": "상태·지식 저장",</a:t>
            </a:r>
          </a:p>
          <a:p xmlns:a="http://schemas.openxmlformats.org/drawingml/2006/main">
            <a:r>
              <a:t>          "detail": "동의·원 발화·수정·승인·CRM 반영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"녹취·전송 동의",</a:t>
            </a:r>
          </a:p>
          <a:p xmlns:a="http://schemas.openxmlformats.org/drawingml/2006/main">
            <a:r>
              <a:t>          "layer": "권한·정책",</a:t>
            </a:r>
          </a:p>
          <a:p xmlns:a="http://schemas.openxmlformats.org/drawingml/2006/main">
            <a:r>
              <a:t>          "detail": "잘못된 수신자·발언자 혼동·삭제 요청·미확인 할일",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"동의받은 회의 → 요약·후속조치 초안 → 자문가 편집·확인 → CRM·이메일 업무"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"지식 질의와 동의받은 회의 입력 분리",</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"회의 내용",</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"회의·업무 기록",</a:t>
            </a:r>
          </a:p>
          <a:p xmlns:a="http://schemas.openxmlformats.org/drawingml/2006/main">
            <a:r>
              <a:t>          "check": "승인 지식·회의 기록·고객업무 문맥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"자문가 확인",</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"CRM·이메일 기록",</a:t>
            </a:r>
          </a:p>
          <a:p xmlns:a="http://schemas.openxmlformats.org/drawingml/2006/main">
            <a:r>
              <a:t>          "check": "동의·원 발화·수정·승인·CRM 반영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"전문지식 검색과 회의 후속업무 연결 / Assistant 검색·회의 요약·후속조치",</a:t>
            </a:r>
          </a:p>
          <a:p xmlns:a="http://schemas.openxmlformats.org/drawingml/2006/main">
            <a:r>
              <a:t>        "extension": "회의 동의·요약 확인·할일 수정·업무시스템 반영의 단계별 책임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"잘못된 수신자·발언자 혼동·삭제 요청·미확인 할일",</a:t>
            </a:r>
          </a:p>
          <a:p xmlns:a="http://schemas.openxmlformats.org/drawingml/2006/main">
            <a:r>
              <a:t>        "hold": "녹취 동의·사실·수신자·실행 확인",</a:t>
            </a:r>
          </a:p>
          <a:p xmlns:a="http://schemas.openxmlformats.org/drawingml/2006/main">
            <a:r>
              <a:t>        "recovery": "요약 사실·할일·수신자·후속조치 완료 확인",</a:t>
            </a:r>
          </a:p>
          <a:p xmlns:a="http://schemas.openxmlformats.org/drawingml/2006/main">
            <a:r>
              <a:t>        "evidence": "동의·원 발화·수정·승인·CRM 반영 이력"</a:t>
            </a:r>
          </a:p>
          <a:p xmlns:a="http://schemas.openxmlformats.org/drawingml/2006/main">
            <a:r>
              <a:t>      },</a:t>
            </a:r>
          </a:p>
          <a:p xmlns:a="http://schemas.openxmlformats.org/drawingml/2006/main">
            <a:r>
              <a:t>      "data": {</a:t>
            </a:r>
          </a:p>
          <a:p xmlns:a="http://schemas.openxmlformats.org/drawingml/2006/main">
            <a:r>
              <a:t>        "source": "회의·업무 기록",</a:t>
            </a:r>
          </a:p>
          <a:p xmlns:a="http://schemas.openxmlformats.org/drawingml/2006/main">
            <a:r>
              <a:t>        "prepare": "승인 지식·회의 기록·고객업무 문맥 연결",</a:t>
            </a:r>
          </a:p>
          <a:p xmlns:a="http://schemas.openxmlformats.org/drawingml/2006/main">
            <a:r>
              <a:t>        "output": "회의 내용",</a:t>
            </a:r>
          </a:p>
          <a:p xmlns:a="http://schemas.openxmlformats.org/drawingml/2006/main">
            <a:r>
              <a:t>        "refresh": "요약 사실·할일·수신자·후속조치 완료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"PF08",</a:t>
            </a:r>
          </a:p>
          <a:p xmlns:a="http://schemas.openxmlformats.org/drawingml/2006/main">
            <a:r>
              <a:t>    "success": [</a:t>
            </a:r>
          </a:p>
          <a:p xmlns:a="http://schemas.openxmlformats.org/drawingml/2006/main">
            <a:r>
              <a:t>      "회의 요약과 후속 업무의 결합",</a:t>
            </a:r>
          </a:p>
          <a:p xmlns:a="http://schemas.openxmlformats.org/drawingml/2006/main">
            <a:r>
              <a:t>      "동의와 자문가 편집·확인"</a:t>
            </a:r>
          </a:p>
          <a:p xmlns:a="http://schemas.openxmlformats.org/drawingml/2006/main">
            <a:r>
              <a:t>    ],</a:t>
            </a:r>
          </a:p>
          <a:p xmlns:a="http://schemas.openxmlformats.org/drawingml/2006/main">
            <a:r>
              <a:t>    "risks": [</a:t>
            </a:r>
          </a:p>
          <a:p xmlns:a="http://schemas.openxmlformats.org/drawingml/2006/main">
            <a:r>
              <a:t>      "대화의 잘못된 요약·할일 추출",</a:t>
            </a:r>
          </a:p>
          <a:p xmlns:a="http://schemas.openxmlformats.org/drawingml/2006/main">
            <a:r>
              <a:t>      "확인 전 CRM·이메일 반영"</a:t>
            </a:r>
          </a:p>
          <a:p xmlns:a="http://schemas.openxmlformats.org/drawingml/2006/main">
            <a:r>
              <a:t>    ],</a:t>
            </a:r>
          </a:p>
          <a:p xmlns:a="http://schemas.openxmlformats.org/drawingml/2006/main">
            <a:r>
              <a:t>    "architecture": [</a:t>
            </a:r>
          </a:p>
          <a:p xmlns:a="http://schemas.openxmlformats.org/drawingml/2006/main">
            <a:r>
              <a:t>      "동의받은 회의",</a:t>
            </a:r>
          </a:p>
          <a:p xmlns:a="http://schemas.openxmlformats.org/drawingml/2006/main">
            <a:r>
              <a:t>      "Debrief 요약·후속조치",</a:t>
            </a:r>
          </a:p>
          <a:p xmlns:a="http://schemas.openxmlformats.org/drawingml/2006/main">
            <a:r>
              <a:t>      "회의·업무 기록",</a:t>
            </a:r>
          </a:p>
          <a:p xmlns:a="http://schemas.openxmlformats.org/drawingml/2006/main">
            <a:r>
              <a:t>      "자문가·CRM"</a:t>
            </a:r>
          </a:p>
          <a:p xmlns:a="http://schemas.openxmlformats.org/drawingml/2006/main">
            <a:r>
              <a:t>    ],</a:t>
            </a:r>
          </a:p>
          <a:p xmlns:a="http://schemas.openxmlformats.org/drawingml/2006/main">
            <a:r>
              <a:t>    "transfers": [</a:t>
            </a:r>
          </a:p>
          <a:p xmlns:a="http://schemas.openxmlformats.org/drawingml/2006/main">
            <a:r>
              <a:t>      "회의 내용",</a:t>
            </a:r>
          </a:p>
          <a:p xmlns:a="http://schemas.openxmlformats.org/drawingml/2006/main">
            <a:r>
              <a:t>      "요약·할일 초안",</a:t>
            </a:r>
          </a:p>
          <a:p xmlns:a="http://schemas.openxmlformats.org/drawingml/2006/main">
            <a:r>
              <a:t>      "자문가 확인",</a:t>
            </a:r>
          </a:p>
          <a:p xmlns:a="http://schemas.openxmlformats.org/drawingml/2006/main">
            <a:r>
              <a:t>      "CRM·이메일 기록"</a:t>
            </a:r>
          </a:p>
          <a:p xmlns:a="http://schemas.openxmlformats.org/drawingml/2006/main">
            <a:r>
              <a:t>    ],</a:t>
            </a:r>
          </a:p>
          <a:p xmlns:a="http://schemas.openxmlformats.org/drawingml/2006/main">
            <a:r>
              <a:t>    "control": "녹취 동의·사실·수신자·실행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도입기업 공식 서비스 발표 https://www.morganstanley.com/press-releases/ai-at-morgan-stanley-debrief-launch</a:t>
            </a:r>
          </a:p>
          <a:p xmlns:a="http://schemas.openxmlformats.org/drawingml/2006/main">
            <a:r>
              <a:t>홈페이지 https://heen1987-ops.github.io/TS-business-Plan-001/index.html?view=platform-cases&amp;case=PF08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a:p xmlns:a="http://schemas.openxmlformats.org/drawingml/2006/main">
            <a:r>
              <a:t>한계: 접근 가능과 활성이용 분모 다름. 거래심사 효율은 별도 AI 사례이며 LLM Suite 성과로 귀속 금지</a:t>
            </a:r>
          </a:p>
          <a:p xmlns:a="http://schemas.openxmlformats.org/drawingml/2006/main">
            <a:r>
              <a:t>실패 위험: 사업부별 지식·권한 차이 / 전사 확산을 일률적 효과로 환산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"PF-A18",</a:t>
            </a:r>
          </a:p>
          <a:p xmlns:a="http://schemas.openxmlformats.org/drawingml/2006/main">
            <a:r>
              <a:t>    "sourceId": "A18",</a:t>
            </a:r>
          </a:p>
          <a:p xmlns:a="http://schemas.openxmlformats.org/drawingml/2006/main">
            <a:r>
              <a:t>    "title": "JPMorganChase LLM Suite",</a:t>
            </a:r>
          </a:p>
          <a:p xmlns:a="http://schemas.openxmlformats.org/drawingml/2006/main">
            <a:r>
              <a:t>    "region": "해외",</a:t>
            </a:r>
          </a:p>
          <a:p xmlns:a="http://schemas.openxmlformats.org/drawingml/2006/main">
            <a:r>
              <a:t>    "owner": "JPMorganChase / LLM Suite",</a:t>
            </a:r>
          </a:p>
          <a:p xmlns:a="http://schemas.openxmlformats.org/drawingml/2006/main">
            <a:r>
              <a:t>    "state": "2024 출시, 2025 전사 확산·2025연차보고",</a:t>
            </a:r>
          </a:p>
          <a:p xmlns:a="http://schemas.openxmlformats.org/drawingml/2006/main">
            <a:r>
              <a:t>    "period": "기존 원장 확인 2026.10.16",</a:t>
            </a:r>
          </a:p>
          <a:p xmlns:a="http://schemas.openxmlformats.org/drawingml/2006/main">
            <a:r>
              <a:t>    "fact": "전사 공통 생성형 AI 플랫폼",</a:t>
            </a:r>
          </a:p>
          <a:p xmlns:a="http://schemas.openxmlformats.org/drawingml/2006/main">
            <a:r>
              <a:t>    "limit": "접근 가능과 활성이용 분모 다름. 거래심사 효율은 별도 AI 사례이며 LLM Suite 성과로 귀속 금지",</a:t>
            </a:r>
          </a:p>
          <a:p xmlns:a="http://schemas.openxmlformats.org/drawingml/2006/main">
            <a:r>
              <a:t>    "nodes": [</a:t>
            </a:r>
          </a:p>
          <a:p xmlns:a="http://schemas.openxmlformats.org/drawingml/2006/main">
            <a:r>
              <a:t>      "공통 데이터",</a:t>
            </a:r>
          </a:p>
          <a:p xmlns:a="http://schemas.openxmlformats.org/drawingml/2006/main">
            <a:r>
              <a:t>      "LLM Suite",</a:t>
            </a:r>
          </a:p>
          <a:p xmlns:a="http://schemas.openxmlformats.org/drawingml/2006/main">
            <a:r>
              <a:t>      "사업부 업무",</a:t>
            </a:r>
          </a:p>
          <a:p xmlns:a="http://schemas.openxmlformats.org/drawingml/2006/main">
            <a:r>
              <a:t>      "이용·운영 관리"</a:t>
            </a:r>
          </a:p>
          <a:p xmlns:a="http://schemas.openxmlformats.org/drawingml/2006/main">
            <a:r>
              <a:t>    ],</a:t>
            </a:r>
          </a:p>
          <a:p xmlns:a="http://schemas.openxmlformats.org/drawingml/2006/main">
            <a:r>
              <a:t>    "apply": "사업부별 데이터 접근과 전체 업무 절차를 기준으로 공통 AI의 적용 범위 확대",</a:t>
            </a:r>
          </a:p>
          <a:p xmlns:a="http://schemas.openxmlformats.org/drawingml/2006/main">
            <a:r>
              <a:t>    "delta": "기관 설정·회귀 평가·두 번째 부서 적용",</a:t>
            </a:r>
          </a:p>
          <a:p xmlns:a="http://schemas.openxmlformats.org/drawingml/2006/main">
            <a:r>
              <a:t>    "test": "도입기간·유지비·교육 부담의 기준선·비교 평가",</a:t>
            </a:r>
          </a:p>
          <a:p xmlns:a="http://schemas.openxmlformats.org/drawingml/2006/main">
            <a:r>
              <a:t>    "url": "https://www.jpmorganchase.com/about/technology/blog/innovation-week25",</a:t>
            </a:r>
          </a:p>
          <a:p xmlns:a="http://schemas.openxmlformats.org/drawingml/2006/main">
            <a:r>
              <a:t>    "urls": [</a:t>
            </a:r>
          </a:p>
          <a:p xmlns:a="http://schemas.openxmlformats.org/drawingml/2006/main">
            <a:r>
              <a:t>      "https://www.jpmorganchase.com/about/technology/blog/innovation-week25",</a:t>
            </a:r>
          </a:p>
          <a:p xmlns:a="http://schemas.openxmlformats.org/drawingml/2006/main">
            <a:r>
              <a:t>      "https://www.jpmorganchase.com/ir/annual-report/2025/ar-ceo-letter-petno-rohrbaugh"</a:t>
            </a:r>
          </a:p>
          <a:p xmlns:a="http://schemas.openxmlformats.org/drawingml/2006/main">
            <a:r>
              <a:t>    ],</a:t>
            </a:r>
          </a:p>
          <a:p xmlns:a="http://schemas.openxmlformats.org/drawingml/2006/main">
            <a:r>
              <a:t>    "basis": "P121~123·139 / 공통접근과 사업부 실행 분리",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"도입기간·유지비·교육 부담",</a:t>
            </a:r>
          </a:p>
          <a:p xmlns:a="http://schemas.openxmlformats.org/drawingml/2006/main">
            <a:r>
              <a:t>    "group": "운영·실증",</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"PF-A18",</a:t>
            </a:r>
          </a:p>
          <a:p xmlns:a="http://schemas.openxmlformats.org/drawingml/2006/main">
            <a:r>
              <a:t>    "canonicalId": "PF-A18",</a:t>
            </a:r>
          </a:p>
          <a:p xmlns:a="http://schemas.openxmlformats.org/drawingml/2006/main">
            <a:r>
              <a:t>    "purpose": "공통 LLM 도구와 사업부 업무 확장",</a:t>
            </a:r>
          </a:p>
          <a:p xmlns:a="http://schemas.openxmlformats.org/drawingml/2006/main">
            <a:r>
              <a:t>    "users": "사업부 직원·AI·데이터 운영자",</a:t>
            </a:r>
          </a:p>
          <a:p xmlns:a="http://schemas.openxmlformats.org/drawingml/2006/main">
            <a:r>
              <a:t>    "scope": [</a:t>
            </a:r>
          </a:p>
          <a:p xmlns:a="http://schemas.openxmlformats.org/drawingml/2006/main">
            <a:r>
              <a:t>      "LLM Suite",</a:t>
            </a:r>
          </a:p>
          <a:p xmlns:a="http://schemas.openxmlformats.org/drawingml/2006/main">
            <a:r>
              <a:t>      "업무 문맥",</a:t>
            </a:r>
          </a:p>
          <a:p xmlns:a="http://schemas.openxmlformats.org/drawingml/2006/main">
            <a:r>
              <a:t>      "사업부 확산"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"사업부 직원",</a:t>
            </a:r>
          </a:p>
          <a:p xmlns:a="http://schemas.openxmlformats.org/drawingml/2006/main">
            <a:r>
              <a:t>        "detail": "사업부·직무·자료 접근조건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"LLM Suite / 업무 문맥 / 사업부 확산",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"LLM Suite",</a:t>
            </a:r>
          </a:p>
          <a:p xmlns:a="http://schemas.openxmlformats.org/drawingml/2006/main">
            <a:r>
              <a:t>        "detail": "공통 AI 서비스와 사업별 활용 절차 연결",</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"사업부 검토자",</a:t>
            </a:r>
          </a:p>
          <a:p xmlns:a="http://schemas.openxmlformats.org/drawingml/2006/main">
            <a:r>
              <a:t>        "detail": "직원 검토를 거친 업무 결과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"공통 데이터·업무 문맥",</a:t>
            </a:r>
          </a:p>
          <a:p xmlns:a="http://schemas.openxmlformats.org/drawingml/2006/main">
            <a:r>
              <a:t>        "detail": "전사 데이터 기반과 업무 문맥의 접근 통제",</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"사업부별 이용·정답·위험·운영 비용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"공통 데이터",</a:t>
            </a:r>
          </a:p>
          <a:p xmlns:a="http://schemas.openxmlformats.org/drawingml/2006/main">
            <a:r>
              <a:t>        "input": "사업부·직무·자료 접근조건 구성",</a:t>
            </a:r>
          </a:p>
          <a:p xmlns:a="http://schemas.openxmlformats.org/drawingml/2006/main">
            <a:r>
              <a:t>        "process": "전사 데이터 기반과 업무 문맥의 접근 통제",</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"LLM Suite",</a:t>
            </a:r>
          </a:p>
          <a:p xmlns:a="http://schemas.openxmlformats.org/drawingml/2006/main">
            <a:r>
              <a:t>        "input": "업무 요청",</a:t>
            </a:r>
          </a:p>
          <a:p xmlns:a="http://schemas.openxmlformats.org/drawingml/2006/main">
            <a:r>
              <a:t>        "process": "공통 AI 서비스와 사업별 활용 절차 연결",</a:t>
            </a:r>
          </a:p>
          <a:p xmlns:a="http://schemas.openxmlformats.org/drawingml/2006/main">
            <a:r>
              <a:t>        "output": "허용 문맥"</a:t>
            </a:r>
          </a:p>
          <a:p xmlns:a="http://schemas.openxmlformats.org/drawingml/2006/main">
            <a:r>
              <a:t>      },</a:t>
            </a:r>
          </a:p>
          <a:p xmlns:a="http://schemas.openxmlformats.org/drawingml/2006/main">
            <a:r>
              <a:t>      {</a:t>
            </a:r>
          </a:p>
          <a:p xmlns:a="http://schemas.openxmlformats.org/drawingml/2006/main">
            <a:r>
              <a:t>        "title": "사업부 업무",</a:t>
            </a:r>
          </a:p>
          <a:p xmlns:a="http://schemas.openxmlformats.org/drawingml/2006/main">
            <a:r>
              <a:t>        "input": "허용 문맥",</a:t>
            </a:r>
          </a:p>
          <a:p xmlns:a="http://schemas.openxmlformats.org/drawingml/2006/main">
            <a:r>
              <a:t>        "process": "사업부별 정답·권한·비용 평가",</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"title": "이용·운영 관리",</a:t>
            </a:r>
          </a:p>
          <a:p xmlns:a="http://schemas.openxmlformats.org/drawingml/2006/main">
            <a:r>
              <a:t>        "input": "AI 결과",</a:t>
            </a:r>
          </a:p>
          <a:p xmlns:a="http://schemas.openxmlformats.org/drawingml/2006/main">
            <a:r>
              <a:t>        "process":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"사업부 업무 문맥으로 공통 AI 지원 결과 활용",</a:t>
            </a:r>
          </a:p>
          <a:p xmlns:a="http://schemas.openxmlformats.org/drawingml/2006/main">
            <a:r>
              <a:t>      "exception": "사업부 간 지식 노출·개정 지연·비용 급증",</a:t>
            </a:r>
          </a:p>
          <a:p xmlns:a="http://schemas.openxmlformats.org/drawingml/2006/main">
            <a:r>
              <a:t>      "evidence": "부서별 권한·정답·응답비용·운영 로그",</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"사업부 직원·AI·데이터 운영자",</a:t>
            </a:r>
          </a:p>
          <a:p xmlns:a="http://schemas.openxmlformats.org/drawingml/2006/main">
            <a:r>
              <a:t>          "processing": "사업부·직무·자료 접근조건 구성",</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"공통 데이터·업무 문맥",</a:t>
            </a:r>
          </a:p>
          <a:p xmlns:a="http://schemas.openxmlformats.org/drawingml/2006/main">
            <a:r>
              <a:t>          "processing": "전사 데이터 기반과 업무 문맥의 접근 통제",</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"공통 AI 서비스와 사업별 활용 절차 연결",</a:t>
            </a:r>
          </a:p>
          <a:p xmlns:a="http://schemas.openxmlformats.org/drawingml/2006/main">
            <a:r>
              <a:t>          "output": "AI 결과"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"AI 결과",</a:t>
            </a:r>
          </a:p>
          <a:p xmlns:a="http://schemas.openxmlformats.org/drawingml/2006/main">
            <a:r>
              <a:t>          "processing": "직원 검토를 거친 업무 결과 제공",</a:t>
            </a:r>
          </a:p>
          <a:p xmlns:a="http://schemas.openxmlformats.org/drawingml/2006/main">
            <a:r>
              <a:t>          "output": "이용·운영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"사업부별 이용·정답·위험·운영 비용 평가",</a:t>
            </a:r>
          </a:p>
          <a:p xmlns:a="http://schemas.openxmlformats.org/drawingml/2006/main">
            <a:r>
              <a:t>          "output": "부서별 권한·정답·응답비용·운영 로그"</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"사업부별 이용·정답·위험·운영 비용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"P121~123·139 / 공통접근과 사업부 실행 분리",</a:t>
            </a:r>
          </a:p>
          <a:p xmlns:a="http://schemas.openxmlformats.org/drawingml/2006/main">
            <a:r>
              <a:t>        "url": "https://www.jpmorganchase.com/about/technology/blog/innovation-week25"</a:t>
            </a:r>
          </a:p>
          <a:p xmlns:a="http://schemas.openxmlformats.org/drawingml/2006/main">
            <a:r>
              <a:t>      }</a:t>
            </a:r>
          </a:p>
          <a:p xmlns:a="http://schemas.openxmlformats.org/drawingml/2006/main">
            <a:r>
              <a:t>    ],</a:t>
            </a:r>
          </a:p>
          <a:p xmlns:a="http://schemas.openxmlformats.org/drawingml/2006/main">
            <a:r>
              <a:t>    "implication": "사업부별 데이터 접근과 전체 업무 절차를 기준으로 공통 AI의 적용 범위 확대",</a:t>
            </a:r>
          </a:p>
          <a:p xmlns:a="http://schemas.openxmlformats.org/drawingml/2006/main">
            <a:r>
              <a:t>    "local": "사업부별 데이터 접근과 전체 업무 절차를 기준으로 공통 AI의 적용 범위 확대",</a:t>
            </a:r>
          </a:p>
          <a:p xmlns:a="http://schemas.openxmlformats.org/drawingml/2006/main">
            <a:r>
              <a:t>    "sourceDetail": "자체 공통 도구 LLM Suite, 현대화된 데이터/클라우드 기반, 사업별 AI 적용\n공통 데이터 기반 위에 각 사업부 E2E 업무에 맞춘 전략",</a:t>
            </a:r>
          </a:p>
          <a:p xmlns:a="http://schemas.openxmlformats.org/drawingml/2006/main">
            <a:r>
              <a:t>    "narrative": [</a:t>
            </a:r>
          </a:p>
          <a:p xmlns:a="http://schemas.openxmlformats.org/drawingml/2006/main">
            <a:r>
              <a:t>      "JPMorgan Chase의 공통 LLM Suite와 사업부 활용 확산 사례. 공통 도구와 전사 데이터 기반을 마련한 뒤 사업부의 업무별 적용을 확대하는 접근.",</a:t>
            </a:r>
          </a:p>
          <a:p xmlns:a="http://schemas.openxmlformats.org/drawingml/2006/main">
            <a:r>
              <a:t>      "직원·사업부 문맥, 공통 AI 호출, 허용 자료 연결, 결과 검토, 운영 관측의 계층으로 재구성. 공개 사례에서 확인한 이용 범위와 실제 내부 배치·데이터 연계·권한 구현은 분리해 해석하는 방식.",</a:t>
            </a:r>
          </a:p>
          <a:p xmlns:a="http://schemas.openxmlformats.org/drawingml/2006/main">
            <a:r>
              <a:t>      "TS 1차 구축에서는 공통 계층의 조직 매핑·권한·감사·지식 운영을 우선 인수하고 후속 부서 업무를 단계별로 추가하는 참고. 이용량 증가와 업무 완료 품질·비용·위험을 함께 관찰하는 확산 기준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"사업부 AI 접점",</a:t>
            </a:r>
          </a:p>
          <a:p xmlns:a="http://schemas.openxmlformats.org/drawingml/2006/main">
            <a:r>
              <a:t>          "layer": "이용 접점",</a:t>
            </a:r>
          </a:p>
          <a:p xmlns:a="http://schemas.openxmlformats.org/drawingml/2006/main">
            <a:r>
              <a:t>          "detail": "사업부 직원·AI·데이터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"직무·자료 권한",</a:t>
            </a:r>
          </a:p>
          <a:p xmlns:a="http://schemas.openxmlformats.org/drawingml/2006/main">
            <a:r>
              <a:t>          "layer": "업무 문맥",</a:t>
            </a:r>
          </a:p>
          <a:p xmlns:a="http://schemas.openxmlformats.org/drawingml/2006/main">
            <a:r>
              <a:t>          "detail": "사업부·직무·자료 접근조건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"업무 문맥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"LLM Suite 지원",</a:t>
            </a:r>
          </a:p>
          <a:p xmlns:a="http://schemas.openxmlformats.org/drawingml/2006/main">
            <a:r>
              <a:t>          "layer": "핵심 처리",</a:t>
            </a:r>
          </a:p>
          <a:p xmlns:a="http://schemas.openxmlformats.org/drawingml/2006/main">
            <a:r>
              <a:t>          "detail": "공통 AI 서비스와 사업별 활용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"근거·위험 검사",</a:t>
            </a:r>
          </a:p>
          <a:p xmlns:a="http://schemas.openxmlformats.org/drawingml/2006/main">
            <a:r>
              <a:t>          "layer": "결과 검증",</a:t>
            </a:r>
          </a:p>
          <a:p xmlns:a="http://schemas.openxmlformats.org/drawingml/2006/main">
            <a:r>
              <a:t>          "detail": "사업부별 정답·권한·비용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"사업부 직원 검토",</a:t>
            </a:r>
          </a:p>
          <a:p xmlns:a="http://schemas.openxmlformats.org/drawingml/2006/main">
            <a:r>
              <a:t>          "layer": "사람 확인",</a:t>
            </a:r>
          </a:p>
          <a:p xmlns:a="http://schemas.openxmlformats.org/drawingml/2006/main">
            <a:r>
              <a:t>          "detail": "사업부 업무 문맥으로 공통 AI 지원 결과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"사업별 업무 활용",</a:t>
            </a:r>
          </a:p>
          <a:p xmlns:a="http://schemas.openxmlformats.org/drawingml/2006/main">
            <a:r>
              <a:t>          "layer": "업무 연결",</a:t>
            </a:r>
          </a:p>
          <a:p xmlns:a="http://schemas.openxmlformats.org/drawingml/2006/main">
            <a:r>
              <a:t>          "detail": "직원 검토를 거친 업무 결과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"비용·정답 평가",</a:t>
            </a:r>
          </a:p>
          <a:p xmlns:a="http://schemas.openxmlformats.org/drawingml/2006/main">
            <a:r>
              <a:t>          "layer": "운영 관측",</a:t>
            </a:r>
          </a:p>
          <a:p xmlns:a="http://schemas.openxmlformats.org/drawingml/2006/main">
            <a:r>
              <a:t>          "detail": "사업부별 이용·정답·위험·운영 비용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"전사·업무 자료",</a:t>
            </a:r>
          </a:p>
          <a:p xmlns:a="http://schemas.openxmlformats.org/drawingml/2006/main">
            <a:r>
              <a:t>          "layer": "데이터 원천",</a:t>
            </a:r>
          </a:p>
          <a:p xmlns:a="http://schemas.openxmlformats.org/drawingml/2006/main">
            <a:r>
              <a:t>          "detail": "공통 데이터·업무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"접근범위 정리",</a:t>
            </a:r>
          </a:p>
          <a:p xmlns:a="http://schemas.openxmlformats.org/drawingml/2006/main">
            <a:r>
              <a:t>          "layer": "준비·갱신",</a:t>
            </a:r>
          </a:p>
          <a:p xmlns:a="http://schemas.openxmlformats.org/drawingml/2006/main">
            <a:r>
              <a:t>          "detail": "전사 데이터 기반과 업무 문맥의 접근 통제",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"문맥·평가 기록",</a:t>
            </a:r>
          </a:p>
          <a:p xmlns:a="http://schemas.openxmlformats.org/drawingml/2006/main">
            <a:r>
              <a:t>          "layer": "상태·지식 저장",</a:t>
            </a:r>
          </a:p>
          <a:p xmlns:a="http://schemas.openxmlformats.org/drawingml/2006/main">
            <a:r>
              <a:t>          "detail": "부서별 권한·정답·응답비용·운영 로그",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"사업부 실행 경계",</a:t>
            </a:r>
          </a:p>
          <a:p xmlns:a="http://schemas.openxmlformats.org/drawingml/2006/main">
            <a:r>
              <a:t>          "layer": "권한·정책",</a:t>
            </a:r>
          </a:p>
          <a:p xmlns:a="http://schemas.openxmlformats.org/drawingml/2006/main">
            <a:r>
              <a:t>          "detail": "사업부 간 지식 노출·개정 지연·비용 급증",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"공통 데이터 → LLM Suite → 사업부 업무 → 이용·운영 관리"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"사업부·직무·자료 접근조건 구성",</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"사업부 실행 경계",</a:t>
            </a:r>
          </a:p>
          <a:p xmlns:a="http://schemas.openxmlformats.org/drawingml/2006/main">
            <a:r>
              <a:t>          "check": "사업부별 정답·권한·비용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"AI 결과",</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"AI 결과",</a:t>
            </a:r>
          </a:p>
          <a:p xmlns:a="http://schemas.openxmlformats.org/drawingml/2006/main">
            <a:r>
              <a:t>          "check": "사업부 간 지식 노출·개정 지연·비용 급증"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"이용·운영 기록",</a:t>
            </a:r>
          </a:p>
          <a:p xmlns:a="http://schemas.openxmlformats.org/drawingml/2006/main">
            <a:r>
              <a:t>          "check": "부서별 권한·정답·응답비용·운영 로그"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"공통 LLM 도구와 사업부 업무 확장 / LLM Suite·업무 문맥·사업부 확산",</a:t>
            </a:r>
          </a:p>
          <a:p xmlns:a="http://schemas.openxmlformats.org/drawingml/2006/main">
            <a:r>
              <a:t>        "extension": "사업부별 데이터 접근과 전체 업무 절차를 기준으로 공통 AI의 적용 범위 확대"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"사업부 간 지식 노출·개정 지연·비용 급증",</a:t>
            </a:r>
          </a:p>
          <a:p xmlns:a="http://schemas.openxmlformats.org/drawingml/2006/main">
            <a:r>
              <a:t>        "hold": "사업부별 정답·권한·비용 평가",</a:t>
            </a:r>
          </a:p>
          <a:p xmlns:a="http://schemas.openxmlformats.org/drawingml/2006/main">
            <a:r>
              <a:t>        "recovery": "사업부별 이용·정답·위험·운영 비용 평가",</a:t>
            </a:r>
          </a:p>
          <a:p xmlns:a="http://schemas.openxmlformats.org/drawingml/2006/main">
            <a:r>
              <a:t>        "evidence": "부서별 권한·정답·응답비용·운영 로그"</a:t>
            </a:r>
          </a:p>
          <a:p xmlns:a="http://schemas.openxmlformats.org/drawingml/2006/main">
            <a:r>
              <a:t>      },</a:t>
            </a:r>
          </a:p>
          <a:p xmlns:a="http://schemas.openxmlformats.org/drawingml/2006/main">
            <a:r>
              <a:t>      "data": {</a:t>
            </a:r>
          </a:p>
          <a:p xmlns:a="http://schemas.openxmlformats.org/drawingml/2006/main">
            <a:r>
              <a:t>        "source": "공통 데이터·업무 문맥",</a:t>
            </a:r>
          </a:p>
          <a:p xmlns:a="http://schemas.openxmlformats.org/drawingml/2006/main">
            <a:r>
              <a:t>        "prepare": "전사 데이터 기반과 업무 문맥의 접근 통제",</a:t>
            </a:r>
          </a:p>
          <a:p xmlns:a="http://schemas.openxmlformats.org/drawingml/2006/main">
            <a:r>
              <a:t>        "output": "업무 요청",</a:t>
            </a:r>
          </a:p>
          <a:p xmlns:a="http://schemas.openxmlformats.org/drawingml/2006/main">
            <a:r>
              <a:t>        "refresh": "사업부별 이용·정답·위험·운영 비용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"PF-A18",</a:t>
            </a:r>
          </a:p>
          <a:p xmlns:a="http://schemas.openxmlformats.org/drawingml/2006/main">
            <a:r>
              <a:t>    "success": [</a:t>
            </a:r>
          </a:p>
          <a:p xmlns:a="http://schemas.openxmlformats.org/drawingml/2006/main">
            <a:r>
              <a:t>      "전사 공통 AI 기반",</a:t>
            </a:r>
          </a:p>
          <a:p xmlns:a="http://schemas.openxmlformats.org/drawingml/2006/main">
            <a:r>
              <a:t>      "사업부별 활용 접점의 확장"</a:t>
            </a:r>
          </a:p>
          <a:p xmlns:a="http://schemas.openxmlformats.org/drawingml/2006/main">
            <a:r>
              <a:t>    ],</a:t>
            </a:r>
          </a:p>
          <a:p xmlns:a="http://schemas.openxmlformats.org/drawingml/2006/main">
            <a:r>
              <a:t>    "risks": [</a:t>
            </a:r>
          </a:p>
          <a:p xmlns:a="http://schemas.openxmlformats.org/drawingml/2006/main">
            <a:r>
              <a:t>      "사업부별 지식·권한 차이",</a:t>
            </a:r>
          </a:p>
          <a:p xmlns:a="http://schemas.openxmlformats.org/drawingml/2006/main">
            <a:r>
              <a:t>      "전사 확산을 일률적 효과로 환산"</a:t>
            </a:r>
          </a:p>
          <a:p xmlns:a="http://schemas.openxmlformats.org/drawingml/2006/main">
            <a:r>
              <a:t>    ],</a:t>
            </a:r>
          </a:p>
          <a:p xmlns:a="http://schemas.openxmlformats.org/drawingml/2006/main">
            <a:r>
              <a:t>    "architecture": [</a:t>
            </a:r>
          </a:p>
          <a:p xmlns:a="http://schemas.openxmlformats.org/drawingml/2006/main">
            <a:r>
              <a:t>      "사업부 직원",</a:t>
            </a:r>
          </a:p>
          <a:p xmlns:a="http://schemas.openxmlformats.org/drawingml/2006/main">
            <a:r>
              <a:t>      "LLM Suite",</a:t>
            </a:r>
          </a:p>
          <a:p xmlns:a="http://schemas.openxmlformats.org/drawingml/2006/main">
            <a:r>
              <a:t>      "공통 데이터·업무 문맥",</a:t>
            </a:r>
          </a:p>
          <a:p xmlns:a="http://schemas.openxmlformats.org/drawingml/2006/main">
            <a:r>
              <a:t>      "사업부 검토자"</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"허용 문맥",</a:t>
            </a:r>
          </a:p>
          <a:p xmlns:a="http://schemas.openxmlformats.org/drawingml/2006/main">
            <a:r>
              <a:t>      "AI 결과",</a:t>
            </a:r>
          </a:p>
          <a:p xmlns:a="http://schemas.openxmlformats.org/drawingml/2006/main">
            <a:r>
              <a:t>      "이용·운영 기록"</a:t>
            </a:r>
          </a:p>
          <a:p xmlns:a="http://schemas.openxmlformats.org/drawingml/2006/main">
            <a:r>
              <a:t>    ],</a:t>
            </a:r>
          </a:p>
          <a:p xmlns:a="http://schemas.openxmlformats.org/drawingml/2006/main">
            <a:r>
              <a:t>    "control": "사업부별 정답·권한·비용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P121~123·139 / 공통접근과 사업부 실행 분리 https://www.jpmorganchase.com/about/technology/blog/innovation-week25</a:t>
            </a:r>
          </a:p>
          <a:p xmlns:a="http://schemas.openxmlformats.org/drawingml/2006/main">
            <a:r>
              <a:t>홈페이지 https://heen1987-ops.github.io/TS-business-Plan-001/index.html?view=platform-cases&amp;case=PF-A18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a:p xmlns:a="http://schemas.openxmlformats.org/drawingml/2006/main">
            <a:r>
              <a:t>한계: 지원 관계·데이터 조건에 따름. TS 업무분장·권한 변경 처리 품질은 별도 시험 필요</a:t>
            </a:r>
          </a:p>
          <a:p xmlns:a="http://schemas.openxmlformats.org/drawingml/2006/main">
            <a:r>
              <a:t>실패 위험: 조직 관계를 접근권한으로 오인 / 전보·겸직 정보의 지연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"PF-C01",</a:t>
            </a:r>
          </a:p>
          <a:p xmlns:a="http://schemas.openxmlformats.org/drawingml/2006/main">
            <a:r>
              <a:t>    "sourceId": "C01",</a:t>
            </a:r>
          </a:p>
          <a:p xmlns:a="http://schemas.openxmlformats.org/drawingml/2006/main">
            <a:r>
              <a:t>    "title": "M365 조직 관계",</a:t>
            </a:r>
          </a:p>
          <a:p xmlns:a="http://schemas.openxmlformats.org/drawingml/2006/main">
            <a:r>
              <a:t>    "region": "해외",</a:t>
            </a:r>
          </a:p>
          <a:p xmlns:a="http://schemas.openxmlformats.org/drawingml/2006/main">
            <a:r>
              <a:t>    "owner": "Microsoft 365 Copilot / 조직 관계",</a:t>
            </a:r>
          </a:p>
          <a:p xmlns:a="http://schemas.openxmlformats.org/drawingml/2006/main">
            <a:r>
              <a:t>    "state": "2026-07-23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"지원 관계·데이터 조건에 따름. TS 업무분장·권한 변경 처리 품질은 별도 시험 필요",</a:t>
            </a:r>
          </a:p>
          <a:p xmlns:a="http://schemas.openxmlformats.org/drawingml/2006/main">
            <a:r>
              <a:t>    "nodes": [</a:t>
            </a:r>
          </a:p>
          <a:p xmlns:a="http://schemas.openxmlformats.org/drawingml/2006/main">
            <a:r>
              <a:t>      "직원 정보",</a:t>
            </a:r>
          </a:p>
          <a:p xmlns:a="http://schemas.openxmlformats.org/drawingml/2006/main">
            <a:r>
              <a:t>      "관계 커넥터",</a:t>
            </a:r>
          </a:p>
          <a:p xmlns:a="http://schemas.openxmlformats.org/drawingml/2006/main">
            <a:r>
              <a:t>      "조직 관계 질의",</a:t>
            </a:r>
          </a:p>
          <a:p xmlns:a="http://schemas.openxmlformats.org/drawingml/2006/main">
            <a:r>
              <a:t>      "접근 범위 응답"</a:t>
            </a:r>
          </a:p>
          <a:p xmlns:a="http://schemas.openxmlformats.org/drawingml/2006/main">
            <a:r>
              <a:t>    ],</a:t>
            </a:r>
          </a:p>
          <a:p xmlns:a="http://schemas.openxmlformats.org/drawingml/2006/main">
            <a:r>
              <a:t>    "apply": "직원 관계 인식과 데이터 접근권한을 각각 검증하는 조직 모델",</a:t>
            </a:r>
          </a:p>
          <a:p xmlns:a="http://schemas.openxmlformats.org/drawingml/2006/main">
            <a:r>
              <a:t>    "delta": "사번·직무·별칭·겸직·책임업무 매핑",</a:t>
            </a:r>
          </a:p>
          <a:p xmlns:a="http://schemas.openxmlformats.org/drawingml/2006/main">
            <a:r>
              <a:t>    "test": "인물 식별·직무 매핑 정확도의 기준선·비교 평가",</a:t>
            </a:r>
          </a:p>
          <a:p xmlns:a="http://schemas.openxmlformats.org/drawingml/2006/main">
            <a:r>
              <a:t>    "url": "https://learn.microsoft.com/en-us/microsoft-365/admin/people-relationships-m365?view=o365-worldwide",</a:t>
            </a:r>
          </a:p>
          <a:p xmlns:a="http://schemas.openxmlformats.org/drawingml/2006/main">
            <a:r>
              <a:t>    "urls": [</a:t>
            </a:r>
          </a:p>
          <a:p xmlns:a="http://schemas.openxmlformats.org/drawingml/2006/main">
            <a:r>
              <a:t>      "https://learn.microsoft.com/en-us/microsoft-365/admin/people-relationships-m365?view=o365-worldwide"</a:t>
            </a:r>
          </a:p>
          <a:p xmlns:a="http://schemas.openxmlformats.org/drawingml/2006/main">
            <a:r>
              <a:t>    ],</a:t>
            </a:r>
          </a:p>
          <a:p xmlns:a="http://schemas.openxmlformats.org/drawingml/2006/main">
            <a:r>
              <a:t>    "basis": "People relationships in Microsoft 365",</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"인물 식별·직무 매핑 정확도",</a:t>
            </a:r>
          </a:p>
          <a:p xmlns:a="http://schemas.openxmlformats.org/drawingml/2006/main">
            <a:r>
              <a:t>    "group": "제품 비교",</a:t>
            </a:r>
          </a:p>
          <a:p xmlns:a="http://schemas.openxmlformats.org/drawingml/2006/main">
            <a:r>
              <a:t>    "sourceDetail": "상사·보좌·점선 보고·맞춤 관계를 지원 데이터 커넥터를 통해 질의응답에 활용",</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"PF-C01",</a:t>
            </a:r>
          </a:p>
          <a:p xmlns:a="http://schemas.openxmlformats.org/drawingml/2006/main">
            <a:r>
              <a:t>    "canonicalId": "PF-C01",</a:t>
            </a:r>
          </a:p>
          <a:p xmlns:a="http://schemas.openxmlformats.org/drawingml/2006/main">
            <a:r>
              <a:t>    "purpose": "공식 직원 관계를 질의 문맥으로 활용",</a:t>
            </a:r>
          </a:p>
          <a:p xmlns:a="http://schemas.openxmlformats.org/drawingml/2006/main">
            <a:r>
              <a:t>    "users": "직원·디렉터리 관리자",</a:t>
            </a:r>
          </a:p>
          <a:p xmlns:a="http://schemas.openxmlformats.org/drawingml/2006/main">
            <a:r>
              <a:t>    "scope": [</a:t>
            </a:r>
          </a:p>
          <a:p xmlns:a="http://schemas.openxmlformats.org/drawingml/2006/main">
            <a:r>
              <a:t>      "상사",</a:t>
            </a:r>
          </a:p>
          <a:p xmlns:a="http://schemas.openxmlformats.org/drawingml/2006/main">
            <a:r>
              <a:t>      "보좌·점선 보고",</a:t>
            </a:r>
          </a:p>
          <a:p xmlns:a="http://schemas.openxmlformats.org/drawingml/2006/main">
            <a:r>
              <a:t>      "맞춤 관계"</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"로그인 사용자와 관계 질의 대상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"상사 / 보좌·점선 보고 / 맞춤 관계",</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"관계 커넥터",</a:t>
            </a:r>
          </a:p>
          <a:p xmlns:a="http://schemas.openxmlformats.org/drawingml/2006/main">
            <a:r>
              <a:t>        "detail": "지원 커넥터의 관계 유형과 직원 ID 매칭",</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"관계 질의 이용자",</a:t>
            </a:r>
          </a:p>
          <a:p xmlns:a="http://schemas.openxmlformats.org/drawingml/2006/main">
            <a:r>
              <a:t>        "detail": "허용된 조직 관계를 질의 응답에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"조직·직원 관계",</a:t>
            </a:r>
          </a:p>
          <a:p xmlns:a="http://schemas.openxmlformats.org/drawingml/2006/main">
            <a:r>
              <a:t>        "detail": "직원 디렉터리·관계 유형·효력일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"전보·겸직·관계 해제 이후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정보",</a:t>
            </a:r>
          </a:p>
          <a:p xmlns:a="http://schemas.openxmlformats.org/drawingml/2006/main">
            <a:r>
              <a:t>        "input": "로그인 사용자와 관계 질의 대상 식별",</a:t>
            </a:r>
          </a:p>
          <a:p xmlns:a="http://schemas.openxmlformats.org/drawingml/2006/main">
            <a:r>
              <a:t>        "process": "직원 디렉터리·관계 유형·효력일 정합화",</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"title": "관계 커넥터",</a:t>
            </a:r>
          </a:p>
          <a:p xmlns:a="http://schemas.openxmlformats.org/drawingml/2006/main">
            <a:r>
              <a:t>        "input": "직원 정보",</a:t>
            </a:r>
          </a:p>
          <a:p xmlns:a="http://schemas.openxmlformats.org/drawingml/2006/main">
            <a:r>
              <a:t>        "process": "지원 커넥터의 관계 유형과 직원 ID 매칭",</a:t>
            </a:r>
          </a:p>
          <a:p xmlns:a="http://schemas.openxmlformats.org/drawingml/2006/main">
            <a:r>
              <a:t>        "output": "관계 매핑"</a:t>
            </a:r>
          </a:p>
          <a:p xmlns:a="http://schemas.openxmlformats.org/drawingml/2006/main">
            <a:r>
              <a:t>      },</a:t>
            </a:r>
          </a:p>
          <a:p xmlns:a="http://schemas.openxmlformats.org/drawingml/2006/main">
            <a:r>
              <a:t>      {</a:t>
            </a:r>
          </a:p>
          <a:p xmlns:a="http://schemas.openxmlformats.org/drawingml/2006/main">
            <a:r>
              <a:t>        "title": "조직 관계 질의",</a:t>
            </a:r>
          </a:p>
          <a:p xmlns:a="http://schemas.openxmlformats.org/drawingml/2006/main">
            <a:r>
              <a:t>        "input": "관계 매핑",</a:t>
            </a:r>
          </a:p>
          <a:p xmlns:a="http://schemas.openxmlformats.org/drawingml/2006/main">
            <a:r>
              <a:t>        "process": "신원·효력일과 권한 원천 분리",</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"title": "접근 범위 응답",</a:t>
            </a:r>
          </a:p>
          <a:p xmlns:a="http://schemas.openxmlformats.org/drawingml/2006/main">
            <a:r>
              <a:t>        "input": "관계 질의",</a:t>
            </a:r>
          </a:p>
          <a:p xmlns:a="http://schemas.openxmlformats.org/drawingml/2006/main">
            <a:r>
              <a:t>        "process":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"상사·겸직·점선 보고 관계를 대상 직원 ID로 조회",</a:t>
            </a:r>
          </a:p>
          <a:p xmlns:a="http://schemas.openxmlformats.org/drawingml/2006/main">
            <a:r>
              <a:t>      "exception": "동명이인·전보일 경계·종료된 대행관계",</a:t>
            </a:r>
          </a:p>
          <a:p xmlns:a="http://schemas.openxmlformats.org/drawingml/2006/main">
            <a:r>
              <a:t>      "evidence": "원천 관계와 응답의 ID·효력일·권한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"로그인 사용자와 관계 질의 대상 식별",</a:t>
            </a:r>
          </a:p>
          <a:p xmlns:a="http://schemas.openxmlformats.org/drawingml/2006/main">
            <a:r>
              <a:t>          "output": "직원 정보"</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"조직·직원 관계",</a:t>
            </a:r>
          </a:p>
          <a:p xmlns:a="http://schemas.openxmlformats.org/drawingml/2006/main">
            <a:r>
              <a:t>          "processing": "직원 디렉터리·관계 유형·효력일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정보",</a:t>
            </a:r>
          </a:p>
          <a:p xmlns:a="http://schemas.openxmlformats.org/drawingml/2006/main">
            <a:r>
              <a:t>          "processing": "지원 커넥터의 관계 유형과 직원 ID 매칭",</a:t>
            </a:r>
          </a:p>
          <a:p xmlns:a="http://schemas.openxmlformats.org/drawingml/2006/main">
            <a:r>
              <a:t>          "output": "관계 질의"</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"관계 질의",</a:t>
            </a:r>
          </a:p>
          <a:p xmlns:a="http://schemas.openxmlformats.org/drawingml/2006/main">
            <a:r>
              <a:t>          "processing": "허용된 조직 관계를 질의 응답에 제공",</a:t>
            </a:r>
          </a:p>
          <a:p xmlns:a="http://schemas.openxmlformats.org/drawingml/2006/main">
            <a:r>
              <a:t>          "output": "허용 응답"</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"전보·겸직·관계 해제 이후 결과 대사",</a:t>
            </a:r>
          </a:p>
          <a:p xmlns:a="http://schemas.openxmlformats.org/drawingml/2006/main">
            <a:r>
              <a:t>          "output": "원천 관계와 응답의 ID·효력일·권한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"전보·겸직·관계 해제 이후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"People relationships in Microsoft 365",</a:t>
            </a:r>
          </a:p>
          <a:p xmlns:a="http://schemas.openxmlformats.org/drawingml/2006/main">
            <a:r>
              <a:t>        "url": "https://learn.microsoft.com/en-us/microsoft-365/admin/people-relationships-m365?view=o365-worldwide"</a:t>
            </a:r>
          </a:p>
          <a:p xmlns:a="http://schemas.openxmlformats.org/drawingml/2006/main">
            <a:r>
              <a:t>      }</a:t>
            </a:r>
          </a:p>
          <a:p xmlns:a="http://schemas.openxmlformats.org/drawingml/2006/main">
            <a:r>
              <a:t>    ],</a:t>
            </a:r>
          </a:p>
          <a:p xmlns:a="http://schemas.openxmlformats.org/drawingml/2006/main">
            <a:r>
              <a:t>    "implication": "직원 관계 인식과 데이터 접근권한을 각각 검증하는 조직 모델",</a:t>
            </a:r>
          </a:p>
          <a:p xmlns:a="http://schemas.openxmlformats.org/drawingml/2006/main">
            <a:r>
              <a:t>    "local": "직원 관계 인식과 데이터 접근권한을 각각 검증하는 조직 모델",</a:t>
            </a:r>
          </a:p>
          <a:p xmlns:a="http://schemas.openxmlformats.org/drawingml/2006/main">
            <a:r>
              <a:t>    "sourceDetail": "상사·보좌·점선 보고·맞춤 관계를 지원 데이터 커넥터를 통해 질의응답에 활용",</a:t>
            </a:r>
          </a:p>
          <a:p xmlns:a="http://schemas.openxmlformats.org/drawingml/2006/main">
            <a:r>
              <a:t>    "narrative": [</a:t>
            </a:r>
          </a:p>
          <a:p xmlns:a="http://schemas.openxmlformats.org/drawingml/2006/main">
            <a:r>
              <a:t>      "Microsoft Graph의 조직 관계 활용 기능을 조직 네이티브 AI의 구성요소 관점에서 분석한 사례. 상사·보고 관계·추가 관계를 식별해 질의 대상과 업무 문맥을 연결하는 기능 범위.",</a:t>
            </a:r>
          </a:p>
          <a:p xmlns:a="http://schemas.openxmlformats.org/drawingml/2006/main">
            <a:r>
              <a:t>      "지원되는 디렉터리·관계 유형과 직원 식별정보를 대조하고 요청자에게 허용된 관계 정보를 조회하는 흐름. 직원 이름을 단순 검색어로 사용하는 방식과 공식 ID·관계 유형·효력일을 이용하는 방식의 차이를 비교하는 설계.",</a:t>
            </a:r>
          </a:p>
          <a:p xmlns:a="http://schemas.openxmlformats.org/drawingml/2006/main">
            <a:r>
              <a:t>      "직속 상사 관계가 문서 열람·결재 권한을 자동 부여하는 근거는 아님. TS에서는 조직 관계 그래프와 업무시스템의 권한 정책을 분리하고 겸직·파견·대결·전보·동명이인 조건에서 허용된 관계와 실제 접근 권한을 함께 시험."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"조직 관계 질의",</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"로그인·대상 ID",</a:t>
            </a:r>
          </a:p>
          <a:p xmlns:a="http://schemas.openxmlformats.org/drawingml/2006/main">
            <a:r>
              <a:t>          "layer": "업무 문맥",</a:t>
            </a:r>
          </a:p>
          <a:p xmlns:a="http://schemas.openxmlformats.org/drawingml/2006/main">
            <a:r>
              <a:t>          "detail": "로그인 사용자와 관계 질의 대상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"직원 관계 조회",</a:t>
            </a:r>
          </a:p>
          <a:p xmlns:a="http://schemas.openxmlformats.org/drawingml/2006/main">
            <a:r>
              <a:t>          "layer": "자료 조회",</a:t>
            </a:r>
          </a:p>
          <a:p xmlns:a="http://schemas.openxmlformats.org/drawingml/2006/main">
            <a:r>
              <a:t>          "detail": "직원 정보",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"관계 유형 매칭",</a:t>
            </a:r>
          </a:p>
          <a:p xmlns:a="http://schemas.openxmlformats.org/drawingml/2006/main">
            <a:r>
              <a:t>          "layer": "핵심 처리",</a:t>
            </a:r>
          </a:p>
          <a:p xmlns:a="http://schemas.openxmlformats.org/drawingml/2006/main">
            <a:r>
              <a:t>          "detail": "지원 커넥터의 관계 유형과 직원 ID 매칭",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"효력일·동명 검사",</a:t>
            </a:r>
          </a:p>
          <a:p xmlns:a="http://schemas.openxmlformats.org/drawingml/2006/main">
            <a:r>
              <a:t>          "layer": "결과 검증",</a:t>
            </a:r>
          </a:p>
          <a:p xmlns:a="http://schemas.openxmlformats.org/drawingml/2006/main">
            <a:r>
              <a:t>          "detail": "신원·효력일과 권한 원천 분리",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확인",</a:t>
            </a:r>
          </a:p>
          <a:p xmlns:a="http://schemas.openxmlformats.org/drawingml/2006/main">
            <a:r>
              <a:t>          "layer": "사람 확인",</a:t>
            </a:r>
          </a:p>
          <a:p xmlns:a="http://schemas.openxmlformats.org/drawingml/2006/main">
            <a:r>
              <a:t>          "detail": "상사·겸직·점선 보고 관계를 대상 직원 ID로 조회",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 관계 응답",</a:t>
            </a:r>
          </a:p>
          <a:p xmlns:a="http://schemas.openxmlformats.org/drawingml/2006/main">
            <a:r>
              <a:t>          "layer": "업무 연결",</a:t>
            </a:r>
          </a:p>
          <a:p xmlns:a="http://schemas.openxmlformats.org/drawingml/2006/main">
            <a:r>
              <a:t>          "detail": "허용된 조직 관계를 질의 응답에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"전보·해제 대사",</a:t>
            </a:r>
          </a:p>
          <a:p xmlns:a="http://schemas.openxmlformats.org/drawingml/2006/main">
            <a:r>
              <a:t>          "layer": "운영 관측",</a:t>
            </a:r>
          </a:p>
          <a:p xmlns:a="http://schemas.openxmlformats.org/drawingml/2006/main">
            <a:r>
              <a:t>          "detail": "전보·겸직·관계 해제 이후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"직원 디렉터리",</a:t>
            </a:r>
          </a:p>
          <a:p xmlns:a="http://schemas.openxmlformats.org/drawingml/2006/main">
            <a:r>
              <a:t>          "layer": "데이터 원천",</a:t>
            </a:r>
          </a:p>
          <a:p xmlns:a="http://schemas.openxmlformats.org/drawingml/2006/main">
            <a:r>
              <a:t>          "detail": "조직·직원 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"공식 ID·유형 정리",</a:t>
            </a:r>
          </a:p>
          <a:p xmlns:a="http://schemas.openxmlformats.org/drawingml/2006/main">
            <a:r>
              <a:t>          "layer": "준비·갱신",</a:t>
            </a:r>
          </a:p>
          <a:p xmlns:a="http://schemas.openxmlformats.org/drawingml/2006/main">
            <a:r>
              <a:t>          "detail": "직원 디렉터리·관계 유형·효력일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"관계·효력일 원장",</a:t>
            </a:r>
          </a:p>
          <a:p xmlns:a="http://schemas.openxmlformats.org/drawingml/2006/main">
            <a:r>
              <a:t>          "layer": "상태·지식 저장",</a:t>
            </a:r>
          </a:p>
          <a:p xmlns:a="http://schemas.openxmlformats.org/drawingml/2006/main">
            <a:r>
              <a:t>          "detail": "원천 관계와 응답의 ID·효력일·권한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"관계와 권한 분리",</a:t>
            </a:r>
          </a:p>
          <a:p xmlns:a="http://schemas.openxmlformats.org/drawingml/2006/main">
            <a:r>
              <a:t>          "layer": "권한·정책",</a:t>
            </a:r>
          </a:p>
          <a:p xmlns:a="http://schemas.openxmlformats.org/drawingml/2006/main">
            <a:r>
              <a:t>          "detail": "동명이인·전보일 경계·종료된 대행관계",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정보 → 관계 커넥터 → 조직 관계 질의 → 접근 범위 응답"</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"로그인 사용자와 관계 질의 대상 식별",</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정보",</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"관계와 권한 분리",</a:t>
            </a:r>
          </a:p>
          <a:p xmlns:a="http://schemas.openxmlformats.org/drawingml/2006/main">
            <a:r>
              <a:t>          "check": "신원·효력일과 권한 원천 분리"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"관계 질의",</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"관계 질의",</a:t>
            </a:r>
          </a:p>
          <a:p xmlns:a="http://schemas.openxmlformats.org/drawingml/2006/main">
            <a:r>
              <a:t>          "check": "동명이인·전보일 경계·종료된 대행관계"</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"허용 응답",</a:t>
            </a:r>
          </a:p>
          <a:p xmlns:a="http://schemas.openxmlformats.org/drawingml/2006/main">
            <a:r>
              <a:t>          "check": "원천 관계와 응답의 ID·효력일·권한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"공식 직원 관계를 질의 문맥으로 활용 / 상사·보좌·점선 보고·맞춤 관계",</a:t>
            </a:r>
          </a:p>
          <a:p xmlns:a="http://schemas.openxmlformats.org/drawingml/2006/main">
            <a:r>
              <a:t>        "extension": "직원 관계 인식과 데이터 접근권한을 각각 검증하는 조직 모델"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"동명이인·전보일 경계·종료된 대행관계",</a:t>
            </a:r>
          </a:p>
          <a:p xmlns:a="http://schemas.openxmlformats.org/drawingml/2006/main">
            <a:r>
              <a:t>        "hold": "신원·효력일과 권한 원천 분리",</a:t>
            </a:r>
          </a:p>
          <a:p xmlns:a="http://schemas.openxmlformats.org/drawingml/2006/main">
            <a:r>
              <a:t>        "recovery": "전보·겸직·관계 해제 이후 결과 대사",</a:t>
            </a:r>
          </a:p>
          <a:p xmlns:a="http://schemas.openxmlformats.org/drawingml/2006/main">
            <a:r>
              <a:t>        "evidence": "원천 관계와 응답의 ID·효력일·권한 대사"</a:t>
            </a:r>
          </a:p>
          <a:p xmlns:a="http://schemas.openxmlformats.org/drawingml/2006/main">
            <a:r>
              <a:t>      },</a:t>
            </a:r>
          </a:p>
          <a:p xmlns:a="http://schemas.openxmlformats.org/drawingml/2006/main">
            <a:r>
              <a:t>      "data": {</a:t>
            </a:r>
          </a:p>
          <a:p xmlns:a="http://schemas.openxmlformats.org/drawingml/2006/main">
            <a:r>
              <a:t>        "source": "조직·직원 관계",</a:t>
            </a:r>
          </a:p>
          <a:p xmlns:a="http://schemas.openxmlformats.org/drawingml/2006/main">
            <a:r>
              <a:t>        "prepare": "직원 디렉터리·관계 유형·효력일 정합화",</a:t>
            </a:r>
          </a:p>
          <a:p xmlns:a="http://schemas.openxmlformats.org/drawingml/2006/main">
            <a:r>
              <a:t>        "output": "직원 정보",</a:t>
            </a:r>
          </a:p>
          <a:p xmlns:a="http://schemas.openxmlformats.org/drawingml/2006/main">
            <a:r>
              <a:t>        "refresh": "전보·겸직·관계 해제 이후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"PF-C01",</a:t>
            </a:r>
          </a:p>
          <a:p xmlns:a="http://schemas.openxmlformats.org/drawingml/2006/main">
            <a:r>
              <a:t>    "success": [</a:t>
            </a:r>
          </a:p>
          <a:p xmlns:a="http://schemas.openxmlformats.org/drawingml/2006/main">
            <a:r>
              <a:t>      "공식 직원 관계의 연결",</a:t>
            </a:r>
          </a:p>
          <a:p xmlns:a="http://schemas.openxmlformats.org/drawingml/2006/main">
            <a:r>
              <a:t>      "조직 질의의 데이터 기반 구성"</a:t>
            </a:r>
          </a:p>
          <a:p xmlns:a="http://schemas.openxmlformats.org/drawingml/2006/main">
            <a:r>
              <a:t>    ],</a:t>
            </a:r>
          </a:p>
          <a:p xmlns:a="http://schemas.openxmlformats.org/drawingml/2006/main">
            <a:r>
              <a:t>    "risks": [</a:t>
            </a:r>
          </a:p>
          <a:p xmlns:a="http://schemas.openxmlformats.org/drawingml/2006/main">
            <a:r>
              <a:t>      "조직 관계를 접근권한으로 오인",</a:t>
            </a:r>
          </a:p>
          <a:p xmlns:a="http://schemas.openxmlformats.org/drawingml/2006/main">
            <a:r>
              <a:t>      "전보·겸직 정보의 지연"</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"관계 커넥터",</a:t>
            </a:r>
          </a:p>
          <a:p xmlns:a="http://schemas.openxmlformats.org/drawingml/2006/main">
            <a:r>
              <a:t>      "조직·직원 관계",</a:t>
            </a:r>
          </a:p>
          <a:p xmlns:a="http://schemas.openxmlformats.org/drawingml/2006/main">
            <a:r>
              <a:t>      "관계 질의 이용자"</a:t>
            </a:r>
          </a:p>
          <a:p xmlns:a="http://schemas.openxmlformats.org/drawingml/2006/main">
            <a:r>
              <a:t>    ],</a:t>
            </a:r>
          </a:p>
          <a:p xmlns:a="http://schemas.openxmlformats.org/drawingml/2006/main">
            <a:r>
              <a:t>    "transfers": [</a:t>
            </a:r>
          </a:p>
          <a:p xmlns:a="http://schemas.openxmlformats.org/drawingml/2006/main">
            <a:r>
              <a:t>      "직원 정보",</a:t>
            </a:r>
          </a:p>
          <a:p xmlns:a="http://schemas.openxmlformats.org/drawingml/2006/main">
            <a:r>
              <a:t>      "관계 매핑",</a:t>
            </a:r>
          </a:p>
          <a:p xmlns:a="http://schemas.openxmlformats.org/drawingml/2006/main">
            <a:r>
              <a:t>      "관계 질의",</a:t>
            </a:r>
          </a:p>
          <a:p xmlns:a="http://schemas.openxmlformats.org/drawingml/2006/main">
            <a:r>
              <a:t>      "허용 응답"</a:t>
            </a:r>
          </a:p>
          <a:p xmlns:a="http://schemas.openxmlformats.org/drawingml/2006/main">
            <a:r>
              <a:t>    ],</a:t>
            </a:r>
          </a:p>
          <a:p xmlns:a="http://schemas.openxmlformats.org/drawingml/2006/main">
            <a:r>
              <a:t>    "control": "신원·효력일과 권한 원천 분리",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People relationships in Microsoft 365 https://learn.microsoft.com/en-us/microsoft-365/admin/people-relationships-m365?view=o365-worldwide</a:t>
            </a:r>
          </a:p>
          <a:p xmlns:a="http://schemas.openxmlformats.org/drawingml/2006/main">
            <a:r>
              <a:t>홈페이지 https://heen1987-ops.github.io/TS-business-Plan-001/index.html?view=platform-cases&amp;case=PF-C01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a:p xmlns:a="http://schemas.openxmlformats.org/drawingml/2006/main">
            <a:r>
              <a:t>한계: CSV 방식은 인사 변경마다 재업로드 필요. 자동 커넥터도 제공. 동기화·조직 맥락 자체는 CCK 독점 기능 아님</a:t>
            </a:r>
          </a:p>
          <a:p xmlns:a="http://schemas.openxmlformats.org/drawingml/2006/main">
            <a:r>
              <a:t>실패 위험: 복수 원천의 직원 중복 / 삭제·퇴직·부서 변경 반영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"PF-C02",</a:t>
            </a:r>
          </a:p>
          <a:p xmlns:a="http://schemas.openxmlformats.org/drawingml/2006/main">
            <a:r>
              <a:t>    "sourceId": "C02",</a:t>
            </a:r>
          </a:p>
          <a:p xmlns:a="http://schemas.openxmlformats.org/drawingml/2006/main">
            <a:r>
              <a:t>    "title": "Glean People connector",</a:t>
            </a:r>
          </a:p>
          <a:p xmlns:a="http://schemas.openxmlformats.org/drawingml/2006/main">
            <a:r>
              <a:t>    "region": "해외",</a:t>
            </a:r>
          </a:p>
          <a:p xmlns:a="http://schemas.openxmlformats.org/drawingml/2006/main">
            <a:r>
              <a:t>    "owner": "Glean / People connector",</a:t>
            </a:r>
          </a:p>
          <a:p xmlns:a="http://schemas.openxmlformats.org/drawingml/2006/main">
            <a:r>
              <a:t>    "state": "공식 기능 문서 / 2026-10-16 확인",</a:t>
            </a:r>
          </a:p>
          <a:p xmlns:a="http://schemas.openxmlformats.org/drawingml/2006/main">
            <a:r>
              <a:t>    "period": "기존 원장 확인 2026.10.16",</a:t>
            </a:r>
          </a:p>
          <a:p xmlns:a="http://schemas.openxmlformats.org/drawingml/2006/main">
            <a:r>
              <a:t>    "fact": "제품 기능 비교 / 기관 도입 성과 아님",</a:t>
            </a:r>
          </a:p>
          <a:p xmlns:a="http://schemas.openxmlformats.org/drawingml/2006/main">
            <a:r>
              <a:t>    "limit": "CSV 방식은 인사 변경마다 재업로드 필요. 자동 커넥터도 제공. 동기화·조직 맥락 자체는 CCK 독점 기능 아님",</a:t>
            </a:r>
          </a:p>
          <a:p xmlns:a="http://schemas.openxmlformats.org/drawingml/2006/main">
            <a:r>
              <a:t>    "nodes": [</a:t>
            </a:r>
          </a:p>
          <a:p xmlns:a="http://schemas.openxmlformats.org/drawingml/2006/main">
            <a:r>
              <a:t>      "직원 디렉터리",</a:t>
            </a:r>
          </a:p>
          <a:p xmlns:a="http://schemas.openxmlformats.org/drawingml/2006/main">
            <a:r>
              <a:t>      "동기화·필드 매핑",</a:t>
            </a:r>
          </a:p>
          <a:p xmlns:a="http://schemas.openxmlformats.org/drawingml/2006/main">
            <a:r>
              <a:t>      "권한별 검색",</a:t>
            </a:r>
          </a:p>
          <a:p xmlns:a="http://schemas.openxmlformats.org/drawingml/2006/main">
            <a:r>
              <a:t>      "직원 정보 활용"</a:t>
            </a:r>
          </a:p>
          <a:p xmlns:a="http://schemas.openxmlformats.org/drawingml/2006/main">
            <a:r>
              <a:t>    ],</a:t>
            </a:r>
          </a:p>
          <a:p xmlns:a="http://schemas.openxmlformats.org/drawingml/2006/main">
            <a:r>
              <a:t>    "apply": "사번·부서·직책·상사 정보의 원천 우선순위와 변경 반영 체계",</a:t>
            </a:r>
          </a:p>
          <a:p xmlns:a="http://schemas.openxmlformats.org/drawingml/2006/main">
            <a:r>
              <a:t>    "delta": "전보·퇴직·겸직 이후 검색·인계·캐시 회수",</a:t>
            </a:r>
          </a:p>
          <a:p xmlns:a="http://schemas.openxmlformats.org/drawingml/2006/main">
            <a:r>
              <a:t>    "test": "오노출 건수·변경 반영 지연의 기준선·비교 평가",</a:t>
            </a:r>
          </a:p>
          <a:p xmlns:a="http://schemas.openxmlformats.org/drawingml/2006/main">
            <a:r>
              <a:t>    "url": "https://docs.glean.com/get-started/setup/sync-people-data",</a:t>
            </a:r>
          </a:p>
          <a:p xmlns:a="http://schemas.openxmlformats.org/drawingml/2006/main">
            <a:r>
              <a:t>    "urls": [</a:t>
            </a:r>
          </a:p>
          <a:p xmlns:a="http://schemas.openxmlformats.org/drawingml/2006/main">
            <a:r>
              <a:t>      "https://docs.glean.com/get-started/setup/sync-people-data"</a:t>
            </a:r>
          </a:p>
          <a:p xmlns:a="http://schemas.openxmlformats.org/drawingml/2006/main">
            <a:r>
              <a:t>    ],</a:t>
            </a:r>
          </a:p>
          <a:p xmlns:a="http://schemas.openxmlformats.org/drawingml/2006/main">
            <a:r>
              <a:t>    "basis": "Select people connector / Manual upload / CSV format",</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"오노출 건수·변경 반영 지연",</a:t>
            </a:r>
          </a:p>
          <a:p xmlns:a="http://schemas.openxmlformats.org/drawingml/2006/main">
            <a:r>
              <a:t>    "group": "제품 비교",</a:t>
            </a:r>
          </a:p>
          <a:p xmlns:a="http://schemas.openxmlformats.org/drawingml/2006/main">
            <a:r>
              <a:t>    "sourceDetail": "직원 디렉터리 동기화, 권한 적용·역할 기반 접근 및 검색 개인화. 부서·직책·상사 등 필드 매핑",</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"PF-C02",</a:t>
            </a:r>
          </a:p>
          <a:p xmlns:a="http://schemas.openxmlformats.org/drawingml/2006/main">
            <a:r>
              <a:t>    "canonicalId": "PF-C02",</a:t>
            </a:r>
          </a:p>
          <a:p xmlns:a="http://schemas.openxmlformats.org/drawingml/2006/main">
            <a:r>
              <a:t>    "purpose": "직원 데이터 동기화와 조직 검색 지원",</a:t>
            </a:r>
          </a:p>
          <a:p xmlns:a="http://schemas.openxmlformats.org/drawingml/2006/main">
            <a:r>
              <a:t>    "users": "직원·디렉터리 관리자",</a:t>
            </a:r>
          </a:p>
          <a:p xmlns:a="http://schemas.openxmlformats.org/drawingml/2006/main">
            <a:r>
              <a:t>    "scope": [</a:t>
            </a:r>
          </a:p>
          <a:p xmlns:a="http://schemas.openxmlformats.org/drawingml/2006/main">
            <a:r>
              <a:t>      "인물 검색",</a:t>
            </a:r>
          </a:p>
          <a:p xmlns:a="http://schemas.openxmlformats.org/drawingml/2006/main">
            <a:r>
              <a:t>      "조직 필드",</a:t>
            </a:r>
          </a:p>
          <a:p xmlns:a="http://schemas.openxmlformats.org/drawingml/2006/main">
            <a:r>
              <a:t>      "권한 적용"</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"직원 디렉터리",</a:t>
            </a:r>
          </a:p>
          <a:p xmlns:a="http://schemas.openxmlformats.org/drawingml/2006/main">
            <a:r>
              <a:t>        "detail": "사람 ID·부서·직책·관리자 필드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"인물 검색 / 조직 필드 / 권한 적용",</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"People connector",</a:t>
            </a:r>
          </a:p>
          <a:p xmlns:a="http://schemas.openxmlformats.org/drawingml/2006/main">
            <a:r>
              <a:t>        "detail": "People connector의 필드 변환과 동기화",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"검색 이용자",</a:t>
            </a:r>
          </a:p>
          <a:p xmlns:a="http://schemas.openxmlformats.org/drawingml/2006/main">
            <a:r>
              <a:t>        "detail": "허용된 직원 정보와 검색 문맥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"사람·조직 필드",</a:t>
            </a:r>
          </a:p>
          <a:p xmlns:a="http://schemas.openxmlformats.org/drawingml/2006/main">
            <a:r>
              <a:t>        "detail": "지정 원천·중복 직원·삭제 이벤트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"원천 변경·퇴직·삭제의 동기화 결과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디렉터리",</a:t>
            </a:r>
          </a:p>
          <a:p xmlns:a="http://schemas.openxmlformats.org/drawingml/2006/main">
            <a:r>
              <a:t>        "input": "사람 ID·부서·직책·관리자 필드 정의",</a:t>
            </a:r>
          </a:p>
          <a:p xmlns:a="http://schemas.openxmlformats.org/drawingml/2006/main">
            <a:r>
              <a:t>        "process": "지정 원천·중복 직원·삭제 이벤트 정리",</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"title": "동기화·필드 매핑",</a:t>
            </a:r>
          </a:p>
          <a:p xmlns:a="http://schemas.openxmlformats.org/drawingml/2006/main">
            <a:r>
              <a:t>        "input": "직원 필드",</a:t>
            </a:r>
          </a:p>
          <a:p xmlns:a="http://schemas.openxmlformats.org/drawingml/2006/main">
            <a:r>
              <a:t>        "process": "People connector의 필드 변환과 동기화",</a:t>
            </a:r>
          </a:p>
          <a:p xmlns:a="http://schemas.openxmlformats.org/drawingml/2006/main">
            <a:r>
              <a:t>        "output": "동기화 관계"</a:t>
            </a:r>
          </a:p>
          <a:p xmlns:a="http://schemas.openxmlformats.org/drawingml/2006/main">
            <a:r>
              <a:t>      },</a:t>
            </a:r>
          </a:p>
          <a:p xmlns:a="http://schemas.openxmlformats.org/drawingml/2006/main">
            <a:r>
              <a:t>      {</a:t>
            </a:r>
          </a:p>
          <a:p xmlns:a="http://schemas.openxmlformats.org/drawingml/2006/main">
            <a:r>
              <a:t>        "title": "권한별 검색",</a:t>
            </a:r>
          </a:p>
          <a:p xmlns:a="http://schemas.openxmlformats.org/drawingml/2006/main">
            <a:r>
              <a:t>        "input": "동기화 관계",</a:t>
            </a:r>
          </a:p>
          <a:p xmlns:a="http://schemas.openxmlformats.org/drawingml/2006/main">
            <a:r>
              <a:t>        "process": "원천 우선순위·중복·변경 대사",</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"title": "직원 정보 활용",</a:t>
            </a:r>
          </a:p>
          <a:p xmlns:a="http://schemas.openxmlformats.org/drawingml/2006/main">
            <a:r>
              <a:t>        "input": "검색 문맥",</a:t>
            </a:r>
          </a:p>
          <a:p xmlns:a="http://schemas.openxmlformats.org/drawingml/2006/main">
            <a:r>
              <a:t>        "process":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"직원 원천의 부서·직책 변경을 검색에 반영",</a:t>
            </a:r>
          </a:p>
          <a:p xmlns:a="http://schemas.openxmlformats.org/drawingml/2006/main">
            <a:r>
              <a:t>      "exception": "중복 계정·삭제 이벤트 누락·CSV 갱신 지연",</a:t>
            </a:r>
          </a:p>
          <a:p xmlns:a="http://schemas.openxmlformats.org/drawingml/2006/main">
            <a:r>
              <a:t>      "evidence": "원천–동기화–검색 결과의 전후 스냅샷과 지연",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"직원·디렉터리 관리자",</a:t>
            </a:r>
          </a:p>
          <a:p xmlns:a="http://schemas.openxmlformats.org/drawingml/2006/main">
            <a:r>
              <a:t>          "processing": "사람 ID·부서·직책·관리자 필드 정의",</a:t>
            </a:r>
          </a:p>
          <a:p xmlns:a="http://schemas.openxmlformats.org/drawingml/2006/main">
            <a:r>
              <a:t>          "output": "직원 필드"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"사람·조직 필드",</a:t>
            </a:r>
          </a:p>
          <a:p xmlns:a="http://schemas.openxmlformats.org/drawingml/2006/main">
            <a:r>
              <a:t>          "processing": "지정 원천·중복 직원·삭제 이벤트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"직원 필드",</a:t>
            </a:r>
          </a:p>
          <a:p xmlns:a="http://schemas.openxmlformats.org/drawingml/2006/main">
            <a:r>
              <a:t>          "processing": "People connector의 필드 변환과 동기화",</a:t>
            </a:r>
          </a:p>
          <a:p xmlns:a="http://schemas.openxmlformats.org/drawingml/2006/main">
            <a:r>
              <a:t>          "output": "검색 문맥"</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"검색 문맥",</a:t>
            </a:r>
          </a:p>
          <a:p xmlns:a="http://schemas.openxmlformats.org/drawingml/2006/main">
            <a:r>
              <a:t>          "processing": "허용된 직원 정보와 검색 문맥 제공",</a:t>
            </a:r>
          </a:p>
          <a:p xmlns:a="http://schemas.openxmlformats.org/drawingml/2006/main">
            <a:r>
              <a:t>          "output": "직원 정보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"원천 변경·퇴직·삭제의 동기화 결과 대사",</a:t>
            </a:r>
          </a:p>
          <a:p xmlns:a="http://schemas.openxmlformats.org/drawingml/2006/main">
            <a:r>
              <a:t>          "output": "원천–동기화–검색 결과의 전후 스냅샷과 지연"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"원천 변경·퇴직·삭제의 동기화 결과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"Select people connector / Manual upload / CSV format",</a:t>
            </a:r>
          </a:p>
          <a:p xmlns:a="http://schemas.openxmlformats.org/drawingml/2006/main">
            <a:r>
              <a:t>        "url": "https://docs.glean.com/get-started/setup/sync-people-data"</a:t>
            </a:r>
          </a:p>
          <a:p xmlns:a="http://schemas.openxmlformats.org/drawingml/2006/main">
            <a:r>
              <a:t>      }</a:t>
            </a:r>
          </a:p>
          <a:p xmlns:a="http://schemas.openxmlformats.org/drawingml/2006/main">
            <a:r>
              <a:t>    ],</a:t>
            </a:r>
          </a:p>
          <a:p xmlns:a="http://schemas.openxmlformats.org/drawingml/2006/main">
            <a:r>
              <a:t>    "implication": "사번·부서·직책·상사 정보의 원천 우선순위와 변경 반영 체계",</a:t>
            </a:r>
          </a:p>
          <a:p xmlns:a="http://schemas.openxmlformats.org/drawingml/2006/main">
            <a:r>
              <a:t>    "local": "사번·부서·직책·상사 정보의 원천 우선순위와 변경 반영 체계",</a:t>
            </a:r>
          </a:p>
          <a:p xmlns:a="http://schemas.openxmlformats.org/drawingml/2006/main">
            <a:r>
              <a:t>    "sourceDetail": "직원 디렉터리 동기화, 권한 적용·역할 기반 접근 및 검색 개인화. 부서·직책·상사 등 필드 매핑",</a:t>
            </a:r>
          </a:p>
          <a:p xmlns:a="http://schemas.openxmlformats.org/drawingml/2006/main">
            <a:r>
              <a:t>    "narrative": [</a:t>
            </a:r>
          </a:p>
          <a:p xmlns:a="http://schemas.openxmlformats.org/drawingml/2006/main">
            <a:r>
              <a:t>      "Glean People connector의 직원 정보 동기화 기능을 조직 기반 검색 관점에서 분석한 사례. 인물·부서·직책·관리자 필드를 검색 문맥과 연결하는 구성요소.",</a:t>
            </a:r>
          </a:p>
          <a:p xmlns:a="http://schemas.openxmlformats.org/drawingml/2006/main">
            <a:r>
              <a:t>      "원천 직원 데이터의 식별자·필드 매핑, 동기화, 검색 색인, 접근 통제와 삭제 반영의 흐름으로 재구성. 복수 원천의 같은 사람과 동명이인을 구분하고 변경 이벤트가 검색 결과에 반영되는 상태를 관측하는 설계.",</a:t>
            </a:r>
          </a:p>
          <a:p xmlns:a="http://schemas.openxmlformats.org/drawingml/2006/main">
            <a:r>
              <a:t>      "TS에서는 데이터 연계 성공과 조직 기반 추론 성공을 별도 검수할 필요. 사번 매칭·조직 코드 변경·퇴직 삭제의 대사와 동일 요청의 직무별 결과 비교를 나누고 오류 발생 시 원천과 색인의 어느 단계에서 지연됐는지 추적."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"인물 검색 접점",</a:t>
            </a:r>
          </a:p>
          <a:p xmlns:a="http://schemas.openxmlformats.org/drawingml/2006/main">
            <a:r>
              <a:t>          "layer": "이용 접점",</a:t>
            </a:r>
          </a:p>
          <a:p xmlns:a="http://schemas.openxmlformats.org/drawingml/2006/main">
            <a:r>
              <a:t>          "detail": "직원·디렉터리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"사람 ID·부서",</a:t>
            </a:r>
          </a:p>
          <a:p xmlns:a="http://schemas.openxmlformats.org/drawingml/2006/main">
            <a:r>
              <a:t>          "layer": "업무 문맥",</a:t>
            </a:r>
          </a:p>
          <a:p xmlns:a="http://schemas.openxmlformats.org/drawingml/2006/main">
            <a:r>
              <a:t>          "detail": "사람 ID·부서·직책·관리자 필드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"동기화 자료 조회",</a:t>
            </a:r>
          </a:p>
          <a:p xmlns:a="http://schemas.openxmlformats.org/drawingml/2006/main">
            <a:r>
              <a:t>          "layer": "자료 조회",</a:t>
            </a:r>
          </a:p>
          <a:p xmlns:a="http://schemas.openxmlformats.org/drawingml/2006/main">
            <a:r>
              <a:t>          "detail": "직원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"People 필드 매핑",</a:t>
            </a:r>
          </a:p>
          <a:p xmlns:a="http://schemas.openxmlformats.org/drawingml/2006/main">
            <a:r>
              <a:t>          "layer": "핵심 처리",</a:t>
            </a:r>
          </a:p>
          <a:p xmlns:a="http://schemas.openxmlformats.org/drawingml/2006/main">
            <a:r>
              <a:t>          "detail": "People connector의 필드 변환과 동기화",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"중복·삭제 검사",</a:t>
            </a:r>
          </a:p>
          <a:p xmlns:a="http://schemas.openxmlformats.org/drawingml/2006/main">
            <a:r>
              <a:t>          "layer": "결과 검증",</a:t>
            </a:r>
          </a:p>
          <a:p xmlns:a="http://schemas.openxmlformats.org/drawingml/2006/main">
            <a:r>
              <a:t>          "detail": "원천 우선순위·중복·변경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"관리자 대사",</a:t>
            </a:r>
          </a:p>
          <a:p xmlns:a="http://schemas.openxmlformats.org/drawingml/2006/main">
            <a:r>
              <a:t>          "layer": "사람 확인",</a:t>
            </a:r>
          </a:p>
          <a:p xmlns:a="http://schemas.openxmlformats.org/drawingml/2006/main">
            <a:r>
              <a:t>          "detail": "직원 원천의 부서·직책 변경을 검색에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"검색 문맥 제공",</a:t>
            </a:r>
          </a:p>
          <a:p xmlns:a="http://schemas.openxmlformats.org/drawingml/2006/main">
            <a:r>
              <a:t>          "layer": "업무 연결",</a:t>
            </a:r>
          </a:p>
          <a:p xmlns:a="http://schemas.openxmlformats.org/drawingml/2006/main">
            <a:r>
              <a:t>          "detail": "허용된 직원 정보와 검색 문맥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"전보·퇴직 반영",</a:t>
            </a:r>
          </a:p>
          <a:p xmlns:a="http://schemas.openxmlformats.org/drawingml/2006/main">
            <a:r>
              <a:t>          "layer": "운영 관측",</a:t>
            </a:r>
          </a:p>
          <a:p xmlns:a="http://schemas.openxmlformats.org/drawingml/2006/main">
            <a:r>
              <a:t>          "detail": "원천 변경·퇴직·삭제의 동기화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"지정 직원 원천",</a:t>
            </a:r>
          </a:p>
          <a:p xmlns:a="http://schemas.openxmlformats.org/drawingml/2006/main">
            <a:r>
              <a:t>          "layer": "데이터 원천",</a:t>
            </a:r>
          </a:p>
          <a:p xmlns:a="http://schemas.openxmlformats.org/drawingml/2006/main">
            <a:r>
              <a:t>          "detail": "사람·조직 필드",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"필드 변환·삭제 전파",</a:t>
            </a:r>
          </a:p>
          <a:p xmlns:a="http://schemas.openxmlformats.org/drawingml/2006/main">
            <a:r>
              <a:t>          "layer": "준비·갱신",</a:t>
            </a:r>
          </a:p>
          <a:p xmlns:a="http://schemas.openxmlformats.org/drawingml/2006/main">
            <a:r>
              <a:t>          "detail": "지정 원천·중복 직원·삭제 이벤트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"사람·조직 색인",</a:t>
            </a:r>
          </a:p>
          <a:p xmlns:a="http://schemas.openxmlformats.org/drawingml/2006/main">
            <a:r>
              <a:t>          "layer": "상태·지식 저장",</a:t>
            </a:r>
          </a:p>
          <a:p xmlns:a="http://schemas.openxmlformats.org/drawingml/2006/main">
            <a:r>
              <a:t>          "detail": "원천–동기화–검색 결과의 전후 스냅샷과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"원천 우선순위",</a:t>
            </a:r>
          </a:p>
          <a:p xmlns:a="http://schemas.openxmlformats.org/drawingml/2006/main">
            <a:r>
              <a:t>          "layer": "권한·정책",</a:t>
            </a:r>
          </a:p>
          <a:p xmlns:a="http://schemas.openxmlformats.org/drawingml/2006/main">
            <a:r>
              <a:t>          "detail": "중복 계정·삭제 이벤트 누락·CSV 갱신 지연",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디렉터리 → 동기화·필드 매핑 → 권한별 검색 → 직원 정보 활용"</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"사람 ID·부서·직책·관리자 필드 정의",</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"직원 필드",</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"원천 우선순위",</a:t>
            </a:r>
          </a:p>
          <a:p xmlns:a="http://schemas.openxmlformats.org/drawingml/2006/main">
            <a:r>
              <a:t>          "check": "원천 우선순위·중복·변경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"검색 문맥",</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"검색 문맥",</a:t>
            </a:r>
          </a:p>
          <a:p xmlns:a="http://schemas.openxmlformats.org/drawingml/2006/main">
            <a:r>
              <a:t>          "check": "중복 계정·삭제 이벤트 누락·CSV 갱신 지연"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"직원 정보 결과",</a:t>
            </a:r>
          </a:p>
          <a:p xmlns:a="http://schemas.openxmlformats.org/drawingml/2006/main">
            <a:r>
              <a:t>          "check": "원천–동기화–검색 결과의 전후 스냅샷과 지연"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"직원 데이터 동기화와 조직 검색 지원 / 인물 검색·조직 필드·권한 적용",</a:t>
            </a:r>
          </a:p>
          <a:p xmlns:a="http://schemas.openxmlformats.org/drawingml/2006/main">
            <a:r>
              <a:t>        "extension": "사번·부서·직책·상사 정보의 원천 우선순위와 변경 반영 체계"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"중복 계정·삭제 이벤트 누락·CSV 갱신 지연",</a:t>
            </a:r>
          </a:p>
          <a:p xmlns:a="http://schemas.openxmlformats.org/drawingml/2006/main">
            <a:r>
              <a:t>        "hold": "원천 우선순위·중복·변경 대사",</a:t>
            </a:r>
          </a:p>
          <a:p xmlns:a="http://schemas.openxmlformats.org/drawingml/2006/main">
            <a:r>
              <a:t>        "recovery": "원천 변경·퇴직·삭제의 동기화 결과 대사",</a:t>
            </a:r>
          </a:p>
          <a:p xmlns:a="http://schemas.openxmlformats.org/drawingml/2006/main">
            <a:r>
              <a:t>        "evidence": "원천–동기화–검색 결과의 전후 스냅샷과 지연"</a:t>
            </a:r>
          </a:p>
          <a:p xmlns:a="http://schemas.openxmlformats.org/drawingml/2006/main">
            <a:r>
              <a:t>      },</a:t>
            </a:r>
          </a:p>
          <a:p xmlns:a="http://schemas.openxmlformats.org/drawingml/2006/main">
            <a:r>
              <a:t>      "data": {</a:t>
            </a:r>
          </a:p>
          <a:p xmlns:a="http://schemas.openxmlformats.org/drawingml/2006/main">
            <a:r>
              <a:t>        "source": "사람·조직 필드",</a:t>
            </a:r>
          </a:p>
          <a:p xmlns:a="http://schemas.openxmlformats.org/drawingml/2006/main">
            <a:r>
              <a:t>        "prepare": "지정 원천·중복 직원·삭제 이벤트 정리",</a:t>
            </a:r>
          </a:p>
          <a:p xmlns:a="http://schemas.openxmlformats.org/drawingml/2006/main">
            <a:r>
              <a:t>        "output": "직원 필드",</a:t>
            </a:r>
          </a:p>
          <a:p xmlns:a="http://schemas.openxmlformats.org/drawingml/2006/main">
            <a:r>
              <a:t>        "refresh": "원천 변경·퇴직·삭제의 동기화 결과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"PF-C02",</a:t>
            </a:r>
          </a:p>
          <a:p xmlns:a="http://schemas.openxmlformats.org/drawingml/2006/main">
            <a:r>
              <a:t>    "success": [</a:t>
            </a:r>
          </a:p>
          <a:p xmlns:a="http://schemas.openxmlformats.org/drawingml/2006/main">
            <a:r>
              <a:t>      "사람 정보의 지정 원천 동기화",</a:t>
            </a:r>
          </a:p>
          <a:p xmlns:a="http://schemas.openxmlformats.org/drawingml/2006/main">
            <a:r>
              <a:t>      "조직 필드의 일관된 매핑"</a:t>
            </a:r>
          </a:p>
          <a:p xmlns:a="http://schemas.openxmlformats.org/drawingml/2006/main">
            <a:r>
              <a:t>    ],</a:t>
            </a:r>
          </a:p>
          <a:p xmlns:a="http://schemas.openxmlformats.org/drawingml/2006/main">
            <a:r>
              <a:t>    "risks": [</a:t>
            </a:r>
          </a:p>
          <a:p xmlns:a="http://schemas.openxmlformats.org/drawingml/2006/main">
            <a:r>
              <a:t>      "복수 원천의 직원 중복",</a:t>
            </a:r>
          </a:p>
          <a:p xmlns:a="http://schemas.openxmlformats.org/drawingml/2006/main">
            <a:r>
              <a:t>      "삭제·퇴직·부서 변경 반영 누락"</a:t>
            </a:r>
          </a:p>
          <a:p xmlns:a="http://schemas.openxmlformats.org/drawingml/2006/main">
            <a:r>
              <a:t>    ],</a:t>
            </a:r>
          </a:p>
          <a:p xmlns:a="http://schemas.openxmlformats.org/drawingml/2006/main">
            <a:r>
              <a:t>    "architecture": [</a:t>
            </a:r>
          </a:p>
          <a:p xmlns:a="http://schemas.openxmlformats.org/drawingml/2006/main">
            <a:r>
              <a:t>      "직원 디렉터리",</a:t>
            </a:r>
          </a:p>
          <a:p xmlns:a="http://schemas.openxmlformats.org/drawingml/2006/main">
            <a:r>
              <a:t>      "People connector",</a:t>
            </a:r>
          </a:p>
          <a:p xmlns:a="http://schemas.openxmlformats.org/drawingml/2006/main">
            <a:r>
              <a:t>      "사람·조직 필드",</a:t>
            </a:r>
          </a:p>
          <a:p xmlns:a="http://schemas.openxmlformats.org/drawingml/2006/main">
            <a:r>
              <a:t>      "검색 이용자"</a:t>
            </a:r>
          </a:p>
          <a:p xmlns:a="http://schemas.openxmlformats.org/drawingml/2006/main">
            <a:r>
              <a:t>    ],</a:t>
            </a:r>
          </a:p>
          <a:p xmlns:a="http://schemas.openxmlformats.org/drawingml/2006/main">
            <a:r>
              <a:t>    "transfers": [</a:t>
            </a:r>
          </a:p>
          <a:p xmlns:a="http://schemas.openxmlformats.org/drawingml/2006/main">
            <a:r>
              <a:t>      "직원 필드",</a:t>
            </a:r>
          </a:p>
          <a:p xmlns:a="http://schemas.openxmlformats.org/drawingml/2006/main">
            <a:r>
              <a:t>      "동기화 관계",</a:t>
            </a:r>
          </a:p>
          <a:p xmlns:a="http://schemas.openxmlformats.org/drawingml/2006/main">
            <a:r>
              <a:t>      "검색 문맥",</a:t>
            </a:r>
          </a:p>
          <a:p xmlns:a="http://schemas.openxmlformats.org/drawingml/2006/main">
            <a:r>
              <a:t>      "직원 정보 결과"</a:t>
            </a:r>
          </a:p>
          <a:p xmlns:a="http://schemas.openxmlformats.org/drawingml/2006/main">
            <a:r>
              <a:t>    ],</a:t>
            </a:r>
          </a:p>
          <a:p xmlns:a="http://schemas.openxmlformats.org/drawingml/2006/main">
            <a:r>
              <a:t>    "control": "원천 우선순위·중복·변경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Select people connector / Manual upload / CSV format https://docs.glean.com/get-started/setup/sync-people-data</a:t>
            </a:r>
          </a:p>
          <a:p xmlns:a="http://schemas.openxmlformats.org/drawingml/2006/main">
            <a:r>
              <a:t>홈페이지 https://heen1987-ops.github.io/TS-business-Plan-001/index.html?view=platform-cases&amp;case=PF-C02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a:p xmlns:a="http://schemas.openxmlformats.org/drawingml/2006/main">
            <a:r>
              <a:t>한계: 제품 기능 설명과 고객 구현·성과를 구분. 특정 ERP 의존성 및 TS 타 시스템 연계 공수는 미확인</a:t>
            </a:r>
          </a:p>
          <a:p xmlns:a="http://schemas.openxmlformats.org/drawingml/2006/main">
            <a:r>
              <a:t>실패 위험: 제품 소개와 실제 고객 동작 차이 / 업무 실행 권한의 과도한 위임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"PF-C03",</a:t>
            </a:r>
          </a:p>
          <a:p xmlns:a="http://schemas.openxmlformats.org/drawingml/2006/main">
            <a:r>
              <a:t>    "sourceId": "C03",</a:t>
            </a:r>
          </a:p>
          <a:p xmlns:a="http://schemas.openxmlformats.org/drawingml/2006/main">
            <a:r>
              <a:t>    "title": "더존 Amaranth 10 ONE AI",</a:t>
            </a:r>
          </a:p>
          <a:p xmlns:a="http://schemas.openxmlformats.org/drawingml/2006/main">
            <a:r>
              <a:t>    "region": "국내",</a:t>
            </a:r>
          </a:p>
          <a:p xmlns:a="http://schemas.openxmlformats.org/drawingml/2006/main">
            <a:r>
              <a:t>    "owner": "더존 / Amaranth 10 ONE AI",</a:t>
            </a:r>
          </a:p>
          <a:p xmlns:a="http://schemas.openxmlformats.org/drawingml/2006/main">
            <a:r>
              <a:t>    "state": "2026-02-06 제안서 및 로컬 정리 / 고객 운영 검증 아님",</a:t>
            </a:r>
          </a:p>
          <a:p xmlns:a="http://schemas.openxmlformats.org/drawingml/2006/main">
            <a:r>
              <a:t>    "period": "기존 원장 확인 2026.10.16",</a:t>
            </a:r>
          </a:p>
          <a:p xmlns:a="http://schemas.openxmlformats.org/drawingml/2006/main">
            <a:r>
              <a:t>    "fact": "제품 설명 비교 / 기관 도입 사례로 집계 안 함",</a:t>
            </a:r>
          </a:p>
          <a:p xmlns:a="http://schemas.openxmlformats.org/drawingml/2006/main">
            <a:r>
              <a:t>    "limit": "제품 기능 설명과 고객 구현·성과를 구분. 특정 ERP 의존성 및 TS 타 시스템 연계 공수는 미확인",</a:t>
            </a:r>
          </a:p>
          <a:p xmlns:a="http://schemas.openxmlformats.org/drawingml/2006/main">
            <a:r>
              <a:t>    "nodes": [</a:t>
            </a:r>
          </a:p>
          <a:p xmlns:a="http://schemas.openxmlformats.org/drawingml/2006/main">
            <a:r>
              <a:t>      "ERP·그룹웨어",</a:t>
            </a:r>
          </a:p>
          <a:p xmlns:a="http://schemas.openxmlformats.org/drawingml/2006/main">
            <a:r>
              <a:t>      "문서·업무 지식",</a:t>
            </a:r>
          </a:p>
          <a:p xmlns:a="http://schemas.openxmlformats.org/drawingml/2006/main">
            <a:r>
              <a:t>      "업무 에이전트",</a:t>
            </a:r>
          </a:p>
          <a:p xmlns:a="http://schemas.openxmlformats.org/drawingml/2006/main">
            <a:r>
              <a:t>      "근태·결재 연계"</a:t>
            </a:r>
          </a:p>
          <a:p xmlns:a="http://schemas.openxmlformats.org/drawingml/2006/main">
            <a:r>
              <a:t>    ],</a:t>
            </a:r>
          </a:p>
          <a:p xmlns:a="http://schemas.openxmlformats.org/drawingml/2006/main">
            <a:r>
              <a:t>    "apply": "직원의 ERP·결재 문맥을 활용하되 실제 도입본의 실행·승인 기능 검증",</a:t>
            </a:r>
          </a:p>
          <a:p xmlns:a="http://schemas.openxmlformats.org/drawingml/2006/main">
            <a:r>
              <a:t>    "delta": "필수 항목·담당자·승인·API 처리 연결",</a:t>
            </a:r>
          </a:p>
          <a:p xmlns:a="http://schemas.openxmlformats.org/drawingml/2006/main">
            <a:r>
              <a:t>    "test": "완료율·재작업·중복 처리의 기준선·비교 평가",</a:t>
            </a:r>
          </a:p>
          <a:p xmlns:a="http://schemas.openxmlformats.org/drawingml/2006/main">
            <a:r>
              <a:t>    "url": null,</a:t>
            </a:r>
          </a:p>
          <a:p xmlns:a="http://schemas.openxmlformats.org/drawingml/2006/main">
            <a:r>
              <a:t>    "urls": [],</a:t>
            </a:r>
          </a:p>
          <a:p xmlns:a="http://schemas.openxmlformats.org/drawingml/2006/main">
            <a:r>
              <a:t>    "basis": "ONE_AI_제안서(Amaranth10_비영리)_260206_V1.0.pdf p.8 / 동일명 md p.16·22·39 정리",</a:t>
            </a:r>
          </a:p>
          <a:p xmlns:a="http://schemas.openxmlformats.org/drawingml/2006/main">
            <a:r>
              <a:t>    "checked": "2026-10-16",</a:t>
            </a:r>
          </a:p>
          <a:p xmlns:a="http://schemas.openxmlformats.org/drawingml/2006/main">
            <a:r>
              <a:t>    "diagramBasis": "공개 기능 설명 기반 흐름 재구성 · 실제 구현·비공개 배치와 구분",</a:t>
            </a:r>
          </a:p>
          <a:p xmlns:a="http://schemas.openxmlformats.org/drawingml/2006/main">
            <a:r>
              <a:t>    "effect": "완료율·재작업·중복 처리",</a:t>
            </a:r>
          </a:p>
          <a:p xmlns:a="http://schemas.openxmlformats.org/drawingml/2006/main">
            <a:r>
              <a:t>    "group": "제품 비교",</a:t>
            </a:r>
          </a:p>
          <a:p xmlns:a="http://schemas.openxmlformats.org/drawingml/2006/main">
            <a:r>
              <a:t>    "sourceDetail": "ERP·그룹웨어·RAG 연계. 로컬 정리에 권한·업무 에이전트·근태 신청·전자결재 분석 설명",</a:t>
            </a:r>
          </a:p>
          <a:p xmlns:a="http://schemas.openxmlformats.org/drawingml/2006/main">
            <a:r>
              <a:t>    "evidenceScope": "원장에 기록된 출처·단계 기준"</a:t>
            </a:r>
          </a:p>
          <a:p xmlns:a="http://schemas.openxmlformats.org/drawingml/2006/main">
            <a:r>
              <a:t>  },</a:t>
            </a:r>
          </a:p>
          <a:p xmlns:a="http://schemas.openxmlformats.org/drawingml/2006/main">
            <a:r>
              <a:t>  "design": {</a:t>
            </a:r>
          </a:p>
          <a:p xmlns:a="http://schemas.openxmlformats.org/drawingml/2006/main">
            <a:r>
              <a:t>    "id": "PF-C03",</a:t>
            </a:r>
          </a:p>
          <a:p xmlns:a="http://schemas.openxmlformats.org/drawingml/2006/main">
            <a:r>
              <a:t>    "canonicalId": "PF-C03",</a:t>
            </a:r>
          </a:p>
          <a:p xmlns:a="http://schemas.openxmlformats.org/drawingml/2006/main">
            <a:r>
              <a:t>    "purpose": "ERP·그룹웨어 맥락의 업무 지원",</a:t>
            </a:r>
          </a:p>
          <a:p xmlns:a="http://schemas.openxmlformats.org/drawingml/2006/main">
            <a:r>
              <a:t>    "users": "직원·결재자·ERP 운영자",</a:t>
            </a:r>
          </a:p>
          <a:p xmlns:a="http://schemas.openxmlformats.org/drawingml/2006/main">
            <a:r>
              <a:t>    "scope": [</a:t>
            </a:r>
          </a:p>
          <a:p xmlns:a="http://schemas.openxmlformats.org/drawingml/2006/main">
            <a:r>
              <a:t>      "문서 지원",</a:t>
            </a:r>
          </a:p>
          <a:p xmlns:a="http://schemas.openxmlformats.org/drawingml/2006/main">
            <a:r>
              <a:t>      "근태",</a:t>
            </a:r>
          </a:p>
          <a:p xmlns:a="http://schemas.openxmlformats.org/drawingml/2006/main">
            <a:r>
              <a:t>      "전자결재"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"ERP·그룹웨어",</a:t>
            </a:r>
          </a:p>
          <a:p xmlns:a="http://schemas.openxmlformats.org/drawingml/2006/main">
            <a:r>
              <a:t>        "detail": "직원·대상 업무·실행 권한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지원 / 근태 / 전자결재",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"ONE AI 업무 지원",</a:t>
            </a:r>
          </a:p>
          <a:p xmlns:a="http://schemas.openxmlformats.org/drawingml/2006/main">
            <a:r>
              <a:t>        "detail": "문서 RAG와 업무 요청의 구조화",</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"직원·결재 담당",</a:t>
            </a:r>
          </a:p>
          <a:p xmlns:a="http://schemas.openxmlformats.org/drawingml/2006/main">
            <a:r>
              <a:t>        "detail": "초안 확인 후 업무 시스템의 처리 절차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"문서·업무 지식",</a:t>
            </a:r>
          </a:p>
          <a:p xmlns:a="http://schemas.openxmlformats.org/drawingml/2006/main">
            <a:r>
              <a:t>        "detail": "ERP·그룹웨어 문서·인사·결재 자료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"도입본 기능·승인·실행 결과의 비교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"ERP·그룹웨어",</a:t>
            </a:r>
          </a:p>
          <a:p xmlns:a="http://schemas.openxmlformats.org/drawingml/2006/main">
            <a:r>
              <a:t>        "input": "직원·대상 업무·실행 권한 확인",</a:t>
            </a:r>
          </a:p>
          <a:p xmlns:a="http://schemas.openxmlformats.org/drawingml/2006/main">
            <a:r>
              <a:t>        "process": "ERP·그룹웨어 문서·인사·결재 자료 연결",</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"문서·업무 지식",</a:t>
            </a:r>
          </a:p>
          <a:p xmlns:a="http://schemas.openxmlformats.org/drawingml/2006/main">
            <a:r>
              <a:t>        "input": "업무 요청",</a:t>
            </a:r>
          </a:p>
          <a:p xmlns:a="http://schemas.openxmlformats.org/drawingml/2006/main">
            <a:r>
              <a:t>        "process": "문서 RAG와 업무 요청의 구조화",</a:t>
            </a:r>
          </a:p>
          <a:p xmlns:a="http://schemas.openxmlformats.org/drawingml/2006/main">
            <a:r>
              <a:t>        "output": "관련 문맥"</a:t>
            </a:r>
          </a:p>
          <a:p xmlns:a="http://schemas.openxmlformats.org/drawingml/2006/main">
            <a:r>
              <a:t>      },</a:t>
            </a:r>
          </a:p>
          <a:p xmlns:a="http://schemas.openxmlformats.org/drawingml/2006/main">
            <a:r>
              <a:t>      {</a:t>
            </a:r>
          </a:p>
          <a:p xmlns:a="http://schemas.openxmlformats.org/drawingml/2006/main">
            <a:r>
              <a:t>        "title": "업무 에이전트",</a:t>
            </a:r>
          </a:p>
          <a:p xmlns:a="http://schemas.openxmlformats.org/drawingml/2006/main">
            <a:r>
              <a:t>        "input": "관련 문맥",</a:t>
            </a:r>
          </a:p>
          <a:p xmlns:a="http://schemas.openxmlformats.org/drawingml/2006/main">
            <a:r>
              <a:t>        "process": "도입본 기능·승인·결과 확인",</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"title": "근태·결재 연계",</a:t>
            </a:r>
          </a:p>
          <a:p xmlns:a="http://schemas.openxmlformats.org/drawingml/2006/main">
            <a:r>
              <a:t>        "input": "업무 초안",</a:t>
            </a:r>
          </a:p>
          <a:p xmlns:a="http://schemas.openxmlformats.org/drawingml/2006/main">
            <a:r>
              <a:t>        "process":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"근태 요청을 확인하고 해당 전자결재 절차로 연결",</a:t>
            </a:r>
          </a:p>
          <a:p xmlns:a="http://schemas.openxmlformats.org/drawingml/2006/main">
            <a:r>
              <a:t>      "exception": "잔여일수 부족·전결권 부재·중복 상신",</a:t>
            </a:r>
          </a:p>
          <a:p xmlns:a="http://schemas.openxmlformats.org/drawingml/2006/main">
            <a:r>
              <a:t>      "evidence": "도입본 기능 목록·사용자 확인·원천 접수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"직원·결재자·ERP 운영자",</a:t>
            </a:r>
          </a:p>
          <a:p xmlns:a="http://schemas.openxmlformats.org/drawingml/2006/main">
            <a:r>
              <a:t>          "processing": "직원·대상 업무·실행 권한 확인",</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"문서·업무 지식",</a:t>
            </a:r>
          </a:p>
          <a:p xmlns:a="http://schemas.openxmlformats.org/drawingml/2006/main">
            <a:r>
              <a:t>          "processing": "ERP·그룹웨어 문서·인사·결재 자료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"문서 RAG와 업무 요청의 구조화",</a:t>
            </a:r>
          </a:p>
          <a:p xmlns:a="http://schemas.openxmlformats.org/drawingml/2006/main">
            <a:r>
              <a:t>          "output": "업무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"업무 초안",</a:t>
            </a:r>
          </a:p>
          <a:p xmlns:a="http://schemas.openxmlformats.org/drawingml/2006/main">
            <a:r>
              <a:t>          "processing": "초안 확인 후 업무 시스템의 처리 절차 연결",</a:t>
            </a:r>
          </a:p>
          <a:p xmlns:a="http://schemas.openxmlformats.org/drawingml/2006/main">
            <a:r>
              <a:t>          "output": "근태·결재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"도입본 기능·승인·실행 결과의 비교 시험",</a:t>
            </a:r>
          </a:p>
          <a:p xmlns:a="http://schemas.openxmlformats.org/drawingml/2006/main">
            <a:r>
              <a:t>          "output": "도입본 기능 목록·사용자 확인·원천 접수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"도입본 기능·승인·실행 결과의 비교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"implication": "직원의 ERP·결재 문맥을 활용하되 실제 도입본의 실행·승인 기능 검증",</a:t>
            </a:r>
          </a:p>
          <a:p xmlns:a="http://schemas.openxmlformats.org/drawingml/2006/main">
            <a:r>
              <a:t>    "local": "직원의 ERP·결재 문맥을 활용하되 실제 도입본의 실행·승인 기능 검증",</a:t>
            </a:r>
          </a:p>
          <a:p xmlns:a="http://schemas.openxmlformats.org/drawingml/2006/main">
            <a:r>
              <a:t>    "sourceDetail": "ERP·그룹웨어·RAG 연계. 로컬 정리에 권한·업무 에이전트·근태 신청·전자결재 분석 설명",</a:t>
            </a:r>
          </a:p>
          <a:p xmlns:a="http://schemas.openxmlformats.org/drawingml/2006/main">
            <a:r>
              <a:t>    "narrative": [</a:t>
            </a:r>
          </a:p>
          <a:p xmlns:a="http://schemas.openxmlformats.org/drawingml/2006/main">
            <a:r>
              <a:t>      "ERP·그룹웨어의 AI 업무 지원을 문서 검색과 행정 실행의 연결 관점에서 분석한 사례. 직원이 정보를 찾는 단계에서 근태·결재 등 업무 요청을 구성하는 단계로 확장하는 기능 범위.",</a:t>
            </a:r>
          </a:p>
          <a:p xmlns:a="http://schemas.openxmlformats.org/drawingml/2006/main">
            <a:r>
              <a:t>      "로그인 직원과 업무 목적 확인, 필요한 문서·인사 정보 조회, 실행 요청 구조화, 사용자 확인, 시스템 등록·처리 결과 반환으로 재구성. 제품 소개의 기능 범위와 실제 도입 버전·연계 API 지원 여부를 구분하는 방식.",</a:t>
            </a:r>
          </a:p>
          <a:p xmlns:a="http://schemas.openxmlformats.org/drawingml/2006/main">
            <a:r>
              <a:t>      "CCK에서는 기존 ERP·그룹웨어의 권한·결재 로직을 유지하며 AI가 입력과 초안을 지원하는 접근. 실행 대상·결재선·중복 요청·부분 실패·취소 조건을 시험하고 조회용 토큰과 쓰기 권한의 분리를 추가 개발 범위로 검토."</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"ERP·그룹웨어",</a:t>
            </a:r>
          </a:p>
          <a:p xmlns:a="http://schemas.openxmlformats.org/drawingml/2006/main">
            <a:r>
              <a:t>          "layer": "이용 접점",</a:t>
            </a:r>
          </a:p>
          <a:p xmlns:a="http://schemas.openxmlformats.org/drawingml/2006/main">
            <a:r>
              <a:t>          "detail": "직원·결재자·ERP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"직원·업무·권한",</a:t>
            </a:r>
          </a:p>
          <a:p xmlns:a="http://schemas.openxmlformats.org/drawingml/2006/main">
            <a:r>
              <a:t>          "layer": "업무 문맥",</a:t>
            </a:r>
          </a:p>
          <a:p xmlns:a="http://schemas.openxmlformats.org/drawingml/2006/main">
            <a:r>
              <a:t>          "detail": "직원·대상 업무·실행 권한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"문서·근태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"ONE AI 구조화",</a:t>
            </a:r>
          </a:p>
          <a:p xmlns:a="http://schemas.openxmlformats.org/drawingml/2006/main">
            <a:r>
              <a:t>          "layer": "핵심 처리",</a:t>
            </a:r>
          </a:p>
          <a:p xmlns:a="http://schemas.openxmlformats.org/drawingml/2006/main">
            <a:r>
              <a:t>          "detail": "문서 RAG와 업무 요청의 구조화",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"필드·권한 검사",</a:t>
            </a:r>
          </a:p>
          <a:p xmlns:a="http://schemas.openxmlformats.org/drawingml/2006/main">
            <a:r>
              <a:t>          "layer": "결과 검증",</a:t>
            </a:r>
          </a:p>
          <a:p xmlns:a="http://schemas.openxmlformats.org/drawingml/2006/main">
            <a:r>
              <a:t>          "detail": "도입본 기능·승인·결과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"사용자·결재자",</a:t>
            </a:r>
          </a:p>
          <a:p xmlns:a="http://schemas.openxmlformats.org/drawingml/2006/main">
            <a:r>
              <a:t>          "layer": "사람 확인",</a:t>
            </a:r>
          </a:p>
          <a:p xmlns:a="http://schemas.openxmlformats.org/drawingml/2006/main">
            <a:r>
              <a:t>          "detail": "근태 요청을 확인하고 해당 전자결재 절차로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"근태·전자결재",</a:t>
            </a:r>
          </a:p>
          <a:p xmlns:a="http://schemas.openxmlformats.org/drawingml/2006/main">
            <a:r>
              <a:t>          "layer": "업무 연결",</a:t>
            </a:r>
          </a:p>
          <a:p xmlns:a="http://schemas.openxmlformats.org/drawingml/2006/main">
            <a:r>
              <a:t>          "detail": "초안 확인 후 업무 시스템의 처리 절차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"실행 결과 확인",</a:t>
            </a:r>
          </a:p>
          <a:p xmlns:a="http://schemas.openxmlformats.org/drawingml/2006/main">
            <a:r>
              <a:t>          "layer": "운영 관측",</a:t>
            </a:r>
          </a:p>
          <a:p xmlns:a="http://schemas.openxmlformats.org/drawingml/2006/main">
            <a:r>
              <a:t>          "detail": "도입본 기능·승인·실행 결과의 비교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"ERP·인사·문서",</a:t>
            </a:r>
          </a:p>
          <a:p xmlns:a="http://schemas.openxmlformats.org/drawingml/2006/main">
            <a:r>
              <a:t>          "layer": "데이터 원천",</a:t>
            </a:r>
          </a:p>
          <a:p xmlns:a="http://schemas.openxmlformats.org/drawingml/2006/main">
            <a:r>
              <a:t>          "detail": "문서·업무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"업무 식별자 연결",</a:t>
            </a:r>
          </a:p>
          <a:p xmlns:a="http://schemas.openxmlformats.org/drawingml/2006/main">
            <a:r>
              <a:t>          "layer": "준비·갱신",</a:t>
            </a:r>
          </a:p>
          <a:p xmlns:a="http://schemas.openxmlformats.org/drawingml/2006/main">
            <a:r>
              <a:t>          "detail": "ERP·그룹웨어 문서·인사·결재 자료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"초안·처리 상태",</a:t>
            </a:r>
          </a:p>
          <a:p xmlns:a="http://schemas.openxmlformats.org/drawingml/2006/main">
            <a:r>
              <a:t>          "layer": "상태·지식 저장",</a:t>
            </a:r>
          </a:p>
          <a:p xmlns:a="http://schemas.openxmlformats.org/drawingml/2006/main">
            <a:r>
              <a:t>          "detail": "도입본 기능 목록·사용자 확인·원천 접수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"실행·승인 정책",</a:t>
            </a:r>
          </a:p>
          <a:p xmlns:a="http://schemas.openxmlformats.org/drawingml/2006/main">
            <a:r>
              <a:t>          "layer": "권한·정책",</a:t>
            </a:r>
          </a:p>
          <a:p xmlns:a="http://schemas.openxmlformats.org/drawingml/2006/main">
            <a:r>
              <a:t>          "detail": "잔여일수 부족·전결권 부재·중복 상신",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"ERP·그룹웨어 → 문서·업무 지식 → 업무 에이전트 → 근태·결재 연계"</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"직원·대상 업무·실행 권한 확인",</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"업무 요청",</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"문서·업무 지식",</a:t>
            </a:r>
          </a:p>
          <a:p xmlns:a="http://schemas.openxmlformats.org/drawingml/2006/main">
            <a:r>
              <a:t>          "check": "ERP·그룹웨어 문서·인사·결재 자료 연결"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"업무 초안",</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"근태·결재 결과",</a:t>
            </a:r>
          </a:p>
          <a:p xmlns:a="http://schemas.openxmlformats.org/drawingml/2006/main">
            <a:r>
              <a:t>          "check": "도입본 기능 목록·사용자 확인·원천 접수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"ERP·그룹웨어 맥락의 업무 지원 / 문서 지원·근태·전자결재",</a:t>
            </a:r>
          </a:p>
          <a:p xmlns:a="http://schemas.openxmlformats.org/drawingml/2006/main">
            <a:r>
              <a:t>        "extension": "직원의 ERP·결재 문맥을 활용하되 실제 도입본의 실행·승인 기능 검증"</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"잔여일수 부족·전결권 부재·중복 상신",</a:t>
            </a:r>
          </a:p>
          <a:p xmlns:a="http://schemas.openxmlformats.org/drawingml/2006/main">
            <a:r>
              <a:t>        "hold": "도입본 기능·승인·결과 확인",</a:t>
            </a:r>
          </a:p>
          <a:p xmlns:a="http://schemas.openxmlformats.org/drawingml/2006/main">
            <a:r>
              <a:t>        "recovery": "도입본 기능·승인·실행 결과의 비교 시험",</a:t>
            </a:r>
          </a:p>
          <a:p xmlns:a="http://schemas.openxmlformats.org/drawingml/2006/main">
            <a:r>
              <a:t>        "evidence": "도입본 기능 목록·사용자 확인·원천 접수 결과"</a:t>
            </a:r>
          </a:p>
          <a:p xmlns:a="http://schemas.openxmlformats.org/drawingml/2006/main">
            <a:r>
              <a:t>      },</a:t>
            </a:r>
          </a:p>
          <a:p xmlns:a="http://schemas.openxmlformats.org/drawingml/2006/main">
            <a:r>
              <a:t>      "data": {</a:t>
            </a:r>
          </a:p>
          <a:p xmlns:a="http://schemas.openxmlformats.org/drawingml/2006/main">
            <a:r>
              <a:t>        "source": "문서·업무 지식",</a:t>
            </a:r>
          </a:p>
          <a:p xmlns:a="http://schemas.openxmlformats.org/drawingml/2006/main">
            <a:r>
              <a:t>        "prepare": "ERP·그룹웨어 문서·인사·결재 자료 연결",</a:t>
            </a:r>
          </a:p>
          <a:p xmlns:a="http://schemas.openxmlformats.org/drawingml/2006/main">
            <a:r>
              <a:t>        "output": "업무 요청",</a:t>
            </a:r>
          </a:p>
          <a:p xmlns:a="http://schemas.openxmlformats.org/drawingml/2006/main">
            <a:r>
              <a:t>        "refresh": "도입본 기능·승인·실행 결과의 비교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"PF-C03",</a:t>
            </a:r>
          </a:p>
          <a:p xmlns:a="http://schemas.openxmlformats.org/drawingml/2006/main">
            <a:r>
              <a:t>    "success": [</a:t>
            </a:r>
          </a:p>
          <a:p xmlns:a="http://schemas.openxmlformats.org/drawingml/2006/main">
            <a:r>
              <a:t>      "ERP·그룹웨어의 업무 문맥",</a:t>
            </a:r>
          </a:p>
          <a:p xmlns:a="http://schemas.openxmlformats.org/drawingml/2006/main">
            <a:r>
              <a:t>      "문서·근태·결재 접점 연결"</a:t>
            </a:r>
          </a:p>
          <a:p xmlns:a="http://schemas.openxmlformats.org/drawingml/2006/main">
            <a:r>
              <a:t>    ],</a:t>
            </a:r>
          </a:p>
          <a:p xmlns:a="http://schemas.openxmlformats.org/drawingml/2006/main">
            <a:r>
              <a:t>    "risks": [</a:t>
            </a:r>
          </a:p>
          <a:p xmlns:a="http://schemas.openxmlformats.org/drawingml/2006/main">
            <a:r>
              <a:t>      "제품 소개와 실제 고객 동작 차이",</a:t>
            </a:r>
          </a:p>
          <a:p xmlns:a="http://schemas.openxmlformats.org/drawingml/2006/main">
            <a:r>
              <a:t>      "업무 실행 권한의 과도한 위임"</a:t>
            </a:r>
          </a:p>
          <a:p xmlns:a="http://schemas.openxmlformats.org/drawingml/2006/main">
            <a:r>
              <a:t>    ],</a:t>
            </a:r>
          </a:p>
          <a:p xmlns:a="http://schemas.openxmlformats.org/drawingml/2006/main">
            <a:r>
              <a:t>    "architecture": [</a:t>
            </a:r>
          </a:p>
          <a:p xmlns:a="http://schemas.openxmlformats.org/drawingml/2006/main">
            <a:r>
              <a:t>      "ERP·그룹웨어",</a:t>
            </a:r>
          </a:p>
          <a:p xmlns:a="http://schemas.openxmlformats.org/drawingml/2006/main">
            <a:r>
              <a:t>      "ONE AI 업무 지원",</a:t>
            </a:r>
          </a:p>
          <a:p xmlns:a="http://schemas.openxmlformats.org/drawingml/2006/main">
            <a:r>
              <a:t>      "문서·업무 지식",</a:t>
            </a:r>
          </a:p>
          <a:p xmlns:a="http://schemas.openxmlformats.org/drawingml/2006/main">
            <a:r>
              <a:t>      "직원·결재 담당"</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"관련 문맥",</a:t>
            </a:r>
          </a:p>
          <a:p xmlns:a="http://schemas.openxmlformats.org/drawingml/2006/main">
            <a:r>
              <a:t>      "업무 초안",</a:t>
            </a:r>
          </a:p>
          <a:p xmlns:a="http://schemas.openxmlformats.org/drawingml/2006/main">
            <a:r>
              <a:t>      "근태·결재 결과"</a:t>
            </a:r>
          </a:p>
          <a:p xmlns:a="http://schemas.openxmlformats.org/drawingml/2006/main">
            <a:r>
              <a:t>    ],</a:t>
            </a:r>
          </a:p>
          <a:p xmlns:a="http://schemas.openxmlformats.org/drawingml/2006/main">
            <a:r>
              <a:t>    "control": "도입본 기능·승인·결과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
            </a:r>
          </a:p>
          <a:p xmlns:a="http://schemas.openxmlformats.org/drawingml/2006/main">
            <a:r>
              <a:t>홈페이지 https://heen1987-ops.github.io/TS-business-Plan-001/index.html?view=platform-cases&amp;case=PF-C03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a:p xmlns:a="http://schemas.openxmlformats.org/drawingml/2006/main">
            <a:r>
              <a:t>한계: 운영기관의 정확도 주장과 감사 판단의 차이 존재 · 개별 질의·평가 방식 대조 필요</a:t>
            </a:r>
          </a:p>
          <a:p xmlns:a="http://schemas.openxmlformats.org/drawingml/2006/main">
            <a:r>
              <a:t>재발 방지 조건: 통합 서비스의 완료조건 정의 / 응답 품질·계약 증빙의 독립 검토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"PF31",</a:t>
            </a:r>
          </a:p>
          <a:p xmlns:a="http://schemas.openxmlformats.org/drawingml/2006/main">
            <a:r>
              <a:t>    "sourceId": "AX13",</a:t>
            </a:r>
          </a:p>
          <a:p xmlns:a="http://schemas.openxmlformats.org/drawingml/2006/main">
            <a:r>
              <a:t>    "title": "뉴욕 MyCity 챗봇 감사",</a:t>
            </a:r>
          </a:p>
          <a:p xmlns:a="http://schemas.openxmlformats.org/drawingml/2006/main">
            <a:r>
              <a:t>    "region": "해외",</a:t>
            </a:r>
          </a:p>
          <a:p xmlns:a="http://schemas.openxmlformats.org/drawingml/2006/main">
            <a:r>
              <a:t>    "owner": "뉴욕시 / 감사기관",</a:t>
            </a:r>
          </a:p>
          <a:p xmlns:a="http://schemas.openxmlformats.org/drawingml/2006/main">
            <a:r>
              <a:t>    "state": "감사 지적·개선",</a:t>
            </a:r>
          </a:p>
          <a:p xmlns:a="http://schemas.openxmlformats.org/drawingml/2006/main">
            <a:r>
              <a:t>    "period": "2025 감사 / 2026 갱신",</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"nodes":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"apply": "답변 정답셋·서비스 도달·계약 산출물의 검수 체계를 사업 초기에 구성",</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"url": "https://comptroller.nyc.gov/reports/audit-report-on-the-new-york-city-office-of-technology-and-innovations-mycity-system/",</a:t>
            </a:r>
          </a:p>
          <a:p xmlns:a="http://schemas.openxmlformats.org/drawingml/2006/main">
            <a:r>
              <a:t>    "basis": "뉴욕시 감사 보고서",</a:t>
            </a:r>
          </a:p>
          <a:p xmlns:a="http://schemas.openxmlformats.org/drawingml/2006/main">
            <a:r>
              <a:t>    "checked": "2026-10-16",</a:t>
            </a:r>
          </a:p>
          <a:p xmlns:a="http://schemas.openxmlformats.org/drawingml/2006/main">
            <a:r>
              <a:t>    "diagramBasis": "공개 업무 흐름의 요약·재구성 / 내부 배치 구조 추정 제외",</a:t>
            </a:r>
          </a:p>
          <a:p xmlns:a="http://schemas.openxmlformats.org/drawingml/2006/main">
            <a:r>
              <a:t>    "effect": "오안내율 / 신청 완료율 / 재접촉률",</a:t>
            </a:r>
          </a:p>
          <a:p xmlns:a="http://schemas.openxmlformats.org/drawingml/2006/main">
            <a:r>
              <a:t>    "group": "감사·개선"</a:t>
            </a:r>
          </a:p>
          <a:p xmlns:a="http://schemas.openxmlformats.org/drawingml/2006/main">
            <a:r>
              <a:t>  },</a:t>
            </a:r>
          </a:p>
          <a:p xmlns:a="http://schemas.openxmlformats.org/drawingml/2006/main">
            <a:r>
              <a:t>  "design": {</a:t>
            </a:r>
          </a:p>
          <a:p xmlns:a="http://schemas.openxmlformats.org/drawingml/2006/main">
            <a:r>
              <a:t>    "id": "PF31",</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이용자",</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"사업자·운영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"안내·응답·평가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"질문",</a:t>
            </a:r>
          </a:p>
          <a:p xmlns:a="http://schemas.openxmlformats.org/drawingml/2006/main">
            <a:r>
              <a:t>        "process": "공식 정보 검색과 근거별 답변 대조 설계",</a:t>
            </a:r>
          </a:p>
          <a:p xmlns:a="http://schemas.openxmlformats.org/drawingml/2006/main">
            <a:r>
              <a:t>        "output": "안내 지식"</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지식",</a:t>
            </a:r>
          </a:p>
          <a:p xmlns:a="http://schemas.openxmlformats.org/drawingml/2006/main">
            <a:r>
              <a:t>        "process": "감사 지적과 기관 반론의 근거별 추적",</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a:t>
            </a:r>
          </a:p>
          <a:p xmlns:a="http://schemas.openxmlformats.org/drawingml/2006/main">
            <a:r>
              <a:t>        "process":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"안내·응답·평가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"공식 정보 검색과 근거별 답변 대조 설계",</a:t>
            </a:r>
          </a:p>
          <a:p xmlns:a="http://schemas.openxmlformats.org/drawingml/2006/main">
            <a:r>
              <a:t>          "output": "챗봇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a:t>
            </a:r>
          </a:p>
          <a:p xmlns:a="http://schemas.openxmlformats.org/drawingml/2006/main">
            <a:r>
              <a:t>          "processing": "검증된 안내와 실제 신청 경로의 분리 제공",</a:t>
            </a:r>
          </a:p>
          <a:p xmlns:a="http://schemas.openxmlformats.org/drawingml/2006/main">
            <a:r>
              <a:t>          "output": "피드백·감사"</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"title": "뉴욕시 감사 보고서",</a:t>
            </a:r>
          </a:p>
          <a:p xmlns:a="http://schemas.openxmlformats.org/drawingml/2006/main">
            <a:r>
              <a:t>        "url": "https://comptroller.nyc.gov/reports/audit-report-on-the-new-york-city-office-of-technology-and-innovations-mycity-system/"</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"답변 정답셋·서비스 도달·계약 산출물의 검수 체계를 사업 초기에 구성",</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"감사 지적과 기관 반론의 근거별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"안내·응답·평가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"안내·응답·평가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지식",</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"답변 정답셋·서비스 도달·계약 산출물의 검수 체계를 사업 초기에 구성"</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"감사 지적과 기관 반론의 근거별 추적",</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"안내·응답·평가 기록",</a:t>
            </a:r>
          </a:p>
          <a:p xmlns:a="http://schemas.openxmlformats.org/drawingml/2006/main">
            <a:r>
              <a:t>        "prepare": "정책 원문·서비스 목록·시험 질문의 버전 관리",</a:t>
            </a:r>
          </a:p>
          <a:p xmlns:a="http://schemas.openxmlformats.org/drawingml/2006/main">
            <a:r>
              <a:t>        "output":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"PF31",</a:t>
            </a:r>
          </a:p>
          <a:p xmlns:a="http://schemas.openxmlformats.org/drawingml/2006/main">
            <a:r>
              <a:t>    "success": [</a:t>
            </a:r>
          </a:p>
          <a:p xmlns:a="http://schemas.openxmlformats.org/drawingml/2006/main">
            <a:r>
              <a:t>      "통합 서비스의 완료조건 정의",</a:t>
            </a:r>
          </a:p>
          <a:p xmlns:a="http://schemas.openxmlformats.org/drawingml/2006/main">
            <a:r>
              <a:t>      "응답 품질·계약 증빙의 독립 검토"</a:t>
            </a:r>
          </a:p>
          <a:p xmlns:a="http://schemas.openxmlformats.org/drawingml/2006/main">
            <a:r>
              <a:t>    ],</a:t>
            </a:r>
          </a:p>
          <a:p xmlns:a="http://schemas.openxmlformats.org/drawingml/2006/main">
            <a:r>
              <a:t>    "risks": [</a:t>
            </a:r>
          </a:p>
          <a:p xmlns:a="http://schemas.openxmlformats.org/drawingml/2006/main">
            <a:r>
              <a:t>      "감사에서 지적된 비일관 답변",</a:t>
            </a:r>
          </a:p>
          <a:p xmlns:a="http://schemas.openxmlformats.org/drawingml/2006/main">
            <a:r>
              <a:t>      "사업계획·계약 감독·서비스 통합의 미비"</a:t>
            </a:r>
          </a:p>
          <a:p xmlns:a="http://schemas.openxmlformats.org/drawingml/2006/main">
            <a:r>
              <a:t>    ],</a:t>
            </a:r>
          </a:p>
          <a:p xmlns:a="http://schemas.openxmlformats.org/drawingml/2006/main">
            <a:r>
              <a:t>    "architecture": [</a:t>
            </a:r>
          </a:p>
          <a:p xmlns:a="http://schemas.openxmlformats.org/drawingml/2006/main">
            <a:r>
              <a:t>      "MyCity 이용자",</a:t>
            </a:r>
          </a:p>
          <a:p xmlns:a="http://schemas.openxmlformats.org/drawingml/2006/main">
            <a:r>
              <a:t>      "AI 챗봇·포털",</a:t>
            </a:r>
          </a:p>
          <a:p xmlns:a="http://schemas.openxmlformats.org/drawingml/2006/main">
            <a:r>
              <a:t>      "안내·응답·평가 기록",</a:t>
            </a:r>
          </a:p>
          <a:p xmlns:a="http://schemas.openxmlformats.org/drawingml/2006/main">
            <a:r>
              <a:t>      "사업자·운영 담당"</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"안내 지식",</a:t>
            </a:r>
          </a:p>
          <a:p xmlns:a="http://schemas.openxmlformats.org/drawingml/2006/main">
            <a:r>
              <a:t>      "챗봇 답변",</a:t>
            </a:r>
          </a:p>
          <a:p xmlns:a="http://schemas.openxmlformats.org/drawingml/2006/main">
            <a:r>
              <a:t>      "피드백·감사"</a:t>
            </a:r>
          </a:p>
          <a:p xmlns:a="http://schemas.openxmlformats.org/drawingml/2006/main">
            <a:r>
              <a:t>    ],</a:t>
            </a:r>
          </a:p>
          <a:p xmlns:a="http://schemas.openxmlformats.org/drawingml/2006/main">
            <a:r>
              <a:t>    "control": "감사 지적과 기관 반론의 근거별 추적",</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뉴욕시 감사 보고서 https://comptroller.nyc.gov/reports/audit-report-on-the-new-york-city-office-of-technology-and-innovations-mycity-system/</a:t>
            </a:r>
          </a:p>
          <a:p xmlns:a="http://schemas.openxmlformats.org/drawingml/2006/main">
            <a:r>
              <a:t>홈페이지 https://heen1987-ops.github.io/TS-business-Plan-001/index.html?view=platform-cases&amp;case=PF31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후속계획 https://heen1987-ops.github.io/TS-business-Plan-001/index.html?view=casebook&amp;tab=strategy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2a24f8020e40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b4196411a645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7bc0824e27145b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d414c589414d9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b1c1e11bde249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a16b622c3e4c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D04E92-97B9-49FC-8D51-FB9ED71AA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B650D9-5314-4E93-94E7-0687ED9C72B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F4ADF12-3E2B-40F8-9F62-2652669513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91D888-3CEE-458B-8437-F36B4D7A25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905E5BF-298E-4033-BB8A-B42665054BE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4FE5DBC-165D-4A75-87EA-A21EFEF123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8EA4C4-DC7E-42ED-B853-890197E78C4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C0E479D-2809-4D6C-B851-4B415A7482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F76921-5163-4860-AA71-D9C745A444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B6561FD-76C4-434E-B177-DC3EA1ABC4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746623ee3b4f70" /><Relationship Type="http://schemas.openxmlformats.org/officeDocument/2006/relationships/slideLayout" Target="/ppt/slideLayouts/slideLayout1.xml" Id="R61bf54296d0c4a99" /><Relationship Type="http://schemas.openxmlformats.org/officeDocument/2006/relationships/slideLayout" Target="/ppt/slideLayouts/slideLayout2.xml" Id="Ra9e3f35a6b2d46ea" /><Relationship Type="http://schemas.openxmlformats.org/officeDocument/2006/relationships/slideLayout" Target="/ppt/slideLayouts/slideLayout3.xml" Id="R16a0ca2243cb473c" /><Relationship Type="http://schemas.openxmlformats.org/officeDocument/2006/relationships/slideLayout" Target="/ppt/slideLayouts/slideLayout4.xml" Id="Rc9f1060a3cfc43c5" /><Relationship Type="http://schemas.openxmlformats.org/officeDocument/2006/relationships/slideLayout" Target="/ppt/slideLayouts/slideLayout5.xml" Id="R4f1c7fdea66e4ed1" /><Relationship Type="http://schemas.openxmlformats.org/officeDocument/2006/relationships/slideLayout" Target="/ppt/slideLayouts/slideLayout6.xml" Id="Rb093bfad293141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bf54296d0c4a99"/>
    <p:sldLayoutId xmlns:r="http://schemas.openxmlformats.org/officeDocument/2006/relationships" id="2147483650" r:id="Ra9e3f35a6b2d46ea"/>
    <p:sldLayoutId xmlns:r="http://schemas.openxmlformats.org/officeDocument/2006/relationships" id="2147483651" r:id="R16a0ca2243cb473c"/>
    <p:sldLayoutId xmlns:r="http://schemas.openxmlformats.org/officeDocument/2006/relationships" id="2147483652" r:id="Rc9f1060a3cfc43c5"/>
    <p:sldLayoutId xmlns:r="http://schemas.openxmlformats.org/officeDocument/2006/relationships" id="2147483653" r:id="R4f1c7fdea66e4ed1"/>
    <p:sldLayoutId xmlns:r="http://schemas.openxmlformats.org/officeDocument/2006/relationships" id="2147483654" r:id="Rb093bfad293141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caa7a4504544ee" /><Relationship Type="http://schemas.openxmlformats.org/officeDocument/2006/relationships/notesSlide" Target="/ppt/notesSlides/notesSlide1.xml" Id="Rdbbd0f560d1242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ae658b038e74960" /><Relationship Type="http://schemas.openxmlformats.org/officeDocument/2006/relationships/notesSlide" Target="/ppt/notesSlides/notesSlide2.xml" Id="R667da61e469144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17d737dacd043ab" /><Relationship Type="http://schemas.openxmlformats.org/officeDocument/2006/relationships/notesSlide" Target="/ppt/notesSlides/notesSlide3.xml" Id="R9b7a8bfbc54345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1b31b392a04583" /><Relationship Type="http://schemas.openxmlformats.org/officeDocument/2006/relationships/image" Target="/ppt/media/image.png" Id="Rf39ddc2b15c04a60" /><Relationship Type="http://schemas.openxmlformats.org/officeDocument/2006/relationships/notesSlide" Target="/ppt/notesSlides/notesSlide4.xml" Id="R643d287fbca647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2f2766ae6f949fd" /><Relationship Type="http://schemas.openxmlformats.org/officeDocument/2006/relationships/notesSlide" Target="/ppt/notesSlides/notesSlide5.xml" Id="Rc75e0dbec42b48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918f3977ad34900" /><Relationship Type="http://schemas.openxmlformats.org/officeDocument/2006/relationships/notesSlide" Target="/ppt/notesSlides/notesSlide6.xml" Id="R4a087748e4c148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35c916eb3d4f92" /><Relationship Type="http://schemas.openxmlformats.org/officeDocument/2006/relationships/notesSlide" Target="/ppt/notesSlides/notesSlide7.xml" Id="R0a5c43fa32dc4a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e17ab11af42404b" /><Relationship Type="http://schemas.openxmlformats.org/officeDocument/2006/relationships/notesSlide" Target="/ppt/notesSlides/notesSlide8.xml" Id="R86e9ef9c5a2d47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bfc9a4afded44bf" /><Relationship Type="http://schemas.openxmlformats.org/officeDocument/2006/relationships/notesSlide" Target="/ppt/notesSlides/notesSlide9.xml" Id="R7c63369c6b0440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6d13a0b51dd4ac4" /><Relationship Type="http://schemas.openxmlformats.org/officeDocument/2006/relationships/notesSlide" Target="/ppt/notesSlides/notesSlide10.xml" Id="Rf64fbe06d1b341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898cecfc5642fb" /><Relationship Type="http://schemas.openxmlformats.org/officeDocument/2006/relationships/notesSlide" Target="/ppt/notesSlides/notesSlide11.xml" Id="R54f7700ef50d45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794cfb2102e4492" /><Relationship Type="http://schemas.openxmlformats.org/officeDocument/2006/relationships/image" Target="/ppt/media/image2.png" Id="R706f8dd2d83b446b" /><Relationship Type="http://schemas.openxmlformats.org/officeDocument/2006/relationships/notesSlide" Target="/ppt/notesSlides/notesSlide12.xml" Id="R522be1c652924f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409d9b3729e4c15" /><Relationship Type="http://schemas.openxmlformats.org/officeDocument/2006/relationships/image" Target="/ppt/media/image3.png" Id="R59a9b05744d14633" /><Relationship Type="http://schemas.openxmlformats.org/officeDocument/2006/relationships/notesSlide" Target="/ppt/notesSlides/notesSlide13.xml" Id="R39cb7dd81910481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b51749367294016" /><Relationship Type="http://schemas.openxmlformats.org/officeDocument/2006/relationships/image" Target="/ppt/media/image4.png" Id="Ra271359e959a4889" /><Relationship Type="http://schemas.openxmlformats.org/officeDocument/2006/relationships/notesSlide" Target="/ppt/notesSlides/notesSlide14.xml" Id="Rcd6f63eb60af48f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4e5cd8c94aa4534" /><Relationship Type="http://schemas.openxmlformats.org/officeDocument/2006/relationships/image" Target="/ppt/media/image5.png" Id="Ra7594e6b7f9f4c07" /><Relationship Type="http://schemas.openxmlformats.org/officeDocument/2006/relationships/notesSlide" Target="/ppt/notesSlides/notesSlide15.xml" Id="R3ec6ef9f489a4cd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2f9729675a4428a" /><Relationship Type="http://schemas.openxmlformats.org/officeDocument/2006/relationships/notesSlide" Target="/ppt/notesSlides/notesSlide16.xml" Id="Rfc1477512128446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16914bad7ab44a0" /><Relationship Type="http://schemas.openxmlformats.org/officeDocument/2006/relationships/notesSlide" Target="/ppt/notesSlides/notesSlide17.xml" Id="R4f26002c481944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b124a05dff74b6f" /><Relationship Type="http://schemas.openxmlformats.org/officeDocument/2006/relationships/notesSlide" Target="/ppt/notesSlides/notesSlide18.xml" Id="R696379012caf4fd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6b31709fc854f3e" /><Relationship Type="http://schemas.openxmlformats.org/officeDocument/2006/relationships/notesSlide" Target="/ppt/notesSlides/notesSlide19.xml" Id="Rbbe148c3cd764a4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f6cc1ec83184a36" /><Relationship Type="http://schemas.openxmlformats.org/officeDocument/2006/relationships/notesSlide" Target="/ppt/notesSlides/notesSlide20.xml" Id="Ra6391abe71a9488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f6fa2ab36d24348" /><Relationship Type="http://schemas.openxmlformats.org/officeDocument/2006/relationships/notesSlide" Target="/ppt/notesSlides/notesSlide21.xml" Id="R482a16654f5a40f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2ad6dd4b60244a5" /><Relationship Type="http://schemas.openxmlformats.org/officeDocument/2006/relationships/notesSlide" Target="/ppt/notesSlides/notesSlide22.xml" Id="Rd15f2753fad0435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23e5ac6016147a8" /><Relationship Type="http://schemas.openxmlformats.org/officeDocument/2006/relationships/image" Target="/ppt/media/image6.png" Id="R020727ad76af4ef5" /><Relationship Type="http://schemas.openxmlformats.org/officeDocument/2006/relationships/notesSlide" Target="/ppt/notesSlides/notesSlide23.xml" Id="R52d68ad72f98454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e3d5012305440ba" /><Relationship Type="http://schemas.openxmlformats.org/officeDocument/2006/relationships/notesSlide" Target="/ppt/notesSlides/notesSlide24.xml" Id="R5d78c6335629433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349e66d8df7459e" /><Relationship Type="http://schemas.openxmlformats.org/officeDocument/2006/relationships/notesSlide" Target="/ppt/notesSlides/notesSlide25.xml" Id="R7aa6cebb74f0471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fe085ef8aed4601" /><Relationship Type="http://schemas.openxmlformats.org/officeDocument/2006/relationships/notesSlide" Target="/ppt/notesSlides/notesSlide26.xml" Id="R9b9c653eb15e4cb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f9b64c9584e4393" /><Relationship Type="http://schemas.openxmlformats.org/officeDocument/2006/relationships/notesSlide" Target="/ppt/notesSlides/notesSlide27.xml" Id="R01eb264b44574b3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c23027052384169" /><Relationship Type="http://schemas.openxmlformats.org/officeDocument/2006/relationships/notesSlide" Target="/ppt/notesSlides/notesSlide28.xml" Id="Rf181167854794ee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2f6de87191b4fb2" /><Relationship Type="http://schemas.openxmlformats.org/officeDocument/2006/relationships/notesSlide" Target="/ppt/notesSlides/notesSlide29.xml" Id="R66c8940904c9473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e4dc25b77dc4e5e" /><Relationship Type="http://schemas.openxmlformats.org/officeDocument/2006/relationships/image" Target="/ppt/media/image7.png" Id="R04ae5ef2274a4083" /><Relationship Type="http://schemas.openxmlformats.org/officeDocument/2006/relationships/notesSlide" Target="/ppt/notesSlides/notesSlide30.xml" Id="R488ec76698cc4b8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c2b5587ccb141e0" /><Relationship Type="http://schemas.openxmlformats.org/officeDocument/2006/relationships/image" Target="/ppt/media/image8.png" Id="Ra9216707efda4203" /><Relationship Type="http://schemas.openxmlformats.org/officeDocument/2006/relationships/notesSlide" Target="/ppt/notesSlides/notesSlide31.xml" Id="Rc948d8e32ec641f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28791df690341c1" /><Relationship Type="http://schemas.openxmlformats.org/officeDocument/2006/relationships/notesSlide" Target="/ppt/notesSlides/notesSlide32.xml" Id="R4513afb64aeb414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d2f4a5b758b4698" /><Relationship Type="http://schemas.openxmlformats.org/officeDocument/2006/relationships/notesSlide" Target="/ppt/notesSlides/notesSlide33.xml" Id="R09b5bb70fe4e46a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182a81ee23b426d" /><Relationship Type="http://schemas.openxmlformats.org/officeDocument/2006/relationships/notesSlide" Target="/ppt/notesSlides/notesSlide34.xml" Id="Rf511dcf111704a3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0680c7b02574a0d" /><Relationship Type="http://schemas.openxmlformats.org/officeDocument/2006/relationships/notesSlide" Target="/ppt/notesSlides/notesSlide35.xml" Id="Rdde25ed6fa39463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155b88aa8364db2" /><Relationship Type="http://schemas.openxmlformats.org/officeDocument/2006/relationships/notesSlide" Target="/ppt/notesSlides/notesSlide36.xml" Id="Ra423312e53b14e8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296f27ca8c74d08" /><Relationship Type="http://schemas.openxmlformats.org/officeDocument/2006/relationships/notesSlide" Target="/ppt/notesSlides/notesSlide37.xml" Id="Ra6411d7905e34fb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1153953109f4175" /><Relationship Type="http://schemas.openxmlformats.org/officeDocument/2006/relationships/image" Target="/ppt/media/image9.png" Id="Rcf97597e9ee948a3" /><Relationship Type="http://schemas.openxmlformats.org/officeDocument/2006/relationships/notesSlide" Target="/ppt/notesSlides/notesSlide38.xml" Id="R0e6edc3f9f494df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d5989e2c9c047b4" /><Relationship Type="http://schemas.openxmlformats.org/officeDocument/2006/relationships/image" Target="/ppt/media/image10.png" Id="Rce977962bed643b8" /><Relationship Type="http://schemas.openxmlformats.org/officeDocument/2006/relationships/notesSlide" Target="/ppt/notesSlides/notesSlide39.xml" Id="R89172a4dc43c46f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bdc4a76cb8b4331" /><Relationship Type="http://schemas.openxmlformats.org/officeDocument/2006/relationships/notesSlide" Target="/ppt/notesSlides/notesSlide40.xml" Id="R875b126a6f924bc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aeabcffb11a4240" /><Relationship Type="http://schemas.openxmlformats.org/officeDocument/2006/relationships/notesSlide" Target="/ppt/notesSlides/notesSlide41.xml" Id="R5f56126dbb12423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31ff6976c9e494a" /><Relationship Type="http://schemas.openxmlformats.org/officeDocument/2006/relationships/notesSlide" Target="/ppt/notesSlides/notesSlide42.xml" Id="R86bd169de5b445a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cbbe8da8b2a4ec5" /><Relationship Type="http://schemas.openxmlformats.org/officeDocument/2006/relationships/notesSlide" Target="/ppt/notesSlides/notesSlide43.xml" Id="Rf787e886cda6452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02bb244c30b4b72" /><Relationship Type="http://schemas.openxmlformats.org/officeDocument/2006/relationships/notesSlide" Target="/ppt/notesSlides/notesSlide44.xml" Id="Rc5749680508f4d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149c2803c081462a" /><Relationship Type="http://schemas.openxmlformats.org/officeDocument/2006/relationships/notesSlide" Target="/ppt/notesSlides/notesSlide45.xml" Id="R327c58cb8cf445b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f386f02cd6b4dde" /><Relationship Type="http://schemas.openxmlformats.org/officeDocument/2006/relationships/image" Target="/ppt/media/image11.png" Id="Re352c882de1d4d82" /><Relationship Type="http://schemas.openxmlformats.org/officeDocument/2006/relationships/notesSlide" Target="/ppt/notesSlides/notesSlide46.xml" Id="R39264f48045f483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5a43c6b5f1f414f" /><Relationship Type="http://schemas.openxmlformats.org/officeDocument/2006/relationships/notesSlide" Target="/ppt/notesSlides/notesSlide47.xml" Id="R5eba4cfd17a04e6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ca85a6f02844893" /><Relationship Type="http://schemas.openxmlformats.org/officeDocument/2006/relationships/notesSlide" Target="/ppt/notesSlides/notesSlide48.xml" Id="Rdd5286352559497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c7225e87d734738" /><Relationship Type="http://schemas.openxmlformats.org/officeDocument/2006/relationships/notesSlide" Target="/ppt/notesSlides/notesSlide49.xml" Id="R4d43ada84fe34fb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d6fb07e2ae441d8" /><Relationship Type="http://schemas.openxmlformats.org/officeDocument/2006/relationships/notesSlide" Target="/ppt/notesSlides/notesSlide50.xml" Id="R05624baaeeb74e2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f0da59d3bc44d85" /><Relationship Type="http://schemas.openxmlformats.org/officeDocument/2006/relationships/notesSlide" Target="/ppt/notesSlides/notesSlide51.xml" Id="Rc77646193b54437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0a2c0d7bc744824" /><Relationship Type="http://schemas.openxmlformats.org/officeDocument/2006/relationships/notesSlide" Target="/ppt/notesSlides/notesSlide52.xml" Id="Ra2505ff8b4724d7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942d7cf92c24a1b" /><Relationship Type="http://schemas.openxmlformats.org/officeDocument/2006/relationships/notesSlide" Target="/ppt/notesSlides/notesSlide53.xml" Id="R1d75fd0a80e3487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b61e5ef569a4706" /><Relationship Type="http://schemas.openxmlformats.org/officeDocument/2006/relationships/image" Target="/ppt/media/image12.png" Id="Re803a751df4e4c98" /><Relationship Type="http://schemas.openxmlformats.org/officeDocument/2006/relationships/notesSlide" Target="/ppt/notesSlides/notesSlide54.xml" Id="Rd167d4d5731a4a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ab8c4d49234467e" /><Relationship Type="http://schemas.openxmlformats.org/officeDocument/2006/relationships/notesSlide" Target="/ppt/notesSlides/notesSlide55.xml" Id="Ra78d1ef87b2a48c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dae2091d9bc472a" /><Relationship Type="http://schemas.openxmlformats.org/officeDocument/2006/relationships/notesSlide" Target="/ppt/notesSlides/notesSlide56.xml" Id="R6838704f38f84c1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5450fe1f3f9486b" /><Relationship Type="http://schemas.openxmlformats.org/officeDocument/2006/relationships/notesSlide" Target="/ppt/notesSlides/notesSlide57.xml" Id="R2e1d234e2cdc4bd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ffba73c65a1b41ce" /><Relationship Type="http://schemas.openxmlformats.org/officeDocument/2006/relationships/notesSlide" Target="/ppt/notesSlides/notesSlide58.xml" Id="Rf2fdd3ba0b324fa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303ebb7fd1114c50" /><Relationship Type="http://schemas.openxmlformats.org/officeDocument/2006/relationships/notesSlide" Target="/ppt/notesSlides/notesSlide59.xml" Id="R990b8ca201bf418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8da5577692449f2" /><Relationship Type="http://schemas.openxmlformats.org/officeDocument/2006/relationships/notesSlide" Target="/ppt/notesSlides/notesSlide60.xml" Id="R577df94d53e747f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250085a291047b4" /><Relationship Type="http://schemas.openxmlformats.org/officeDocument/2006/relationships/notesSlide" Target="/ppt/notesSlides/notesSlide61.xml" Id="Rf5db06ddac0c49a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be643fadbc745dc" /><Relationship Type="http://schemas.openxmlformats.org/officeDocument/2006/relationships/image" Target="/ppt/media/image13.png" Id="Rae9e146f9b8a49af" /><Relationship Type="http://schemas.openxmlformats.org/officeDocument/2006/relationships/notesSlide" Target="/ppt/notesSlides/notesSlide62.xml" Id="Re338616ea2e640d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4178a6f454f4de3" /><Relationship Type="http://schemas.openxmlformats.org/officeDocument/2006/relationships/image" Target="/ppt/media/image14.png" Id="Rea6101ca79ac4538" /><Relationship Type="http://schemas.openxmlformats.org/officeDocument/2006/relationships/notesSlide" Target="/ppt/notesSlides/notesSlide63.xml" Id="Rf8bd267b6245487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70c0292c617d4af1" /><Relationship Type="http://schemas.openxmlformats.org/officeDocument/2006/relationships/notesSlide" Target="/ppt/notesSlides/notesSlide64.xml" Id="R9c3f52055dff456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904e1e3d1f74594" /><Relationship Type="http://schemas.openxmlformats.org/officeDocument/2006/relationships/notesSlide" Target="/ppt/notesSlides/notesSlide65.xml" Id="R7c492db4f34a4f6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ff9f451328745ea" /><Relationship Type="http://schemas.openxmlformats.org/officeDocument/2006/relationships/notesSlide" Target="/ppt/notesSlides/notesSlide66.xml" Id="Rc492906c636244d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bddfc7a53184daa" /><Relationship Type="http://schemas.openxmlformats.org/officeDocument/2006/relationships/notesSlide" Target="/ppt/notesSlides/notesSlide67.xml" Id="Rcee0de89978c42f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19ce84e88c549a8" /><Relationship Type="http://schemas.openxmlformats.org/officeDocument/2006/relationships/notesSlide" Target="/ppt/notesSlides/notesSlide68.xml" Id="Rf1f004963e02406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38d55923ccf945ed" /><Relationship Type="http://schemas.openxmlformats.org/officeDocument/2006/relationships/notesSlide" Target="/ppt/notesSlides/notesSlide69.xml" Id="R756ed1b14cb0458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67022c3a5a84286" /><Relationship Type="http://schemas.openxmlformats.org/officeDocument/2006/relationships/notesSlide" Target="/ppt/notesSlides/notesSlide70.xml" Id="Rddfe33f29329438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d1bb368b6fb14549" /><Relationship Type="http://schemas.openxmlformats.org/officeDocument/2006/relationships/notesSlide" Target="/ppt/notesSlides/notesSlide71.xml" Id="R8368b85505b34d8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f53136836dc14d5a" /><Relationship Type="http://schemas.openxmlformats.org/officeDocument/2006/relationships/image" Target="/ppt/media/image15.png" Id="R55ffbefa99e6440b" /><Relationship Type="http://schemas.openxmlformats.org/officeDocument/2006/relationships/notesSlide" Target="/ppt/notesSlides/notesSlide72.xml" Id="R12ade2986ef74c1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400ad420c2e48da" /><Relationship Type="http://schemas.openxmlformats.org/officeDocument/2006/relationships/notesSlide" Target="/ppt/notesSlides/notesSlide73.xml" Id="Rc17f74df37f64f6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4ac75b99ef79417d" /><Relationship Type="http://schemas.openxmlformats.org/officeDocument/2006/relationships/notesSlide" Target="/ppt/notesSlides/notesSlide74.xml" Id="R23fb9cf49c9c495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7e4c525c19b40b1" /><Relationship Type="http://schemas.openxmlformats.org/officeDocument/2006/relationships/notesSlide" Target="/ppt/notesSlides/notesSlide75.xml" Id="Rcdaa77b8f54b402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d55c6bc75cb24a67" /><Relationship Type="http://schemas.openxmlformats.org/officeDocument/2006/relationships/notesSlide" Target="/ppt/notesSlides/notesSlide76.xml" Id="R1cbffa842467475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01aeb797f2db48f4" /><Relationship Type="http://schemas.openxmlformats.org/officeDocument/2006/relationships/notesSlide" Target="/ppt/notesSlides/notesSlide77.xml" Id="R402946af09ff4f3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7d0fcf27ab444eb" /><Relationship Type="http://schemas.openxmlformats.org/officeDocument/2006/relationships/notesSlide" Target="/ppt/notesSlides/notesSlide78.xml" Id="R3bf60b7abaf141e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7b92ed76b81d4c54" /><Relationship Type="http://schemas.openxmlformats.org/officeDocument/2006/relationships/notesSlide" Target="/ppt/notesSlides/notesSlide79.xml" Id="R4b37ff93323e411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66f08dbfa9a74bf0" /><Relationship Type="http://schemas.openxmlformats.org/officeDocument/2006/relationships/notesSlide" Target="/ppt/notesSlides/notesSlide80.xml" Id="Rae192395313a4e1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50541a0fda164fa4" /><Relationship Type="http://schemas.openxmlformats.org/officeDocument/2006/relationships/notesSlide" Target="/ppt/notesSlides/notesSlide81.xml" Id="R3f9b3a415ab54a8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a19ba27e75e43d7" /><Relationship Type="http://schemas.openxmlformats.org/officeDocument/2006/relationships/notesSlide" Target="/ppt/notesSlides/notesSlide82.xml" Id="R971c3ab9268744a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ee82df99d084e77" /><Relationship Type="http://schemas.openxmlformats.org/officeDocument/2006/relationships/notesSlide" Target="/ppt/notesSlides/notesSlide83.xml" Id="R13bc969f5f9e4af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23bf7f7ffe084b95" /><Relationship Type="http://schemas.openxmlformats.org/officeDocument/2006/relationships/notesSlide" Target="/ppt/notesSlides/notesSlide84.xml" Id="Ra73e3ae2cf494c1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f13742bfe8214989" /><Relationship Type="http://schemas.openxmlformats.org/officeDocument/2006/relationships/notesSlide" Target="/ppt/notesSlides/notesSlide85.xml" Id="Rbe53d8d3583943e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94afbcd4f37e4990" /><Relationship Type="http://schemas.openxmlformats.org/officeDocument/2006/relationships/image" Target="/ppt/media/image16.png" Id="R0fb40d83ab604e05" /><Relationship Type="http://schemas.openxmlformats.org/officeDocument/2006/relationships/notesSlide" Target="/ppt/notesSlides/notesSlide86.xml" Id="R62f3b613d032437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115c059b68ad4a35" /><Relationship Type="http://schemas.openxmlformats.org/officeDocument/2006/relationships/notesSlide" Target="/ppt/notesSlides/notesSlide87.xml" Id="R39f3071ad1cf475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ea1923e46281492a" /><Relationship Type="http://schemas.openxmlformats.org/officeDocument/2006/relationships/notesSlide" Target="/ppt/notesSlides/notesSlide88.xml" Id="R83cfbd5758ad476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6cbfbe38b904d2f" /><Relationship Type="http://schemas.openxmlformats.org/officeDocument/2006/relationships/notesSlide" Target="/ppt/notesSlides/notesSlide89.xml" Id="R77a3b75be9ed4f6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99d3476dd7f14e8b" /><Relationship Type="http://schemas.openxmlformats.org/officeDocument/2006/relationships/notesSlide" Target="/ppt/notesSlides/notesSlide90.xml" Id="R3c442fc63d5a41d9"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f1c19a0de114453e" /><Relationship Type="http://schemas.openxmlformats.org/officeDocument/2006/relationships/notesSlide" Target="/ppt/notesSlides/notesSlide91.xml" Id="R309fdef2d95845ef"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809d1021518542fd" /><Relationship Type="http://schemas.openxmlformats.org/officeDocument/2006/relationships/notesSlide" Target="/ppt/notesSlides/notesSlide92.xml" Id="R773dfcbc6d294ff1"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0fcbe181808f45f1" /><Relationship Type="http://schemas.openxmlformats.org/officeDocument/2006/relationships/notesSlide" Target="/ppt/notesSlides/notesSlide93.xml" Id="Re553954763ed49e1"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349bf8b24e2b4347" /><Relationship Type="http://schemas.openxmlformats.org/officeDocument/2006/relationships/notesSlide" Target="/ppt/notesSlides/notesSlide94.xml" Id="Rfd0495da2cd64e0d"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28b58264838f409b" /><Relationship Type="http://schemas.openxmlformats.org/officeDocument/2006/relationships/notesSlide" Target="/ppt/notesSlides/notesSlide95.xml" Id="R34106825c61a481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2bce012511044260" /><Relationship Type="http://schemas.openxmlformats.org/officeDocument/2006/relationships/notesSlide" Target="/ppt/notesSlides/notesSlide96.xml" Id="R448b99768d2d47e5"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9f7f8dec9fb54d71" /><Relationship Type="http://schemas.openxmlformats.org/officeDocument/2006/relationships/notesSlide" Target="/ppt/notesSlides/notesSlide97.xml" Id="Rb0363c639a89400c"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48722d0e12684954" /><Relationship Type="http://schemas.openxmlformats.org/officeDocument/2006/relationships/notesSlide" Target="/ppt/notesSlides/notesSlide98.xml" Id="R9f57f6b492f24e1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5abd73aff4614867" /><Relationship Type="http://schemas.openxmlformats.org/officeDocument/2006/relationships/notesSlide" Target="/ppt/notesSlides/notesSlide99.xml" Id="R5fd17a7767ff4c1b"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a1734b9c971c4cc2" /><Relationship Type="http://schemas.openxmlformats.org/officeDocument/2006/relationships/notesSlide" Target="/ppt/notesSlides/notesSlide100.xml" Id="R6a65b8498235422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caa94066bd1a4a87" /><Relationship Type="http://schemas.openxmlformats.org/officeDocument/2006/relationships/notesSlide" Target="/ppt/notesSlides/notesSlide101.xml" Id="R51bdcf7c835d4205"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40df99ec7d7a4826" /><Relationship Type="http://schemas.openxmlformats.org/officeDocument/2006/relationships/notesSlide" Target="/ppt/notesSlides/notesSlide102.xml" Id="Reb031d61c7fd4278"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8463dfa3f9584758" /><Relationship Type="http://schemas.openxmlformats.org/officeDocument/2006/relationships/notesSlide" Target="/ppt/notesSlides/notesSlide103.xml" Id="R577b54bfec534687"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6b22b71c312e48a5" /><Relationship Type="http://schemas.openxmlformats.org/officeDocument/2006/relationships/notesSlide" Target="/ppt/notesSlides/notesSlide104.xml" Id="R3cf11984d8f24d26"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6a7b06d96f6a447d" /><Relationship Type="http://schemas.openxmlformats.org/officeDocument/2006/relationships/notesSlide" Target="/ppt/notesSlides/notesSlide105.xml" Id="R72edeb783a4c478e"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929826cbd9c14fb3" /><Relationship Type="http://schemas.openxmlformats.org/officeDocument/2006/relationships/notesSlide" Target="/ppt/notesSlides/notesSlide106.xml" Id="R3293c1a40cb84bab"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54a833709bd64106" /><Relationship Type="http://schemas.openxmlformats.org/officeDocument/2006/relationships/notesSlide" Target="/ppt/notesSlides/notesSlide107.xml" Id="Rde1f02b11bb243c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8e8d4bc5ad7848b4" /><Relationship Type="http://schemas.openxmlformats.org/officeDocument/2006/relationships/notesSlide" Target="/ppt/notesSlides/notesSlide108.xml" Id="R6f76c4b4f24c429a"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358098b49ad14649" /><Relationship Type="http://schemas.openxmlformats.org/officeDocument/2006/relationships/notesSlide" Target="/ppt/notesSlides/notesSlide109.xml" Id="Rb05bb4910af142e7"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91f790f1adbf4a05" /><Relationship Type="http://schemas.openxmlformats.org/officeDocument/2006/relationships/notesSlide" Target="/ppt/notesSlides/notesSlide110.xml" Id="R7670a170609a4614"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e2d802d2c1594640" /><Relationship Type="http://schemas.openxmlformats.org/officeDocument/2006/relationships/notesSlide" Target="/ppt/notesSlides/notesSlide111.xml" Id="R2a4640b69d594fad"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bef41f641ef04ff3" /><Relationship Type="http://schemas.openxmlformats.org/officeDocument/2006/relationships/notesSlide" Target="/ppt/notesSlides/notesSlide112.xml" Id="Rddb3ee412b8a415e"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03a27c056e084ad1" /><Relationship Type="http://schemas.openxmlformats.org/officeDocument/2006/relationships/notesSlide" Target="/ppt/notesSlides/notesSlide113.xml" Id="Rb086a80571e1489c"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20da2c983bab4ae0" /><Relationship Type="http://schemas.openxmlformats.org/officeDocument/2006/relationships/notesSlide" Target="/ppt/notesSlides/notesSlide114.xml" Id="R9b5cfc0d35c2469f"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d709ee5617a34142" /><Relationship Type="http://schemas.openxmlformats.org/officeDocument/2006/relationships/notesSlide" Target="/ppt/notesSlides/notesSlide115.xml" Id="R8ca88a2d53624efc"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7d448fb881524cff" /><Relationship Type="http://schemas.openxmlformats.org/officeDocument/2006/relationships/notesSlide" Target="/ppt/notesSlides/notesSlide116.xml" Id="R659fef50b27949b3"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6.xml" Id="R7f874ba2cf3941c9" /><Relationship Type="http://schemas.openxmlformats.org/officeDocument/2006/relationships/notesSlide" Target="/ppt/notesSlides/notesSlide117.xml" Id="R8da8fb378fab498f"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6.xml" Id="R04cc70d3f038434d" /><Relationship Type="http://schemas.openxmlformats.org/officeDocument/2006/relationships/notesSlide" Target="/ppt/notesSlides/notesSlide118.xml" Id="R4ed1e8f3cbe24205"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6.xml" Id="Rabf3700ab2bf4cde" /><Relationship Type="http://schemas.openxmlformats.org/officeDocument/2006/relationships/image" Target="/ppt/media/image17.png" Id="Rbf723efbd019406d" /><Relationship Type="http://schemas.openxmlformats.org/officeDocument/2006/relationships/notesSlide" Target="/ppt/notesSlides/notesSlide119.xml" Id="R270a0ff090f345e9"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6.xml" Id="R75607195321746d4" /><Relationship Type="http://schemas.openxmlformats.org/officeDocument/2006/relationships/image" Target="/ppt/media/image18.png" Id="R1406eb1f04e04d7f" /><Relationship Type="http://schemas.openxmlformats.org/officeDocument/2006/relationships/notesSlide" Target="/ppt/notesSlides/notesSlide120.xml" Id="R3eb68d05fe8548ea"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6.xml" Id="Rb5adeea2eeca48cc" /><Relationship Type="http://schemas.openxmlformats.org/officeDocument/2006/relationships/image" Target="/ppt/media/image19.png" Id="R52d51ced5531411b" /><Relationship Type="http://schemas.openxmlformats.org/officeDocument/2006/relationships/notesSlide" Target="/ppt/notesSlides/notesSlide121.xml" Id="R59ef16fa2e6d43e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6.xml" Id="Rd0768c535018468c" /><Relationship Type="http://schemas.openxmlformats.org/officeDocument/2006/relationships/image" Target="/ppt/media/image20.png" Id="Rbe9ab2f1c07847dd" /><Relationship Type="http://schemas.openxmlformats.org/officeDocument/2006/relationships/notesSlide" Target="/ppt/notesSlides/notesSlide122.xml" Id="R11150eb678024b3e"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6.xml" Id="R83ec2391e1ee4054" /><Relationship Type="http://schemas.openxmlformats.org/officeDocument/2006/relationships/notesSlide" Target="/ppt/notesSlides/notesSlide123.xml" Id="R092a835b73854575"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6.xml" Id="R4d0d91121b034464" /><Relationship Type="http://schemas.openxmlformats.org/officeDocument/2006/relationships/notesSlide" Target="/ppt/notesSlides/notesSlide124.xml" Id="R987fac4d5a504143"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6.xml" Id="R49a0e22d7c4b48be" /><Relationship Type="http://schemas.openxmlformats.org/officeDocument/2006/relationships/notesSlide" Target="/ppt/notesSlides/notesSlide125.xml" Id="Rbab5d6316dd84af9"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6.xml" Id="R522073bb179c462a" /><Relationship Type="http://schemas.openxmlformats.org/officeDocument/2006/relationships/notesSlide" Target="/ppt/notesSlides/notesSlide126.xml" Id="R5442e9db97324e59"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6.xml" Id="R0e60251e684246bd" /><Relationship Type="http://schemas.openxmlformats.org/officeDocument/2006/relationships/image" Target="/ppt/media/image21.png" Id="Rda40d3e0e1764f58" /><Relationship Type="http://schemas.openxmlformats.org/officeDocument/2006/relationships/notesSlide" Target="/ppt/notesSlides/notesSlide127.xml" Id="R170f127af1ce4187"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6.xml" Id="R9f05c77576b94a43" /><Relationship Type="http://schemas.openxmlformats.org/officeDocument/2006/relationships/image" Target="/ppt/media/image22.png" Id="Rb2e2c29725a645d1" /><Relationship Type="http://schemas.openxmlformats.org/officeDocument/2006/relationships/notesSlide" Target="/ppt/notesSlides/notesSlide128.xml" Id="R8b67e92bf4b14693"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6.xml" Id="Rcd32551672a64b47" /><Relationship Type="http://schemas.openxmlformats.org/officeDocument/2006/relationships/notesSlide" Target="/ppt/notesSlides/notesSlide129.xml" Id="Rfac3d1be67494e7d"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6.xml" Id="Red43cca0d9f64103" /><Relationship Type="http://schemas.openxmlformats.org/officeDocument/2006/relationships/notesSlide" Target="/ppt/notesSlides/notesSlide130.xml" Id="Rf9b08b7c5cbc4c0e"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6.xml" Id="Re931cc6f87dd4183" /><Relationship Type="http://schemas.openxmlformats.org/officeDocument/2006/relationships/notesSlide" Target="/ppt/notesSlides/notesSlide131.xml" Id="R49d4f5eb7111490b"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6.xml" Id="Rf1a445a48dca4876" /><Relationship Type="http://schemas.openxmlformats.org/officeDocument/2006/relationships/notesSlide" Target="/ppt/notesSlides/notesSlide132.xml" Id="R220f61380b4943ad"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6.xml" Id="Rd51519299f934e87" /><Relationship Type="http://schemas.openxmlformats.org/officeDocument/2006/relationships/notesSlide" Target="/ppt/notesSlides/notesSlide133.xml" Id="Rb359b615b70143d1"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6.xml" Id="Rc1ac9be3ba424567" /><Relationship Type="http://schemas.openxmlformats.org/officeDocument/2006/relationships/notesSlide" Target="/ppt/notesSlides/notesSlide134.xml" Id="Rfa179bb11df14ebc"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6.xml" Id="R87d8fa99f6a1485b" /><Relationship Type="http://schemas.openxmlformats.org/officeDocument/2006/relationships/notesSlide" Target="/ppt/notesSlides/notesSlide135.xml" Id="Rf9bdc27f5fa748cd"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6.xml" Id="Ree1254d56adc40d4" /><Relationship Type="http://schemas.openxmlformats.org/officeDocument/2006/relationships/notesSlide" Target="/ppt/notesSlides/notesSlide136.xml" Id="R2ff8ac0015644626"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6.xml" Id="R3f5f2084c3dd4c13" /><Relationship Type="http://schemas.openxmlformats.org/officeDocument/2006/relationships/notesSlide" Target="/ppt/notesSlides/notesSlide137.xml" Id="R437952c20ecb49ce"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6.xml" Id="R4e697c11f13544f1" /><Relationship Type="http://schemas.openxmlformats.org/officeDocument/2006/relationships/notesSlide" Target="/ppt/notesSlides/notesSlide138.xml" Id="R2d43586b781c4007"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6.xml" Id="R6c3703fdea9c4ffa" /><Relationship Type="http://schemas.openxmlformats.org/officeDocument/2006/relationships/notesSlide" Target="/ppt/notesSlides/notesSlide139.xml" Id="Rb0ed3907569f48c0"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6.xml" Id="R0eeb25940b6a4fb0" /><Relationship Type="http://schemas.openxmlformats.org/officeDocument/2006/relationships/notesSlide" Target="/ppt/notesSlides/notesSlide140.xml" Id="Rd3963f0ac2cf426d"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6.xml" Id="Rdb808cb2e08f4f23" /><Relationship Type="http://schemas.openxmlformats.org/officeDocument/2006/relationships/notesSlide" Target="/ppt/notesSlides/notesSlide141.xml" Id="Rb9f796435eda41d8"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6.xml" Id="R00a645e2660a4961" /><Relationship Type="http://schemas.openxmlformats.org/officeDocument/2006/relationships/notesSlide" Target="/ppt/notesSlides/notesSlide142.xml" Id="R1aac1c13e5794ef8"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6.xml" Id="Rd9283878f25b4e70" /><Relationship Type="http://schemas.openxmlformats.org/officeDocument/2006/relationships/notesSlide" Target="/ppt/notesSlides/notesSlide143.xml" Id="Ra2cdaaac657e457d"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6.xml" Id="R42a74fc7987048c6" /><Relationship Type="http://schemas.openxmlformats.org/officeDocument/2006/relationships/notesSlide" Target="/ppt/notesSlides/notesSlide144.xml" Id="R97a213150b094cea"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6.xml" Id="R684a81195b414ade" /><Relationship Type="http://schemas.openxmlformats.org/officeDocument/2006/relationships/notesSlide" Target="/ppt/notesSlides/notesSlide145.xml" Id="R708a09a95dc14efd"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6.xml" Id="Rf150693d227840a6" /><Relationship Type="http://schemas.openxmlformats.org/officeDocument/2006/relationships/notesSlide" Target="/ppt/notesSlides/notesSlide146.xml" Id="R803a0e7daf324a6b"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6.xml" Id="R6d90523cc45c4c16" /><Relationship Type="http://schemas.openxmlformats.org/officeDocument/2006/relationships/notesSlide" Target="/ppt/notesSlides/notesSlide147.xml" Id="Rca73fb2d11c8496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6.xml" Id="R826bf9ca8d3e4557" /><Relationship Type="http://schemas.openxmlformats.org/officeDocument/2006/relationships/notesSlide" Target="/ppt/notesSlides/notesSlide148.xml" Id="R2829b0a598d84aac"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6.xml" Id="Rb8d999388f564fe1" /><Relationship Type="http://schemas.openxmlformats.org/officeDocument/2006/relationships/notesSlide" Target="/ppt/notesSlides/notesSlide149.xml" Id="R244cedca1fc140ab"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6.xml" Id="R0e15d7cba6f04415" /><Relationship Type="http://schemas.openxmlformats.org/officeDocument/2006/relationships/notesSlide" Target="/ppt/notesSlides/notesSlide150.xml" Id="Rd367bfdbd808479c"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6.xml" Id="R4aa706a487a34674" /><Relationship Type="http://schemas.openxmlformats.org/officeDocument/2006/relationships/notesSlide" Target="/ppt/notesSlides/notesSlide151.xml" Id="R1214b891d1264e54"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6.xml" Id="R331968b8e68b42c2" /><Relationship Type="http://schemas.openxmlformats.org/officeDocument/2006/relationships/notesSlide" Target="/ppt/notesSlides/notesSlide152.xml" Id="R2e65ac8e614b45a1"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6.xml" Id="R95ebd8c014b8481d" /><Relationship Type="http://schemas.openxmlformats.org/officeDocument/2006/relationships/notesSlide" Target="/ppt/notesSlides/notesSlide153.xml" Id="R1c302debe7b1446d"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6.xml" Id="R3a3f6b1e55e94127" /><Relationship Type="http://schemas.openxmlformats.org/officeDocument/2006/relationships/notesSlide" Target="/ppt/notesSlides/notesSlide154.xml" Id="R12d9bcefe8994364"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6.xml" Id="R712edc30505145f2" /><Relationship Type="http://schemas.openxmlformats.org/officeDocument/2006/relationships/notesSlide" Target="/ppt/notesSlides/notesSlide155.xml" Id="Rd134f50fbb9a4355"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6.xml" Id="R711c24ff654a4843" /><Relationship Type="http://schemas.openxmlformats.org/officeDocument/2006/relationships/notesSlide" Target="/ppt/notesSlides/notesSlide156.xml" Id="R7ba4d4f6345b42b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6.xml" Id="R50b2424796cc4989" /><Relationship Type="http://schemas.openxmlformats.org/officeDocument/2006/relationships/notesSlide" Target="/ppt/notesSlides/notesSlide157.xml" Id="R051e4ceb1da24014"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6.xml" Id="Rfb82ec31458f482c" /><Relationship Type="http://schemas.openxmlformats.org/officeDocument/2006/relationships/notesSlide" Target="/ppt/notesSlides/notesSlide158.xml" Id="Re5091e428b4c46dc"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6.xml" Id="R2671837501cd42af" /><Relationship Type="http://schemas.openxmlformats.org/officeDocument/2006/relationships/notesSlide" Target="/ppt/notesSlides/notesSlide159.xml" Id="R0e23fd326f1247e8"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6.xml" Id="Ra7e6aff0a4b44d02" /><Relationship Type="http://schemas.openxmlformats.org/officeDocument/2006/relationships/notesSlide" Target="/ppt/notesSlides/notesSlide160.xml" Id="Rb3b439e463f049a4"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6.xml" Id="Ra2f5ce6852064978" /><Relationship Type="http://schemas.openxmlformats.org/officeDocument/2006/relationships/notesSlide" Target="/ppt/notesSlides/notesSlide161.xml" Id="R2fc03f9230a545b0"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6.xml" Id="R65dfeae7a1934594" /><Relationship Type="http://schemas.openxmlformats.org/officeDocument/2006/relationships/notesSlide" Target="/ppt/notesSlides/notesSlide162.xml" Id="R2aa103414b2145b5"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6.xml" Id="R4dfc32e4fa574c62" /><Relationship Type="http://schemas.openxmlformats.org/officeDocument/2006/relationships/notesSlide" Target="/ppt/notesSlides/notesSlide163.xml" Id="R65791ca8ad804c56"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6.xml" Id="R485eedebfde643ef" /><Relationship Type="http://schemas.openxmlformats.org/officeDocument/2006/relationships/notesSlide" Target="/ppt/notesSlides/notesSlide164.xml" Id="R2b5659a0b07c4fe5"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6.xml" Id="Rd0cd043e39244f27" /><Relationship Type="http://schemas.openxmlformats.org/officeDocument/2006/relationships/notesSlide" Target="/ppt/notesSlides/notesSlide165.xml" Id="R9418be6d135d4e9b"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6.xml" Id="Rfd6450e0b8ff47e3" /><Relationship Type="http://schemas.openxmlformats.org/officeDocument/2006/relationships/notesSlide" Target="/ppt/notesSlides/notesSlide166.xml" Id="R723bf007ad204163"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6.xml" Id="R1974c65675bc4141" /><Relationship Type="http://schemas.openxmlformats.org/officeDocument/2006/relationships/notesSlide" Target="/ppt/notesSlides/notesSlide167.xml" Id="R4799a30e41a345c4"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6.xml" Id="R0ad50d2b400446ea" /><Relationship Type="http://schemas.openxmlformats.org/officeDocument/2006/relationships/notesSlide" Target="/ppt/notesSlides/notesSlide168.xml" Id="R9bb65208084a47ae"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6.xml" Id="R753bbb0681a94fd5" /><Relationship Type="http://schemas.openxmlformats.org/officeDocument/2006/relationships/notesSlide" Target="/ppt/notesSlides/notesSlide169.xml" Id="R6596cef94d0048d2"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6.xml" Id="Rcc140abb0d704d70" /><Relationship Type="http://schemas.openxmlformats.org/officeDocument/2006/relationships/notesSlide" Target="/ppt/notesSlides/notesSlide170.xml" Id="R80fab9e2d7664145"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6.xml" Id="R922bea1699db462e" /><Relationship Type="http://schemas.openxmlformats.org/officeDocument/2006/relationships/notesSlide" Target="/ppt/notesSlides/notesSlide171.xml" Id="Rd86e20f0c47a494a"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6.xml" Id="R00ba2dcf136a4c6a" /><Relationship Type="http://schemas.openxmlformats.org/officeDocument/2006/relationships/notesSlide" Target="/ppt/notesSlides/notesSlide172.xml" Id="Ra254d5dc89cd4d9d"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6.xml" Id="R47b371ce0b054ed3" /><Relationship Type="http://schemas.openxmlformats.org/officeDocument/2006/relationships/notesSlide" Target="/ppt/notesSlides/notesSlide173.xml" Id="Rc72f101d6c28446b"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6.xml" Id="R97f6ead637994c75" /><Relationship Type="http://schemas.openxmlformats.org/officeDocument/2006/relationships/notesSlide" Target="/ppt/notesSlides/notesSlide174.xml" Id="R8bf8d3310ea44ea7"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6.xml" Id="Rcbd04db1aeb3458d" /><Relationship Type="http://schemas.openxmlformats.org/officeDocument/2006/relationships/notesSlide" Target="/ppt/notesSlides/notesSlide175.xml" Id="R42d4efd3b43d444b" /></Relationships>
</file>

<file path=ppt/slides/slide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DB6576-EC92-45ED-8BE2-F690B667BD6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GROWTH AI / TS ORGANIZATION-NATIVE AI</a:t>
            </a:r>
          </a:p>
        </p:txBody>
      </p:sp>
      <p:sp>
        <p:nvSpPr>
          <p:cNvPr id="2" name="">
            <a:extLst xmlns:a="http://schemas.openxmlformats.org/drawingml/2006/main">
              <a:ext uri="{FF2B5EF4-FFF2-40B4-BE49-F238E27FC236}">
                <a16:creationId xmlns:a16="http://schemas.microsoft.com/office/drawing/2014/main" id="{E91CD4DA-55C6-4576-B718-F3AE116785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AI 플랫폼 구축 사례집</a:t>
            </a:r>
          </a:p>
        </p:txBody>
      </p:sp>
      <p:sp>
        <p:nvSpPr>
          <p:cNvPr id="3" name="">
            <a:extLst xmlns:a="http://schemas.openxmlformats.org/drawingml/2006/main">
              <a:ext uri="{FF2B5EF4-FFF2-40B4-BE49-F238E27FC236}">
                <a16:creationId xmlns:a16="http://schemas.microsoft.com/office/drawing/2014/main" id="{4C6F0397-723F-444D-A6E5-BC97EFAA61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A560D8F-EF9D-4CA2-A1A4-06C2E886D66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6B9DCEA-84DE-4FCC-B028-21380D1485B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01</a:t>
            </a:r>
          </a:p>
        </p:txBody>
      </p:sp>
      <p:sp>
        <p:nvSpPr>
          <p:cNvPr id="6" name="">
            <a:extLst xmlns:a="http://schemas.openxmlformats.org/drawingml/2006/main">
              <a:ext uri="{FF2B5EF4-FFF2-40B4-BE49-F238E27FC236}">
                <a16:creationId xmlns:a16="http://schemas.microsoft.com/office/drawing/2014/main" id="{01798A34-828A-491D-B4C5-0B9EE69AE1C0}"/>
              </a:ext>
            </a:extLst>
          </p:cNvPr>
          <p:cNvSpPr>
            <a:spLocks xmlns:a="http://schemas.openxmlformats.org/drawingml/2006/main" noGrp="1"/>
          </p:cNvSpPr>
          <p:nvPr/>
        </p:nvSpPr>
        <p:spPr>
          <a:xfrm xmlns:a="http://schemas.openxmlformats.org/drawingml/2006/main">
            <a:off x="571500" y="24765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42634B"/>
                </a:solidFill>
                <a:latin typeface="Pretendard"/>
                <a:ea typeface="Pretendard"/>
                <a:cs typeface="Pretendard"/>
              </a:defRPr>
            </a:defPPr>
          </a:lstStyle>
          <a:p xmlns:a="http://schemas.openxmlformats.org/drawingml/2006/main">
            <a:pPr>
              <a:defRPr sz="3000" b="1">
                <a:solidFill>
                  <a:srgbClr val="42634B"/>
                </a:solidFill>
                <a:latin typeface="Pretendard"/>
                <a:ea typeface="Pretendard"/>
                <a:cs typeface="Pretendard"/>
              </a:defRPr>
            </a:pPr>
            <a:r>
              <a:rPr sz="3000" b="1">
                <a:solidFill>
                  <a:srgbClr val="42634B"/>
                </a:solidFill>
                <a:latin typeface="Pretendard"/>
                <a:ea typeface="Pretendard"/>
                <a:cs typeface="Pretendard"/>
              </a:rPr>
              <a:t>조직 기반과 업무 서비스의 구성</a:t>
            </a:r>
          </a:p>
        </p:txBody>
      </p:sp>
      <p:sp>
        <p:nvSpPr>
          <p:cNvPr id="7" name="">
            <a:extLst xmlns:a="http://schemas.openxmlformats.org/drawingml/2006/main">
              <a:ext uri="{FF2B5EF4-FFF2-40B4-BE49-F238E27FC236}">
                <a16:creationId xmlns:a16="http://schemas.microsoft.com/office/drawing/2014/main" id="{507C190E-A2DA-460C-8931-2EB990A551BE}"/>
              </a:ext>
            </a:extLst>
          </p:cNvPr>
          <p:cNvSpPr>
            <a:spLocks xmlns:a="http://schemas.openxmlformats.org/drawingml/2006/main" noGrp="1"/>
          </p:cNvSpPr>
          <p:nvPr/>
        </p:nvSpPr>
        <p:spPr>
          <a:xfrm xmlns:a="http://schemas.openxmlformats.org/drawingml/2006/main">
            <a:off x="571500" y="4000500"/>
            <a:ext cx="1104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8352B"/>
                </a:solidFill>
                <a:latin typeface="Pretendard"/>
                <a:ea typeface="Pretendard"/>
                <a:cs typeface="Pretendard"/>
              </a:defRPr>
            </a:defPPr>
          </a:lstStyle>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31개 상세 사례 / RFP 확보 10개</a:t>
            </a:r>
          </a:p>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원문 자료 19개 / 세부 서비스·데이터·예외 흐름</a:t>
            </a:r>
          </a:p>
        </p:txBody>
      </p:sp>
      <p:sp>
        <p:nvSpPr>
          <p:cNvPr id="8" name="">
            <a:extLst xmlns:a="http://schemas.openxmlformats.org/drawingml/2006/main">
              <a:ext uri="{FF2B5EF4-FFF2-40B4-BE49-F238E27FC236}">
                <a16:creationId xmlns:a16="http://schemas.microsoft.com/office/drawing/2014/main" id="{83320C69-B212-4767-B3FA-30971B88BA3A}"/>
              </a:ext>
            </a:extLst>
          </p:cNvPr>
          <p:cNvSpPr>
            <a:spLocks xmlns:a="http://schemas.openxmlformats.org/drawingml/2006/main" noGrp="1"/>
          </p:cNvSpPr>
          <p:nvPr/>
        </p:nvSpPr>
        <p:spPr>
          <a:xfrm xmlns:a="http://schemas.openxmlformats.org/drawingml/2006/main">
            <a:off x="571500" y="556260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687369"/>
                </a:solidFill>
                <a:latin typeface="Pretendard"/>
                <a:ea typeface="Pretendard"/>
                <a:cs typeface="Pretendard"/>
              </a:defRPr>
            </a:defPPr>
          </a:lstStyle>
          <a:p xmlns:a="http://schemas.openxmlformats.org/drawingml/2006/main">
            <a:pPr>
              <a:defRPr sz="1575" b="0">
                <a:solidFill>
                  <a:srgbClr val="687369"/>
                </a:solidFill>
                <a:latin typeface="Pretendard"/>
                <a:ea typeface="Pretendard"/>
                <a:cs typeface="Pretendard"/>
              </a:defRPr>
            </a:pPr>
            <a:r>
              <a:rPr sz="1575" b="0">
                <a:solidFill>
                  <a:srgbClr val="687369"/>
                </a:solidFill>
                <a:latin typeface="Pretendard"/>
                <a:ea typeface="Pretendard"/>
                <a:cs typeface="Pretendard"/>
              </a:rPr>
              <a:t>공개자료·RFP 기반 CCK 분석 및 적용 설계</a:t>
            </a:r>
          </a:p>
        </p:txBody>
      </p:sp>
    </p:spTree>
    <p:extLst>
      <p:ext uri="{BB962C8B-B14F-4D97-AF65-F5344CB8AC3E}">
        <p14:creationId xmlns:p14="http://schemas.microsoft.com/office/powerpoint/2010/main" val="393971426"/>
      </p:ext>
    </p:extLst>
  </p:cSld>
</p:sld>
</file>

<file path=ppt/slides/slide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AD2CB0B-8D36-437A-B909-59181B9EF65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RFP 확인 / 실제 운영·검수 미확인 / 국내</a:t>
            </a:r>
          </a:p>
        </p:txBody>
      </p:sp>
      <p:sp>
        <p:nvSpPr>
          <p:cNvPr id="2" name="">
            <a:extLst xmlns:a="http://schemas.openxmlformats.org/drawingml/2006/main">
              <a:ext uri="{FF2B5EF4-FFF2-40B4-BE49-F238E27FC236}">
                <a16:creationId xmlns:a16="http://schemas.microsoft.com/office/drawing/2014/main" id="{750C1CB1-38B7-4B33-B091-1E7619A7B29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a:t>
            </a:r>
          </a:p>
        </p:txBody>
      </p:sp>
      <p:sp>
        <p:nvSpPr>
          <p:cNvPr id="3" name="">
            <a:extLst xmlns:a="http://schemas.openxmlformats.org/drawingml/2006/main">
              <a:ext uri="{FF2B5EF4-FFF2-40B4-BE49-F238E27FC236}">
                <a16:creationId xmlns:a16="http://schemas.microsoft.com/office/drawing/2014/main" id="{06D41609-6FA3-4D4F-8DFE-C135A60F8A1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3835F6-99F8-40DB-A0E6-D7A0005CADF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82A3B16-27CD-4149-8EC9-5D750D8A9D1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02</a:t>
            </a:r>
          </a:p>
        </p:txBody>
      </p:sp>
      <p:sp>
        <p:nvSpPr>
          <p:cNvPr id="6" name="">
            <a:extLst xmlns:a="http://schemas.openxmlformats.org/drawingml/2006/main">
              <a:ext uri="{FF2B5EF4-FFF2-40B4-BE49-F238E27FC236}">
                <a16:creationId xmlns:a16="http://schemas.microsoft.com/office/drawing/2014/main" id="{8CF2EEC3-0874-4DF3-9513-7CC8895394A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591CB23-6084-4E5F-B540-072B304EE698}"/>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규정 검색, 전세보증 이행서류 심사, 민원 처리의 세 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무를 공통 AI 기반 위에 구성하는 사업. 심사자가 여러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서류의 주소·계약·보증정보를 맞춰 보는 과정과 민원 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당자가 관련 규정·과거 답변을 찾는 과정을 각각 지원하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범위.</a:t>
            </a:r>
          </a:p>
        </p:txBody>
      </p:sp>
      <p:sp>
        <p:nvSpPr>
          <p:cNvPr id="8" name="">
            <a:extLst xmlns:a="http://schemas.openxmlformats.org/drawingml/2006/main">
              <a:ext uri="{FF2B5EF4-FFF2-40B4-BE49-F238E27FC236}">
                <a16:creationId xmlns:a16="http://schemas.microsoft.com/office/drawing/2014/main" id="{D9A2443B-D583-4AD1-A47D-1C4647D62C8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A3E2A69-9FA8-495C-919C-D397EA5FB2A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SFR-007의 핵심은 OCR 도입을 넘어 업무 건별 서류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묶음, 원본 위치와 추출값의 연결, 서류 간 비교, 심사자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수정·승인, 승인값의 후속 전달까지 이어지는 처리 구조.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검색용 청크와 심사용 구조화 항목을 별도 데이터로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리하는 설계 필요.</a:t>
            </a:r>
          </a:p>
        </p:txBody>
      </p:sp>
      <p:sp>
        <p:nvSpPr>
          <p:cNvPr id="10" name="">
            <a:extLst xmlns:a="http://schemas.openxmlformats.org/drawingml/2006/main">
              <a:ext uri="{FF2B5EF4-FFF2-40B4-BE49-F238E27FC236}">
                <a16:creationId xmlns:a16="http://schemas.microsoft.com/office/drawing/2014/main" id="{AD8EC545-1048-4655-A730-E6179B11B40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1655E20-F0BC-40DD-9F84-67B655D509D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원문 인식률만으로 심사 지원 품질을 평가하기 어려운 구조.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문서 종류별 항목 추출, 다른 서류 간 정합성 판정, 누락 탐지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사람 확인 후 전달을 단계별로 분리해 비교할 대상. TS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사·인증 서류에도 사건 ID와 원본 좌표를 유지하는 방식의 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용 가능성.</a:t>
            </a:r>
          </a:p>
        </p:txBody>
      </p:sp>
      <p:sp>
        <p:nvSpPr>
          <p:cNvPr id="12" name="">
            <a:extLst xmlns:a="http://schemas.openxmlformats.org/drawingml/2006/main">
              <a:ext uri="{FF2B5EF4-FFF2-40B4-BE49-F238E27FC236}">
                <a16:creationId xmlns:a16="http://schemas.microsoft.com/office/drawing/2014/main" id="{3DE4BA63-BEB8-4FAA-95CD-393B8C22F10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3750D82-4869-463C-B9C5-4EB1EC9B992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서류 종류·필수항목 사전 / 추출값–원본 좌표 / 사건별 비교 규</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칙</a:t>
            </a:r>
          </a:p>
        </p:txBody>
      </p:sp>
      <p:sp>
        <p:nvSpPr>
          <p:cNvPr id="14" name="">
            <a:extLst xmlns:a="http://schemas.openxmlformats.org/drawingml/2006/main">
              <a:ext uri="{FF2B5EF4-FFF2-40B4-BE49-F238E27FC236}">
                <a16:creationId xmlns:a16="http://schemas.microsoft.com/office/drawing/2014/main" id="{61B675F7-8E73-4DD8-BFA4-21993E89088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F302AB4-A178-4CC5-A321-15E19C5C5AD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저화질·누락·다른 사건 서류 주입 후 원본 대조·판정 보류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확인</a:t>
            </a:r>
          </a:p>
        </p:txBody>
      </p:sp>
      <p:sp>
        <p:nvSpPr>
          <p:cNvPr id="16" name="">
            <a:extLst xmlns:a="http://schemas.openxmlformats.org/drawingml/2006/main">
              <a:ext uri="{FF2B5EF4-FFF2-40B4-BE49-F238E27FC236}">
                <a16:creationId xmlns:a16="http://schemas.microsoft.com/office/drawing/2014/main" id="{24AFCFBD-7278-461F-978B-D8B74AF6473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F662973-BD1E-4E45-85CF-228D460595C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심사 검토시간 / 필수 항목 누락률 / 재보완 횟수</a:t>
            </a:r>
          </a:p>
        </p:txBody>
      </p:sp>
      <p:sp>
        <p:nvSpPr>
          <p:cNvPr id="18" name="">
            <a:extLst xmlns:a="http://schemas.openxmlformats.org/drawingml/2006/main">
              <a:ext uri="{FF2B5EF4-FFF2-40B4-BE49-F238E27FC236}">
                <a16:creationId xmlns:a16="http://schemas.microsoft.com/office/drawing/2014/main" id="{73AA7642-9C93-4F35-B9A6-313B2ED09F4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전세보증과 TS 전세버스는 업무 기준이 다름. 공통 기능만 이식 가능</a:t>
            </a:r>
          </a:p>
        </p:txBody>
      </p:sp>
    </p:spTree>
    <p:extLst>
      <p:ext uri="{BB962C8B-B14F-4D97-AF65-F5344CB8AC3E}">
        <p14:creationId xmlns:p14="http://schemas.microsoft.com/office/powerpoint/2010/main" val="1667693386"/>
      </p:ext>
    </p:extLst>
  </p:cSld>
</p:sld>
</file>

<file path=ppt/slides/slide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0E5B6C-3F70-4825-B04E-A42E38B72B9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본공고 RFP · SFR-006~008 / 1–3</a:t>
            </a:r>
          </a:p>
        </p:txBody>
      </p:sp>
      <p:sp>
        <p:nvSpPr>
          <p:cNvPr id="2" name="">
            <a:extLst xmlns:a="http://schemas.openxmlformats.org/drawingml/2006/main">
              <a:ext uri="{FF2B5EF4-FFF2-40B4-BE49-F238E27FC236}">
                <a16:creationId xmlns:a16="http://schemas.microsoft.com/office/drawing/2014/main" id="{FDCE4A02-C7B6-4C5A-BE8B-1634E896263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RFP 요구사항</a:t>
            </a:r>
          </a:p>
        </p:txBody>
      </p:sp>
      <p:sp>
        <p:nvSpPr>
          <p:cNvPr id="3" name="">
            <a:extLst xmlns:a="http://schemas.openxmlformats.org/drawingml/2006/main">
              <a:ext uri="{FF2B5EF4-FFF2-40B4-BE49-F238E27FC236}">
                <a16:creationId xmlns:a16="http://schemas.microsoft.com/office/drawing/2014/main" id="{57E3D14E-779B-4949-AE66-6AF2EE275F9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4549F4-9C98-4F55-B80A-02092AF21B4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3BDEBDD-9432-4B2A-B909-2CF079E460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03</a:t>
            </a:r>
          </a:p>
        </p:txBody>
      </p:sp>
      <p:sp>
        <p:nvSpPr>
          <p:cNvPr id="6" name="">
            <a:extLst xmlns:a="http://schemas.openxmlformats.org/drawingml/2006/main">
              <a:ext uri="{FF2B5EF4-FFF2-40B4-BE49-F238E27FC236}">
                <a16:creationId xmlns:a16="http://schemas.microsoft.com/office/drawing/2014/main" id="{E573CE63-0789-426A-A380-A5BF01FFD569}"/>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07FE5F2-8C89-4980-918F-3DB5D3BFE89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AI 서비스_직원용 지식검색</a:t>
            </a:r>
          </a:p>
        </p:txBody>
      </p:sp>
      <p:sp>
        <p:nvSpPr>
          <p:cNvPr id="8" name="">
            <a:extLst xmlns:a="http://schemas.openxmlformats.org/drawingml/2006/main">
              <a:ext uri="{FF2B5EF4-FFF2-40B4-BE49-F238E27FC236}">
                <a16:creationId xmlns:a16="http://schemas.microsoft.com/office/drawing/2014/main" id="{B9A8C760-A16A-49EA-A510-7F4FA45D5C40}"/>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규정·매뉴얼·판례의 구조를 추출하고 키워드·문맥 검색을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결합하는 직원용 지식검색. 승인 문서의 판본·개정일·보안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등급 관리와 근거 조항·페이지 제공.</a:t>
            </a:r>
          </a:p>
        </p:txBody>
      </p:sp>
      <p:sp>
        <p:nvSpPr>
          <p:cNvPr id="9" name="">
            <a:extLst xmlns:a="http://schemas.openxmlformats.org/drawingml/2006/main">
              <a:ext uri="{FF2B5EF4-FFF2-40B4-BE49-F238E27FC236}">
                <a16:creationId xmlns:a16="http://schemas.microsoft.com/office/drawing/2014/main" id="{8EF23EFB-4BEC-4C2A-A15A-46255638C824}"/>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표·각주 포함 문서, 개정·삭제 문서, 다른 보안등급 문서를 투</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입해 인용 위치·최신성·검색 제외 여부 대사</a:t>
            </a:r>
          </a:p>
        </p:txBody>
      </p:sp>
      <p:sp>
        <p:nvSpPr>
          <p:cNvPr id="10" name="">
            <a:extLst xmlns:a="http://schemas.openxmlformats.org/drawingml/2006/main">
              <a:ext uri="{FF2B5EF4-FFF2-40B4-BE49-F238E27FC236}">
                <a16:creationId xmlns:a16="http://schemas.microsoft.com/office/drawing/2014/main" id="{425B835D-CA55-409B-A03F-F01C8818F87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3F9E9D-D98E-4309-B299-78A6D13EB8E2}"/>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AI 서비스_전세이행 업무지원</a:t>
            </a:r>
          </a:p>
        </p:txBody>
      </p:sp>
      <p:sp>
        <p:nvSpPr>
          <p:cNvPr id="12" name="">
            <a:extLst xmlns:a="http://schemas.openxmlformats.org/drawingml/2006/main">
              <a:ext uri="{FF2B5EF4-FFF2-40B4-BE49-F238E27FC236}">
                <a16:creationId xmlns:a16="http://schemas.microsoft.com/office/drawing/2014/main" id="{CB9ECF85-DA1E-45BF-9658-8BB967F03ACB}"/>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건별 제출서류 묶음과 OCR/VLM 추출값 관리. 원본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좌표 표시, 필드 수정, 유효기간·누락·서류 간 일치 검사,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심사표 생성, 승인값의 후속 전달.</a:t>
            </a:r>
          </a:p>
        </p:txBody>
      </p:sp>
      <p:sp>
        <p:nvSpPr>
          <p:cNvPr id="13" name="">
            <a:extLst xmlns:a="http://schemas.openxmlformats.org/drawingml/2006/main">
              <a:ext uri="{FF2B5EF4-FFF2-40B4-BE49-F238E27FC236}">
                <a16:creationId xmlns:a16="http://schemas.microsoft.com/office/drawing/2014/main" id="{4145C4CF-AC78-4B80-BDD4-D7115B81E4AE}"/>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흐린 스캔·다른 주소·누락 서류를 투입해 경고와 원본 위치 확</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 미승인 값의 전달 차단 확인</a:t>
            </a:r>
          </a:p>
        </p:txBody>
      </p:sp>
      <p:sp>
        <p:nvSpPr>
          <p:cNvPr id="14" name="">
            <a:extLst xmlns:a="http://schemas.openxmlformats.org/drawingml/2006/main">
              <a:ext uri="{FF2B5EF4-FFF2-40B4-BE49-F238E27FC236}">
                <a16:creationId xmlns:a16="http://schemas.microsoft.com/office/drawing/2014/main" id="{EBA17FD6-E469-4F76-A68F-7E6FD9F783AD}"/>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09DEF4-9993-4A06-B304-9EC4AD603A66}"/>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AI 서비스_지능형 민원처리 시스템</a:t>
            </a:r>
          </a:p>
        </p:txBody>
      </p:sp>
      <p:sp>
        <p:nvSpPr>
          <p:cNvPr id="16" name="">
            <a:extLst xmlns:a="http://schemas.openxmlformats.org/drawingml/2006/main">
              <a:ext uri="{FF2B5EF4-FFF2-40B4-BE49-F238E27FC236}">
                <a16:creationId xmlns:a16="http://schemas.microsoft.com/office/drawing/2014/main" id="{5E663218-FDE0-4D67-A1B7-34801DCC6310}"/>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 부서 후보 추천, 유사민원 검색, 답변 초안·요약 제공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사용자의 부서 선택·답변 확정과 담당 부서의 FAQ 후보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a:t>
            </a:r>
          </a:p>
        </p:txBody>
      </p:sp>
      <p:sp>
        <p:nvSpPr>
          <p:cNvPr id="17" name="">
            <a:extLst xmlns:a="http://schemas.openxmlformats.org/drawingml/2006/main">
              <a:ext uri="{FF2B5EF4-FFF2-40B4-BE49-F238E27FC236}">
                <a16:creationId xmlns:a16="http://schemas.microsoft.com/office/drawing/2014/main" id="{584400BF-3530-46A9-A4C7-BE357B229388}"/>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다부서 민원·유사사례 없음·FAQ 중복 입력 시 후보와 규정 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체 근거, 확정 전후 변경 이력 대사</a:t>
            </a:r>
          </a:p>
        </p:txBody>
      </p:sp>
    </p:spTree>
    <p:extLst>
      <p:ext uri="{BB962C8B-B14F-4D97-AF65-F5344CB8AC3E}">
        <p14:creationId xmlns:p14="http://schemas.microsoft.com/office/powerpoint/2010/main" val="379493316"/>
      </p:ext>
    </p:extLst>
  </p:cSld>
</p:sld>
</file>

<file path=ppt/slides/slide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A30EC-594F-441B-B907-CB292BAC570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RFP 목표 구성도 / RFP 원문 추출</a:t>
            </a:r>
          </a:p>
        </p:txBody>
      </p:sp>
      <p:sp>
        <p:nvSpPr>
          <p:cNvPr id="2" name="">
            <a:extLst xmlns:a="http://schemas.openxmlformats.org/drawingml/2006/main">
              <a:ext uri="{FF2B5EF4-FFF2-40B4-BE49-F238E27FC236}">
                <a16:creationId xmlns:a16="http://schemas.microsoft.com/office/drawing/2014/main" id="{54FCBA9F-2894-4EBB-A8BA-C7F9042055C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AI 인프라·업무시스템 연계</a:t>
            </a:r>
          </a:p>
        </p:txBody>
      </p:sp>
      <p:sp>
        <p:nvSpPr>
          <p:cNvPr id="3" name="">
            <a:extLst xmlns:a="http://schemas.openxmlformats.org/drawingml/2006/main">
              <a:ext uri="{FF2B5EF4-FFF2-40B4-BE49-F238E27FC236}">
                <a16:creationId xmlns:a16="http://schemas.microsoft.com/office/drawing/2014/main" id="{24F021E7-E2B5-42A2-8332-F45D9FD512C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AB2F05-B492-4C29-8045-797DA06787B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AB4A819-A73E-4664-A7EF-A45FD93A9E4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04</a:t>
            </a:r>
          </a:p>
        </p:txBody>
      </p:sp>
      <p:pic>
        <p:nvPicPr>
          <p:cNvPr id="6" name="">
            <a:extLst xmlns:a="http://schemas.openxmlformats.org/drawingml/2006/main">
              <a:ext uri="{FF2B5EF4-FFF2-40B4-BE49-F238E27FC236}">
                <a16:creationId xmlns:a16="http://schemas.microsoft.com/office/drawing/2014/main" id="{AD7A587C-24F1-4E87-AF76-539153EE7076}"/>
              </a:ext>
            </a:extLst>
          </p:cNvPr>
          <p:cNvPicPr>
            <a:picLocks xmlns:a="http://schemas.openxmlformats.org/drawingml/2006/main" noChangeAspect="1"/>
          </p:cNvPicPr>
          <p:nvPr/>
        </p:nvPicPr>
        <p:blipFill>
          <a:blip xmlns:r="http://schemas.openxmlformats.org/officeDocument/2006/relationships" xmlns:a="http://schemas.openxmlformats.org/drawingml/2006/main" r:embed="Rf39ddc2b15c04a60"/>
          <a:stretch xmlns:a="http://schemas.openxmlformats.org/drawingml/2006/main"/>
        </p:blipFill>
        <p:spPr>
          <a:xfrm xmlns:a="http://schemas.openxmlformats.org/drawingml/2006/main">
            <a:off x="3296920" y="1657350"/>
            <a:ext cx="55981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9DC1EE7-64E9-429E-B0F4-92266B485DF5}"/>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통합 클라우드·GPU Kubernetes·AI 웹서비스·그룹웨어 연계</a:t>
            </a:r>
          </a:p>
        </p:txBody>
      </p:sp>
    </p:spTree>
    <p:extLst>
      <p:ext uri="{BB962C8B-B14F-4D97-AF65-F5344CB8AC3E}">
        <p14:creationId xmlns:p14="http://schemas.microsoft.com/office/powerpoint/2010/main" val="256682741"/>
      </p:ext>
    </p:extLst>
  </p:cSld>
</p:sld>
</file>

<file path=ppt/slides/slide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2252C78-B89E-47A4-BF97-37B9EE5DC40D}"/>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87AC745-B3B1-4F73-A9D1-4A140CF1D8C2}"/>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C1FC133-E7DF-45C6-A96F-8B6B740DCFC6}"/>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5ED2424-4C84-4A36-B411-2DC651ADC8C6}"/>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FBB866C1-3F90-40D8-84EB-F97DA6EBEE1D}"/>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8AD9A34A-DBF9-4EE2-82A2-2D80B6AE08E3}"/>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559A21CD-131E-4C96-987F-D911000D306F}"/>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0309AB6B-32CE-4B41-948E-5BDD96693D4C}"/>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E8ACD68B-5472-489F-918D-4062D1F358B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A70E43EF-8C63-497D-80A9-0953F3655D5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원문 추출·대조·사람 확정</a:t>
            </a:r>
          </a:p>
        </p:txBody>
      </p:sp>
      <p:sp>
        <p:nvSpPr>
          <p:cNvPr id="2" name="">
            <a:extLst xmlns:a="http://schemas.openxmlformats.org/drawingml/2006/main">
              <a:ext uri="{FF2B5EF4-FFF2-40B4-BE49-F238E27FC236}">
                <a16:creationId xmlns:a16="http://schemas.microsoft.com/office/drawing/2014/main" id="{C277A1D7-3E12-45AE-A02E-E91BC5F33FE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세부 서비스 구조</a:t>
            </a:r>
          </a:p>
        </p:txBody>
      </p:sp>
      <p:sp>
        <p:nvSpPr>
          <p:cNvPr id="3" name="">
            <a:extLst xmlns:a="http://schemas.openxmlformats.org/drawingml/2006/main">
              <a:ext uri="{FF2B5EF4-FFF2-40B4-BE49-F238E27FC236}">
                <a16:creationId xmlns:a16="http://schemas.microsoft.com/office/drawing/2014/main" id="{9FD66171-6B51-473D-9EC2-51FD098107C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D588BC-6BF4-4B5D-8C1A-138D0BE293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BB5258F-E586-46CE-83E6-F01364B5D73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05</a:t>
            </a:r>
          </a:p>
        </p:txBody>
      </p:sp>
      <p:sp>
        <p:nvSpPr>
          <p:cNvPr id="6" name="">
            <a:extLst xmlns:a="http://schemas.openxmlformats.org/drawingml/2006/main">
              <a:ext uri="{FF2B5EF4-FFF2-40B4-BE49-F238E27FC236}">
                <a16:creationId xmlns:a16="http://schemas.microsoft.com/office/drawing/2014/main" id="{40367EDF-0B1A-4CBD-800D-20712A0F5D8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보증 서류 → OCR·원본 대조 → 규칙·누락 검토 → 담당자 확정</a:t>
            </a:r>
          </a:p>
        </p:txBody>
      </p:sp>
      <p:sp>
        <p:nvSpPr>
          <p:cNvPr id="7" name="">
            <a:extLst xmlns:a="http://schemas.openxmlformats.org/drawingml/2006/main">
              <a:ext uri="{FF2B5EF4-FFF2-40B4-BE49-F238E27FC236}">
                <a16:creationId xmlns:a16="http://schemas.microsoft.com/office/drawing/2014/main" id="{D584BB1C-0288-4994-83C2-255ECE63780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5E1C058-E09C-46E6-8362-7280ABC884B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50778EDC-2A31-4D94-9631-2239B74A59A1}"/>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직원·문서 접점</a:t>
            </a:r>
          </a:p>
        </p:txBody>
      </p:sp>
      <p:sp>
        <p:nvSpPr>
          <p:cNvPr id="10" name="">
            <a:extLst xmlns:a="http://schemas.openxmlformats.org/drawingml/2006/main">
              <a:ext uri="{FF2B5EF4-FFF2-40B4-BE49-F238E27FC236}">
                <a16:creationId xmlns:a16="http://schemas.microsoft.com/office/drawing/2014/main" id="{4263D78B-6992-4DE7-88C5-51B7993B42D7}"/>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638A448-2FD7-4918-B5A5-AB7A2004D01B}"/>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DD4212AE-2A35-41F1-B6F3-85D3B37DD939}"/>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OCR·VLM 추출</a:t>
            </a:r>
          </a:p>
        </p:txBody>
      </p:sp>
      <p:sp>
        <p:nvSpPr>
          <p:cNvPr id="13" name="">
            <a:extLst xmlns:a="http://schemas.openxmlformats.org/drawingml/2006/main">
              <a:ext uri="{FF2B5EF4-FFF2-40B4-BE49-F238E27FC236}">
                <a16:creationId xmlns:a16="http://schemas.microsoft.com/office/drawing/2014/main" id="{F12A999D-D4A0-4D00-BD75-1A8C8E43E327}"/>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A89F5DC-5FFC-44E6-92FC-B73DBECEDF6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CDE3C035-437E-46F6-82EB-2A215B154A90}"/>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누락·정합성 비교</a:t>
            </a:r>
          </a:p>
        </p:txBody>
      </p:sp>
      <p:sp>
        <p:nvSpPr>
          <p:cNvPr id="16" name="">
            <a:extLst xmlns:a="http://schemas.openxmlformats.org/drawingml/2006/main">
              <a:ext uri="{FF2B5EF4-FFF2-40B4-BE49-F238E27FC236}">
                <a16:creationId xmlns:a16="http://schemas.microsoft.com/office/drawing/2014/main" id="{BE5D673D-ADDE-4578-BCFB-DA2F8336FC18}"/>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2CCA87B-61B7-4EDD-87C1-2E6D6B2A074F}"/>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110459EE-C96D-4D42-8CCE-7E4F59F1F0C4}"/>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원본·값 사람 확인</a:t>
            </a:r>
          </a:p>
        </p:txBody>
      </p:sp>
      <p:sp>
        <p:nvSpPr>
          <p:cNvPr id="19" name="">
            <a:extLst xmlns:a="http://schemas.openxmlformats.org/drawingml/2006/main">
              <a:ext uri="{FF2B5EF4-FFF2-40B4-BE49-F238E27FC236}">
                <a16:creationId xmlns:a16="http://schemas.microsoft.com/office/drawing/2014/main" id="{7A3BEFFB-6422-47D9-AD3E-C0DEC0CEAD10}"/>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B95AFF3-944F-499F-A11B-FD5EB2E654FC}"/>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8E73FFDC-F5EB-4FB0-A7C6-D3A3A053F43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심사·민원 초안</a:t>
            </a:r>
          </a:p>
        </p:txBody>
      </p:sp>
      <p:sp>
        <p:nvSpPr>
          <p:cNvPr id="22" name="">
            <a:extLst xmlns:a="http://schemas.openxmlformats.org/drawingml/2006/main">
              <a:ext uri="{FF2B5EF4-FFF2-40B4-BE49-F238E27FC236}">
                <a16:creationId xmlns:a16="http://schemas.microsoft.com/office/drawing/2014/main" id="{1622F5A1-62D0-4FC9-A095-A8217EAB41E5}"/>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8F13260-4410-4A10-ACC5-0EDE4F90A215}"/>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3D2357D8-2964-46EC-ABC7-101CB996C778}"/>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이행서류·규정</a:t>
            </a:r>
          </a:p>
        </p:txBody>
      </p:sp>
      <p:sp>
        <p:nvSpPr>
          <p:cNvPr id="25" name="">
            <a:extLst xmlns:a="http://schemas.openxmlformats.org/drawingml/2006/main">
              <a:ext uri="{FF2B5EF4-FFF2-40B4-BE49-F238E27FC236}">
                <a16:creationId xmlns:a16="http://schemas.microsoft.com/office/drawing/2014/main" id="{8FDCA39B-C7CD-4129-8F39-66F61289152B}"/>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C7B35F69-1E06-48CB-AC39-F2E0E6F065E4}"/>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6070C9C6-F54A-4742-81CD-847A6CF64044}"/>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좌표·판본·승인태그</a:t>
            </a:r>
          </a:p>
        </p:txBody>
      </p:sp>
      <p:sp>
        <p:nvSpPr>
          <p:cNvPr id="28" name="">
            <a:extLst xmlns:a="http://schemas.openxmlformats.org/drawingml/2006/main">
              <a:ext uri="{FF2B5EF4-FFF2-40B4-BE49-F238E27FC236}">
                <a16:creationId xmlns:a16="http://schemas.microsoft.com/office/drawing/2014/main" id="{56CF4D6C-62D2-4C56-B87D-5122DEB9DC65}"/>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D812FBE-03DF-4AF1-97A6-92EA13EC357C}"/>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16B223C2-8E5D-4BA5-A420-F03ECA9F30F4}"/>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문서·규정 조회</a:t>
            </a:r>
          </a:p>
        </p:txBody>
      </p:sp>
      <p:sp>
        <p:nvSpPr>
          <p:cNvPr id="31" name="">
            <a:extLst xmlns:a="http://schemas.openxmlformats.org/drawingml/2006/main">
              <a:ext uri="{FF2B5EF4-FFF2-40B4-BE49-F238E27FC236}">
                <a16:creationId xmlns:a16="http://schemas.microsoft.com/office/drawing/2014/main" id="{F1C53AAB-313E-4CB2-A74A-06B31956483F}"/>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C36C8B1E-C8DF-4C06-AE10-AC807ADF6BFB}"/>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5F386C3-A037-4F7F-92D0-96D00A448918}"/>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원본·추출값·색인</a:t>
            </a:r>
          </a:p>
        </p:txBody>
      </p:sp>
      <p:sp>
        <p:nvSpPr>
          <p:cNvPr id="34" name="">
            <a:extLst xmlns:a="http://schemas.openxmlformats.org/drawingml/2006/main">
              <a:ext uri="{FF2B5EF4-FFF2-40B4-BE49-F238E27FC236}">
                <a16:creationId xmlns:a16="http://schemas.microsoft.com/office/drawing/2014/main" id="{1C06EFB5-8A9D-44D6-967C-8971F6F434C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3BC9D9F-7CA1-4009-A02A-5F31BE6CB001}"/>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C4A8E4F2-E4AE-4097-8069-C644C200B770}"/>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항목별 오류 평가</a:t>
            </a:r>
          </a:p>
        </p:txBody>
      </p:sp>
      <p:sp>
        <p:nvSpPr>
          <p:cNvPr id="46" name="">
            <a:extLst xmlns:a="http://schemas.openxmlformats.org/drawingml/2006/main">
              <a:ext uri="{FF2B5EF4-FFF2-40B4-BE49-F238E27FC236}">
                <a16:creationId xmlns:a16="http://schemas.microsoft.com/office/drawing/2014/main" id="{C6461048-1517-484A-85B2-F8A359E01B1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38764499"/>
      </p:ext>
    </p:extLst>
  </p:cSld>
</p:sld>
</file>

<file path=ppt/slides/slide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C907159-AD0E-4EAC-9523-A19BF4B5F8B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논리 인터페이스·복구 설계</a:t>
            </a:r>
          </a:p>
        </p:txBody>
      </p:sp>
      <p:sp>
        <p:nvSpPr>
          <p:cNvPr id="2" name="">
            <a:extLst xmlns:a="http://schemas.openxmlformats.org/drawingml/2006/main">
              <a:ext uri="{FF2B5EF4-FFF2-40B4-BE49-F238E27FC236}">
                <a16:creationId xmlns:a16="http://schemas.microsoft.com/office/drawing/2014/main" id="{AF6FFFC8-322A-42A4-B46C-F9516FB2A0A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데이터와 예외 처리</a:t>
            </a:r>
          </a:p>
        </p:txBody>
      </p:sp>
      <p:sp>
        <p:nvSpPr>
          <p:cNvPr id="3" name="">
            <a:extLst xmlns:a="http://schemas.openxmlformats.org/drawingml/2006/main">
              <a:ext uri="{FF2B5EF4-FFF2-40B4-BE49-F238E27FC236}">
                <a16:creationId xmlns:a16="http://schemas.microsoft.com/office/drawing/2014/main" id="{68CC9176-46B3-4DC1-BF8F-0214222D92F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9F2069-CF5A-41B5-8D3C-C36B9C00F50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8A377AE-68C3-4808-80B2-1D89B6FFB6F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06</a:t>
            </a:r>
          </a:p>
        </p:txBody>
      </p:sp>
      <p:sp>
        <p:nvSpPr>
          <p:cNvPr id="6" name="">
            <a:extLst xmlns:a="http://schemas.openxmlformats.org/drawingml/2006/main">
              <a:ext uri="{FF2B5EF4-FFF2-40B4-BE49-F238E27FC236}">
                <a16:creationId xmlns:a16="http://schemas.microsoft.com/office/drawing/2014/main" id="{B6F6B986-14EA-4809-AAA8-D1D923E4768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EB0F874-2D14-43E3-A900-FDF05E20B8C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4CC52BB-1130-43C3-9129-C914D3ABE9F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CC67CD9A-07E2-4AD5-8EF8-5DC551F0216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원본·추출 항목</a:t>
            </a:r>
          </a:p>
        </p:txBody>
      </p:sp>
      <p:sp>
        <p:nvSpPr>
          <p:cNvPr id="10" name="">
            <a:extLst xmlns:a="http://schemas.openxmlformats.org/drawingml/2006/main">
              <a:ext uri="{FF2B5EF4-FFF2-40B4-BE49-F238E27FC236}">
                <a16:creationId xmlns:a16="http://schemas.microsoft.com/office/drawing/2014/main" id="{1AED1FA5-39A2-4989-BE44-2E1A4D3D579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490FF4D-79DE-4317-88E2-FFE85CFDAD33}"/>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A8B4D24A-005A-46C3-9D9A-5F9342D89F1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A240F296-9C0B-4625-8814-C8EA144982C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CFFBC5E-165F-4078-B1FB-797CC5D89C9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3668FBD8-DF7F-4F2D-9583-CE509550812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누락·불일치</a:t>
            </a:r>
          </a:p>
        </p:txBody>
      </p:sp>
      <p:sp>
        <p:nvSpPr>
          <p:cNvPr id="16" name="">
            <a:extLst xmlns:a="http://schemas.openxmlformats.org/drawingml/2006/main">
              <a:ext uri="{FF2B5EF4-FFF2-40B4-BE49-F238E27FC236}">
                <a16:creationId xmlns:a16="http://schemas.microsoft.com/office/drawing/2014/main" id="{E77F78BF-2E31-41DE-B37E-2E03C0133785}"/>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4F0978E-14E1-4C67-B5BB-297BAE3899C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5C24BA2F-C09D-4841-B46F-2C2C312A8D4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추출 항목</a:t>
            </a:r>
          </a:p>
        </p:txBody>
      </p:sp>
      <p:sp>
        <p:nvSpPr>
          <p:cNvPr id="19" name="">
            <a:extLst xmlns:a="http://schemas.openxmlformats.org/drawingml/2006/main">
              <a:ext uri="{FF2B5EF4-FFF2-40B4-BE49-F238E27FC236}">
                <a16:creationId xmlns:a16="http://schemas.microsoft.com/office/drawing/2014/main" id="{0D860E20-B130-4464-AE0F-ED33F272280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10885AC-7E7B-42A9-B02F-C42E2DE9498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ABBBCEAC-FE37-466A-82E8-7DDA775FA6C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누락·불일치</a:t>
            </a:r>
          </a:p>
        </p:txBody>
      </p:sp>
      <p:sp>
        <p:nvSpPr>
          <p:cNvPr id="22" name="">
            <a:extLst xmlns:a="http://schemas.openxmlformats.org/drawingml/2006/main">
              <a:ext uri="{FF2B5EF4-FFF2-40B4-BE49-F238E27FC236}">
                <a16:creationId xmlns:a16="http://schemas.microsoft.com/office/drawing/2014/main" id="{4CAF1BF7-526A-4C01-B0A3-324C7BA801BA}"/>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17FCFBA-F270-437B-A68B-6B65B19D285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D62BA3D2-166F-4EAF-9107-BB6905EA8BB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71F8B0C8-C80F-43B0-BFD5-F7B68778DDB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F627243-7266-4557-BE38-47D614BFC81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스캔 저화질·서명 누락·주소 불일치·다른 사건 서류</a:t>
            </a:r>
          </a:p>
        </p:txBody>
      </p:sp>
      <p:sp>
        <p:nvSpPr>
          <p:cNvPr id="27" name="">
            <a:extLst xmlns:a="http://schemas.openxmlformats.org/drawingml/2006/main">
              <a:ext uri="{FF2B5EF4-FFF2-40B4-BE49-F238E27FC236}">
                <a16:creationId xmlns:a16="http://schemas.microsoft.com/office/drawing/2014/main" id="{75B1F25D-94AF-4955-B888-09CE40A1DC7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32423D4-CD9E-41D4-B29B-FD9486016863}"/>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원본·추출값 대조와 자동 확정 제한</a:t>
            </a:r>
          </a:p>
        </p:txBody>
      </p:sp>
      <p:sp>
        <p:nvSpPr>
          <p:cNvPr id="29" name="">
            <a:extLst xmlns:a="http://schemas.openxmlformats.org/drawingml/2006/main">
              <a:ext uri="{FF2B5EF4-FFF2-40B4-BE49-F238E27FC236}">
                <a16:creationId xmlns:a16="http://schemas.microsoft.com/office/drawing/2014/main" id="{10285C0C-D4D1-456B-B5B9-F8844A9B3F3C}"/>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4CBBEEC-0190-4DC2-A216-F47812FA992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사람 확정값과 인식 오류를 품질 개선에 반영</a:t>
            </a:r>
          </a:p>
        </p:txBody>
      </p:sp>
      <p:sp>
        <p:nvSpPr>
          <p:cNvPr id="31" name="">
            <a:extLst xmlns:a="http://schemas.openxmlformats.org/drawingml/2006/main">
              <a:ext uri="{FF2B5EF4-FFF2-40B4-BE49-F238E27FC236}">
                <a16:creationId xmlns:a16="http://schemas.microsoft.com/office/drawing/2014/main" id="{E03DF63A-2C4A-414D-967E-6D76B167355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0702461-4A2E-4C37-9A3B-CB3080CC128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추출값–원본 좌표–불일치 판정–심사자 확정 추적표</a:t>
            </a:r>
          </a:p>
        </p:txBody>
      </p:sp>
    </p:spTree>
    <p:extLst>
      <p:ext uri="{BB962C8B-B14F-4D97-AF65-F5344CB8AC3E}">
        <p14:creationId xmlns:p14="http://schemas.microsoft.com/office/powerpoint/2010/main" val="636971186"/>
      </p:ext>
    </p:extLst>
  </p:cSld>
</p:sld>
</file>

<file path=ppt/slides/slide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F7AABB1-E6DA-4D19-8168-07E27B48BD8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PF-R01 / CCK 비교·재현 시험 설계</a:t>
            </a:r>
          </a:p>
        </p:txBody>
      </p:sp>
      <p:sp>
        <p:nvSpPr>
          <p:cNvPr id="2" name="">
            <a:extLst xmlns:a="http://schemas.openxmlformats.org/drawingml/2006/main">
              <a:ext uri="{FF2B5EF4-FFF2-40B4-BE49-F238E27FC236}">
                <a16:creationId xmlns:a16="http://schemas.microsoft.com/office/drawing/2014/main" id="{47B0BAB3-2730-4306-8F9C-6ECAB719CFD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HUG 문서·민원 AI · 벤치마킹</a:t>
            </a:r>
          </a:p>
        </p:txBody>
      </p:sp>
      <p:sp>
        <p:nvSpPr>
          <p:cNvPr id="3" name="">
            <a:extLst xmlns:a="http://schemas.openxmlformats.org/drawingml/2006/main">
              <a:ext uri="{FF2B5EF4-FFF2-40B4-BE49-F238E27FC236}">
                <a16:creationId xmlns:a16="http://schemas.microsoft.com/office/drawing/2014/main" id="{D7CDB89F-FEFB-4B31-8678-89298DDE137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ABFE2E-034D-460F-A66A-DAD53BAB33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53D2364-D6B7-484C-BF78-C6E7F599E2F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07</a:t>
            </a:r>
          </a:p>
        </p:txBody>
      </p:sp>
      <p:sp>
        <p:nvSpPr>
          <p:cNvPr id="6" name="">
            <a:extLst xmlns:a="http://schemas.openxmlformats.org/drawingml/2006/main">
              <a:ext uri="{FF2B5EF4-FFF2-40B4-BE49-F238E27FC236}">
                <a16:creationId xmlns:a16="http://schemas.microsoft.com/office/drawing/2014/main" id="{935738C6-FFB0-4339-A3F4-05A107D43E7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54A704CE-B8EF-46DD-9BA4-8D48FC84E48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보증서류와 검토 규칙의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검색·민원 지원의 공통 기반 활용</a:t>
            </a:r>
          </a:p>
        </p:txBody>
      </p:sp>
      <p:sp>
        <p:nvSpPr>
          <p:cNvPr id="8" name="">
            <a:extLst xmlns:a="http://schemas.openxmlformats.org/drawingml/2006/main">
              <a:ext uri="{FF2B5EF4-FFF2-40B4-BE49-F238E27FC236}">
                <a16:creationId xmlns:a16="http://schemas.microsoft.com/office/drawing/2014/main" id="{6E1DCA6A-A0E5-469B-85EE-FD25519DFB9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093F7F7-DD14-48E0-A96C-C8675983652D}"/>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OCR 오독에 따른 누락 판단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요구 명세와 운영 효과의 혼동</a:t>
            </a:r>
          </a:p>
        </p:txBody>
      </p:sp>
      <p:sp>
        <p:nvSpPr>
          <p:cNvPr id="10" name="">
            <a:extLst xmlns:a="http://schemas.openxmlformats.org/drawingml/2006/main">
              <a:ext uri="{FF2B5EF4-FFF2-40B4-BE49-F238E27FC236}">
                <a16:creationId xmlns:a16="http://schemas.microsoft.com/office/drawing/2014/main" id="{DA4AA235-6CC6-4FFB-8A63-82DCBC7D90E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7D074D1-54B8-4FCD-AFE8-3E0689EFB98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원본·추출값 대조와 자동 확정 제한</a:t>
            </a:r>
          </a:p>
        </p:txBody>
      </p:sp>
      <p:sp>
        <p:nvSpPr>
          <p:cNvPr id="12" name="">
            <a:extLst xmlns:a="http://schemas.openxmlformats.org/drawingml/2006/main">
              <a:ext uri="{FF2B5EF4-FFF2-40B4-BE49-F238E27FC236}">
                <a16:creationId xmlns:a16="http://schemas.microsoft.com/office/drawing/2014/main" id="{E2CE39CE-6B14-4529-9C57-17501BF910E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FBE96125-D516-4F5A-BD5B-8285E6D4304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한 사건의 신청 서류에서 필수 항목과 문서 간 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여부 확인</a:t>
            </a:r>
          </a:p>
        </p:txBody>
      </p:sp>
      <p:sp>
        <p:nvSpPr>
          <p:cNvPr id="14" name="">
            <a:extLst xmlns:a="http://schemas.openxmlformats.org/drawingml/2006/main">
              <a:ext uri="{FF2B5EF4-FFF2-40B4-BE49-F238E27FC236}">
                <a16:creationId xmlns:a16="http://schemas.microsoft.com/office/drawing/2014/main" id="{8B50A1C8-5F87-4D84-BEF9-4C081B8821B9}"/>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39A0F7C-C6B2-4363-A122-DBCEB6E2B05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스캔 저화질·서명 누락·주소 불일치·다른 사건 서류</a:t>
            </a:r>
          </a:p>
        </p:txBody>
      </p:sp>
      <p:sp>
        <p:nvSpPr>
          <p:cNvPr id="16" name="">
            <a:extLst xmlns:a="http://schemas.openxmlformats.org/drawingml/2006/main">
              <a:ext uri="{FF2B5EF4-FFF2-40B4-BE49-F238E27FC236}">
                <a16:creationId xmlns:a16="http://schemas.microsoft.com/office/drawing/2014/main" id="{CC8EF368-C238-4877-81F0-B08EE414ED8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36EB5FF1-CD54-405D-98AB-12E1AE06C1D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추출값–원본 좌표–불일치 판정–심사자 확정 추적</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표</a:t>
            </a:r>
          </a:p>
        </p:txBody>
      </p:sp>
    </p:spTree>
    <p:extLst>
      <p:ext uri="{BB962C8B-B14F-4D97-AF65-F5344CB8AC3E}">
        <p14:creationId xmlns:p14="http://schemas.microsoft.com/office/powerpoint/2010/main" val="1979844928"/>
      </p:ext>
    </p:extLst>
  </p:cSld>
</p:sld>
</file>

<file path=ppt/slides/slide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0E30DB4-5F57-4E01-BE40-D121D74E127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공식 서비스 개시 확인(2026-02-05) / 국내</a:t>
            </a:r>
          </a:p>
        </p:txBody>
      </p:sp>
      <p:sp>
        <p:nvSpPr>
          <p:cNvPr id="2" name="">
            <a:extLst xmlns:a="http://schemas.openxmlformats.org/drawingml/2006/main">
              <a:ext uri="{FF2B5EF4-FFF2-40B4-BE49-F238E27FC236}">
                <a16:creationId xmlns:a16="http://schemas.microsoft.com/office/drawing/2014/main" id="{60D3547B-B28C-4E77-BDE3-6B433B4D19C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a:t>
            </a:r>
          </a:p>
        </p:txBody>
      </p:sp>
      <p:sp>
        <p:nvSpPr>
          <p:cNvPr id="3" name="">
            <a:extLst xmlns:a="http://schemas.openxmlformats.org/drawingml/2006/main">
              <a:ext uri="{FF2B5EF4-FFF2-40B4-BE49-F238E27FC236}">
                <a16:creationId xmlns:a16="http://schemas.microsoft.com/office/drawing/2014/main" id="{E7B533E4-CC99-447F-A6EB-4B4EC814B83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A31608-2690-40C7-B5FD-EBE1DDEF659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41C5337-0C08-4FB5-8A1C-0874C859365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08</a:t>
            </a:r>
          </a:p>
        </p:txBody>
      </p:sp>
      <p:sp>
        <p:nvSpPr>
          <p:cNvPr id="6" name="">
            <a:extLst xmlns:a="http://schemas.openxmlformats.org/drawingml/2006/main">
              <a:ext uri="{FF2B5EF4-FFF2-40B4-BE49-F238E27FC236}">
                <a16:creationId xmlns:a16="http://schemas.microsoft.com/office/drawing/2014/main" id="{C92054F2-FF48-4ECF-9991-F5C549474DB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3F925E6-EAE7-49CD-97CD-41247203828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국민신문고의 접수·처리와 민원정보분석 업무를 연결하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AI 고도화. 담당자의 답변 초안 작성과 유사민원 식별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정책 분석자의 의미 기반 이슈 탐색을 서로 다른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결과로 구분하는 사업.</a:t>
            </a:r>
          </a:p>
        </p:txBody>
      </p:sp>
      <p:sp>
        <p:nvSpPr>
          <p:cNvPr id="8" name="">
            <a:extLst xmlns:a="http://schemas.openxmlformats.org/drawingml/2006/main">
              <a:ext uri="{FF2B5EF4-FFF2-40B4-BE49-F238E27FC236}">
                <a16:creationId xmlns:a16="http://schemas.microsoft.com/office/drawing/2014/main" id="{B4F8943D-95AA-4ACE-BDBC-B995C462052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6FB61E3-32B5-4C4A-982A-8D22EBDC10B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목표 구성도는 기존 포털·DB, API Gateway, 답변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·분석·중복 검색 모듈, 데이터 처리 계층, 운영 관리 계층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으로 구성. OCR·메타정보 추출 후 키워드·벡터 검색을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병렬 수행하고, 재정렬된 근거를 업무 모듈에 전달하는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구조. 서비스 화면과 모델 운영의 별도 책임 분리가 핵심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t>
            </a:r>
          </a:p>
        </p:txBody>
      </p:sp>
      <p:sp>
        <p:nvSpPr>
          <p:cNvPr id="10" name="">
            <a:extLst xmlns:a="http://schemas.openxmlformats.org/drawingml/2006/main">
              <a:ext uri="{FF2B5EF4-FFF2-40B4-BE49-F238E27FC236}">
                <a16:creationId xmlns:a16="http://schemas.microsoft.com/office/drawing/2014/main" id="{4A0E1612-9772-4401-B338-74E5087ACCF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3260F6B-9998-4A57-B732-7284E681EF25}"/>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표현이 비슷하다는 이유만으로 같은 사건으로 병합하면 이의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·반대 민원의 취지 소실 가능성. CCK 비교시험에서는 문장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유사도 외에 사건·기관·지역·처리 단계의 일치 여부와 담당자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의 수정·채택 이력을 함께 평가할 필요. 답변 추천시간과 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종 회신시간의 별도 계측.</a:t>
            </a:r>
          </a:p>
        </p:txBody>
      </p:sp>
      <p:sp>
        <p:nvSpPr>
          <p:cNvPr id="12" name="">
            <a:extLst xmlns:a="http://schemas.openxmlformats.org/drawingml/2006/main">
              <a:ext uri="{FF2B5EF4-FFF2-40B4-BE49-F238E27FC236}">
                <a16:creationId xmlns:a16="http://schemas.microsoft.com/office/drawing/2014/main" id="{D55F36D6-2B17-4BE3-8CCC-23C59F1FD61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844F563-8B69-404D-9F5D-6D5EC221EEBB}"/>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민원 사건·기관·업무 분류 / 유사군 검토 UI / 현업 수정 이력</a:t>
            </a:r>
          </a:p>
        </p:txBody>
      </p:sp>
      <p:sp>
        <p:nvSpPr>
          <p:cNvPr id="14" name="">
            <a:extLst xmlns:a="http://schemas.openxmlformats.org/drawingml/2006/main">
              <a:ext uri="{FF2B5EF4-FFF2-40B4-BE49-F238E27FC236}">
                <a16:creationId xmlns:a16="http://schemas.microsoft.com/office/drawing/2014/main" id="{18CBAEEB-7C8D-47A7-9761-31CC9712BAA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82890AC-2AFB-4E7B-8062-5BD63725433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같은 표현의 다른 사건·반대 취지 민원에 대한 오병합·답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 오류 측정</a:t>
            </a:r>
          </a:p>
        </p:txBody>
      </p:sp>
      <p:sp>
        <p:nvSpPr>
          <p:cNvPr id="16" name="">
            <a:extLst xmlns:a="http://schemas.openxmlformats.org/drawingml/2006/main">
              <a:ext uri="{FF2B5EF4-FFF2-40B4-BE49-F238E27FC236}">
                <a16:creationId xmlns:a16="http://schemas.microsoft.com/office/drawing/2014/main" id="{315A69FA-2B85-451A-B090-CFBA4C11BC5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B4B3BD4-2934-4ACC-B87E-986F8E6D0B6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민원 분류 정확도 / 오병합률 / 최종 답변 작성시간</a:t>
            </a:r>
          </a:p>
        </p:txBody>
      </p:sp>
      <p:sp>
        <p:nvSpPr>
          <p:cNvPr id="18" name="">
            <a:extLst xmlns:a="http://schemas.openxmlformats.org/drawingml/2006/main">
              <a:ext uri="{FF2B5EF4-FFF2-40B4-BE49-F238E27FC236}">
                <a16:creationId xmlns:a16="http://schemas.microsoft.com/office/drawing/2014/main" id="{C229F183-AAEB-4034-8A12-F5CC19074A8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추천답변 도출시간·배정 처리시간·최종 답변 처리시간의 정의와 분모를 구분해야 함</a:t>
            </a:r>
          </a:p>
        </p:txBody>
      </p:sp>
    </p:spTree>
    <p:extLst>
      <p:ext uri="{BB962C8B-B14F-4D97-AF65-F5344CB8AC3E}">
        <p14:creationId xmlns:p14="http://schemas.microsoft.com/office/powerpoint/2010/main" val="82713262"/>
      </p:ext>
    </p:extLst>
  </p:cSld>
</p:sld>
</file>

<file path=ppt/slides/slide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21AFEE5-53EF-4286-A95D-F512FC734C2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1–3</a:t>
            </a:r>
          </a:p>
        </p:txBody>
      </p:sp>
      <p:sp>
        <p:nvSpPr>
          <p:cNvPr id="2" name="">
            <a:extLst xmlns:a="http://schemas.openxmlformats.org/drawingml/2006/main">
              <a:ext uri="{FF2B5EF4-FFF2-40B4-BE49-F238E27FC236}">
                <a16:creationId xmlns:a16="http://schemas.microsoft.com/office/drawing/2014/main" id="{6E069269-78E5-49F5-AEE0-E18AB90BDE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6EA05406-67A9-4637-915E-8CB0976F13D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0E7046-4296-409F-9220-5E324C1A1AE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25C103C-1874-478B-B606-33F1E2C7899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09</a:t>
            </a:r>
          </a:p>
        </p:txBody>
      </p:sp>
      <p:sp>
        <p:nvSpPr>
          <p:cNvPr id="6" name="">
            <a:extLst xmlns:a="http://schemas.openxmlformats.org/drawingml/2006/main">
              <a:ext uri="{FF2B5EF4-FFF2-40B4-BE49-F238E27FC236}">
                <a16:creationId xmlns:a16="http://schemas.microsoft.com/office/drawing/2014/main" id="{3C263AE4-3168-43BD-854C-268BECBF00CA}"/>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60957C-D4CE-4B3A-9F3F-E624D4CDE64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민원 종류 분류</a:t>
            </a:r>
          </a:p>
        </p:txBody>
      </p:sp>
      <p:sp>
        <p:nvSpPr>
          <p:cNvPr id="8" name="">
            <a:extLst xmlns:a="http://schemas.openxmlformats.org/drawingml/2006/main">
              <a:ext uri="{FF2B5EF4-FFF2-40B4-BE49-F238E27FC236}">
                <a16:creationId xmlns:a16="http://schemas.microsoft.com/office/drawing/2014/main" id="{38811A9C-3DF6-4FC7-8B7C-EBBA1C028D41}"/>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 본문을 민원 종류로 분류해 담당 업무의 처리 경로를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지원하는 기능.</a:t>
            </a:r>
          </a:p>
        </p:txBody>
      </p:sp>
      <p:sp>
        <p:nvSpPr>
          <p:cNvPr id="9" name="">
            <a:extLst xmlns:a="http://schemas.openxmlformats.org/drawingml/2006/main">
              <a:ext uri="{FF2B5EF4-FFF2-40B4-BE49-F238E27FC236}">
                <a16:creationId xmlns:a16="http://schemas.microsoft.com/office/drawing/2014/main" id="{0EBE3DF2-3C4C-48FB-9A4C-DA6A53EA59C9}"/>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복합 주제·짧은 문장·오탈자 민원의 오분류와 담당자 수정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비교</a:t>
            </a:r>
          </a:p>
        </p:txBody>
      </p:sp>
      <p:sp>
        <p:nvSpPr>
          <p:cNvPr id="10" name="">
            <a:extLst xmlns:a="http://schemas.openxmlformats.org/drawingml/2006/main">
              <a:ext uri="{FF2B5EF4-FFF2-40B4-BE49-F238E27FC236}">
                <a16:creationId xmlns:a16="http://schemas.microsoft.com/office/drawing/2014/main" id="{D3D7886F-629B-48B9-BEBE-291EC673164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70B2441-9097-4529-9CFD-69DA35F1E8F7}"/>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민원 처리내용 초안 제공</a:t>
            </a:r>
          </a:p>
        </p:txBody>
      </p:sp>
      <p:sp>
        <p:nvSpPr>
          <p:cNvPr id="12" name="">
            <a:extLst xmlns:a="http://schemas.openxmlformats.org/drawingml/2006/main">
              <a:ext uri="{FF2B5EF4-FFF2-40B4-BE49-F238E27FC236}">
                <a16:creationId xmlns:a16="http://schemas.microsoft.com/office/drawing/2014/main" id="{D18C3C96-FB52-4C66-89C6-9F46085FDDFA}"/>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관련 규정과 기존 처리내용을 참조한 민원답변 초안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초안과 최종 답변의 담당자 확인 경로 구성.</a:t>
            </a:r>
          </a:p>
        </p:txBody>
      </p:sp>
      <p:sp>
        <p:nvSpPr>
          <p:cNvPr id="13" name="">
            <a:extLst xmlns:a="http://schemas.openxmlformats.org/drawingml/2006/main">
              <a:ext uri="{FF2B5EF4-FFF2-40B4-BE49-F238E27FC236}">
                <a16:creationId xmlns:a16="http://schemas.microsoft.com/office/drawing/2014/main" id="{2A2889D0-0AA3-49E4-88A8-644B7B9218E3}"/>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과거 규정과 현행 규정이 충돌하는 사례의 근거 판본 및 담당</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 수정 흔적 확인</a:t>
            </a:r>
          </a:p>
        </p:txBody>
      </p:sp>
      <p:sp>
        <p:nvSpPr>
          <p:cNvPr id="14" name="">
            <a:extLst xmlns:a="http://schemas.openxmlformats.org/drawingml/2006/main">
              <a:ext uri="{FF2B5EF4-FFF2-40B4-BE49-F238E27FC236}">
                <a16:creationId xmlns:a16="http://schemas.microsoft.com/office/drawing/2014/main" id="{E5BEC3B7-94A8-4BD5-8B16-8AD276CE00D6}"/>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C6CC1EF-E3FA-4966-8F1B-67E26E2DEED1}"/>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유사민원 식별 기능 제공</a:t>
            </a:r>
          </a:p>
        </p:txBody>
      </p:sp>
      <p:sp>
        <p:nvSpPr>
          <p:cNvPr id="16" name="">
            <a:extLst xmlns:a="http://schemas.openxmlformats.org/drawingml/2006/main">
              <a:ext uri="{FF2B5EF4-FFF2-40B4-BE49-F238E27FC236}">
                <a16:creationId xmlns:a16="http://schemas.microsoft.com/office/drawing/2014/main" id="{ACC31247-7196-4662-9429-55A6F5EE2D2A}"/>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같거나 유사한 민원을 식별해 반복 업무를 지원하는 기능.</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검색 후보와 실제 병합 판단의 구분.</a:t>
            </a:r>
          </a:p>
        </p:txBody>
      </p:sp>
      <p:sp>
        <p:nvSpPr>
          <p:cNvPr id="17" name="">
            <a:extLst xmlns:a="http://schemas.openxmlformats.org/drawingml/2006/main">
              <a:ext uri="{FF2B5EF4-FFF2-40B4-BE49-F238E27FC236}">
                <a16:creationId xmlns:a16="http://schemas.microsoft.com/office/drawing/2014/main" id="{C7E61282-C218-427C-9761-668BDEBCDA2F}"/>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문장은 같지만 사건·지역·신청인이 다른 사례로 오병합 여부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와 원문 복원 가능성 확인</a:t>
            </a:r>
          </a:p>
        </p:txBody>
      </p:sp>
    </p:spTree>
    <p:extLst>
      <p:ext uri="{BB962C8B-B14F-4D97-AF65-F5344CB8AC3E}">
        <p14:creationId xmlns:p14="http://schemas.microsoft.com/office/powerpoint/2010/main" val="2099004702"/>
      </p:ext>
    </p:extLst>
  </p:cSld>
</p:sld>
</file>

<file path=ppt/slides/slide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1D4FFD9-5F02-485D-AFB0-57713BBA7D6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4–6</a:t>
            </a:r>
          </a:p>
        </p:txBody>
      </p:sp>
      <p:sp>
        <p:nvSpPr>
          <p:cNvPr id="2" name="">
            <a:extLst xmlns:a="http://schemas.openxmlformats.org/drawingml/2006/main">
              <a:ext uri="{FF2B5EF4-FFF2-40B4-BE49-F238E27FC236}">
                <a16:creationId xmlns:a16="http://schemas.microsoft.com/office/drawing/2014/main" id="{404EF382-3B41-49D2-8751-6259A75B024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F1D8B750-FCBB-4B2C-AC6B-6DB246DD679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050AA0-DEA6-4C7C-902E-E125A166ECA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6AF658D-EA87-40B4-9F70-BDA463ED51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a:t>
            </a:r>
          </a:p>
        </p:txBody>
      </p:sp>
      <p:sp>
        <p:nvSpPr>
          <p:cNvPr id="6" name="">
            <a:extLst xmlns:a="http://schemas.openxmlformats.org/drawingml/2006/main">
              <a:ext uri="{FF2B5EF4-FFF2-40B4-BE49-F238E27FC236}">
                <a16:creationId xmlns:a16="http://schemas.microsoft.com/office/drawing/2014/main" id="{3227E835-B675-4BC4-8B7F-BBAE19B79DD8}"/>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6231159-EC8D-4623-AA05-E4AD25BC16A9}"/>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SFR-010 민원업무 고도화 서비스 관리기능</a:t>
            </a:r>
          </a:p>
        </p:txBody>
      </p:sp>
      <p:sp>
        <p:nvSpPr>
          <p:cNvPr id="8" name="">
            <a:extLst xmlns:a="http://schemas.openxmlformats.org/drawingml/2006/main">
              <a:ext uri="{FF2B5EF4-FFF2-40B4-BE49-F238E27FC236}">
                <a16:creationId xmlns:a16="http://schemas.microsoft.com/office/drawing/2014/main" id="{F5C1280D-5882-4FC2-AAD5-4D4F20CE5A6D}"/>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민원업무 고도화 서비스의 이용·관리 기능 구성. 운영자가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업무별 서비스 상태와 관리 대상을 확인하는 경로.</a:t>
            </a:r>
          </a:p>
        </p:txBody>
      </p:sp>
      <p:sp>
        <p:nvSpPr>
          <p:cNvPr id="9" name="">
            <a:extLst xmlns:a="http://schemas.openxmlformats.org/drawingml/2006/main">
              <a:ext uri="{FF2B5EF4-FFF2-40B4-BE49-F238E27FC236}">
                <a16:creationId xmlns:a16="http://schemas.microsoft.com/office/drawing/2014/main" id="{2330CE7A-2787-4E86-8C62-3DAD29D4C19E}"/>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C06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관리 역할별 허용 작업과 변경 이력, 설정 변경 후 서비스 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영 결과 비교</a:t>
            </a:r>
          </a:p>
        </p:txBody>
      </p:sp>
      <p:sp>
        <p:nvSpPr>
          <p:cNvPr id="10" name="">
            <a:extLst xmlns:a="http://schemas.openxmlformats.org/drawingml/2006/main">
              <a:ext uri="{FF2B5EF4-FFF2-40B4-BE49-F238E27FC236}">
                <a16:creationId xmlns:a16="http://schemas.microsoft.com/office/drawing/2014/main" id="{D30764E6-A631-4586-A47E-44438630980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38E24A0-062C-4C7E-AF7D-3C06D5A311BB}"/>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SFR-011 의미 기반 검색과 분석</a:t>
            </a:r>
          </a:p>
        </p:txBody>
      </p:sp>
      <p:sp>
        <p:nvSpPr>
          <p:cNvPr id="12" name="">
            <a:extLst xmlns:a="http://schemas.openxmlformats.org/drawingml/2006/main">
              <a:ext uri="{FF2B5EF4-FFF2-40B4-BE49-F238E27FC236}">
                <a16:creationId xmlns:a16="http://schemas.microsoft.com/office/drawing/2014/main" id="{941AB890-0881-413B-8E9F-49820491A9FA}"/>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단순 키워드 일치를 넘어 민원 의미를 이용한 검색·분석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지원.</a:t>
            </a:r>
          </a:p>
        </p:txBody>
      </p:sp>
      <p:sp>
        <p:nvSpPr>
          <p:cNvPr id="13" name="">
            <a:extLst xmlns:a="http://schemas.openxmlformats.org/drawingml/2006/main">
              <a:ext uri="{FF2B5EF4-FFF2-40B4-BE49-F238E27FC236}">
                <a16:creationId xmlns:a16="http://schemas.microsoft.com/office/drawing/2014/main" id="{4B6CA736-CF61-424C-9858-CC644EC93326}"/>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표현의 같은 의도와 같은 단어의 다른 의도를 구분한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색 정답셋 비교</a:t>
            </a:r>
          </a:p>
        </p:txBody>
      </p:sp>
      <p:sp>
        <p:nvSpPr>
          <p:cNvPr id="14" name="">
            <a:extLst xmlns:a="http://schemas.openxmlformats.org/drawingml/2006/main">
              <a:ext uri="{FF2B5EF4-FFF2-40B4-BE49-F238E27FC236}">
                <a16:creationId xmlns:a16="http://schemas.microsoft.com/office/drawing/2014/main" id="{45249E7D-5331-4D26-9958-70E3F4C101BD}"/>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941ADF-720B-48B6-B804-ECBAAEE0537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SFR-015 실시간 데이터 수집 및 검증</a:t>
            </a:r>
          </a:p>
        </p:txBody>
      </p:sp>
      <p:sp>
        <p:nvSpPr>
          <p:cNvPr id="16" name="">
            <a:extLst xmlns:a="http://schemas.openxmlformats.org/drawingml/2006/main">
              <a:ext uri="{FF2B5EF4-FFF2-40B4-BE49-F238E27FC236}">
                <a16:creationId xmlns:a16="http://schemas.microsoft.com/office/drawing/2014/main" id="{E5E7C9FC-F739-44EE-A9C3-0294E391E503}"/>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OGG 기반 원천 변경 수집과 데이터 검증을 통한 실시간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연계. 수집 이후 정합성 확인이 필요한 데이터 흐름.</a:t>
            </a:r>
          </a:p>
        </p:txBody>
      </p:sp>
      <p:sp>
        <p:nvSpPr>
          <p:cNvPr id="17" name="">
            <a:extLst xmlns:a="http://schemas.openxmlformats.org/drawingml/2006/main">
              <a:ext uri="{FF2B5EF4-FFF2-40B4-BE49-F238E27FC236}">
                <a16:creationId xmlns:a16="http://schemas.microsoft.com/office/drawing/2014/main" id="{05E0E578-0BBB-4794-8982-38F7B275716D}"/>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삽입·수정·삭제·중단 후 재개 시 건수·키·시점 대사와 중복 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 여부 확인</a:t>
            </a:r>
          </a:p>
        </p:txBody>
      </p:sp>
    </p:spTree>
    <p:extLst>
      <p:ext uri="{BB962C8B-B14F-4D97-AF65-F5344CB8AC3E}">
        <p14:creationId xmlns:p14="http://schemas.microsoft.com/office/powerpoint/2010/main" val="1761968929"/>
      </p:ext>
    </p:extLst>
  </p:cSld>
</p:sld>
</file>

<file path=ppt/slides/slide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BF19406-C3EE-4F46-8707-DC8C9E2E6AF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본공고 RFP · 사업계획·민원답변 작성지원·빈발중복민원 / 7–9</a:t>
            </a:r>
          </a:p>
        </p:txBody>
      </p:sp>
      <p:sp>
        <p:nvSpPr>
          <p:cNvPr id="2" name="">
            <a:extLst xmlns:a="http://schemas.openxmlformats.org/drawingml/2006/main">
              <a:ext uri="{FF2B5EF4-FFF2-40B4-BE49-F238E27FC236}">
                <a16:creationId xmlns:a16="http://schemas.microsoft.com/office/drawing/2014/main" id="{F0833E16-FC7C-4595-8686-5C2C67F0B73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RFP 요구사항</a:t>
            </a:r>
          </a:p>
        </p:txBody>
      </p:sp>
      <p:sp>
        <p:nvSpPr>
          <p:cNvPr id="3" name="">
            <a:extLst xmlns:a="http://schemas.openxmlformats.org/drawingml/2006/main">
              <a:ext uri="{FF2B5EF4-FFF2-40B4-BE49-F238E27FC236}">
                <a16:creationId xmlns:a16="http://schemas.microsoft.com/office/drawing/2014/main" id="{96A5A211-915B-408B-9E7F-4873A5C7794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306108-4194-4330-9781-A0964616619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7776238-DFBC-48F9-BBCC-232B2C94DF1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a:t>
            </a:r>
          </a:p>
        </p:txBody>
      </p:sp>
      <p:sp>
        <p:nvSpPr>
          <p:cNvPr id="6" name="">
            <a:extLst xmlns:a="http://schemas.openxmlformats.org/drawingml/2006/main">
              <a:ext uri="{FF2B5EF4-FFF2-40B4-BE49-F238E27FC236}">
                <a16:creationId xmlns:a16="http://schemas.microsoft.com/office/drawing/2014/main" id="{40CDD68E-750F-4AD9-B89D-BB3ECD2E3A3A}"/>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C585A4-4FC2-45A5-BB90-BD277B018C37}"/>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SFR-018 AI 기반 민원 자동 처리</a:t>
            </a:r>
          </a:p>
        </p:txBody>
      </p:sp>
      <p:sp>
        <p:nvSpPr>
          <p:cNvPr id="8" name="">
            <a:extLst xmlns:a="http://schemas.openxmlformats.org/drawingml/2006/main">
              <a:ext uri="{FF2B5EF4-FFF2-40B4-BE49-F238E27FC236}">
                <a16:creationId xmlns:a16="http://schemas.microsoft.com/office/drawing/2014/main" id="{615009BC-0B68-4ADD-A299-1F587AF1C1F4}"/>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기반 민원 처리 지원에 담당자 검토·채택 결과를 연결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하고 운영 개선에 활용하는 흐름.</a:t>
            </a:r>
          </a:p>
        </p:txBody>
      </p:sp>
      <p:sp>
        <p:nvSpPr>
          <p:cNvPr id="9" name="">
            <a:extLst xmlns:a="http://schemas.openxmlformats.org/drawingml/2006/main">
              <a:ext uri="{FF2B5EF4-FFF2-40B4-BE49-F238E27FC236}">
                <a16:creationId xmlns:a16="http://schemas.microsoft.com/office/drawing/2014/main" id="{44F37F56-4612-4AAF-8163-F02C809F224E}"/>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추천과 확정 상태를 구분하고 수정·반려가 다음 처리 기록에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누락 없이 남는지 확인</a:t>
            </a:r>
          </a:p>
        </p:txBody>
      </p:sp>
      <p:sp>
        <p:nvSpPr>
          <p:cNvPr id="10" name="">
            <a:extLst xmlns:a="http://schemas.openxmlformats.org/drawingml/2006/main">
              <a:ext uri="{FF2B5EF4-FFF2-40B4-BE49-F238E27FC236}">
                <a16:creationId xmlns:a16="http://schemas.microsoft.com/office/drawing/2014/main" id="{BC28CC25-1803-47A8-937D-7FD322675036}"/>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35A84A8-6492-4EA4-9A9D-A97CBBCD84D3}"/>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SFR-019 API 통합 관리 및 성능 모니터링</a:t>
            </a:r>
          </a:p>
        </p:txBody>
      </p:sp>
      <p:sp>
        <p:nvSpPr>
          <p:cNvPr id="12" name="">
            <a:extLst xmlns:a="http://schemas.openxmlformats.org/drawingml/2006/main">
              <a:ext uri="{FF2B5EF4-FFF2-40B4-BE49-F238E27FC236}">
                <a16:creationId xmlns:a16="http://schemas.microsoft.com/office/drawing/2014/main" id="{3A3E67E6-32CC-4A5E-BEFF-9960FC5CA55C}"/>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통합 관리와 성능 모니터링을 통한 업무 모듈·기간계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 관리.</a:t>
            </a:r>
          </a:p>
        </p:txBody>
      </p:sp>
      <p:sp>
        <p:nvSpPr>
          <p:cNvPr id="13" name="">
            <a:extLst xmlns:a="http://schemas.openxmlformats.org/drawingml/2006/main">
              <a:ext uri="{FF2B5EF4-FFF2-40B4-BE49-F238E27FC236}">
                <a16:creationId xmlns:a16="http://schemas.microsoft.com/office/drawing/2014/main" id="{96015ABC-D554-45CD-8F42-B6EB0F688A0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C07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호출 실패·시간초과·중복 요청을 주입하고 호출 경로별 원인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처리 상태 추적</a:t>
            </a:r>
          </a:p>
        </p:txBody>
      </p:sp>
      <p:sp>
        <p:nvSpPr>
          <p:cNvPr id="14" name="">
            <a:extLst xmlns:a="http://schemas.openxmlformats.org/drawingml/2006/main">
              <a:ext uri="{FF2B5EF4-FFF2-40B4-BE49-F238E27FC236}">
                <a16:creationId xmlns:a16="http://schemas.microsoft.com/office/drawing/2014/main" id="{316E5ED6-8DC0-44B3-8B50-E410342D555B}"/>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F3F64F7-E162-48B5-8F78-43600C1E247D}"/>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SFR-020 시스템 설정 및 운영 모니터링 통합 관리</a:t>
            </a:r>
          </a:p>
        </p:txBody>
      </p:sp>
      <p:sp>
        <p:nvSpPr>
          <p:cNvPr id="16" name="">
            <a:extLst xmlns:a="http://schemas.openxmlformats.org/drawingml/2006/main">
              <a:ext uri="{FF2B5EF4-FFF2-40B4-BE49-F238E27FC236}">
                <a16:creationId xmlns:a16="http://schemas.microsoft.com/office/drawing/2014/main" id="{7279869D-2F02-4989-8368-565E7A1B223F}"/>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시스템 설정과 운영 모니터링의 통합 관리. 업무 기능과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 정책의 일관된 상태 확인.</a:t>
            </a:r>
          </a:p>
        </p:txBody>
      </p:sp>
      <p:sp>
        <p:nvSpPr>
          <p:cNvPr id="17" name="">
            <a:extLst xmlns:a="http://schemas.openxmlformats.org/drawingml/2006/main">
              <a:ext uri="{FF2B5EF4-FFF2-40B4-BE49-F238E27FC236}">
                <a16:creationId xmlns:a16="http://schemas.microsoft.com/office/drawing/2014/main" id="{0C324740-D33F-440E-AFBA-A8CB50CB1D31}"/>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설정 변경 권한, 변경 전후 상태, 장애 탐지·복구 기록의 연결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Tree>
    <p:extLst>
      <p:ext uri="{BB962C8B-B14F-4D97-AF65-F5344CB8AC3E}">
        <p14:creationId xmlns:p14="http://schemas.microsoft.com/office/powerpoint/2010/main" val="1602214294"/>
      </p:ext>
    </p:extLst>
  </p:cSld>
</p:sld>
</file>

<file path=ppt/slides/slide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587EC0-87C3-4A25-8059-E2E604FC74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목표시스템 개념도 / RFP 원문 추출</a:t>
            </a:r>
          </a:p>
        </p:txBody>
      </p:sp>
      <p:sp>
        <p:nvSpPr>
          <p:cNvPr id="2" name="">
            <a:extLst xmlns:a="http://schemas.openxmlformats.org/drawingml/2006/main">
              <a:ext uri="{FF2B5EF4-FFF2-40B4-BE49-F238E27FC236}">
                <a16:creationId xmlns:a16="http://schemas.microsoft.com/office/drawing/2014/main" id="{83B874FC-5675-49A6-AE99-001AB61FD53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국민소통 플랫폼 목표시스템</a:t>
            </a:r>
          </a:p>
        </p:txBody>
      </p:sp>
      <p:sp>
        <p:nvSpPr>
          <p:cNvPr id="3" name="">
            <a:extLst xmlns:a="http://schemas.openxmlformats.org/drawingml/2006/main">
              <a:ext uri="{FF2B5EF4-FFF2-40B4-BE49-F238E27FC236}">
                <a16:creationId xmlns:a16="http://schemas.microsoft.com/office/drawing/2014/main" id="{56395BF7-EB7C-4902-8526-B1BF668F023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8C5417-7AE6-44DC-9C65-B3A5579664E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38DFFC1-49EA-4FE9-A738-07D0F2E6BA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a:t>
            </a:r>
          </a:p>
        </p:txBody>
      </p:sp>
      <p:pic>
        <p:nvPicPr>
          <p:cNvPr id="6" name="">
            <a:extLst xmlns:a="http://schemas.openxmlformats.org/drawingml/2006/main">
              <a:ext uri="{FF2B5EF4-FFF2-40B4-BE49-F238E27FC236}">
                <a16:creationId xmlns:a16="http://schemas.microsoft.com/office/drawing/2014/main" id="{6E9BFB3A-C172-4428-89FD-782BB12C043A}"/>
              </a:ext>
            </a:extLst>
          </p:cNvPr>
          <p:cNvPicPr>
            <a:picLocks xmlns:a="http://schemas.openxmlformats.org/drawingml/2006/main" noChangeAspect="1"/>
          </p:cNvPicPr>
          <p:nvPr/>
        </p:nvPicPr>
        <p:blipFill>
          <a:blip xmlns:r="http://schemas.openxmlformats.org/officeDocument/2006/relationships" xmlns:a="http://schemas.openxmlformats.org/drawingml/2006/main" r:embed="R706f8dd2d83b446b"/>
          <a:stretch xmlns:a="http://schemas.openxmlformats.org/drawingml/2006/main"/>
        </p:blipFill>
        <p:spPr>
          <a:xfrm xmlns:a="http://schemas.openxmlformats.org/drawingml/2006/main">
            <a:off x="2067652" y="1657350"/>
            <a:ext cx="805669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6EC4AD4-409A-42A6-A5D3-C070B15A087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접점·API Gateway·업무 모듈·데이터 처리·운영 관리</a:t>
            </a:r>
          </a:p>
        </p:txBody>
      </p:sp>
    </p:spTree>
    <p:extLst>
      <p:ext uri="{BB962C8B-B14F-4D97-AF65-F5344CB8AC3E}">
        <p14:creationId xmlns:p14="http://schemas.microsoft.com/office/powerpoint/2010/main" val="1047996431"/>
      </p:ext>
    </p:extLst>
  </p:cSld>
</p:sld>
</file>

<file path=ppt/slides/slide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222324-B72B-426B-B8CD-C1F477AB13A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RAG 구성 예시 / RFP 원문 추출</a:t>
            </a:r>
          </a:p>
        </p:txBody>
      </p:sp>
      <p:sp>
        <p:nvSpPr>
          <p:cNvPr id="2" name="">
            <a:extLst xmlns:a="http://schemas.openxmlformats.org/drawingml/2006/main">
              <a:ext uri="{FF2B5EF4-FFF2-40B4-BE49-F238E27FC236}">
                <a16:creationId xmlns:a16="http://schemas.microsoft.com/office/drawing/2014/main" id="{1C80ECEF-5B24-4DC3-A971-BDC77EBFEF9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키워드·벡터 검색과 Reranker</a:t>
            </a:r>
          </a:p>
        </p:txBody>
      </p:sp>
      <p:sp>
        <p:nvSpPr>
          <p:cNvPr id="3" name="">
            <a:extLst xmlns:a="http://schemas.openxmlformats.org/drawingml/2006/main">
              <a:ext uri="{FF2B5EF4-FFF2-40B4-BE49-F238E27FC236}">
                <a16:creationId xmlns:a16="http://schemas.microsoft.com/office/drawing/2014/main" id="{04E319F3-E85C-4AA9-ADA9-098E425FAEA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BEED06-E12B-4FF3-97F5-522531E28E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FDC8A01-1BF5-493C-AE21-424AD47AA8C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a:t>
            </a:r>
          </a:p>
        </p:txBody>
      </p:sp>
      <p:pic>
        <p:nvPicPr>
          <p:cNvPr id="6" name="">
            <a:extLst xmlns:a="http://schemas.openxmlformats.org/drawingml/2006/main">
              <a:ext uri="{FF2B5EF4-FFF2-40B4-BE49-F238E27FC236}">
                <a16:creationId xmlns:a16="http://schemas.microsoft.com/office/drawing/2014/main" id="{BD5091EB-76ED-4C47-9F94-3A115AFC02C7}"/>
              </a:ext>
            </a:extLst>
          </p:cNvPr>
          <p:cNvPicPr>
            <a:picLocks xmlns:a="http://schemas.openxmlformats.org/drawingml/2006/main" noChangeAspect="1"/>
          </p:cNvPicPr>
          <p:nvPr/>
        </p:nvPicPr>
        <p:blipFill>
          <a:blip xmlns:r="http://schemas.openxmlformats.org/officeDocument/2006/relationships" xmlns:a="http://schemas.openxmlformats.org/drawingml/2006/main" r:embed="R59a9b05744d14633"/>
          <a:stretch xmlns:a="http://schemas.openxmlformats.org/drawingml/2006/main"/>
        </p:blipFill>
        <p:spPr>
          <a:xfrm xmlns:a="http://schemas.openxmlformats.org/drawingml/2006/main">
            <a:off x="1704611" y="1657350"/>
            <a:ext cx="878277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59CB644-9A3F-4F8D-BCCB-58E1F93F3D06}"/>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키워드/벡터 검색 병렬 처리 → 재정렬 → 근거 응답</a:t>
            </a:r>
          </a:p>
        </p:txBody>
      </p:sp>
    </p:spTree>
    <p:extLst>
      <p:ext uri="{BB962C8B-B14F-4D97-AF65-F5344CB8AC3E}">
        <p14:creationId xmlns:p14="http://schemas.microsoft.com/office/powerpoint/2010/main" val="1513823093"/>
      </p:ext>
    </p:extLst>
  </p:cSld>
</p:sld>
</file>

<file path=ppt/slides/slide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36784-4CCA-42B2-B6AC-29A22F8A9E0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데이터 흐름도 / RFP 원문 추출</a:t>
            </a:r>
          </a:p>
        </p:txBody>
      </p:sp>
      <p:sp>
        <p:nvSpPr>
          <p:cNvPr id="2" name="">
            <a:extLst xmlns:a="http://schemas.openxmlformats.org/drawingml/2006/main">
              <a:ext uri="{FF2B5EF4-FFF2-40B4-BE49-F238E27FC236}">
                <a16:creationId xmlns:a16="http://schemas.microsoft.com/office/drawing/2014/main" id="{AD6F5AE6-20DA-49A1-BF6E-0D1EBD0A6B7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민원 AI 입출력 데이터</a:t>
            </a:r>
          </a:p>
        </p:txBody>
      </p:sp>
      <p:sp>
        <p:nvSpPr>
          <p:cNvPr id="3" name="">
            <a:extLst xmlns:a="http://schemas.openxmlformats.org/drawingml/2006/main">
              <a:ext uri="{FF2B5EF4-FFF2-40B4-BE49-F238E27FC236}">
                <a16:creationId xmlns:a16="http://schemas.microsoft.com/office/drawing/2014/main" id="{8ABBBC0F-3CE3-49ED-8FFC-AAC3AD52E3C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3A568F-5942-4EC2-93F2-DFA3BF7BFDD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9E7EEE-8414-459D-A447-166F00B17B2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a:t>
            </a:r>
          </a:p>
        </p:txBody>
      </p:sp>
      <p:pic>
        <p:nvPicPr>
          <p:cNvPr id="6" name="">
            <a:extLst xmlns:a="http://schemas.openxmlformats.org/drawingml/2006/main">
              <a:ext uri="{FF2B5EF4-FFF2-40B4-BE49-F238E27FC236}">
                <a16:creationId xmlns:a16="http://schemas.microsoft.com/office/drawing/2014/main" id="{F8FED3F1-0809-4EF1-A208-7C976096380A}"/>
              </a:ext>
            </a:extLst>
          </p:cNvPr>
          <p:cNvPicPr>
            <a:picLocks xmlns:a="http://schemas.openxmlformats.org/drawingml/2006/main" noChangeAspect="1"/>
          </p:cNvPicPr>
          <p:nvPr/>
        </p:nvPicPr>
        <p:blipFill>
          <a:blip xmlns:r="http://schemas.openxmlformats.org/officeDocument/2006/relationships" xmlns:a="http://schemas.openxmlformats.org/drawingml/2006/main" r:embed="Ra271359e959a4889"/>
          <a:stretch xmlns:a="http://schemas.openxmlformats.org/drawingml/2006/main"/>
        </p:blipFill>
        <p:spPr>
          <a:xfrm xmlns:a="http://schemas.openxmlformats.org/drawingml/2006/main">
            <a:off x="1033420" y="1657350"/>
            <a:ext cx="1012515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0C979C4-A96B-454D-800C-94C994B48C9F}"/>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국민신문고·시범기관 매뉴얼 → 전처리·RAG → 답변·유사도</a:t>
            </a:r>
          </a:p>
        </p:txBody>
      </p:sp>
    </p:spTree>
    <p:extLst>
      <p:ext uri="{BB962C8B-B14F-4D97-AF65-F5344CB8AC3E}">
        <p14:creationId xmlns:p14="http://schemas.microsoft.com/office/powerpoint/2010/main" val="1568121969"/>
      </p:ext>
    </p:extLst>
  </p:cSld>
</p:sld>
</file>

<file path=ppt/slides/slide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52251B-1663-47B9-8975-5D7A9C9B501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RFP 데이터 처리 구조 / RFP 원문 추출</a:t>
            </a:r>
          </a:p>
        </p:txBody>
      </p:sp>
      <p:sp>
        <p:nvSpPr>
          <p:cNvPr id="2" name="">
            <a:extLst xmlns:a="http://schemas.openxmlformats.org/drawingml/2006/main">
              <a:ext uri="{FF2B5EF4-FFF2-40B4-BE49-F238E27FC236}">
                <a16:creationId xmlns:a16="http://schemas.microsoft.com/office/drawing/2014/main" id="{128C095A-820D-4BE2-ADE4-87D866117F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데이터 구축·학습·운영 흐름</a:t>
            </a:r>
          </a:p>
        </p:txBody>
      </p:sp>
      <p:sp>
        <p:nvSpPr>
          <p:cNvPr id="3" name="">
            <a:extLst xmlns:a="http://schemas.openxmlformats.org/drawingml/2006/main">
              <a:ext uri="{FF2B5EF4-FFF2-40B4-BE49-F238E27FC236}">
                <a16:creationId xmlns:a16="http://schemas.microsoft.com/office/drawing/2014/main" id="{BE218A8B-C12B-43F2-B9F9-B7D2EF32190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4A4D73-1D9B-489B-BE21-21DF0244C0C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8993BB2-C5C5-4DCE-9951-3BD09F87A01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a:t>
            </a:r>
          </a:p>
        </p:txBody>
      </p:sp>
      <p:pic>
        <p:nvPicPr>
          <p:cNvPr id="6" name="">
            <a:extLst xmlns:a="http://schemas.openxmlformats.org/drawingml/2006/main">
              <a:ext uri="{FF2B5EF4-FFF2-40B4-BE49-F238E27FC236}">
                <a16:creationId xmlns:a16="http://schemas.microsoft.com/office/drawing/2014/main" id="{16A0F7D2-4411-443D-A5E9-CDE04F3E7BEC}"/>
              </a:ext>
            </a:extLst>
          </p:cNvPr>
          <p:cNvPicPr>
            <a:picLocks xmlns:a="http://schemas.openxmlformats.org/drawingml/2006/main" noChangeAspect="1"/>
          </p:cNvPicPr>
          <p:nvPr/>
        </p:nvPicPr>
        <p:blipFill>
          <a:blip xmlns:r="http://schemas.openxmlformats.org/officeDocument/2006/relationships" xmlns:a="http://schemas.openxmlformats.org/drawingml/2006/main" r:embed="Ra7594e6b7f9f4c07"/>
          <a:stretch xmlns:a="http://schemas.openxmlformats.org/drawingml/2006/main"/>
        </p:blipFill>
        <p:spPr>
          <a:xfrm xmlns:a="http://schemas.openxmlformats.org/drawingml/2006/main">
            <a:off x="1406071" y="1657350"/>
            <a:ext cx="937985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E5481B7-6ACB-4CE0-8A1C-A67F67485A7E}"/>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수집·정제·가공·학습·운영의 환류</a:t>
            </a:r>
          </a:p>
        </p:txBody>
      </p:sp>
    </p:spTree>
    <p:extLst>
      <p:ext uri="{BB962C8B-B14F-4D97-AF65-F5344CB8AC3E}">
        <p14:creationId xmlns:p14="http://schemas.microsoft.com/office/powerpoint/2010/main" val="393214496"/>
      </p:ext>
    </p:extLst>
  </p:cSld>
</p:sld>
</file>

<file path=ppt/slides/slide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BF5EC671-D1A1-4EAA-9957-7093758642CE}"/>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8DBDD1BE-7371-4448-AFE7-1D6FF3FCDF1F}"/>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5B221375-EFE7-48AA-B3F0-118DBEDB1B5C}"/>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B1235F4E-E3B8-4F35-916F-B707A860A4D0}"/>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A192C38C-4E0E-4855-AF84-3F45C6D81433}"/>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3628FE29-5F69-4D9A-902D-C43FBFA70416}"/>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25F2BCBC-B060-43ED-AEF2-CFD5AAD11542}"/>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CB30D2C2-3941-4BF4-9A89-C5C0B537F6F5}"/>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DB16AC1F-4A65-4D1D-B8A6-E325D858A5A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복수 자료 결합·분석·검토·평가</a:t>
            </a:r>
          </a:p>
        </p:txBody>
      </p:sp>
      <p:sp>
        <p:nvSpPr>
          <p:cNvPr id="2" name="">
            <a:extLst xmlns:a="http://schemas.openxmlformats.org/drawingml/2006/main">
              <a:ext uri="{FF2B5EF4-FFF2-40B4-BE49-F238E27FC236}">
                <a16:creationId xmlns:a16="http://schemas.microsoft.com/office/drawing/2014/main" id="{7294099D-058F-495C-8D5B-3324E8B8DBE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세부 서비스 구조</a:t>
            </a:r>
          </a:p>
        </p:txBody>
      </p:sp>
      <p:sp>
        <p:nvSpPr>
          <p:cNvPr id="3" name="">
            <a:extLst xmlns:a="http://schemas.openxmlformats.org/drawingml/2006/main">
              <a:ext uri="{FF2B5EF4-FFF2-40B4-BE49-F238E27FC236}">
                <a16:creationId xmlns:a16="http://schemas.microsoft.com/office/drawing/2014/main" id="{40890725-5D7F-4931-932D-72C46CBF671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15BAB5-2732-4DE9-A053-53A8F4B6A99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9917441-D636-4306-B2CF-1BCFDBB1936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a:t>
            </a:r>
          </a:p>
        </p:txBody>
      </p:sp>
      <p:sp>
        <p:nvSpPr>
          <p:cNvPr id="6" name="">
            <a:extLst xmlns:a="http://schemas.openxmlformats.org/drawingml/2006/main">
              <a:ext uri="{FF2B5EF4-FFF2-40B4-BE49-F238E27FC236}">
                <a16:creationId xmlns:a16="http://schemas.microsoft.com/office/drawing/2014/main" id="{8C40914E-8F1E-4512-9F43-4BB1CEE0417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국민신문고 → 분류·유사민원 → 답변 추천 → 현업 수정</a:t>
            </a:r>
          </a:p>
        </p:txBody>
      </p:sp>
      <p:sp>
        <p:nvSpPr>
          <p:cNvPr id="7" name="">
            <a:extLst xmlns:a="http://schemas.openxmlformats.org/drawingml/2006/main">
              <a:ext uri="{FF2B5EF4-FFF2-40B4-BE49-F238E27FC236}">
                <a16:creationId xmlns:a16="http://schemas.microsoft.com/office/drawing/2014/main" id="{825BDF2F-1409-478A-B08E-68AFC4BA23B4}"/>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644A41B-0E81-4905-9BFD-C62A86B8DD8B}"/>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574199E-A003-44A3-9478-4E860BA93742}"/>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민원·답변·지침</a:t>
            </a:r>
          </a:p>
        </p:txBody>
      </p:sp>
      <p:sp>
        <p:nvSpPr>
          <p:cNvPr id="10" name="">
            <a:extLst xmlns:a="http://schemas.openxmlformats.org/drawingml/2006/main">
              <a:ext uri="{FF2B5EF4-FFF2-40B4-BE49-F238E27FC236}">
                <a16:creationId xmlns:a16="http://schemas.microsoft.com/office/drawing/2014/main" id="{2D794C57-EDCB-44EF-803D-B92FD46202B2}"/>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55B51948-ACFC-4E8E-987A-98AD827AA21A}"/>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0B2EC20D-9496-4631-A46E-0474FF41B1E4}"/>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키워드·벡터 검색</a:t>
            </a:r>
          </a:p>
        </p:txBody>
      </p:sp>
      <p:sp>
        <p:nvSpPr>
          <p:cNvPr id="13" name="">
            <a:extLst xmlns:a="http://schemas.openxmlformats.org/drawingml/2006/main">
              <a:ext uri="{FF2B5EF4-FFF2-40B4-BE49-F238E27FC236}">
                <a16:creationId xmlns:a16="http://schemas.microsoft.com/office/drawing/2014/main" id="{7767F020-152C-4F41-BCE2-465BE095336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E394D53-4AAC-4AD1-BB8E-26F4259D21C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50D0D176-424D-4D2C-AA04-EA27ABDC16F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OCR·메타정보 추출</a:t>
            </a:r>
          </a:p>
        </p:txBody>
      </p:sp>
      <p:sp>
        <p:nvSpPr>
          <p:cNvPr id="16" name="">
            <a:extLst xmlns:a="http://schemas.openxmlformats.org/drawingml/2006/main">
              <a:ext uri="{FF2B5EF4-FFF2-40B4-BE49-F238E27FC236}">
                <a16:creationId xmlns:a16="http://schemas.microsoft.com/office/drawing/2014/main" id="{BAD703F8-4480-4829-B69D-7FA71BB3F4D6}"/>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F2268E7-D3B1-4D43-9F74-D1D9C466AD53}"/>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CCC2F31F-0853-4879-BC05-1296D8673104}"/>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재정렬·답변·군집</a:t>
            </a:r>
          </a:p>
        </p:txBody>
      </p:sp>
      <p:sp>
        <p:nvSpPr>
          <p:cNvPr id="19" name="">
            <a:extLst xmlns:a="http://schemas.openxmlformats.org/drawingml/2006/main">
              <a:ext uri="{FF2B5EF4-FFF2-40B4-BE49-F238E27FC236}">
                <a16:creationId xmlns:a16="http://schemas.microsoft.com/office/drawing/2014/main" id="{7269DAC8-EE7D-4150-8303-7D9B08ABC8DE}"/>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A4D9538-0593-4B9F-B16F-D0937EB1FA0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54947B81-9DF7-4C28-BFC2-BC7F5D18BFBB}"/>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동일 사건 대조</a:t>
            </a:r>
          </a:p>
        </p:txBody>
      </p:sp>
      <p:sp>
        <p:nvSpPr>
          <p:cNvPr id="22" name="">
            <a:extLst xmlns:a="http://schemas.openxmlformats.org/drawingml/2006/main">
              <a:ext uri="{FF2B5EF4-FFF2-40B4-BE49-F238E27FC236}">
                <a16:creationId xmlns:a16="http://schemas.microsoft.com/office/drawing/2014/main" id="{D0F21862-3B0F-4EDD-80CE-95F3F5158375}"/>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68875B6-6387-46E8-85CC-E14F98E491C1}"/>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3056B625-D9D9-4A71-8CB3-43CECB8F45D9}"/>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담당자 수정</a:t>
            </a:r>
          </a:p>
        </p:txBody>
      </p:sp>
      <p:sp>
        <p:nvSpPr>
          <p:cNvPr id="25" name="">
            <a:extLst xmlns:a="http://schemas.openxmlformats.org/drawingml/2006/main">
              <a:ext uri="{FF2B5EF4-FFF2-40B4-BE49-F238E27FC236}">
                <a16:creationId xmlns:a16="http://schemas.microsoft.com/office/drawing/2014/main" id="{F281CF85-7A52-4F0F-A784-2969487BAF32}"/>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80D3945-DC05-4DFC-A248-B6B9CFFCDA7A}"/>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DECE6C91-D797-4ABC-A769-C3ED259038CB}"/>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 처리·분석</a:t>
            </a:r>
          </a:p>
        </p:txBody>
      </p:sp>
      <p:sp>
        <p:nvSpPr>
          <p:cNvPr id="28" name="">
            <a:extLst xmlns:a="http://schemas.openxmlformats.org/drawingml/2006/main">
              <a:ext uri="{FF2B5EF4-FFF2-40B4-BE49-F238E27FC236}">
                <a16:creationId xmlns:a16="http://schemas.microsoft.com/office/drawing/2014/main" id="{8E4BAA32-1B97-46C6-B2F7-1BBDC467D84C}"/>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21A57AC2-43F6-413C-8AC1-86FCBFABB60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4F8B93A4-272E-407C-84C0-6091701023F0}"/>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오답·병합 오류</a:t>
            </a:r>
          </a:p>
        </p:txBody>
      </p:sp>
      <p:sp>
        <p:nvSpPr>
          <p:cNvPr id="39" name="">
            <a:extLst xmlns:a="http://schemas.openxmlformats.org/drawingml/2006/main">
              <a:ext uri="{FF2B5EF4-FFF2-40B4-BE49-F238E27FC236}">
                <a16:creationId xmlns:a16="http://schemas.microsoft.com/office/drawing/2014/main" id="{D6877A94-66A1-4939-B9B7-FDA81BD2E9F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558170227"/>
      </p:ext>
    </p:extLst>
  </p:cSld>
</p:sld>
</file>

<file path=ppt/slides/slide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DB0155E-7533-4485-B99D-27D3B4BEFD8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논리 인터페이스·복구 설계</a:t>
            </a:r>
          </a:p>
        </p:txBody>
      </p:sp>
      <p:sp>
        <p:nvSpPr>
          <p:cNvPr id="2" name="">
            <a:extLst xmlns:a="http://schemas.openxmlformats.org/drawingml/2006/main">
              <a:ext uri="{FF2B5EF4-FFF2-40B4-BE49-F238E27FC236}">
                <a16:creationId xmlns:a16="http://schemas.microsoft.com/office/drawing/2014/main" id="{D133F9AA-7F6E-4876-B20F-343CF87A71A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데이터와 예외 처리</a:t>
            </a:r>
          </a:p>
        </p:txBody>
      </p:sp>
      <p:sp>
        <p:nvSpPr>
          <p:cNvPr id="3" name="">
            <a:extLst xmlns:a="http://schemas.openxmlformats.org/drawingml/2006/main">
              <a:ext uri="{FF2B5EF4-FFF2-40B4-BE49-F238E27FC236}">
                <a16:creationId xmlns:a16="http://schemas.microsoft.com/office/drawing/2014/main" id="{A98743F9-3B2D-4E16-BB0D-0BA2496999A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7B9C985-577D-4D60-93E6-72BE1377DE7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B0D60D9-71FE-4A87-9A6A-8CB1900A4FF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a:t>
            </a:r>
          </a:p>
        </p:txBody>
      </p:sp>
      <p:sp>
        <p:nvSpPr>
          <p:cNvPr id="6" name="">
            <a:extLst xmlns:a="http://schemas.openxmlformats.org/drawingml/2006/main">
              <a:ext uri="{FF2B5EF4-FFF2-40B4-BE49-F238E27FC236}">
                <a16:creationId xmlns:a16="http://schemas.microsoft.com/office/drawing/2014/main" id="{36D3F633-CEA9-4F0A-8A72-86D42435005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9E3012A-7EEF-4121-9638-B80625930E3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096E06E-5E33-4AA4-AD87-10CF3A8DDF4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B39A73A7-1A03-4E3C-8BE3-FF7B62901ED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민원·답변 자료</a:t>
            </a:r>
          </a:p>
        </p:txBody>
      </p:sp>
      <p:sp>
        <p:nvSpPr>
          <p:cNvPr id="10" name="">
            <a:extLst xmlns:a="http://schemas.openxmlformats.org/drawingml/2006/main">
              <a:ext uri="{FF2B5EF4-FFF2-40B4-BE49-F238E27FC236}">
                <a16:creationId xmlns:a16="http://schemas.microsoft.com/office/drawing/2014/main" id="{9A18CA90-4816-439D-881C-F39473D13E9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9A4761-E452-46B5-908B-4A37B22C752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1CB2F8EB-450B-4EED-B5DA-F22018A466F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유사 사건</a:t>
            </a:r>
          </a:p>
        </p:txBody>
      </p:sp>
      <p:sp>
        <p:nvSpPr>
          <p:cNvPr id="13" name="">
            <a:extLst xmlns:a="http://schemas.openxmlformats.org/drawingml/2006/main">
              <a:ext uri="{FF2B5EF4-FFF2-40B4-BE49-F238E27FC236}">
                <a16:creationId xmlns:a16="http://schemas.microsoft.com/office/drawing/2014/main" id="{44224E59-959E-45C3-BBF0-34713A43688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236BAE6-CC21-48AA-B8A8-7156A4767F1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5BF8CEDA-924C-4188-A5B2-1864A268C0C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02C3C52B-C059-484B-BEE5-217B5B84259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2B2ECF-5715-4775-910F-B7CCED6C9AF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2EDF397A-02B8-4D69-BDBD-444D5AC01B4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추천 답변</a:t>
            </a:r>
          </a:p>
        </p:txBody>
      </p:sp>
      <p:sp>
        <p:nvSpPr>
          <p:cNvPr id="19" name="">
            <a:extLst xmlns:a="http://schemas.openxmlformats.org/drawingml/2006/main">
              <a:ext uri="{FF2B5EF4-FFF2-40B4-BE49-F238E27FC236}">
                <a16:creationId xmlns:a16="http://schemas.microsoft.com/office/drawing/2014/main" id="{9130A455-9E0E-4C71-88B1-21032A7FCA6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1B0591A-3A78-4AD8-AA0F-7336774FA40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A1E88606-57D8-4778-ACDB-F16C721E267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추천 답변</a:t>
            </a:r>
          </a:p>
        </p:txBody>
      </p:sp>
      <p:sp>
        <p:nvSpPr>
          <p:cNvPr id="22" name="">
            <a:extLst xmlns:a="http://schemas.openxmlformats.org/drawingml/2006/main">
              <a:ext uri="{FF2B5EF4-FFF2-40B4-BE49-F238E27FC236}">
                <a16:creationId xmlns:a16="http://schemas.microsoft.com/office/drawing/2014/main" id="{DEA97D94-67A0-4084-8A30-59C033B5A03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0F0B2E4-82B3-404C-92AB-89CC66D4CDB0}"/>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E873FEA3-F636-4516-ACF9-8216327FEF9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수정·회신</a:t>
            </a:r>
          </a:p>
        </p:txBody>
      </p:sp>
      <p:sp>
        <p:nvSpPr>
          <p:cNvPr id="25" name="">
            <a:extLst xmlns:a="http://schemas.openxmlformats.org/drawingml/2006/main">
              <a:ext uri="{FF2B5EF4-FFF2-40B4-BE49-F238E27FC236}">
                <a16:creationId xmlns:a16="http://schemas.microsoft.com/office/drawing/2014/main" id="{6CDDDBF4-FF6E-4778-8CF2-8ECAC2DFD2E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A3578E2-87BD-4785-8475-EFE6B1F1C2D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표현이 같은 다른 사건·소관기관 차이·반대 취지</a:t>
            </a:r>
          </a:p>
        </p:txBody>
      </p:sp>
      <p:sp>
        <p:nvSpPr>
          <p:cNvPr id="27" name="">
            <a:extLst xmlns:a="http://schemas.openxmlformats.org/drawingml/2006/main">
              <a:ext uri="{FF2B5EF4-FFF2-40B4-BE49-F238E27FC236}">
                <a16:creationId xmlns:a16="http://schemas.microsoft.com/office/drawing/2014/main" id="{D8105221-1E70-4BF4-8FD7-0A1FC148A06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909ACF4-2E57-4F92-8591-D881975EE9D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사건 여부·개인정보 범위 검토</a:t>
            </a:r>
          </a:p>
        </p:txBody>
      </p:sp>
      <p:sp>
        <p:nvSpPr>
          <p:cNvPr id="29" name="">
            <a:extLst xmlns:a="http://schemas.openxmlformats.org/drawingml/2006/main">
              <a:ext uri="{FF2B5EF4-FFF2-40B4-BE49-F238E27FC236}">
                <a16:creationId xmlns:a16="http://schemas.microsoft.com/office/drawing/2014/main" id="{C95C29F9-B4DE-4CB3-85F7-CF39290D0DA8}"/>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1A48818-8469-4CD6-95CD-1849215A29A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기관별 답변 적합성과 병합 오류 분석</a:t>
            </a:r>
          </a:p>
        </p:txBody>
      </p:sp>
      <p:sp>
        <p:nvSpPr>
          <p:cNvPr id="31" name="">
            <a:extLst xmlns:a="http://schemas.openxmlformats.org/drawingml/2006/main">
              <a:ext uri="{FF2B5EF4-FFF2-40B4-BE49-F238E27FC236}">
                <a16:creationId xmlns:a16="http://schemas.microsoft.com/office/drawing/2014/main" id="{B279149C-8E3D-41E6-A584-DE8F859B013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4196D81-0555-4074-9C44-FC9B1AE7BAF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군집 정답표·잘못된 병합 건·담당자 수정 이력</a:t>
            </a:r>
          </a:p>
        </p:txBody>
      </p:sp>
    </p:spTree>
    <p:extLst>
      <p:ext uri="{BB962C8B-B14F-4D97-AF65-F5344CB8AC3E}">
        <p14:creationId xmlns:p14="http://schemas.microsoft.com/office/powerpoint/2010/main" val="128906718"/>
      </p:ext>
    </p:extLst>
  </p:cSld>
</p:sld>
</file>

<file path=ppt/slides/slide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FD89C0F-32F2-4789-AECD-5778F6B9C62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PF-R02 / CCK 비교·재현 시험 설계</a:t>
            </a:r>
          </a:p>
        </p:txBody>
      </p:sp>
      <p:sp>
        <p:nvSpPr>
          <p:cNvPr id="2" name="">
            <a:extLst xmlns:a="http://schemas.openxmlformats.org/drawingml/2006/main">
              <a:ext uri="{FF2B5EF4-FFF2-40B4-BE49-F238E27FC236}">
                <a16:creationId xmlns:a16="http://schemas.microsoft.com/office/drawing/2014/main" id="{CDA4C791-4F30-451D-BBA8-F03407A8A81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국민권익위 민원 AI · 벤치마킹</a:t>
            </a:r>
          </a:p>
        </p:txBody>
      </p:sp>
      <p:sp>
        <p:nvSpPr>
          <p:cNvPr id="3" name="">
            <a:extLst xmlns:a="http://schemas.openxmlformats.org/drawingml/2006/main">
              <a:ext uri="{FF2B5EF4-FFF2-40B4-BE49-F238E27FC236}">
                <a16:creationId xmlns:a16="http://schemas.microsoft.com/office/drawing/2014/main" id="{FF25E56E-582E-4147-85AB-CEB57803496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F07BAE-5448-4C93-BC9E-45A8561B214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57CF51A-6D31-4362-AC15-0D6373FCFA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a:t>
            </a:r>
          </a:p>
        </p:txBody>
      </p:sp>
      <p:sp>
        <p:nvSpPr>
          <p:cNvPr id="6" name="">
            <a:extLst xmlns:a="http://schemas.openxmlformats.org/drawingml/2006/main">
              <a:ext uri="{FF2B5EF4-FFF2-40B4-BE49-F238E27FC236}">
                <a16:creationId xmlns:a16="http://schemas.microsoft.com/office/drawing/2014/main" id="{813C5A63-3296-4C04-BF80-5C17FDEBFA2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ADDE18F-AB70-4E5D-9D1C-5B46BA20DAB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유사민원과 답변 추천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수정을 반영한 활용</a:t>
            </a:r>
          </a:p>
        </p:txBody>
      </p:sp>
      <p:sp>
        <p:nvSpPr>
          <p:cNvPr id="8" name="">
            <a:extLst xmlns:a="http://schemas.openxmlformats.org/drawingml/2006/main">
              <a:ext uri="{FF2B5EF4-FFF2-40B4-BE49-F238E27FC236}">
                <a16:creationId xmlns:a16="http://schemas.microsoft.com/office/drawing/2014/main" id="{EA3979EA-5932-4CCD-8107-8CB2D9AC272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728BCBF-483A-46FA-832B-E63A76FBF019}"/>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사건의 무리한 병합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답변 추천을 공식 회신으로 오인</a:t>
            </a:r>
          </a:p>
        </p:txBody>
      </p:sp>
      <p:sp>
        <p:nvSpPr>
          <p:cNvPr id="10" name="">
            <a:extLst xmlns:a="http://schemas.openxmlformats.org/drawingml/2006/main">
              <a:ext uri="{FF2B5EF4-FFF2-40B4-BE49-F238E27FC236}">
                <a16:creationId xmlns:a16="http://schemas.microsoft.com/office/drawing/2014/main" id="{D653F88C-C8AD-4A34-974C-F7951B286CB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28E52E21-CD2D-4526-9A91-A5317B2E178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동일 사건 여부·개인정보 범위 검토</a:t>
            </a:r>
          </a:p>
        </p:txBody>
      </p:sp>
      <p:sp>
        <p:nvSpPr>
          <p:cNvPr id="12" name="">
            <a:extLst xmlns:a="http://schemas.openxmlformats.org/drawingml/2006/main">
              <a:ext uri="{FF2B5EF4-FFF2-40B4-BE49-F238E27FC236}">
                <a16:creationId xmlns:a16="http://schemas.microsoft.com/office/drawing/2014/main" id="{13CB1CD5-3658-4DAF-AE8E-7D7C3D72867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2C436F8-C807-4E3D-8A35-8E506C1C6AE0}"/>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사안의 반복 민원을 묶고 기관별 답변 초안 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a:t>
            </a:r>
          </a:p>
        </p:txBody>
      </p:sp>
      <p:sp>
        <p:nvSpPr>
          <p:cNvPr id="14" name="">
            <a:extLst xmlns:a="http://schemas.openxmlformats.org/drawingml/2006/main">
              <a:ext uri="{FF2B5EF4-FFF2-40B4-BE49-F238E27FC236}">
                <a16:creationId xmlns:a16="http://schemas.microsoft.com/office/drawing/2014/main" id="{2E26CBAD-D658-4229-91DF-67C910BFB97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C669E6D3-9E81-4F15-8EF0-F151D754C9F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표현이 같은 다른 사건·소관기관 차이·반대 취지</a:t>
            </a:r>
          </a:p>
        </p:txBody>
      </p:sp>
      <p:sp>
        <p:nvSpPr>
          <p:cNvPr id="16" name="">
            <a:extLst xmlns:a="http://schemas.openxmlformats.org/drawingml/2006/main">
              <a:ext uri="{FF2B5EF4-FFF2-40B4-BE49-F238E27FC236}">
                <a16:creationId xmlns:a16="http://schemas.microsoft.com/office/drawing/2014/main" id="{56C7B74A-C1EC-4D8F-B099-F16E4717E7EC}"/>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363E0CE-6AF8-4F29-A56F-029491EAFF7C}"/>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군집 정답표·잘못된 병합 건·담당자 수정 이력</a:t>
            </a:r>
          </a:p>
        </p:txBody>
      </p:sp>
    </p:spTree>
    <p:extLst>
      <p:ext uri="{BB962C8B-B14F-4D97-AF65-F5344CB8AC3E}">
        <p14:creationId xmlns:p14="http://schemas.microsoft.com/office/powerpoint/2010/main" val="1905499310"/>
      </p:ext>
    </p:extLst>
  </p:cSld>
</p:sld>
</file>

<file path=ppt/slides/slide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6B15C1-7681-467E-ACE5-FCF2ACD0174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후속 공고 RFP 확인 / 계약·운영 미확인 / 국내</a:t>
            </a:r>
          </a:p>
        </p:txBody>
      </p:sp>
      <p:sp>
        <p:nvSpPr>
          <p:cNvPr id="2" name="">
            <a:extLst xmlns:a="http://schemas.openxmlformats.org/drawingml/2006/main">
              <a:ext uri="{FF2B5EF4-FFF2-40B4-BE49-F238E27FC236}">
                <a16:creationId xmlns:a16="http://schemas.microsoft.com/office/drawing/2014/main" id="{8A3CECE1-469F-4AC1-9631-F93E6629B48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a:t>
            </a:r>
          </a:p>
        </p:txBody>
      </p:sp>
      <p:sp>
        <p:nvSpPr>
          <p:cNvPr id="3" name="">
            <a:extLst xmlns:a="http://schemas.openxmlformats.org/drawingml/2006/main">
              <a:ext uri="{FF2B5EF4-FFF2-40B4-BE49-F238E27FC236}">
                <a16:creationId xmlns:a16="http://schemas.microsoft.com/office/drawing/2014/main" id="{32A8111F-D117-44FD-84FB-922F0CC5DF8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8075A01-0486-400A-AC15-14CC1966B83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759DE1E-DAD6-4DF4-8DE0-F142E5D3226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a:t>
            </a:r>
          </a:p>
        </p:txBody>
      </p:sp>
      <p:sp>
        <p:nvSpPr>
          <p:cNvPr id="6" name="">
            <a:extLst xmlns:a="http://schemas.openxmlformats.org/drawingml/2006/main">
              <a:ext uri="{FF2B5EF4-FFF2-40B4-BE49-F238E27FC236}">
                <a16:creationId xmlns:a16="http://schemas.microsoft.com/office/drawing/2014/main" id="{ACFAEBF8-7A17-44C6-BFD0-21D75B94ED8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6C47871-6E8D-458E-80A0-0DF681E6E1A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생산기술연구원의 기존 연구행정 검색·AI 환경에 직무별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검색, 에이전트 처리, 문서 생성, 운영 관리 기능을 추가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고도화. 연구직과 행정직의 관심 자료가 다른 상황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에서 동일 질의의 결과 순서를 다르게 구성하는 요구가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a:t>
            </a:r>
          </a:p>
        </p:txBody>
      </p:sp>
      <p:sp>
        <p:nvSpPr>
          <p:cNvPr id="8" name="">
            <a:extLst xmlns:a="http://schemas.openxmlformats.org/drawingml/2006/main">
              <a:ext uri="{FF2B5EF4-FFF2-40B4-BE49-F238E27FC236}">
                <a16:creationId xmlns:a16="http://schemas.microsoft.com/office/drawing/2014/main" id="{90FD3EA3-1A01-4A79-BE5C-C9CBCCCAD057}"/>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040B140-5601-4234-AEDD-0D7DE4A6A76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SFR-007은 부서·직무·검색 이력·진행 업무를 이용한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검색 최적화, SFR-009는 복합 질문의 태스크 분해와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도메인 에이전트 호출, SFR-010은 문서 양식·필수 항목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과제정보의 결합을 요구. 인사 연동과 역할별 접근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제어를 검색 추천보다 먼저 연결하는 설계.</a:t>
            </a:r>
          </a:p>
        </p:txBody>
      </p:sp>
      <p:sp>
        <p:nvSpPr>
          <p:cNvPr id="10" name="">
            <a:extLst xmlns:a="http://schemas.openxmlformats.org/drawingml/2006/main">
              <a:ext uri="{FF2B5EF4-FFF2-40B4-BE49-F238E27FC236}">
                <a16:creationId xmlns:a16="http://schemas.microsoft.com/office/drawing/2014/main" id="{FFCA8841-01F7-4D8F-8D33-9F945BCA65A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7F3F0E4-0692-4647-BFE5-31BB4030189B}"/>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조직 네이티브 AI와 직접 비교할 지점은 공식 소속·직무</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를 검색 문맥으로 사용하는 방식. 추천 순위 개선과 접근권한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확대를 분리하고, 전보 전후 동일 질의의 검색 범위·서식·근</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거 차이를 검수할 필요. 기존 검색·LLM의 재사용과 조직 매</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핑 추가분의 구분.</a:t>
            </a:r>
          </a:p>
        </p:txBody>
      </p:sp>
      <p:sp>
        <p:nvSpPr>
          <p:cNvPr id="12" name="">
            <a:extLst xmlns:a="http://schemas.openxmlformats.org/drawingml/2006/main">
              <a:ext uri="{FF2B5EF4-FFF2-40B4-BE49-F238E27FC236}">
                <a16:creationId xmlns:a16="http://schemas.microsoft.com/office/drawing/2014/main" id="{FACD2129-FC1D-487A-B54B-5C308CB24D0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8122E3C-C9E0-45A2-998B-2A93D9F123F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사번–부서–직무–업무 연결 / 검색 재정렬 / 직무별 문서 양식</a:t>
            </a:r>
          </a:p>
        </p:txBody>
      </p:sp>
      <p:sp>
        <p:nvSpPr>
          <p:cNvPr id="14" name="">
            <a:extLst xmlns:a="http://schemas.openxmlformats.org/drawingml/2006/main">
              <a:ext uri="{FF2B5EF4-FFF2-40B4-BE49-F238E27FC236}">
                <a16:creationId xmlns:a16="http://schemas.microsoft.com/office/drawing/2014/main" id="{BED7BFDC-E9AB-44BE-9A0B-1BBCD5E73A6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8E28B837-D313-4DE3-830C-10F208B1A30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질의의 직무별 정답·문서 순위·서식 비교 및 전보 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시험</a:t>
            </a:r>
          </a:p>
        </p:txBody>
      </p:sp>
      <p:sp>
        <p:nvSpPr>
          <p:cNvPr id="16" name="">
            <a:extLst xmlns:a="http://schemas.openxmlformats.org/drawingml/2006/main">
              <a:ext uri="{FF2B5EF4-FFF2-40B4-BE49-F238E27FC236}">
                <a16:creationId xmlns:a16="http://schemas.microsoft.com/office/drawing/2014/main" id="{757E6DA0-510F-4BC6-A8F8-04D662E1741C}"/>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D4BCD2D-E5D1-42D7-85AC-0C1CFBB2ACD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직무별 과업 성공률 / 검색·문서 작성시간 / 요청당 비용</a:t>
            </a:r>
          </a:p>
        </p:txBody>
      </p:sp>
      <p:sp>
        <p:nvSpPr>
          <p:cNvPr id="18" name="">
            <a:extLst xmlns:a="http://schemas.openxmlformats.org/drawingml/2006/main">
              <a:ext uri="{FF2B5EF4-FFF2-40B4-BE49-F238E27FC236}">
                <a16:creationId xmlns:a16="http://schemas.microsoft.com/office/drawing/2014/main" id="{BD8BDC3C-2D1F-432D-B473-AEFF0DA3B24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연구원 외부 TechGPT 성과와 본 내부사업을 혼동하지 않음</a:t>
            </a:r>
          </a:p>
        </p:txBody>
      </p:sp>
    </p:spTree>
    <p:extLst>
      <p:ext uri="{BB962C8B-B14F-4D97-AF65-F5344CB8AC3E}">
        <p14:creationId xmlns:p14="http://schemas.microsoft.com/office/powerpoint/2010/main" val="1650533671"/>
      </p:ext>
    </p:extLst>
  </p:cSld>
</p:sld>
</file>

<file path=ppt/slides/slide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69C39D0-AFDB-4CDE-902C-B5095A5118D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1–3</a:t>
            </a:r>
          </a:p>
        </p:txBody>
      </p:sp>
      <p:sp>
        <p:nvSpPr>
          <p:cNvPr id="2" name="">
            <a:extLst xmlns:a="http://schemas.openxmlformats.org/drawingml/2006/main">
              <a:ext uri="{FF2B5EF4-FFF2-40B4-BE49-F238E27FC236}">
                <a16:creationId xmlns:a16="http://schemas.microsoft.com/office/drawing/2014/main" id="{CF754A3A-A261-4C1A-9543-83E0B08EA28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0147B337-767D-4B7C-932C-734AF240D07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4E5DA2-B114-4585-A1DF-096B282F3DA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E268C2B-9EC4-4EF3-B1BC-2CBF6FD2EDE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a:t>
            </a:r>
          </a:p>
        </p:txBody>
      </p:sp>
      <p:sp>
        <p:nvSpPr>
          <p:cNvPr id="6" name="">
            <a:extLst xmlns:a="http://schemas.openxmlformats.org/drawingml/2006/main">
              <a:ext uri="{FF2B5EF4-FFF2-40B4-BE49-F238E27FC236}">
                <a16:creationId xmlns:a16="http://schemas.microsoft.com/office/drawing/2014/main" id="{FDCBBC90-6A12-4234-A79F-28D9B87CADF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791948-C2D6-41D4-8ECF-93027D4D1CD6}"/>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SFR-002 Agent 일반 사항</a:t>
            </a:r>
          </a:p>
        </p:txBody>
      </p:sp>
      <p:sp>
        <p:nvSpPr>
          <p:cNvPr id="8" name="">
            <a:extLst xmlns:a="http://schemas.openxmlformats.org/drawingml/2006/main">
              <a:ext uri="{FF2B5EF4-FFF2-40B4-BE49-F238E27FC236}">
                <a16:creationId xmlns:a16="http://schemas.microsoft.com/office/drawing/2014/main" id="{3F5F745C-63ED-4DF2-B86A-A774E314F7E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MCP 도구 등을 이용한 에이전트 실행의 공통 기능 구성.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요청과 도구 호출의 연결 관리.</a:t>
            </a:r>
          </a:p>
        </p:txBody>
      </p:sp>
      <p:sp>
        <p:nvSpPr>
          <p:cNvPr id="9" name="">
            <a:extLst xmlns:a="http://schemas.openxmlformats.org/drawingml/2006/main">
              <a:ext uri="{FF2B5EF4-FFF2-40B4-BE49-F238E27FC236}">
                <a16:creationId xmlns:a16="http://schemas.microsoft.com/office/drawing/2014/main" id="{F3AF59B9-BFEB-43CE-BA03-41D7903EFF1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미등록 도구·잘못된 인자·호출 실패 상황의 실행 보류와 오류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반환 확인</a:t>
            </a:r>
          </a:p>
        </p:txBody>
      </p:sp>
      <p:sp>
        <p:nvSpPr>
          <p:cNvPr id="10" name="">
            <a:extLst xmlns:a="http://schemas.openxmlformats.org/drawingml/2006/main">
              <a:ext uri="{FF2B5EF4-FFF2-40B4-BE49-F238E27FC236}">
                <a16:creationId xmlns:a16="http://schemas.microsoft.com/office/drawing/2014/main" id="{DDB6E6FC-7DCD-4423-BB36-D9F994214A2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366167-6944-4266-8145-33DB7C0887B4}"/>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접근 및 권한관리</a:t>
            </a:r>
          </a:p>
        </p:txBody>
      </p:sp>
      <p:sp>
        <p:nvSpPr>
          <p:cNvPr id="12" name="">
            <a:extLst xmlns:a="http://schemas.openxmlformats.org/drawingml/2006/main">
              <a:ext uri="{FF2B5EF4-FFF2-40B4-BE49-F238E27FC236}">
                <a16:creationId xmlns:a16="http://schemas.microsoft.com/office/drawing/2014/main" id="{9967A20E-5510-4D77-91E8-84D0F5116353}"/>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인사·조직 정보를 반영한 접근 및 권한 관리. 사용자 역할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 맞는 데이터·기능 범위 적용.</a:t>
            </a:r>
          </a:p>
        </p:txBody>
      </p:sp>
      <p:sp>
        <p:nvSpPr>
          <p:cNvPr id="13" name="">
            <a:extLst xmlns:a="http://schemas.openxmlformats.org/drawingml/2006/main">
              <a:ext uri="{FF2B5EF4-FFF2-40B4-BE49-F238E27FC236}">
                <a16:creationId xmlns:a16="http://schemas.microsoft.com/office/drawing/2014/main" id="{9759794C-0388-4DEF-8A00-5F28B81AA07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전보·겸직·퇴직·권한 해제 시 검색과 실행 양쪽의 접근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비교</a:t>
            </a:r>
          </a:p>
        </p:txBody>
      </p:sp>
      <p:sp>
        <p:nvSpPr>
          <p:cNvPr id="14" name="">
            <a:extLst xmlns:a="http://schemas.openxmlformats.org/drawingml/2006/main">
              <a:ext uri="{FF2B5EF4-FFF2-40B4-BE49-F238E27FC236}">
                <a16:creationId xmlns:a16="http://schemas.microsoft.com/office/drawing/2014/main" id="{723363D4-FC16-488A-BDF0-304BB23CC5F4}"/>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133423-D452-4146-9116-1710C9BFEAB6}"/>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데이터 통합 파이프라인 구축</a:t>
            </a:r>
          </a:p>
        </p:txBody>
      </p:sp>
      <p:sp>
        <p:nvSpPr>
          <p:cNvPr id="16" name="">
            <a:extLst xmlns:a="http://schemas.openxmlformats.org/drawingml/2006/main">
              <a:ext uri="{FF2B5EF4-FFF2-40B4-BE49-F238E27FC236}">
                <a16:creationId xmlns:a16="http://schemas.microsoft.com/office/drawing/2014/main" id="{C847E5BA-CC5F-40B3-82AF-C74F6CF07C47}"/>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분산 데이터를 수집·정제·연계하는 통합 파이프라인 구축.</a:t>
            </a:r>
          </a:p>
        </p:txBody>
      </p:sp>
      <p:sp>
        <p:nvSpPr>
          <p:cNvPr id="17" name="">
            <a:extLst xmlns:a="http://schemas.openxmlformats.org/drawingml/2006/main">
              <a:ext uri="{FF2B5EF4-FFF2-40B4-BE49-F238E27FC236}">
                <a16:creationId xmlns:a16="http://schemas.microsoft.com/office/drawing/2014/main" id="{1116CBCE-54D7-43CB-BF4C-835A99636C7D}"/>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파일 형식 오류·중복·갱신·삭제 자료의 재처리와 원천-색인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건수 대사</a:t>
            </a:r>
          </a:p>
        </p:txBody>
      </p:sp>
    </p:spTree>
    <p:extLst>
      <p:ext uri="{BB962C8B-B14F-4D97-AF65-F5344CB8AC3E}">
        <p14:creationId xmlns:p14="http://schemas.microsoft.com/office/powerpoint/2010/main" val="378667018"/>
      </p:ext>
    </p:extLst>
  </p:cSld>
</p:sld>
</file>

<file path=ppt/slides/slide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0D6F969-A68A-43E7-8706-EDE2DBF73D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4–6</a:t>
            </a:r>
          </a:p>
        </p:txBody>
      </p:sp>
      <p:sp>
        <p:nvSpPr>
          <p:cNvPr id="2" name="">
            <a:extLst xmlns:a="http://schemas.openxmlformats.org/drawingml/2006/main">
              <a:ext uri="{FF2B5EF4-FFF2-40B4-BE49-F238E27FC236}">
                <a16:creationId xmlns:a16="http://schemas.microsoft.com/office/drawing/2014/main" id="{432D306C-4DCB-4F4A-86D9-C87D9E3BCE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8FE808C6-F555-488F-9258-6922716E525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3B53AD-C2C7-4031-94A4-BFA6BF5287B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BAC7B6C-AD8A-401E-A512-C97204C27E0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21</a:t>
            </a:r>
          </a:p>
        </p:txBody>
      </p:sp>
      <p:sp>
        <p:nvSpPr>
          <p:cNvPr id="6" name="">
            <a:extLst xmlns:a="http://schemas.openxmlformats.org/drawingml/2006/main">
              <a:ext uri="{FF2B5EF4-FFF2-40B4-BE49-F238E27FC236}">
                <a16:creationId xmlns:a16="http://schemas.microsoft.com/office/drawing/2014/main" id="{21FCE994-0DA3-406E-A4EF-96A9E9415C01}"/>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37DD0A-DF6A-4B8F-84DD-D9C86D75B5D9}"/>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AI 기반 지능형 검색 서비스</a:t>
            </a:r>
          </a:p>
        </p:txBody>
      </p:sp>
      <p:sp>
        <p:nvSpPr>
          <p:cNvPr id="8" name="">
            <a:extLst xmlns:a="http://schemas.openxmlformats.org/drawingml/2006/main">
              <a:ext uri="{FF2B5EF4-FFF2-40B4-BE49-F238E27FC236}">
                <a16:creationId xmlns:a16="http://schemas.microsoft.com/office/drawing/2014/main" id="{56402A4C-3122-42EE-B615-6A5BEF423B38}"/>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부서·직무·사용 이력 등을 반영한 AI 검색과 결과 재정렬.</a:t>
            </a:r>
          </a:p>
        </p:txBody>
      </p:sp>
      <p:sp>
        <p:nvSpPr>
          <p:cNvPr id="9" name="">
            <a:extLst xmlns:a="http://schemas.openxmlformats.org/drawingml/2006/main">
              <a:ext uri="{FF2B5EF4-FFF2-40B4-BE49-F238E27FC236}">
                <a16:creationId xmlns:a16="http://schemas.microsoft.com/office/drawing/2014/main" id="{6E649426-10E0-4F12-8DA2-CF75341CF7A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연구직·행정직의 동일 질의에서 관련성 변화와 권한 밖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제외를 함께 평가</a:t>
            </a:r>
          </a:p>
        </p:txBody>
      </p:sp>
      <p:sp>
        <p:nvSpPr>
          <p:cNvPr id="10" name="">
            <a:extLst xmlns:a="http://schemas.openxmlformats.org/drawingml/2006/main">
              <a:ext uri="{FF2B5EF4-FFF2-40B4-BE49-F238E27FC236}">
                <a16:creationId xmlns:a16="http://schemas.microsoft.com/office/drawing/2014/main" id="{DE619708-B449-4B56-8AAF-98B2BF050AEE}"/>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B4B2C7-9787-4D3D-9482-49A639F7EAF5}"/>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멀티 모델 적용</a:t>
            </a:r>
          </a:p>
        </p:txBody>
      </p:sp>
      <p:sp>
        <p:nvSpPr>
          <p:cNvPr id="12" name="">
            <a:extLst xmlns:a="http://schemas.openxmlformats.org/drawingml/2006/main">
              <a:ext uri="{FF2B5EF4-FFF2-40B4-BE49-F238E27FC236}">
                <a16:creationId xmlns:a16="http://schemas.microsoft.com/office/drawing/2014/main" id="{A0F236BC-30BC-4891-91FA-A39BBFB57509}"/>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복수 모델의 적용·선택·비교를 지원하는 멀티모델 구조.</a:t>
            </a:r>
          </a:p>
        </p:txBody>
      </p:sp>
      <p:sp>
        <p:nvSpPr>
          <p:cNvPr id="13" name="">
            <a:extLst xmlns:a="http://schemas.openxmlformats.org/drawingml/2006/main">
              <a:ext uri="{FF2B5EF4-FFF2-40B4-BE49-F238E27FC236}">
                <a16:creationId xmlns:a16="http://schemas.microsoft.com/office/drawing/2014/main" id="{CFC704AC-CEE2-4EF0-A027-BF7F77C92BF1}"/>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같은 입력의 모델별 정확성·시간·비용과 오류 발생 시 처리 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로 비교</a:t>
            </a:r>
          </a:p>
        </p:txBody>
      </p:sp>
      <p:sp>
        <p:nvSpPr>
          <p:cNvPr id="14" name="">
            <a:extLst xmlns:a="http://schemas.openxmlformats.org/drawingml/2006/main">
              <a:ext uri="{FF2B5EF4-FFF2-40B4-BE49-F238E27FC236}">
                <a16:creationId xmlns:a16="http://schemas.microsoft.com/office/drawing/2014/main" id="{51158815-8FE1-4ABB-AB32-4869F8A90352}"/>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32FE3B6-B89A-4FBD-9B9B-0E4AD4638802}"/>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SFR-009 지능형 질의응답 고도화 체계 구축</a:t>
            </a:r>
          </a:p>
        </p:txBody>
      </p:sp>
      <p:sp>
        <p:nvSpPr>
          <p:cNvPr id="16" name="">
            <a:extLst xmlns:a="http://schemas.openxmlformats.org/drawingml/2006/main">
              <a:ext uri="{FF2B5EF4-FFF2-40B4-BE49-F238E27FC236}">
                <a16:creationId xmlns:a16="http://schemas.microsoft.com/office/drawing/2014/main" id="{1472615C-6C88-49B7-ABFF-0B4E2C8EC690}"/>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질의의 업무 계획 수립과 도메인 에이전트 연결을 통한 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의응답 고도화.</a:t>
            </a:r>
          </a:p>
        </p:txBody>
      </p:sp>
      <p:sp>
        <p:nvSpPr>
          <p:cNvPr id="17" name="">
            <a:extLst xmlns:a="http://schemas.openxmlformats.org/drawingml/2006/main">
              <a:ext uri="{FF2B5EF4-FFF2-40B4-BE49-F238E27FC236}">
                <a16:creationId xmlns:a16="http://schemas.microsoft.com/office/drawing/2014/main" id="{000D30E8-388A-4C2E-AAB0-F94777435837}"/>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계획 일부 실패·불필요한 도구 호출·담당 영역 혼동 시 중단·</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재계획 경로 확인</a:t>
            </a:r>
          </a:p>
        </p:txBody>
      </p:sp>
    </p:spTree>
    <p:extLst>
      <p:ext uri="{BB962C8B-B14F-4D97-AF65-F5344CB8AC3E}">
        <p14:creationId xmlns:p14="http://schemas.microsoft.com/office/powerpoint/2010/main" val="177090556"/>
      </p:ext>
    </p:extLst>
  </p:cSld>
</p:sld>
</file>

<file path=ppt/slides/slide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9EE7168-31D6-47FD-9E2B-F5C9E283C9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2026.05 · SFR-007~012 / 7–8</a:t>
            </a:r>
          </a:p>
        </p:txBody>
      </p:sp>
      <p:sp>
        <p:nvSpPr>
          <p:cNvPr id="2" name="">
            <a:extLst xmlns:a="http://schemas.openxmlformats.org/drawingml/2006/main">
              <a:ext uri="{FF2B5EF4-FFF2-40B4-BE49-F238E27FC236}">
                <a16:creationId xmlns:a16="http://schemas.microsoft.com/office/drawing/2014/main" id="{EDB3C319-69E3-4E3A-A99A-2761713AD56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RFP 요구사항</a:t>
            </a:r>
          </a:p>
        </p:txBody>
      </p:sp>
      <p:sp>
        <p:nvSpPr>
          <p:cNvPr id="3" name="">
            <a:extLst xmlns:a="http://schemas.openxmlformats.org/drawingml/2006/main">
              <a:ext uri="{FF2B5EF4-FFF2-40B4-BE49-F238E27FC236}">
                <a16:creationId xmlns:a16="http://schemas.microsoft.com/office/drawing/2014/main" id="{788F1CA4-270B-470F-8609-8A0BF3B19E9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1A83E0-8396-4497-A18E-DF4F6A8A8E9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9BC9BD7-D696-45E1-BF46-6E75E53245E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22</a:t>
            </a:r>
          </a:p>
        </p:txBody>
      </p:sp>
      <p:sp>
        <p:nvSpPr>
          <p:cNvPr id="6" name="">
            <a:extLst xmlns:a="http://schemas.openxmlformats.org/drawingml/2006/main">
              <a:ext uri="{FF2B5EF4-FFF2-40B4-BE49-F238E27FC236}">
                <a16:creationId xmlns:a16="http://schemas.microsoft.com/office/drawing/2014/main" id="{BC3CE0A4-7A5F-4426-8CCE-A9C4A40699F9}"/>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A76545-6CAE-4947-A8C9-6DD948A938F7}"/>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SFR-010 문서 자동 생성 지원</a:t>
            </a:r>
          </a:p>
        </p:txBody>
      </p:sp>
      <p:sp>
        <p:nvSpPr>
          <p:cNvPr id="8" name="">
            <a:extLst xmlns:a="http://schemas.openxmlformats.org/drawingml/2006/main">
              <a:ext uri="{FF2B5EF4-FFF2-40B4-BE49-F238E27FC236}">
                <a16:creationId xmlns:a16="http://schemas.microsoft.com/office/drawing/2014/main" id="{6F8E07B9-FF04-43DA-BC9A-7255CE5030D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템플릿·메타데이터·내부 자료를 활용한 정형 문서 생성 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a:t>
            </a:r>
          </a:p>
        </p:txBody>
      </p:sp>
      <p:sp>
        <p:nvSpPr>
          <p:cNvPr id="9" name="">
            <a:extLst xmlns:a="http://schemas.openxmlformats.org/drawingml/2006/main">
              <a:ext uri="{FF2B5EF4-FFF2-40B4-BE49-F238E27FC236}">
                <a16:creationId xmlns:a16="http://schemas.microsoft.com/office/drawing/2014/main" id="{AD14F7C5-821C-449B-A034-6B936E8176ED}"/>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항목 누락·다른 양식 판본·숫자 인용 오류의 검출과 사용</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 수정 확인</a:t>
            </a:r>
          </a:p>
        </p:txBody>
      </p:sp>
      <p:sp>
        <p:nvSpPr>
          <p:cNvPr id="10" name="">
            <a:extLst xmlns:a="http://schemas.openxmlformats.org/drawingml/2006/main">
              <a:ext uri="{FF2B5EF4-FFF2-40B4-BE49-F238E27FC236}">
                <a16:creationId xmlns:a16="http://schemas.microsoft.com/office/drawing/2014/main" id="{F7AE00F0-C72A-4D33-97FE-7FAECF13DF14}"/>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A2259A-D791-4FCD-B03B-B2E129B21142}"/>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SFR-012 AI 서비스 운영 모니터링 체계구축</a:t>
            </a:r>
          </a:p>
        </p:txBody>
      </p:sp>
      <p:sp>
        <p:nvSpPr>
          <p:cNvPr id="12" name="">
            <a:extLst xmlns:a="http://schemas.openxmlformats.org/drawingml/2006/main">
              <a:ext uri="{FF2B5EF4-FFF2-40B4-BE49-F238E27FC236}">
                <a16:creationId xmlns:a16="http://schemas.microsoft.com/office/drawing/2014/main" id="{C45B1405-C3D8-41CC-97AF-B47E22C58B82}"/>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서비스의 처리·이용·품질 상태를 확인하는 운영 모니터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링 체계.</a:t>
            </a:r>
          </a:p>
        </p:txBody>
      </p:sp>
      <p:sp>
        <p:nvSpPr>
          <p:cNvPr id="13" name="">
            <a:extLst xmlns:a="http://schemas.openxmlformats.org/drawingml/2006/main">
              <a:ext uri="{FF2B5EF4-FFF2-40B4-BE49-F238E27FC236}">
                <a16:creationId xmlns:a16="http://schemas.microsoft.com/office/drawing/2014/main" id="{64C71B4C-E833-418F-B0EA-BDF9B965DDFF}"/>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 요청의 검색·모델·도구 단계를 연결해 실패 지점과 지연 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 추적</a:t>
            </a:r>
          </a:p>
        </p:txBody>
      </p:sp>
    </p:spTree>
    <p:extLst>
      <p:ext uri="{BB962C8B-B14F-4D97-AF65-F5344CB8AC3E}">
        <p14:creationId xmlns:p14="http://schemas.microsoft.com/office/powerpoint/2010/main" val="678017640"/>
      </p:ext>
    </p:extLst>
  </p:cSld>
</p:sld>
</file>

<file path=ppt/slides/slide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6F5FBA-BFAE-41A4-AE8E-AE3899F09A3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RFP 수록 기존 정보시스템 현황 / RFP 원문 추출</a:t>
            </a:r>
          </a:p>
        </p:txBody>
      </p:sp>
      <p:sp>
        <p:nvSpPr>
          <p:cNvPr id="2" name="">
            <a:extLst xmlns:a="http://schemas.openxmlformats.org/drawingml/2006/main">
              <a:ext uri="{FF2B5EF4-FFF2-40B4-BE49-F238E27FC236}">
                <a16:creationId xmlns:a16="http://schemas.microsoft.com/office/drawing/2014/main" id="{CF864A92-55CA-413B-ADD5-B4EDC2FDE5C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정보시스템 연계</a:t>
            </a:r>
          </a:p>
        </p:txBody>
      </p:sp>
      <p:sp>
        <p:nvSpPr>
          <p:cNvPr id="3" name="">
            <a:extLst xmlns:a="http://schemas.openxmlformats.org/drawingml/2006/main">
              <a:ext uri="{FF2B5EF4-FFF2-40B4-BE49-F238E27FC236}">
                <a16:creationId xmlns:a16="http://schemas.microsoft.com/office/drawing/2014/main" id="{6E503CD3-2A31-481C-B670-D887100CE0E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E3AE66-AEC0-477A-891B-380FEB63816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63241B7-5DDC-4558-ACFB-5BA0225797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23</a:t>
            </a:r>
          </a:p>
        </p:txBody>
      </p:sp>
      <p:pic>
        <p:nvPicPr>
          <p:cNvPr id="6" name="">
            <a:extLst xmlns:a="http://schemas.openxmlformats.org/drawingml/2006/main">
              <a:ext uri="{FF2B5EF4-FFF2-40B4-BE49-F238E27FC236}">
                <a16:creationId xmlns:a16="http://schemas.microsoft.com/office/drawing/2014/main" id="{471F79BB-3962-40BC-B670-31A4D8C40773}"/>
              </a:ext>
            </a:extLst>
          </p:cNvPr>
          <p:cNvPicPr>
            <a:picLocks xmlns:a="http://schemas.openxmlformats.org/drawingml/2006/main" noChangeAspect="1"/>
          </p:cNvPicPr>
          <p:nvPr/>
        </p:nvPicPr>
        <p:blipFill>
          <a:blip xmlns:r="http://schemas.openxmlformats.org/officeDocument/2006/relationships" xmlns:a="http://schemas.openxmlformats.org/drawingml/2006/main" r:embed="R020727ad76af4ef5"/>
          <a:stretch xmlns:a="http://schemas.openxmlformats.org/drawingml/2006/main"/>
        </p:blipFill>
        <p:spPr>
          <a:xfrm xmlns:a="http://schemas.openxmlformats.org/drawingml/2006/main">
            <a:off x="2273908" y="1657350"/>
            <a:ext cx="7644183"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7E1E8BB-051F-4BEA-AF6F-9E52646C9C74}"/>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연구행정·경영정보·업무지원·지능형 포털 간 연계</a:t>
            </a:r>
          </a:p>
        </p:txBody>
      </p:sp>
    </p:spTree>
    <p:extLst>
      <p:ext uri="{BB962C8B-B14F-4D97-AF65-F5344CB8AC3E}">
        <p14:creationId xmlns:p14="http://schemas.microsoft.com/office/powerpoint/2010/main" val="1405191137"/>
      </p:ext>
    </p:extLst>
  </p:cSld>
</p:sld>
</file>

<file path=ppt/slides/slide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E9523BF7-7DD0-44C7-8D0B-6641DEDD630A}"/>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8774D69-1CF3-41AB-9A92-C59225C92047}"/>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3D54348B-2245-45EA-B0E5-B69174F685F9}"/>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ECD7AF5-0955-4200-A0FB-CF7F05D8BEA1}"/>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5829E6E-4A9E-4011-9201-69532E64A8EF}"/>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DE68650-1770-4400-B89E-99E8FC2AA35F}"/>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A12F07E9-2207-4613-8679-1D8D69BA398E}"/>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BC64C211-0216-4CC6-977B-2C834FE9917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D5F31D4-C021-437E-A3E9-E97A3193EA46}"/>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DB23537F-9679-4E51-AB4F-ADEAC0272FF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지식 갱신·검색·근거 응답</a:t>
            </a:r>
          </a:p>
        </p:txBody>
      </p:sp>
      <p:sp>
        <p:nvSpPr>
          <p:cNvPr id="2" name="">
            <a:extLst xmlns:a="http://schemas.openxmlformats.org/drawingml/2006/main">
              <a:ext uri="{FF2B5EF4-FFF2-40B4-BE49-F238E27FC236}">
                <a16:creationId xmlns:a16="http://schemas.microsoft.com/office/drawing/2014/main" id="{915E3F37-28ED-40A2-932B-AF5119FFA0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세부 서비스 구조</a:t>
            </a:r>
          </a:p>
        </p:txBody>
      </p:sp>
      <p:sp>
        <p:nvSpPr>
          <p:cNvPr id="3" name="">
            <a:extLst xmlns:a="http://schemas.openxmlformats.org/drawingml/2006/main">
              <a:ext uri="{FF2B5EF4-FFF2-40B4-BE49-F238E27FC236}">
                <a16:creationId xmlns:a16="http://schemas.microsoft.com/office/drawing/2014/main" id="{DF12087F-E35F-42EC-A3D7-2E8E0F64160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B924E4-8E38-478F-A7F2-F77BBD29BBF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8CC878D-E1CC-47E4-B858-D3AEF49FD0D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24</a:t>
            </a:r>
          </a:p>
        </p:txBody>
      </p:sp>
      <p:sp>
        <p:nvSpPr>
          <p:cNvPr id="6" name="">
            <a:extLst xmlns:a="http://schemas.openxmlformats.org/drawingml/2006/main">
              <a:ext uri="{FF2B5EF4-FFF2-40B4-BE49-F238E27FC236}">
                <a16:creationId xmlns:a16="http://schemas.microsoft.com/office/drawing/2014/main" id="{95021FBA-BB17-446C-A893-5A7DC9CA4F6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직원·직무 → 검색 재정렬 → 업무 에이전트 → 문서·운영 관리</a:t>
            </a:r>
          </a:p>
        </p:txBody>
      </p:sp>
      <p:sp>
        <p:nvSpPr>
          <p:cNvPr id="7" name="">
            <a:extLst xmlns:a="http://schemas.openxmlformats.org/drawingml/2006/main">
              <a:ext uri="{FF2B5EF4-FFF2-40B4-BE49-F238E27FC236}">
                <a16:creationId xmlns:a16="http://schemas.microsoft.com/office/drawing/2014/main" id="{D6885DC5-09ED-45FA-AA65-784C41114BD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B1113D5-056C-482D-B661-A04BA80A81F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27C552CE-A28A-41B5-A6DE-995BD13A3DB1}"/>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연구행정 자료</a:t>
            </a:r>
          </a:p>
        </p:txBody>
      </p:sp>
      <p:sp>
        <p:nvSpPr>
          <p:cNvPr id="10" name="">
            <a:extLst xmlns:a="http://schemas.openxmlformats.org/drawingml/2006/main">
              <a:ext uri="{FF2B5EF4-FFF2-40B4-BE49-F238E27FC236}">
                <a16:creationId xmlns:a16="http://schemas.microsoft.com/office/drawing/2014/main" id="{C6463F17-F613-4667-859D-9581EC40A2D2}"/>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F13428E-FD3B-4078-91B9-3F848F62064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39F92E3E-012D-4252-8FC5-BA89D87649B8}"/>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목차·문서 구조화</a:t>
            </a:r>
          </a:p>
        </p:txBody>
      </p:sp>
      <p:sp>
        <p:nvSpPr>
          <p:cNvPr id="13" name="">
            <a:extLst xmlns:a="http://schemas.openxmlformats.org/drawingml/2006/main">
              <a:ext uri="{FF2B5EF4-FFF2-40B4-BE49-F238E27FC236}">
                <a16:creationId xmlns:a16="http://schemas.microsoft.com/office/drawing/2014/main" id="{A57786F8-9D91-4AF0-9748-A7D3BBCD3D42}"/>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8DDB3BB-22EC-4BFA-8EAC-C85D741AFC12}"/>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ACC442A1-8B95-462A-B47D-B997A49760B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지식·색인</a:t>
            </a:r>
          </a:p>
        </p:txBody>
      </p:sp>
      <p:sp>
        <p:nvSpPr>
          <p:cNvPr id="16" name="">
            <a:extLst xmlns:a="http://schemas.openxmlformats.org/drawingml/2006/main">
              <a:ext uri="{FF2B5EF4-FFF2-40B4-BE49-F238E27FC236}">
                <a16:creationId xmlns:a16="http://schemas.microsoft.com/office/drawing/2014/main" id="{9D1E763B-FF99-4F40-AB12-EB193F9201F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FDB01D9-2921-4A61-993D-92B8B6AF139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BEDDAFAE-168E-4F8E-8615-3B7E4917B46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검색 재정렬</a:t>
            </a:r>
          </a:p>
        </p:txBody>
      </p:sp>
      <p:sp>
        <p:nvSpPr>
          <p:cNvPr id="19" name="">
            <a:extLst xmlns:a="http://schemas.openxmlformats.org/drawingml/2006/main">
              <a:ext uri="{FF2B5EF4-FFF2-40B4-BE49-F238E27FC236}">
                <a16:creationId xmlns:a16="http://schemas.microsoft.com/office/drawing/2014/main" id="{4F35B957-3503-4E64-B2F2-6BEE11F5461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5032AA0-91DC-43DA-8BA3-6703347ECA25}"/>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D04C8A82-5B94-4453-9416-8DF574D8232C}"/>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연구행정 접점</a:t>
            </a:r>
          </a:p>
        </p:txBody>
      </p:sp>
      <p:sp>
        <p:nvSpPr>
          <p:cNvPr id="22" name="">
            <a:extLst xmlns:a="http://schemas.openxmlformats.org/drawingml/2006/main">
              <a:ext uri="{FF2B5EF4-FFF2-40B4-BE49-F238E27FC236}">
                <a16:creationId xmlns:a16="http://schemas.microsoft.com/office/drawing/2014/main" id="{105E7885-5558-4C44-A1BA-BE1BABB097E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3E725D5-D2B6-4EA3-837A-A6AF5E3F1AA9}"/>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FAC73BC0-82AE-4921-A1E9-E2C0AEB55917}"/>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소속·직무·이력</a:t>
            </a:r>
          </a:p>
        </p:txBody>
      </p:sp>
      <p:sp>
        <p:nvSpPr>
          <p:cNvPr id="25" name="">
            <a:extLst xmlns:a="http://schemas.openxmlformats.org/drawingml/2006/main">
              <a:ext uri="{FF2B5EF4-FFF2-40B4-BE49-F238E27FC236}">
                <a16:creationId xmlns:a16="http://schemas.microsoft.com/office/drawing/2014/main" id="{FB0649B8-4DD7-456E-9650-DCA8573AC16C}"/>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6499F98-5BA7-414E-A8CF-FFA517EDC94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D3D5E253-FF04-43EF-967B-6C0A730A1DE8}"/>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에이전트·정형 생</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성</a:t>
            </a:r>
          </a:p>
        </p:txBody>
      </p:sp>
      <p:sp>
        <p:nvSpPr>
          <p:cNvPr id="28" name="">
            <a:extLst xmlns:a="http://schemas.openxmlformats.org/drawingml/2006/main">
              <a:ext uri="{FF2B5EF4-FFF2-40B4-BE49-F238E27FC236}">
                <a16:creationId xmlns:a16="http://schemas.microsoft.com/office/drawing/2014/main" id="{D5456488-93DA-46FA-9EEA-B05638D4942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4228939-8833-4337-905D-D955B29E671C}"/>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0757AB60-0E2B-4C5A-8B4E-2E4D812B2F6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양식·근거 검사</a:t>
            </a:r>
          </a:p>
        </p:txBody>
      </p:sp>
      <p:sp>
        <p:nvSpPr>
          <p:cNvPr id="31" name="">
            <a:extLst xmlns:a="http://schemas.openxmlformats.org/drawingml/2006/main">
              <a:ext uri="{FF2B5EF4-FFF2-40B4-BE49-F238E27FC236}">
                <a16:creationId xmlns:a16="http://schemas.microsoft.com/office/drawing/2014/main" id="{89D89FCA-2613-4A21-94D1-71C5EEFBFE3F}"/>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A06A234-8B58-41B6-9193-3FD38EBEC65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B8551C32-1886-40D6-95AC-AC47734D2BB8}"/>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 담당 확인</a:t>
            </a:r>
          </a:p>
        </p:txBody>
      </p:sp>
      <p:sp>
        <p:nvSpPr>
          <p:cNvPr id="34" name="">
            <a:extLst xmlns:a="http://schemas.openxmlformats.org/drawingml/2006/main">
              <a:ext uri="{FF2B5EF4-FFF2-40B4-BE49-F238E27FC236}">
                <a16:creationId xmlns:a16="http://schemas.microsoft.com/office/drawing/2014/main" id="{5EAEEAA8-E9D7-453C-AD9A-1C9A1D42875D}"/>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AD383D4F-C4FC-40E2-8E3C-05BB32123A5A}"/>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4DD20DC1-E386-4304-8ED4-8175AEB91CB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업무 연결</a:t>
            </a:r>
          </a:p>
        </p:txBody>
      </p:sp>
      <p:sp>
        <p:nvSpPr>
          <p:cNvPr id="46" name="">
            <a:extLst xmlns:a="http://schemas.openxmlformats.org/drawingml/2006/main">
              <a:ext uri="{FF2B5EF4-FFF2-40B4-BE49-F238E27FC236}">
                <a16:creationId xmlns:a16="http://schemas.microsoft.com/office/drawing/2014/main" id="{70BE57AD-1073-46FF-95F5-25F4324DF81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94169661"/>
      </p:ext>
    </p:extLst>
  </p:cSld>
</p:sld>
</file>

<file path=ppt/slides/slide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99AE5B0-802F-4CA9-9664-EAC65C354D8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논리 인터페이스·복구 설계</a:t>
            </a:r>
          </a:p>
        </p:txBody>
      </p:sp>
      <p:sp>
        <p:nvSpPr>
          <p:cNvPr id="2" name="">
            <a:extLst xmlns:a="http://schemas.openxmlformats.org/drawingml/2006/main">
              <a:ext uri="{FF2B5EF4-FFF2-40B4-BE49-F238E27FC236}">
                <a16:creationId xmlns:a16="http://schemas.microsoft.com/office/drawing/2014/main" id="{8F6EEADA-AB94-46EF-887A-5561B7188B6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데이터와 예외 처리</a:t>
            </a:r>
          </a:p>
        </p:txBody>
      </p:sp>
      <p:sp>
        <p:nvSpPr>
          <p:cNvPr id="3" name="">
            <a:extLst xmlns:a="http://schemas.openxmlformats.org/drawingml/2006/main">
              <a:ext uri="{FF2B5EF4-FFF2-40B4-BE49-F238E27FC236}">
                <a16:creationId xmlns:a16="http://schemas.microsoft.com/office/drawing/2014/main" id="{2107D7D6-C74A-45B3-A757-016E437BED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2E83E2-5B85-43AC-86A8-68A3B236536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F49D95B-E712-477B-AC04-E9C825626A8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25</a:t>
            </a:r>
          </a:p>
        </p:txBody>
      </p:sp>
      <p:sp>
        <p:nvSpPr>
          <p:cNvPr id="6" name="">
            <a:extLst xmlns:a="http://schemas.openxmlformats.org/drawingml/2006/main">
              <a:ext uri="{FF2B5EF4-FFF2-40B4-BE49-F238E27FC236}">
                <a16:creationId xmlns:a16="http://schemas.microsoft.com/office/drawing/2014/main" id="{9714320A-9900-444E-A70D-17864A3F291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9ADF1A5-94C9-44B7-8BF7-89E8EDC49C6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D5AB676-A783-479C-93A0-D5EA7A45B57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93AEAE10-6DE5-4A48-A342-22A76915E04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연구행정 지식</a:t>
            </a:r>
          </a:p>
        </p:txBody>
      </p:sp>
      <p:sp>
        <p:nvSpPr>
          <p:cNvPr id="10" name="">
            <a:extLst xmlns:a="http://schemas.openxmlformats.org/drawingml/2006/main">
              <a:ext uri="{FF2B5EF4-FFF2-40B4-BE49-F238E27FC236}">
                <a16:creationId xmlns:a16="http://schemas.microsoft.com/office/drawing/2014/main" id="{A54E999E-BC94-46DE-9E29-57FE758C98D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5103B37-D2CE-4EB0-9E68-39A741BB02C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972F3BDE-129B-4E9A-8076-CEF18CBF19F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19B80F64-6A57-4AF3-BF8C-206C99032C5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EEED05A-1F6A-42BE-ACBE-2CF4836E586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2C7D5140-0317-4DB5-A478-19CD9387349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소속·직무·검색 이력·진행업무 연결</a:t>
            </a:r>
          </a:p>
        </p:txBody>
      </p:sp>
      <p:sp>
        <p:nvSpPr>
          <p:cNvPr id="16" name="">
            <a:extLst xmlns:a="http://schemas.openxmlformats.org/drawingml/2006/main">
              <a:ext uri="{FF2B5EF4-FFF2-40B4-BE49-F238E27FC236}">
                <a16:creationId xmlns:a16="http://schemas.microsoft.com/office/drawing/2014/main" id="{E59CC474-80B1-4E79-A474-13ECA2C2AC6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90A2129-9A5C-47DD-84E7-FAF698B5C609}"/>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32B05F30-B41F-4CA1-9035-BCFC97C9F80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직무별 순위·근거·서식과 모델 전환·복구 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과</a:t>
            </a:r>
          </a:p>
        </p:txBody>
      </p:sp>
      <p:sp>
        <p:nvSpPr>
          <p:cNvPr id="19" name="">
            <a:extLst xmlns:a="http://schemas.openxmlformats.org/drawingml/2006/main">
              <a:ext uri="{FF2B5EF4-FFF2-40B4-BE49-F238E27FC236}">
                <a16:creationId xmlns:a16="http://schemas.microsoft.com/office/drawing/2014/main" id="{9B634F26-F707-43C7-A904-5B803696F8E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52AD69B-0A9B-43D6-809D-563B92E524BB}"/>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60B4484B-9E70-4AE6-BF41-6E329AFE236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재정렬 근거</a:t>
            </a:r>
          </a:p>
        </p:txBody>
      </p:sp>
      <p:sp>
        <p:nvSpPr>
          <p:cNvPr id="22" name="">
            <a:extLst xmlns:a="http://schemas.openxmlformats.org/drawingml/2006/main">
              <a:ext uri="{FF2B5EF4-FFF2-40B4-BE49-F238E27FC236}">
                <a16:creationId xmlns:a16="http://schemas.microsoft.com/office/drawing/2014/main" id="{3504D87C-134A-485D-8AB7-A91BEA7E289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B48DA94-0B28-4483-AD91-42F83EBE4020}"/>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0FFF978-ED0C-48AC-AE8B-B327C8DE4D9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정형 초안</a:t>
            </a:r>
          </a:p>
        </p:txBody>
      </p:sp>
      <p:sp>
        <p:nvSpPr>
          <p:cNvPr id="25" name="">
            <a:extLst xmlns:a="http://schemas.openxmlformats.org/drawingml/2006/main">
              <a:ext uri="{FF2B5EF4-FFF2-40B4-BE49-F238E27FC236}">
                <a16:creationId xmlns:a16="http://schemas.microsoft.com/office/drawing/2014/main" id="{D4468667-34DC-40AA-8A21-6DB548265EB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60BE8C9-13E8-41DD-8B2A-6A9613FF274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 전 캐시·권한 없는 연구자료·모델 장애</a:t>
            </a:r>
          </a:p>
        </p:txBody>
      </p:sp>
      <p:sp>
        <p:nvSpPr>
          <p:cNvPr id="27" name="">
            <a:extLst xmlns:a="http://schemas.openxmlformats.org/drawingml/2006/main">
              <a:ext uri="{FF2B5EF4-FFF2-40B4-BE49-F238E27FC236}">
                <a16:creationId xmlns:a16="http://schemas.microsoft.com/office/drawing/2014/main" id="{92382784-1440-4E11-B030-64301C3C75F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F330082-5F59-4F3F-8329-A37C9E7907C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검색 대비 근거·완료시간 평가</a:t>
            </a:r>
          </a:p>
        </p:txBody>
      </p:sp>
      <p:sp>
        <p:nvSpPr>
          <p:cNvPr id="29" name="">
            <a:extLst xmlns:a="http://schemas.openxmlformats.org/drawingml/2006/main">
              <a:ext uri="{FF2B5EF4-FFF2-40B4-BE49-F238E27FC236}">
                <a16:creationId xmlns:a16="http://schemas.microsoft.com/office/drawing/2014/main" id="{351D4234-843B-466A-82F0-A9634A720BB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F0A29F5-35BD-47ED-9C1C-69B9CFB83FF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GPU 이중화·모델 롤백·부서별 토큰 계측</a:t>
            </a:r>
          </a:p>
        </p:txBody>
      </p:sp>
      <p:sp>
        <p:nvSpPr>
          <p:cNvPr id="31" name="">
            <a:extLst xmlns:a="http://schemas.openxmlformats.org/drawingml/2006/main">
              <a:ext uri="{FF2B5EF4-FFF2-40B4-BE49-F238E27FC236}">
                <a16:creationId xmlns:a16="http://schemas.microsoft.com/office/drawing/2014/main" id="{9F6A68D4-5087-4154-82B4-824B777ADE3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AD96073-7F79-47AD-A26D-368D721CB24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순위·근거·서식과 모델 전환·복구 결과</a:t>
            </a:r>
          </a:p>
        </p:txBody>
      </p:sp>
    </p:spTree>
    <p:extLst>
      <p:ext uri="{BB962C8B-B14F-4D97-AF65-F5344CB8AC3E}">
        <p14:creationId xmlns:p14="http://schemas.microsoft.com/office/powerpoint/2010/main" val="160756349"/>
      </p:ext>
    </p:extLst>
  </p:cSld>
</p:sld>
</file>

<file path=ppt/slides/slide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33CE235-0066-4F94-95B1-AB5847E67EF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PF-R03 / CCK 비교·재현 시험 설계</a:t>
            </a:r>
          </a:p>
        </p:txBody>
      </p:sp>
      <p:sp>
        <p:nvSpPr>
          <p:cNvPr id="2" name="">
            <a:extLst xmlns:a="http://schemas.openxmlformats.org/drawingml/2006/main">
              <a:ext uri="{FF2B5EF4-FFF2-40B4-BE49-F238E27FC236}">
                <a16:creationId xmlns:a16="http://schemas.microsoft.com/office/drawing/2014/main" id="{89C969D6-B433-4662-A3D2-CA365285D98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생산기술연구원 AI 고도화 · 벤치마킹</a:t>
            </a:r>
          </a:p>
        </p:txBody>
      </p:sp>
      <p:sp>
        <p:nvSpPr>
          <p:cNvPr id="3" name="">
            <a:extLst xmlns:a="http://schemas.openxmlformats.org/drawingml/2006/main">
              <a:ext uri="{FF2B5EF4-FFF2-40B4-BE49-F238E27FC236}">
                <a16:creationId xmlns:a16="http://schemas.microsoft.com/office/drawing/2014/main" id="{DA4D084F-D18F-488F-AC1B-3ABA43FB427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5D8D15-C095-4F24-AB39-0A449F72FD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07845C4-D43A-4496-A1D4-40033B9DF9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26</a:t>
            </a:r>
          </a:p>
        </p:txBody>
      </p:sp>
      <p:sp>
        <p:nvSpPr>
          <p:cNvPr id="6" name="">
            <a:extLst xmlns:a="http://schemas.openxmlformats.org/drawingml/2006/main">
              <a:ext uri="{FF2B5EF4-FFF2-40B4-BE49-F238E27FC236}">
                <a16:creationId xmlns:a16="http://schemas.microsoft.com/office/drawing/2014/main" id="{0F4EE152-4489-418A-B320-D2E8B06C8A3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6285ECE1-F97D-4F99-AFC1-9EA1BB55135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연구행정 검색의 고도화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에이전트·정형 출력 구성</a:t>
            </a:r>
          </a:p>
        </p:txBody>
      </p:sp>
      <p:sp>
        <p:nvSpPr>
          <p:cNvPr id="8" name="">
            <a:extLst xmlns:a="http://schemas.openxmlformats.org/drawingml/2006/main">
              <a:ext uri="{FF2B5EF4-FFF2-40B4-BE49-F238E27FC236}">
                <a16:creationId xmlns:a16="http://schemas.microsoft.com/office/drawing/2014/main" id="{20FB2491-6AFC-4AA5-9B73-581F4F6D07E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B412318-CF34-4162-9BD0-7628A4D1DF6D}"/>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검색 재정렬의 근거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후속 공고와 도입 완료의 혼동</a:t>
            </a:r>
          </a:p>
        </p:txBody>
      </p:sp>
      <p:sp>
        <p:nvSpPr>
          <p:cNvPr id="10" name="">
            <a:extLst xmlns:a="http://schemas.openxmlformats.org/drawingml/2006/main">
              <a:ext uri="{FF2B5EF4-FFF2-40B4-BE49-F238E27FC236}">
                <a16:creationId xmlns:a16="http://schemas.microsoft.com/office/drawing/2014/main" id="{9BE9988C-FA62-48E1-B427-82A02B8E950C}"/>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62D73D6-606A-4A10-805C-0FCCDA6E0E2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검색 대비 근거·완료시간 평가</a:t>
            </a:r>
          </a:p>
        </p:txBody>
      </p:sp>
      <p:sp>
        <p:nvSpPr>
          <p:cNvPr id="12" name="">
            <a:extLst xmlns:a="http://schemas.openxmlformats.org/drawingml/2006/main">
              <a:ext uri="{FF2B5EF4-FFF2-40B4-BE49-F238E27FC236}">
                <a16:creationId xmlns:a16="http://schemas.microsoft.com/office/drawing/2014/main" id="{BD4DC8E8-A320-465F-A758-30F23EAD874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C6F39B4-21F8-4BF9-B948-030F13F65D5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질의를 연구직·행정직 계정으로 실행해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 비교</a:t>
            </a:r>
          </a:p>
        </p:txBody>
      </p:sp>
      <p:sp>
        <p:nvSpPr>
          <p:cNvPr id="14" name="">
            <a:extLst xmlns:a="http://schemas.openxmlformats.org/drawingml/2006/main">
              <a:ext uri="{FF2B5EF4-FFF2-40B4-BE49-F238E27FC236}">
                <a16:creationId xmlns:a16="http://schemas.microsoft.com/office/drawing/2014/main" id="{A526B036-C820-462F-BD66-5CD81CC0195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2186BAE8-D326-40AB-906D-BDF5F64050D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전보 전 캐시·권한 없는 연구자료·모델 장애</a:t>
            </a:r>
          </a:p>
        </p:txBody>
      </p:sp>
      <p:sp>
        <p:nvSpPr>
          <p:cNvPr id="16" name="">
            <a:extLst xmlns:a="http://schemas.openxmlformats.org/drawingml/2006/main">
              <a:ext uri="{FF2B5EF4-FFF2-40B4-BE49-F238E27FC236}">
                <a16:creationId xmlns:a16="http://schemas.microsoft.com/office/drawing/2014/main" id="{491D91FE-9B1F-40C0-A908-68656DE3B08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C8B6CC6-BED9-4BF2-9E56-24BB72BDAFA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직무별 순위·근거·서식과 모델 전환·복구 결과</a:t>
            </a:r>
          </a:p>
        </p:txBody>
      </p:sp>
    </p:spTree>
    <p:extLst>
      <p:ext uri="{BB962C8B-B14F-4D97-AF65-F5344CB8AC3E}">
        <p14:creationId xmlns:p14="http://schemas.microsoft.com/office/powerpoint/2010/main" val="1225528136"/>
      </p:ext>
    </p:extLst>
  </p:cSld>
</p:sld>
</file>

<file path=ppt/slides/slide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76968C3-FE20-4001-A0E6-C9F682370DD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공식 RFP·과업내용서 + 공급사 계약 발표 확인 / 국내</a:t>
            </a:r>
          </a:p>
        </p:txBody>
      </p:sp>
      <p:sp>
        <p:nvSpPr>
          <p:cNvPr id="2" name="">
            <a:extLst xmlns:a="http://schemas.openxmlformats.org/drawingml/2006/main">
              <a:ext uri="{FF2B5EF4-FFF2-40B4-BE49-F238E27FC236}">
                <a16:creationId xmlns:a16="http://schemas.microsoft.com/office/drawing/2014/main" id="{2AA889AA-3E9F-434A-97A8-7C273F3F51C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a:t>
            </a:r>
          </a:p>
        </p:txBody>
      </p:sp>
      <p:sp>
        <p:nvSpPr>
          <p:cNvPr id="3" name="">
            <a:extLst xmlns:a="http://schemas.openxmlformats.org/drawingml/2006/main">
              <a:ext uri="{FF2B5EF4-FFF2-40B4-BE49-F238E27FC236}">
                <a16:creationId xmlns:a16="http://schemas.microsoft.com/office/drawing/2014/main" id="{2FF0BAA8-FAFA-4680-A5A6-84D671C0B2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EA2ABF5-73A8-4559-ABE6-3E465F5E36B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E96FAF6-223E-4BBF-911A-313A93A0BED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27</a:t>
            </a:r>
          </a:p>
        </p:txBody>
      </p:sp>
      <p:sp>
        <p:nvSpPr>
          <p:cNvPr id="6" name="">
            <a:extLst xmlns:a="http://schemas.openxmlformats.org/drawingml/2006/main">
              <a:ext uri="{FF2B5EF4-FFF2-40B4-BE49-F238E27FC236}">
                <a16:creationId xmlns:a16="http://schemas.microsoft.com/office/drawing/2014/main" id="{37669850-F649-417D-AA00-6766DCC3DD9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BE42FF3-3450-4033-BFB8-4E4850C306B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안전 규정·작업절차를 활용하는 안전 AI와 외부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 LLM을 이용하는 AI 서치를 구분한 시범구축. 범용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작성뿐 아니라 제출 문서를 규정과 대조하고, 개인·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부서 지식공간을 구성하는 업무 범위.</a:t>
            </a:r>
          </a:p>
        </p:txBody>
      </p:sp>
      <p:sp>
        <p:nvSpPr>
          <p:cNvPr id="8" name="">
            <a:extLst xmlns:a="http://schemas.openxmlformats.org/drawingml/2006/main">
              <a:ext uri="{FF2B5EF4-FFF2-40B4-BE49-F238E27FC236}">
                <a16:creationId xmlns:a16="http://schemas.microsoft.com/office/drawing/2014/main" id="{393F005C-50A9-412C-A27B-297484F24EA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07A5273-632E-4626-A4F8-AD2539ACCBC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예시 도면에서는 통합 UI 아래 DMZ의 AI 서치와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안전 AI·RAG·LLM·DB를 분리. 과업내용서는 문서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자동 최신화, 부서별 접근권한, 청크·임베딩 품질 확인,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실패 문서 재처리까지 요구. 업로드 성공과 검색 가능한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지식 등록 완료의 별도 상태 관리.</a:t>
            </a:r>
          </a:p>
        </p:txBody>
      </p:sp>
      <p:sp>
        <p:nvSpPr>
          <p:cNvPr id="10" name="">
            <a:extLst xmlns:a="http://schemas.openxmlformats.org/drawingml/2006/main">
              <a:ext uri="{FF2B5EF4-FFF2-40B4-BE49-F238E27FC236}">
                <a16:creationId xmlns:a16="http://schemas.microsoft.com/office/drawing/2014/main" id="{C2E93565-DED6-4C64-AEEC-8DBD2A19B84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CF4B5B84-F13F-4222-820D-3FD5E0D0A962}"/>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CCK에서는 안전 답변의 문장 품질과 규정 판본·접근권한의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정확성을 별도 시험할 필요. 상충하는 두 규정이 검색될 때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한쪽을 감추기보다 근거와 적용 시점을 함께 제시하는 구조.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외부 모델과 내부 자료의 전달 경계를 TS 보안 환경에 맞춰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재설계할 대상.</a:t>
            </a:r>
          </a:p>
        </p:txBody>
      </p:sp>
      <p:sp>
        <p:nvSpPr>
          <p:cNvPr id="12" name="">
            <a:extLst xmlns:a="http://schemas.openxmlformats.org/drawingml/2006/main">
              <a:ext uri="{FF2B5EF4-FFF2-40B4-BE49-F238E27FC236}">
                <a16:creationId xmlns:a16="http://schemas.microsoft.com/office/drawing/2014/main" id="{64F39BD5-3B6A-4C49-AD72-60EEF3A4C8D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2831623-C157-41E0-AA61-DF63CFF7245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규정 효력일·소유부서 / 자동 갱신 / 상충 근거 표시</a:t>
            </a:r>
          </a:p>
        </p:txBody>
      </p:sp>
      <p:sp>
        <p:nvSpPr>
          <p:cNvPr id="14" name="">
            <a:extLst xmlns:a="http://schemas.openxmlformats.org/drawingml/2006/main">
              <a:ext uri="{FF2B5EF4-FFF2-40B4-BE49-F238E27FC236}">
                <a16:creationId xmlns:a16="http://schemas.microsoft.com/office/drawing/2014/main" id="{A95B14A6-1203-4979-8335-6E079658D10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314F53DE-FAE4-4DBB-9397-9B99C90C47F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개정·폐지·권한 제한·상충 문서의 검색 및 검토 결과 대조</a:t>
            </a:r>
          </a:p>
        </p:txBody>
      </p:sp>
      <p:sp>
        <p:nvSpPr>
          <p:cNvPr id="16" name="">
            <a:extLst xmlns:a="http://schemas.openxmlformats.org/drawingml/2006/main">
              <a:ext uri="{FF2B5EF4-FFF2-40B4-BE49-F238E27FC236}">
                <a16:creationId xmlns:a16="http://schemas.microsoft.com/office/drawing/2014/main" id="{9DF2433A-9ED3-4715-BE0A-29BD10F5124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5B9A143-A054-46BE-8125-9239E502454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구버전 인용률 / 개정 반영 지연 / 검토 누락률</a:t>
            </a:r>
          </a:p>
        </p:txBody>
      </p:sp>
      <p:sp>
        <p:nvSpPr>
          <p:cNvPr id="18" name="">
            <a:extLst xmlns:a="http://schemas.openxmlformats.org/drawingml/2006/main">
              <a:ext uri="{FF2B5EF4-FFF2-40B4-BE49-F238E27FC236}">
                <a16:creationId xmlns:a16="http://schemas.microsoft.com/office/drawing/2014/main" id="{04658B23-5A44-44F1-9343-C81D3CFADA5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Temperature를 상세도와 동일시한 원문 표현은 구현 검증 필요</a:t>
            </a:r>
          </a:p>
        </p:txBody>
      </p:sp>
    </p:spTree>
    <p:extLst>
      <p:ext uri="{BB962C8B-B14F-4D97-AF65-F5344CB8AC3E}">
        <p14:creationId xmlns:p14="http://schemas.microsoft.com/office/powerpoint/2010/main" val="2070897782"/>
      </p:ext>
    </p:extLst>
  </p:cSld>
</p:sld>
</file>

<file path=ppt/slides/slide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B778805-1202-4691-9357-A278367CB5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2025.03 · SFR-005~008 / 1–3</a:t>
            </a:r>
          </a:p>
        </p:txBody>
      </p:sp>
      <p:sp>
        <p:nvSpPr>
          <p:cNvPr id="2" name="">
            <a:extLst xmlns:a="http://schemas.openxmlformats.org/drawingml/2006/main">
              <a:ext uri="{FF2B5EF4-FFF2-40B4-BE49-F238E27FC236}">
                <a16:creationId xmlns:a16="http://schemas.microsoft.com/office/drawing/2014/main" id="{60FB4549-C0D6-4FCA-9558-74E2ECB34CB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RFP 요구사항</a:t>
            </a:r>
          </a:p>
        </p:txBody>
      </p:sp>
      <p:sp>
        <p:nvSpPr>
          <p:cNvPr id="3" name="">
            <a:extLst xmlns:a="http://schemas.openxmlformats.org/drawingml/2006/main">
              <a:ext uri="{FF2B5EF4-FFF2-40B4-BE49-F238E27FC236}">
                <a16:creationId xmlns:a16="http://schemas.microsoft.com/office/drawing/2014/main" id="{5D6168FA-E775-4608-9718-DB80F1C4A64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66C0988-7F84-4A05-933A-AF48CE8EDB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7CA4E52-EDA8-4A16-92A4-0397A7F7DE0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28</a:t>
            </a:r>
          </a:p>
        </p:txBody>
      </p:sp>
      <p:sp>
        <p:nvSpPr>
          <p:cNvPr id="6" name="">
            <a:extLst xmlns:a="http://schemas.openxmlformats.org/drawingml/2006/main">
              <a:ext uri="{FF2B5EF4-FFF2-40B4-BE49-F238E27FC236}">
                <a16:creationId xmlns:a16="http://schemas.microsoft.com/office/drawing/2014/main" id="{49F5E351-9A7E-4BC4-A766-7286464DF31D}"/>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DF14ED-704B-4A69-BB99-B48DD64AA4EC}"/>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생성형 AI 활용 서비스 개발(1/2)</a:t>
            </a:r>
          </a:p>
        </p:txBody>
      </p:sp>
      <p:sp>
        <p:nvSpPr>
          <p:cNvPr id="8" name="">
            <a:extLst xmlns:a="http://schemas.openxmlformats.org/drawingml/2006/main">
              <a:ext uri="{FF2B5EF4-FFF2-40B4-BE49-F238E27FC236}">
                <a16:creationId xmlns:a16="http://schemas.microsoft.com/office/drawing/2014/main" id="{5AEE41DD-5394-4E92-9CD5-166FFEA67CBD}"/>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지식 검색, 근거 링크, 최신 문서 활용, 문서·규칙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토와 번역 등 생성형 AI 서비스.</a:t>
            </a:r>
          </a:p>
        </p:txBody>
      </p:sp>
      <p:sp>
        <p:nvSpPr>
          <p:cNvPr id="9" name="">
            <a:extLst xmlns:a="http://schemas.openxmlformats.org/drawingml/2006/main">
              <a:ext uri="{FF2B5EF4-FFF2-40B4-BE49-F238E27FC236}">
                <a16:creationId xmlns:a16="http://schemas.microsoft.com/office/drawing/2014/main" id="{8F1ABFAA-DD13-461B-A535-6D5A1B01EFD1}"/>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폐기 기준과 현행 기준의 충돌, 문서 인용 오류, 번역의 수치·</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단위 보존 확인</a:t>
            </a:r>
          </a:p>
        </p:txBody>
      </p:sp>
      <p:sp>
        <p:nvSpPr>
          <p:cNvPr id="10" name="">
            <a:extLst xmlns:a="http://schemas.openxmlformats.org/drawingml/2006/main">
              <a:ext uri="{FF2B5EF4-FFF2-40B4-BE49-F238E27FC236}">
                <a16:creationId xmlns:a16="http://schemas.microsoft.com/office/drawing/2014/main" id="{34826361-EDBB-4E1F-A04D-DC1CFA55922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DED6FB8-EA3B-43DD-9489-1CD35CF52174}"/>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생성형 AI 활용 서비스 개발(2/2)</a:t>
            </a:r>
          </a:p>
        </p:txBody>
      </p:sp>
      <p:sp>
        <p:nvSpPr>
          <p:cNvPr id="12" name="">
            <a:extLst xmlns:a="http://schemas.openxmlformats.org/drawingml/2006/main">
              <a:ext uri="{FF2B5EF4-FFF2-40B4-BE49-F238E27FC236}">
                <a16:creationId xmlns:a16="http://schemas.microsoft.com/office/drawing/2014/main" id="{CA83C3B3-D0B6-467F-AEBC-D0C2CF0C24DB}"/>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개인·부서 지식공간, 접근 이력, 답변 품질 피드백을 포함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서비스 운영.</a:t>
            </a:r>
          </a:p>
        </p:txBody>
      </p:sp>
      <p:sp>
        <p:nvSpPr>
          <p:cNvPr id="13" name="">
            <a:extLst xmlns:a="http://schemas.openxmlformats.org/drawingml/2006/main">
              <a:ext uri="{FF2B5EF4-FFF2-40B4-BE49-F238E27FC236}">
                <a16:creationId xmlns:a16="http://schemas.microsoft.com/office/drawing/2014/main" id="{A154F0B4-CFDC-4E5F-93E0-7398DEF52D92}"/>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C05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부서 간 공유 해제·소유자 변경·상충 문서 입력 후 접근·경고·</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피드백 반영 확인</a:t>
            </a:r>
          </a:p>
        </p:txBody>
      </p:sp>
      <p:sp>
        <p:nvSpPr>
          <p:cNvPr id="14" name="">
            <a:extLst xmlns:a="http://schemas.openxmlformats.org/drawingml/2006/main">
              <a:ext uri="{FF2B5EF4-FFF2-40B4-BE49-F238E27FC236}">
                <a16:creationId xmlns:a16="http://schemas.microsoft.com/office/drawing/2014/main" id="{D2E01A71-8B28-4AFC-9340-316A4442CE14}"/>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9D198A-6AEB-4FAE-9799-236F8349728C}"/>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SFR-007 RAG 파이프라인 기본 기능</a:t>
            </a:r>
          </a:p>
        </p:txBody>
      </p:sp>
      <p:sp>
        <p:nvSpPr>
          <p:cNvPr id="16" name="">
            <a:extLst xmlns:a="http://schemas.openxmlformats.org/drawingml/2006/main">
              <a:ext uri="{FF2B5EF4-FFF2-40B4-BE49-F238E27FC236}">
                <a16:creationId xmlns:a16="http://schemas.microsoft.com/office/drawing/2014/main" id="{9A66C234-16A4-45B7-9337-2807A42D3C48}"/>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메타데이터·최신성·권한을 반영하는 RAG 파이프라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인과 검색 결과 재정렬.</a:t>
            </a:r>
          </a:p>
        </p:txBody>
      </p:sp>
      <p:sp>
        <p:nvSpPr>
          <p:cNvPr id="17" name="">
            <a:extLst xmlns:a="http://schemas.openxmlformats.org/drawingml/2006/main">
              <a:ext uri="{FF2B5EF4-FFF2-40B4-BE49-F238E27FC236}">
                <a16:creationId xmlns:a16="http://schemas.microsoft.com/office/drawing/2014/main" id="{C948E3A1-F1BC-4F84-836B-24EE9EE9162B}"/>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동일 문서 개정·삭제와 권한 변경 후 검색 결과·인용 판본의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일치 확인</a:t>
            </a:r>
          </a:p>
        </p:txBody>
      </p:sp>
    </p:spTree>
    <p:extLst>
      <p:ext uri="{BB962C8B-B14F-4D97-AF65-F5344CB8AC3E}">
        <p14:creationId xmlns:p14="http://schemas.microsoft.com/office/powerpoint/2010/main" val="617598509"/>
      </p:ext>
    </p:extLst>
  </p:cSld>
</p:sld>
</file>

<file path=ppt/slides/slide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A5049FE-8137-4E92-A8C8-1627E217C21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2025.03 · SFR-005~008 / 4–4</a:t>
            </a:r>
          </a:p>
        </p:txBody>
      </p:sp>
      <p:sp>
        <p:nvSpPr>
          <p:cNvPr id="2" name="">
            <a:extLst xmlns:a="http://schemas.openxmlformats.org/drawingml/2006/main">
              <a:ext uri="{FF2B5EF4-FFF2-40B4-BE49-F238E27FC236}">
                <a16:creationId xmlns:a16="http://schemas.microsoft.com/office/drawing/2014/main" id="{AC5A3012-17E4-4359-B2CA-F1A74F87C16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RFP 요구사항</a:t>
            </a:r>
          </a:p>
        </p:txBody>
      </p:sp>
      <p:sp>
        <p:nvSpPr>
          <p:cNvPr id="3" name="">
            <a:extLst xmlns:a="http://schemas.openxmlformats.org/drawingml/2006/main">
              <a:ext uri="{FF2B5EF4-FFF2-40B4-BE49-F238E27FC236}">
                <a16:creationId xmlns:a16="http://schemas.microsoft.com/office/drawing/2014/main" id="{2F45ECED-A19E-47DA-8C12-4A9723883E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C46892-413A-47EA-B8E3-9F238463F35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52E4397-8B4C-4FD6-A3EE-78CE1FCBED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29</a:t>
            </a:r>
          </a:p>
        </p:txBody>
      </p:sp>
      <p:sp>
        <p:nvSpPr>
          <p:cNvPr id="6" name="">
            <a:extLst xmlns:a="http://schemas.openxmlformats.org/drawingml/2006/main">
              <a:ext uri="{FF2B5EF4-FFF2-40B4-BE49-F238E27FC236}">
                <a16:creationId xmlns:a16="http://schemas.microsoft.com/office/drawing/2014/main" id="{AFB4E73D-D9A5-463D-AF62-5D3C1C11DFAB}"/>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2A4769-F960-4A95-89D4-5E04FA9B3D99}"/>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SFR-008 RAG 파이프라인 품질 관리 도구</a:t>
            </a:r>
          </a:p>
        </p:txBody>
      </p:sp>
      <p:sp>
        <p:nvSpPr>
          <p:cNvPr id="8" name="">
            <a:extLst xmlns:a="http://schemas.openxmlformats.org/drawingml/2006/main">
              <a:ext uri="{FF2B5EF4-FFF2-40B4-BE49-F238E27FC236}">
                <a16:creationId xmlns:a16="http://schemas.microsoft.com/office/drawing/2014/main" id="{3A34A3C0-F5E8-441D-A82E-68F375621FEE}"/>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청크 품질 확인, 미리보기, 임베딩 실패와 재처리 대기열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관리하는 RAG 품질 도구.</a:t>
            </a:r>
          </a:p>
        </p:txBody>
      </p:sp>
      <p:sp>
        <p:nvSpPr>
          <p:cNvPr id="9" name="">
            <a:extLst xmlns:a="http://schemas.openxmlformats.org/drawingml/2006/main">
              <a:ext uri="{FF2B5EF4-FFF2-40B4-BE49-F238E27FC236}">
                <a16:creationId xmlns:a16="http://schemas.microsoft.com/office/drawing/2014/main" id="{7DD182FD-948A-4086-B219-F16875835052}"/>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표 분절·빈 청크·임베딩 실패를 주입해 탐지·재처리·색인 반영</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까지 추적</a:t>
            </a:r>
          </a:p>
        </p:txBody>
      </p:sp>
    </p:spTree>
    <p:extLst>
      <p:ext uri="{BB962C8B-B14F-4D97-AF65-F5344CB8AC3E}">
        <p14:creationId xmlns:p14="http://schemas.microsoft.com/office/powerpoint/2010/main" val="349510038"/>
      </p:ext>
    </p:extLst>
  </p:cSld>
</p:sld>
</file>

<file path=ppt/slides/slide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74715F-956A-4D7B-8979-1D703A208F9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H/W 구성도 예시 / RFP 원문 추출</a:t>
            </a:r>
          </a:p>
        </p:txBody>
      </p:sp>
      <p:sp>
        <p:nvSpPr>
          <p:cNvPr id="2" name="">
            <a:extLst xmlns:a="http://schemas.openxmlformats.org/drawingml/2006/main">
              <a:ext uri="{FF2B5EF4-FFF2-40B4-BE49-F238E27FC236}">
                <a16:creationId xmlns:a16="http://schemas.microsoft.com/office/drawing/2014/main" id="{7C873F6D-CC1B-4A9A-9FD1-ED5A668DBF8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AI H/W 구성</a:t>
            </a:r>
          </a:p>
        </p:txBody>
      </p:sp>
      <p:sp>
        <p:nvSpPr>
          <p:cNvPr id="3" name="">
            <a:extLst xmlns:a="http://schemas.openxmlformats.org/drawingml/2006/main">
              <a:ext uri="{FF2B5EF4-FFF2-40B4-BE49-F238E27FC236}">
                <a16:creationId xmlns:a16="http://schemas.microsoft.com/office/drawing/2014/main" id="{F46E349C-37CA-4FB5-B079-CB102CDBBF1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4C1C10-C122-4AD2-B16C-0073EB216FB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A148623-8D6A-4783-9191-AAE00954F44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30</a:t>
            </a:r>
          </a:p>
        </p:txBody>
      </p:sp>
      <p:pic>
        <p:nvPicPr>
          <p:cNvPr id="6" name="">
            <a:extLst xmlns:a="http://schemas.openxmlformats.org/drawingml/2006/main">
              <a:ext uri="{FF2B5EF4-FFF2-40B4-BE49-F238E27FC236}">
                <a16:creationId xmlns:a16="http://schemas.microsoft.com/office/drawing/2014/main" id="{7810835D-1156-4459-A483-E622B378C0E5}"/>
              </a:ext>
            </a:extLst>
          </p:cNvPr>
          <p:cNvPicPr>
            <a:picLocks xmlns:a="http://schemas.openxmlformats.org/drawingml/2006/main" noChangeAspect="1"/>
          </p:cNvPicPr>
          <p:nvPr/>
        </p:nvPicPr>
        <p:blipFill>
          <a:blip xmlns:r="http://schemas.openxmlformats.org/officeDocument/2006/relationships" xmlns:a="http://schemas.openxmlformats.org/drawingml/2006/main" r:embed="R04ae5ef2274a4083"/>
          <a:stretch xmlns:a="http://schemas.openxmlformats.org/drawingml/2006/main"/>
        </p:blipFill>
        <p:spPr>
          <a:xfrm xmlns:a="http://schemas.openxmlformats.org/drawingml/2006/main">
            <a:off x="2067287" y="1657350"/>
            <a:ext cx="805742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81802F6-35CF-4A7D-83CB-B131517C75D0}"/>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DMZ AI 서치와 내부 안전 AI·RAG·LLM·DB 구성</a:t>
            </a:r>
          </a:p>
        </p:txBody>
      </p:sp>
    </p:spTree>
    <p:extLst>
      <p:ext uri="{BB962C8B-B14F-4D97-AF65-F5344CB8AC3E}">
        <p14:creationId xmlns:p14="http://schemas.microsoft.com/office/powerpoint/2010/main" val="411155537"/>
      </p:ext>
    </p:extLst>
  </p:cSld>
</p:sld>
</file>

<file path=ppt/slides/slide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BAAFE8-4C53-4916-B780-B9BCD6789B7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과업내용서 S/W 구성도 예시 / RFP 원문 추출</a:t>
            </a:r>
          </a:p>
        </p:txBody>
      </p:sp>
      <p:sp>
        <p:nvSpPr>
          <p:cNvPr id="2" name="">
            <a:extLst xmlns:a="http://schemas.openxmlformats.org/drawingml/2006/main">
              <a:ext uri="{FF2B5EF4-FFF2-40B4-BE49-F238E27FC236}">
                <a16:creationId xmlns:a16="http://schemas.microsoft.com/office/drawing/2014/main" id="{260E8B46-A693-46DE-85F7-562F379A54A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AI S/W 구성</a:t>
            </a:r>
          </a:p>
        </p:txBody>
      </p:sp>
      <p:sp>
        <p:nvSpPr>
          <p:cNvPr id="3" name="">
            <a:extLst xmlns:a="http://schemas.openxmlformats.org/drawingml/2006/main">
              <a:ext uri="{FF2B5EF4-FFF2-40B4-BE49-F238E27FC236}">
                <a16:creationId xmlns:a16="http://schemas.microsoft.com/office/drawing/2014/main" id="{EE9DB422-8B98-4C3A-A029-94633467FB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E9D07B-87C7-4C57-B785-3BB55C26EB3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5DBA284-8871-48E6-BAD3-6073BEAFB25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31</a:t>
            </a:r>
          </a:p>
        </p:txBody>
      </p:sp>
      <p:pic>
        <p:nvPicPr>
          <p:cNvPr id="6" name="">
            <a:extLst xmlns:a="http://schemas.openxmlformats.org/drawingml/2006/main">
              <a:ext uri="{FF2B5EF4-FFF2-40B4-BE49-F238E27FC236}">
                <a16:creationId xmlns:a16="http://schemas.microsoft.com/office/drawing/2014/main" id="{E51CCC1E-A949-4DEC-9CE2-2EF78CF58FDC}"/>
              </a:ext>
            </a:extLst>
          </p:cNvPr>
          <p:cNvPicPr>
            <a:picLocks xmlns:a="http://schemas.openxmlformats.org/drawingml/2006/main" noChangeAspect="1"/>
          </p:cNvPicPr>
          <p:nvPr/>
        </p:nvPicPr>
        <p:blipFill>
          <a:blip xmlns:r="http://schemas.openxmlformats.org/officeDocument/2006/relationships" xmlns:a="http://schemas.openxmlformats.org/drawingml/2006/main" r:embed="Ra9216707efda4203"/>
          <a:stretch xmlns:a="http://schemas.openxmlformats.org/drawingml/2006/main"/>
        </p:blipFill>
        <p:spPr>
          <a:xfrm xmlns:a="http://schemas.openxmlformats.org/drawingml/2006/main">
            <a:off x="2370667" y="1657350"/>
            <a:ext cx="745066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C7F9BA4-94D6-4092-ABA7-6FBD023B06DC}"/>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안전 지식·RAG와 외부 LLM API 업무 지원의 구분</a:t>
            </a:r>
          </a:p>
        </p:txBody>
      </p:sp>
    </p:spTree>
    <p:extLst>
      <p:ext uri="{BB962C8B-B14F-4D97-AF65-F5344CB8AC3E}">
        <p14:creationId xmlns:p14="http://schemas.microsoft.com/office/powerpoint/2010/main" val="853819772"/>
      </p:ext>
    </p:extLst>
  </p:cSld>
</p:sld>
</file>

<file path=ppt/slides/slide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DEFAC93-07D6-41C5-BF7E-6B07C20F45EC}"/>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C5C1F65-9A72-4D2B-9FC1-2D9A58CF3244}"/>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7B71144-45B5-49D6-B3D2-6CFCE15EA808}"/>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524585D-2441-478F-8FC8-CC354CF2AFC5}"/>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A2D50933-3E0F-4BEE-8775-AF6584E96F79}"/>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CA55311-3871-4418-8934-5376C83F12CE}"/>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1E32087D-84F0-4C81-A81E-4539B2C83853}"/>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B8C4222F-0456-4717-AF56-FADECC5384BF}"/>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D77407D4-3901-4552-9437-86B618D4321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73F4E4DE-77A8-4673-94E9-74B04D35EED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원문 추출·대조·사람 확정</a:t>
            </a:r>
          </a:p>
        </p:txBody>
      </p:sp>
      <p:sp>
        <p:nvSpPr>
          <p:cNvPr id="2" name="">
            <a:extLst xmlns:a="http://schemas.openxmlformats.org/drawingml/2006/main">
              <a:ext uri="{FF2B5EF4-FFF2-40B4-BE49-F238E27FC236}">
                <a16:creationId xmlns:a16="http://schemas.microsoft.com/office/drawing/2014/main" id="{6E94B225-5638-41E0-9DAC-F9466BFBBD0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세부 서비스 구조</a:t>
            </a:r>
          </a:p>
        </p:txBody>
      </p:sp>
      <p:sp>
        <p:nvSpPr>
          <p:cNvPr id="3" name="">
            <a:extLst xmlns:a="http://schemas.openxmlformats.org/drawingml/2006/main">
              <a:ext uri="{FF2B5EF4-FFF2-40B4-BE49-F238E27FC236}">
                <a16:creationId xmlns:a16="http://schemas.microsoft.com/office/drawing/2014/main" id="{CE36302F-8178-4088-AA44-15A013825F6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FFBD5E-C796-4795-9F4C-68BEDFDB9FA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CFEFEDC-E5FD-4F9A-B72C-48605EF9712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32</a:t>
            </a:r>
          </a:p>
        </p:txBody>
      </p:sp>
      <p:sp>
        <p:nvSpPr>
          <p:cNvPr id="6" name="">
            <a:extLst xmlns:a="http://schemas.openxmlformats.org/drawingml/2006/main">
              <a:ext uri="{FF2B5EF4-FFF2-40B4-BE49-F238E27FC236}">
                <a16:creationId xmlns:a16="http://schemas.microsoft.com/office/drawing/2014/main" id="{A4237151-B427-4A5C-94AD-1EE62C5CF57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안전·규정 지식 → 권한별 검색 → 문서 검토 → 현업 피드백</a:t>
            </a:r>
          </a:p>
        </p:txBody>
      </p:sp>
      <p:sp>
        <p:nvSpPr>
          <p:cNvPr id="7" name="">
            <a:extLst xmlns:a="http://schemas.openxmlformats.org/drawingml/2006/main">
              <a:ext uri="{FF2B5EF4-FFF2-40B4-BE49-F238E27FC236}">
                <a16:creationId xmlns:a16="http://schemas.microsoft.com/office/drawing/2014/main" id="{2EC2DCDE-3CBD-4683-9642-16CC9957BB3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13CA91E-1DF2-40DE-A4AA-5141074BC9B3}"/>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DE996B63-51F3-4FD0-A6DC-EB89A36F42F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현업 접점</a:t>
            </a:r>
          </a:p>
        </p:txBody>
      </p:sp>
      <p:sp>
        <p:nvSpPr>
          <p:cNvPr id="10" name="">
            <a:extLst xmlns:a="http://schemas.openxmlformats.org/drawingml/2006/main">
              <a:ext uri="{FF2B5EF4-FFF2-40B4-BE49-F238E27FC236}">
                <a16:creationId xmlns:a16="http://schemas.microsoft.com/office/drawing/2014/main" id="{1D98EEC3-2FF6-4234-89C0-760E101E6CE5}"/>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F530439-62B2-4838-8CEC-66E649E8A355}"/>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8F1E25C1-3264-461A-ACD2-451744C2E953}"/>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문서·규정 대조</a:t>
            </a:r>
          </a:p>
        </p:txBody>
      </p:sp>
      <p:sp>
        <p:nvSpPr>
          <p:cNvPr id="13" name="">
            <a:extLst xmlns:a="http://schemas.openxmlformats.org/drawingml/2006/main">
              <a:ext uri="{FF2B5EF4-FFF2-40B4-BE49-F238E27FC236}">
                <a16:creationId xmlns:a16="http://schemas.microsoft.com/office/drawing/2014/main" id="{B60D2D4B-CEE1-4C32-A7F7-B1755AC653A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D056518D-0D1E-41C9-AF63-BB4A27BB04B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5926B9B9-194F-476A-83E5-D82AB8E45BB9}"/>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상충·구판 검사</a:t>
            </a:r>
          </a:p>
        </p:txBody>
      </p:sp>
      <p:sp>
        <p:nvSpPr>
          <p:cNvPr id="16" name="">
            <a:extLst xmlns:a="http://schemas.openxmlformats.org/drawingml/2006/main">
              <a:ext uri="{FF2B5EF4-FFF2-40B4-BE49-F238E27FC236}">
                <a16:creationId xmlns:a16="http://schemas.microsoft.com/office/drawing/2014/main" id="{A7A2895B-C1A9-4163-8BC3-2899E65FDDC8}"/>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C3225A8-471E-41B6-99A0-AD3B1B71E471}"/>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04CCDF76-F890-461D-9475-4F87851A7E70}"/>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검토</a:t>
            </a:r>
          </a:p>
        </p:txBody>
      </p:sp>
      <p:sp>
        <p:nvSpPr>
          <p:cNvPr id="19" name="">
            <a:extLst xmlns:a="http://schemas.openxmlformats.org/drawingml/2006/main">
              <a:ext uri="{FF2B5EF4-FFF2-40B4-BE49-F238E27FC236}">
                <a16:creationId xmlns:a16="http://schemas.microsoft.com/office/drawing/2014/main" id="{ACF65E05-477F-44B0-A610-B9846CBBBBFA}"/>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7B00063-4733-481A-B5A7-7EB327CBF0BD}"/>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C850B3A2-15C1-45F7-BAD1-35693D848C8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검토 의견</a:t>
            </a:r>
          </a:p>
        </p:txBody>
      </p:sp>
      <p:sp>
        <p:nvSpPr>
          <p:cNvPr id="22" name="">
            <a:extLst xmlns:a="http://schemas.openxmlformats.org/drawingml/2006/main">
              <a:ext uri="{FF2B5EF4-FFF2-40B4-BE49-F238E27FC236}">
                <a16:creationId xmlns:a16="http://schemas.microsoft.com/office/drawing/2014/main" id="{1D899BA6-CED1-41EC-9A90-3BBC832985E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006E123-062B-4201-83A9-B853114430E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76BCCD4D-A021-488E-B7C7-A47EB7B87D7D}"/>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안전규정·부서문서</a:t>
            </a:r>
          </a:p>
        </p:txBody>
      </p:sp>
      <p:sp>
        <p:nvSpPr>
          <p:cNvPr id="25" name="">
            <a:extLst xmlns:a="http://schemas.openxmlformats.org/drawingml/2006/main">
              <a:ext uri="{FF2B5EF4-FFF2-40B4-BE49-F238E27FC236}">
                <a16:creationId xmlns:a16="http://schemas.microsoft.com/office/drawing/2014/main" id="{8F37F30A-5B3A-4640-B86B-72B9ADED79A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FB8324EA-1B08-44CA-924B-C171B09FDAA5}"/>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C37DC000-E0FE-47F1-9117-EC0597C89CB8}"/>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자동 문서 최신화</a:t>
            </a:r>
          </a:p>
        </p:txBody>
      </p:sp>
      <p:sp>
        <p:nvSpPr>
          <p:cNvPr id="28" name="">
            <a:extLst xmlns:a="http://schemas.openxmlformats.org/drawingml/2006/main">
              <a:ext uri="{FF2B5EF4-FFF2-40B4-BE49-F238E27FC236}">
                <a16:creationId xmlns:a16="http://schemas.microsoft.com/office/drawing/2014/main" id="{3F062A6F-3725-424C-8178-A0000E7B895B}"/>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061FF1A-51F4-4CD2-ADD3-E84589B1E1F6}"/>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C36720B4-D3E7-4CEE-8A09-FCC662EB1D6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지식 검색</a:t>
            </a:r>
          </a:p>
        </p:txBody>
      </p:sp>
      <p:sp>
        <p:nvSpPr>
          <p:cNvPr id="31" name="">
            <a:extLst xmlns:a="http://schemas.openxmlformats.org/drawingml/2006/main">
              <a:ext uri="{FF2B5EF4-FFF2-40B4-BE49-F238E27FC236}">
                <a16:creationId xmlns:a16="http://schemas.microsoft.com/office/drawing/2014/main" id="{811AFAAD-5F81-452E-ACAD-8B2307EF1CD7}"/>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4E79D0E-A5F1-4A1B-B234-C227C98D3F9D}"/>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0B14C469-1943-4C65-925E-C55784228CF8}"/>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폴더·RAG 색인</a:t>
            </a:r>
          </a:p>
        </p:txBody>
      </p:sp>
      <p:sp>
        <p:nvSpPr>
          <p:cNvPr id="34" name="">
            <a:extLst xmlns:a="http://schemas.openxmlformats.org/drawingml/2006/main">
              <a:ext uri="{FF2B5EF4-FFF2-40B4-BE49-F238E27FC236}">
                <a16:creationId xmlns:a16="http://schemas.microsoft.com/office/drawing/2014/main" id="{7812CEE4-7B99-4E4E-9790-E997D2555D68}"/>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C9B1F0E-B56E-4173-AE58-00C23FB8D90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995EA2A2-7E9A-4CE3-9A3C-CCFC9759C4F4}"/>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피드백·권한 시험</a:t>
            </a:r>
          </a:p>
        </p:txBody>
      </p:sp>
      <p:sp>
        <p:nvSpPr>
          <p:cNvPr id="46" name="">
            <a:extLst xmlns:a="http://schemas.openxmlformats.org/drawingml/2006/main">
              <a:ext uri="{FF2B5EF4-FFF2-40B4-BE49-F238E27FC236}">
                <a16:creationId xmlns:a16="http://schemas.microsoft.com/office/drawing/2014/main" id="{7EB2E760-E540-4166-9ADE-7D897E5E9273}"/>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307858382"/>
      </p:ext>
    </p:extLst>
  </p:cSld>
</p:sld>
</file>

<file path=ppt/slides/slide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5BFB8BA-E6CD-4202-B842-F51AED27B6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논리 인터페이스·복구 설계</a:t>
            </a:r>
          </a:p>
        </p:txBody>
      </p:sp>
      <p:sp>
        <p:nvSpPr>
          <p:cNvPr id="2" name="">
            <a:extLst xmlns:a="http://schemas.openxmlformats.org/drawingml/2006/main">
              <a:ext uri="{FF2B5EF4-FFF2-40B4-BE49-F238E27FC236}">
                <a16:creationId xmlns:a16="http://schemas.microsoft.com/office/drawing/2014/main" id="{EBCD7FD1-9F21-4E85-B247-5719037C93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데이터와 예외 처리</a:t>
            </a:r>
          </a:p>
        </p:txBody>
      </p:sp>
      <p:sp>
        <p:nvSpPr>
          <p:cNvPr id="3" name="">
            <a:extLst xmlns:a="http://schemas.openxmlformats.org/drawingml/2006/main">
              <a:ext uri="{FF2B5EF4-FFF2-40B4-BE49-F238E27FC236}">
                <a16:creationId xmlns:a16="http://schemas.microsoft.com/office/drawing/2014/main" id="{047B3C5E-5D7A-47F9-B268-88B65C3A6DB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F7EF13F-C19C-4189-B965-47E5A2194C2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9A6A6B7-182A-4C3D-B20D-F05E75B2297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33</a:t>
            </a:r>
          </a:p>
        </p:txBody>
      </p:sp>
      <p:sp>
        <p:nvSpPr>
          <p:cNvPr id="6" name="">
            <a:extLst xmlns:a="http://schemas.openxmlformats.org/drawingml/2006/main">
              <a:ext uri="{FF2B5EF4-FFF2-40B4-BE49-F238E27FC236}">
                <a16:creationId xmlns:a16="http://schemas.microsoft.com/office/drawing/2014/main" id="{B6656B9D-D9D6-4158-B17C-C3D9987B2E4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E0298AB-6302-4BC4-A34A-42F337F0EDF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4DA1297-4F63-4B6F-956A-7FC23519CD7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E461AB6B-93D9-4ADF-82D3-31031B94BD8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규정·부서 지식</a:t>
            </a:r>
          </a:p>
        </p:txBody>
      </p:sp>
      <p:sp>
        <p:nvSpPr>
          <p:cNvPr id="10" name="">
            <a:extLst xmlns:a="http://schemas.openxmlformats.org/drawingml/2006/main">
              <a:ext uri="{FF2B5EF4-FFF2-40B4-BE49-F238E27FC236}">
                <a16:creationId xmlns:a16="http://schemas.microsoft.com/office/drawing/2014/main" id="{574F8053-E466-4C2F-85C6-3E76E88D626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59D1E1B-3F98-48CD-8DED-CA8E78AA10D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DA94494E-08D7-44FF-B34C-84757C0DE92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6B73B9C-AA38-43EF-9038-88E4B410B8D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532DB30-CA88-48F4-B577-24AE875C28E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7B7DCEE9-160D-40F7-A116-F982293DE0E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16" name="">
            <a:extLst xmlns:a="http://schemas.openxmlformats.org/drawingml/2006/main">
              <a:ext uri="{FF2B5EF4-FFF2-40B4-BE49-F238E27FC236}">
                <a16:creationId xmlns:a16="http://schemas.microsoft.com/office/drawing/2014/main" id="{E3D27AB1-E50A-4038-97F8-CF1640CCA4B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E0E0E43-043D-4A0E-B669-452DC98CADCB}"/>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5ECAD570-E5C2-4381-9D05-11E7BFAAD72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지식</a:t>
            </a:r>
          </a:p>
        </p:txBody>
      </p:sp>
      <p:sp>
        <p:nvSpPr>
          <p:cNvPr id="19" name="">
            <a:extLst xmlns:a="http://schemas.openxmlformats.org/drawingml/2006/main">
              <a:ext uri="{FF2B5EF4-FFF2-40B4-BE49-F238E27FC236}">
                <a16:creationId xmlns:a16="http://schemas.microsoft.com/office/drawing/2014/main" id="{2D22DCDF-AD9F-4957-9D99-CBF1632C5F6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D5433FC-699D-4A5F-882E-3A4A8738059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5552B27C-A9A7-4085-A4B3-881A28EEA8D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22" name="">
            <a:extLst xmlns:a="http://schemas.openxmlformats.org/drawingml/2006/main">
              <a:ext uri="{FF2B5EF4-FFF2-40B4-BE49-F238E27FC236}">
                <a16:creationId xmlns:a16="http://schemas.microsoft.com/office/drawing/2014/main" id="{1AD465EC-95EB-42DF-9EE1-47C1B76270F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B990D82-1923-4564-8F98-BEFC93ADA80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DFFDF281-2577-4115-AB8D-CDFD91408AE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피드백</a:t>
            </a:r>
          </a:p>
        </p:txBody>
      </p:sp>
      <p:sp>
        <p:nvSpPr>
          <p:cNvPr id="25" name="">
            <a:extLst xmlns:a="http://schemas.openxmlformats.org/drawingml/2006/main">
              <a:ext uri="{FF2B5EF4-FFF2-40B4-BE49-F238E27FC236}">
                <a16:creationId xmlns:a16="http://schemas.microsoft.com/office/drawing/2014/main" id="{CE0CB16C-47D8-4543-9CB9-F6CF36148A7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77F9B788-3766-437E-95EA-F760C19F078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규정·부서 제한 문서·서로 상충하는 출처</a:t>
            </a:r>
          </a:p>
        </p:txBody>
      </p:sp>
      <p:sp>
        <p:nvSpPr>
          <p:cNvPr id="27" name="">
            <a:extLst xmlns:a="http://schemas.openxmlformats.org/drawingml/2006/main">
              <a:ext uri="{FF2B5EF4-FFF2-40B4-BE49-F238E27FC236}">
                <a16:creationId xmlns:a16="http://schemas.microsoft.com/office/drawing/2014/main" id="{560AFA8A-767B-4FB5-B6A3-83AAA0837C3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76BB6C7-0C02-4509-8D32-7E483919539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권한·판본별 안전 질의 정답 대조</a:t>
            </a:r>
          </a:p>
        </p:txBody>
      </p:sp>
      <p:sp>
        <p:nvSpPr>
          <p:cNvPr id="29" name="">
            <a:extLst xmlns:a="http://schemas.openxmlformats.org/drawingml/2006/main">
              <a:ext uri="{FF2B5EF4-FFF2-40B4-BE49-F238E27FC236}">
                <a16:creationId xmlns:a16="http://schemas.microsoft.com/office/drawing/2014/main" id="{4551B43D-8F32-4297-BA1F-D7D74D4C14E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999BADE-9A0B-4F20-8EE5-17E021C0F35A}"/>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피드백·개정 반영·권한별 검색 결과 검사</a:t>
            </a:r>
          </a:p>
        </p:txBody>
      </p:sp>
      <p:sp>
        <p:nvSpPr>
          <p:cNvPr id="31" name="">
            <a:extLst xmlns:a="http://schemas.openxmlformats.org/drawingml/2006/main">
              <a:ext uri="{FF2B5EF4-FFF2-40B4-BE49-F238E27FC236}">
                <a16:creationId xmlns:a16="http://schemas.microsoft.com/office/drawing/2014/main" id="{7C3AD397-1371-4AE2-B2B7-FA6CAEA97BF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B84A6669-44B8-42CB-B39D-D7CF38D613C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판본·권한별 응답과 상충 근거 표시·수정 이력</a:t>
            </a:r>
          </a:p>
        </p:txBody>
      </p:sp>
    </p:spTree>
    <p:extLst>
      <p:ext uri="{BB962C8B-B14F-4D97-AF65-F5344CB8AC3E}">
        <p14:creationId xmlns:p14="http://schemas.microsoft.com/office/powerpoint/2010/main" val="936023185"/>
      </p:ext>
    </p:extLst>
  </p:cSld>
</p:sld>
</file>

<file path=ppt/slides/slide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F644D1C-29EE-4A4A-A58A-A696DA1134F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PF-R04 / CCK 비교·재현 시험 설계</a:t>
            </a:r>
          </a:p>
        </p:txBody>
      </p:sp>
      <p:sp>
        <p:nvSpPr>
          <p:cNvPr id="2" name="">
            <a:extLst xmlns:a="http://schemas.openxmlformats.org/drawingml/2006/main">
              <a:ext uri="{FF2B5EF4-FFF2-40B4-BE49-F238E27FC236}">
                <a16:creationId xmlns:a16="http://schemas.microsoft.com/office/drawing/2014/main" id="{B8997F56-6F05-47E9-A182-3BA25981C3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지역난방공사 안전 LLM · 벤치마킹</a:t>
            </a:r>
          </a:p>
        </p:txBody>
      </p:sp>
      <p:sp>
        <p:nvSpPr>
          <p:cNvPr id="3" name="">
            <a:extLst xmlns:a="http://schemas.openxmlformats.org/drawingml/2006/main">
              <a:ext uri="{FF2B5EF4-FFF2-40B4-BE49-F238E27FC236}">
                <a16:creationId xmlns:a16="http://schemas.microsoft.com/office/drawing/2014/main" id="{721E97B8-70E5-4852-B280-7EC5B73B734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57F22C-BB00-4B85-AE26-2A091C28DA9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8088E2E-0576-4E6B-A0F9-617A61C84AC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34</a:t>
            </a:r>
          </a:p>
        </p:txBody>
      </p:sp>
      <p:sp>
        <p:nvSpPr>
          <p:cNvPr id="6" name="">
            <a:extLst xmlns:a="http://schemas.openxmlformats.org/drawingml/2006/main">
              <a:ext uri="{FF2B5EF4-FFF2-40B4-BE49-F238E27FC236}">
                <a16:creationId xmlns:a16="http://schemas.microsoft.com/office/drawing/2014/main" id="{2BA45C22-ADD6-4866-A988-3A60324AD08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C60CC504-D103-4D5D-8C07-3D5871F0676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도메인 지식 집중</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개인·부서 지식공간의 구분</a:t>
            </a:r>
          </a:p>
        </p:txBody>
      </p:sp>
      <p:sp>
        <p:nvSpPr>
          <p:cNvPr id="8" name="">
            <a:extLst xmlns:a="http://schemas.openxmlformats.org/drawingml/2006/main">
              <a:ext uri="{FF2B5EF4-FFF2-40B4-BE49-F238E27FC236}">
                <a16:creationId xmlns:a16="http://schemas.microsoft.com/office/drawing/2014/main" id="{72F516BF-6278-48EB-AA7E-DFAAE61675D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D698713-F223-48C5-B32F-6CE43CF7608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 자료의 권한 혼입</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계약 발표를 안전 품질 검수로 간주</a:t>
            </a:r>
          </a:p>
        </p:txBody>
      </p:sp>
      <p:sp>
        <p:nvSpPr>
          <p:cNvPr id="10" name="">
            <a:extLst xmlns:a="http://schemas.openxmlformats.org/drawingml/2006/main">
              <a:ext uri="{FF2B5EF4-FFF2-40B4-BE49-F238E27FC236}">
                <a16:creationId xmlns:a16="http://schemas.microsoft.com/office/drawing/2014/main" id="{2B98ECA8-3C17-4B9D-B27F-BBED0866291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7308583-9602-4CA4-ABEA-E38BEBC78A8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권한·판본별 안전 질의 정답 대조</a:t>
            </a:r>
          </a:p>
        </p:txBody>
      </p:sp>
      <p:sp>
        <p:nvSpPr>
          <p:cNvPr id="12" name="">
            <a:extLst xmlns:a="http://schemas.openxmlformats.org/drawingml/2006/main">
              <a:ext uri="{FF2B5EF4-FFF2-40B4-BE49-F238E27FC236}">
                <a16:creationId xmlns:a16="http://schemas.microsoft.com/office/drawing/2014/main" id="{27AC28F6-B09E-47FB-BFFA-11298DD66F4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EA6E54E-DD5B-45F4-8201-4EA709F41DF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문서를 최신 규정과 대조하고 부서 공간에서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검토</a:t>
            </a:r>
          </a:p>
        </p:txBody>
      </p:sp>
      <p:sp>
        <p:nvSpPr>
          <p:cNvPr id="14" name="">
            <a:extLst xmlns:a="http://schemas.openxmlformats.org/drawingml/2006/main">
              <a:ext uri="{FF2B5EF4-FFF2-40B4-BE49-F238E27FC236}">
                <a16:creationId xmlns:a16="http://schemas.microsoft.com/office/drawing/2014/main" id="{D24DB040-6900-41A3-8F28-9EB2BB161DB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2FF2F6D-85CE-4AE7-9E82-FED96B68051D}"/>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규정·부서 제한 문서·서로 상충하는 출처</a:t>
            </a:r>
          </a:p>
        </p:txBody>
      </p:sp>
      <p:sp>
        <p:nvSpPr>
          <p:cNvPr id="16" name="">
            <a:extLst xmlns:a="http://schemas.openxmlformats.org/drawingml/2006/main">
              <a:ext uri="{FF2B5EF4-FFF2-40B4-BE49-F238E27FC236}">
                <a16:creationId xmlns:a16="http://schemas.microsoft.com/office/drawing/2014/main" id="{D3EE219E-1325-452F-A42A-1BA9A9681BFC}"/>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B705EB3-1B8D-466C-B4D9-A4D972B4A0DB}"/>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판본·권한별 응답과 상충 근거 표시·수정 이력</a:t>
            </a:r>
          </a:p>
        </p:txBody>
      </p:sp>
    </p:spTree>
    <p:extLst>
      <p:ext uri="{BB962C8B-B14F-4D97-AF65-F5344CB8AC3E}">
        <p14:creationId xmlns:p14="http://schemas.microsoft.com/office/powerpoint/2010/main" val="615194556"/>
      </p:ext>
    </p:extLst>
  </p:cSld>
</p:sld>
</file>

<file path=ppt/slides/slide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57FBFC0-B7E4-4311-B792-68EC4FDFA85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공식 RFP·착수 발표 확인 / 정식 운영 성과 미확인 / 국내</a:t>
            </a:r>
          </a:p>
        </p:txBody>
      </p:sp>
      <p:sp>
        <p:nvSpPr>
          <p:cNvPr id="2" name="">
            <a:extLst xmlns:a="http://schemas.openxmlformats.org/drawingml/2006/main">
              <a:ext uri="{FF2B5EF4-FFF2-40B4-BE49-F238E27FC236}">
                <a16:creationId xmlns:a16="http://schemas.microsoft.com/office/drawing/2014/main" id="{9751783F-D7DF-494C-809D-327EDE12A6F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a:t>
            </a:r>
          </a:p>
        </p:txBody>
      </p:sp>
      <p:sp>
        <p:nvSpPr>
          <p:cNvPr id="3" name="">
            <a:extLst xmlns:a="http://schemas.openxmlformats.org/drawingml/2006/main">
              <a:ext uri="{FF2B5EF4-FFF2-40B4-BE49-F238E27FC236}">
                <a16:creationId xmlns:a16="http://schemas.microsoft.com/office/drawing/2014/main" id="{93743CF9-0C65-4158-9D09-A1CBE9AC9DC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AC709C-575D-4E9B-B11D-26B6551C968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33A96E2-324A-4200-BC12-B8F4F6475A2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35</a:t>
            </a:r>
          </a:p>
        </p:txBody>
      </p:sp>
      <p:sp>
        <p:nvSpPr>
          <p:cNvPr id="6" name="">
            <a:extLst xmlns:a="http://schemas.openxmlformats.org/drawingml/2006/main">
              <a:ext uri="{FF2B5EF4-FFF2-40B4-BE49-F238E27FC236}">
                <a16:creationId xmlns:a16="http://schemas.microsoft.com/office/drawing/2014/main" id="{A27FA1E5-1C67-4F83-8DCA-020E2A2422D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6471BA84-2EE5-4015-BA7E-AE47A6F4AFE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경기도 홈페이지에 축적된 정책·복지·공고 정보를 자연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어로 찾도록 하는 검색 접점 고도화. 국민의 요청을 신청</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자격·지역·기간 등의 조건으로 정리하고, 맞는 공고와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신청 화면으로 연결하는 업무.</a:t>
            </a:r>
          </a:p>
        </p:txBody>
      </p:sp>
      <p:sp>
        <p:nvSpPr>
          <p:cNvPr id="8" name="">
            <a:extLst xmlns:a="http://schemas.openxmlformats.org/drawingml/2006/main">
              <a:ext uri="{FF2B5EF4-FFF2-40B4-BE49-F238E27FC236}">
                <a16:creationId xmlns:a16="http://schemas.microsoft.com/office/drawing/2014/main" id="{0D75B3DF-136F-4ABB-80D4-D4DD10EEF527}"/>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E0C77FA-4BBF-46C2-B5BB-DC296890443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서비스 도면은 홈페이지 RDB의 대상 자료를 공공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클라우드 RAG 영역에 수집·임베딩하고, 질의와 검색 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거를 외부 LLM에 전달한 뒤 홈페이지 채팅 UI로 답변하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구성. 기능도에는 데이터·프롬프트·이력·모델·통계를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관리 영역으로 명시.</a:t>
            </a:r>
          </a:p>
        </p:txBody>
      </p:sp>
      <p:sp>
        <p:nvSpPr>
          <p:cNvPr id="10" name="">
            <a:extLst xmlns:a="http://schemas.openxmlformats.org/drawingml/2006/main">
              <a:ext uri="{FF2B5EF4-FFF2-40B4-BE49-F238E27FC236}">
                <a16:creationId xmlns:a16="http://schemas.microsoft.com/office/drawing/2014/main" id="{94DFE8FC-8646-4EA7-8B6C-34D040696541}"/>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36A5CD2-718D-4ACC-98C6-DC13B54FC4E5}"/>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챗봇이 답한 것과 국민이 원하는 서비스를 찾은 것을 구분해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평가할 사례. 마감 공고·지역 불일치·자격 예외를 포함한 질</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문으로 원문 링크 도달과 다음 절차 안내를 검증할 필요. TS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대국민 접점에서는 기존 메뉴·신청 시스템을 유지하면서 자</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연어·음성 진입을 추가하는 방향.</a:t>
            </a:r>
          </a:p>
        </p:txBody>
      </p:sp>
      <p:sp>
        <p:nvSpPr>
          <p:cNvPr id="12" name="">
            <a:extLst xmlns:a="http://schemas.openxmlformats.org/drawingml/2006/main">
              <a:ext uri="{FF2B5EF4-FFF2-40B4-BE49-F238E27FC236}">
                <a16:creationId xmlns:a16="http://schemas.microsoft.com/office/drawing/2014/main" id="{1BD52D39-153B-4394-A0D0-BF91EE75905D}"/>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AED102A-27B0-453B-A427-5110F9BE211B}"/>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서비스·조건·기한 사전 / 유사 공고 비교 / 원문·신청 경로 연결</a:t>
            </a:r>
          </a:p>
        </p:txBody>
      </p:sp>
      <p:sp>
        <p:nvSpPr>
          <p:cNvPr id="14" name="">
            <a:extLst xmlns:a="http://schemas.openxmlformats.org/drawingml/2006/main">
              <a:ext uri="{FF2B5EF4-FFF2-40B4-BE49-F238E27FC236}">
                <a16:creationId xmlns:a16="http://schemas.microsoft.com/office/drawing/2014/main" id="{C929BB69-BAF9-49D9-97EF-942B481F75E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3134492-8F76-40E0-8B90-E2FFD636396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마감·유사 공고·갱신 지연 질의의 조건 일치와 서비스 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달 확인</a:t>
            </a:r>
          </a:p>
        </p:txBody>
      </p:sp>
      <p:sp>
        <p:nvSpPr>
          <p:cNvPr id="16" name="">
            <a:extLst xmlns:a="http://schemas.openxmlformats.org/drawingml/2006/main">
              <a:ext uri="{FF2B5EF4-FFF2-40B4-BE49-F238E27FC236}">
                <a16:creationId xmlns:a16="http://schemas.microsoft.com/office/drawing/2014/main" id="{F3E0F419-DB69-4194-9A89-DE0693766DB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0395FB9-6623-4B0E-AEBB-4EE1B58D3F02}"/>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정확한 공고 도달률 / 탐색시간 / 이용 포기율</a:t>
            </a:r>
          </a:p>
        </p:txBody>
      </p:sp>
      <p:sp>
        <p:nvSpPr>
          <p:cNvPr id="18" name="">
            <a:extLst xmlns:a="http://schemas.openxmlformats.org/drawingml/2006/main">
              <a:ext uri="{FF2B5EF4-FFF2-40B4-BE49-F238E27FC236}">
                <a16:creationId xmlns:a16="http://schemas.microsoft.com/office/drawing/2014/main" id="{ACF05267-2561-437B-A1D0-405641B6D69F}"/>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착수자료의 2025년 11월 예정과 실제 개시·정량 성과를 구분</a:t>
            </a:r>
          </a:p>
        </p:txBody>
      </p:sp>
    </p:spTree>
    <p:extLst>
      <p:ext uri="{BB962C8B-B14F-4D97-AF65-F5344CB8AC3E}">
        <p14:creationId xmlns:p14="http://schemas.microsoft.com/office/powerpoint/2010/main" val="678959221"/>
      </p:ext>
    </p:extLst>
  </p:cSld>
</p:sld>
</file>

<file path=ppt/slides/slide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6AE740D-CF31-4393-88A4-CE72A8C9D92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 SFR-003~006 / 1–3</a:t>
            </a:r>
          </a:p>
        </p:txBody>
      </p:sp>
      <p:sp>
        <p:nvSpPr>
          <p:cNvPr id="2" name="">
            <a:extLst xmlns:a="http://schemas.openxmlformats.org/drawingml/2006/main">
              <a:ext uri="{FF2B5EF4-FFF2-40B4-BE49-F238E27FC236}">
                <a16:creationId xmlns:a16="http://schemas.microsoft.com/office/drawing/2014/main" id="{3596B8D4-7AA7-4EEF-B563-F7E5B98AF6D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RFP 요구사항</a:t>
            </a:r>
          </a:p>
        </p:txBody>
      </p:sp>
      <p:sp>
        <p:nvSpPr>
          <p:cNvPr id="3" name="">
            <a:extLst xmlns:a="http://schemas.openxmlformats.org/drawingml/2006/main">
              <a:ext uri="{FF2B5EF4-FFF2-40B4-BE49-F238E27FC236}">
                <a16:creationId xmlns:a16="http://schemas.microsoft.com/office/drawing/2014/main" id="{120ED675-B125-4670-85EF-398B16F33F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D69A01-7247-45C7-84D3-36EF307942B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B47D0D2-4422-49A3-8D7B-78BBEB7B9E5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36</a:t>
            </a:r>
          </a:p>
        </p:txBody>
      </p:sp>
      <p:sp>
        <p:nvSpPr>
          <p:cNvPr id="6" name="">
            <a:extLst xmlns:a="http://schemas.openxmlformats.org/drawingml/2006/main">
              <a:ext uri="{FF2B5EF4-FFF2-40B4-BE49-F238E27FC236}">
                <a16:creationId xmlns:a16="http://schemas.microsoft.com/office/drawing/2014/main" id="{BC5AEE3C-8278-473B-BFD3-49624C5B9F3C}"/>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947666-7419-45CE-8665-7AFBE8C0499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생성형 AI 챗봇 검색 서비스 대상 데이터 수집·정제·전처리</a:t>
            </a:r>
          </a:p>
        </p:txBody>
      </p:sp>
      <p:sp>
        <p:nvSpPr>
          <p:cNvPr id="8" name="">
            <a:extLst xmlns:a="http://schemas.openxmlformats.org/drawingml/2006/main">
              <a:ext uri="{FF2B5EF4-FFF2-40B4-BE49-F238E27FC236}">
                <a16:creationId xmlns:a16="http://schemas.microsoft.com/office/drawing/2014/main" id="{1BFC9BE5-5425-48DF-9F78-79A80B6B5E5C}"/>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정책·복지·공고 등 대상 데이터를 수집하고 정제·전처리하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는 기능.</a:t>
            </a:r>
          </a:p>
        </p:txBody>
      </p:sp>
      <p:sp>
        <p:nvSpPr>
          <p:cNvPr id="9" name="">
            <a:extLst xmlns:a="http://schemas.openxmlformats.org/drawingml/2006/main">
              <a:ext uri="{FF2B5EF4-FFF2-40B4-BE49-F238E27FC236}">
                <a16:creationId xmlns:a16="http://schemas.microsoft.com/office/drawing/2014/main" id="{A2DC8B4E-9137-4990-8524-F3C83253845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첨부·표·중복 URL·깨진 링크 입력의 수집 범위와 정제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
        <p:nvSpPr>
          <p:cNvPr id="10" name="">
            <a:extLst xmlns:a="http://schemas.openxmlformats.org/drawingml/2006/main">
              <a:ext uri="{FF2B5EF4-FFF2-40B4-BE49-F238E27FC236}">
                <a16:creationId xmlns:a16="http://schemas.microsoft.com/office/drawing/2014/main" id="{04ACC35F-1B29-45D6-84B0-A7C0C035D96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8A0645-1E2E-43B6-AC8A-B3FE29C75641}"/>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실시간 데이터 파이프라인 자동화 구축</a:t>
            </a:r>
          </a:p>
        </p:txBody>
      </p:sp>
      <p:sp>
        <p:nvSpPr>
          <p:cNvPr id="12" name="">
            <a:extLst xmlns:a="http://schemas.openxmlformats.org/drawingml/2006/main">
              <a:ext uri="{FF2B5EF4-FFF2-40B4-BE49-F238E27FC236}">
                <a16:creationId xmlns:a16="http://schemas.microsoft.com/office/drawing/2014/main" id="{2A316153-13DB-4D9F-A499-6759DEAC0B3E}"/>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신규·변경 정보를 반영하는 데이터 파이프라인 자동화.</a:t>
            </a:r>
          </a:p>
        </p:txBody>
      </p:sp>
      <p:sp>
        <p:nvSpPr>
          <p:cNvPr id="13" name="">
            <a:extLst xmlns:a="http://schemas.openxmlformats.org/drawingml/2006/main">
              <a:ext uri="{FF2B5EF4-FFF2-40B4-BE49-F238E27FC236}">
                <a16:creationId xmlns:a16="http://schemas.microsoft.com/office/drawing/2014/main" id="{578799BC-DB0B-4850-B5D2-72554881518F}"/>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공고 수정·종료·삭제 후 색인 갱신과 수집 실패 후 재개 결과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4" name="">
            <a:extLst xmlns:a="http://schemas.openxmlformats.org/drawingml/2006/main">
              <a:ext uri="{FF2B5EF4-FFF2-40B4-BE49-F238E27FC236}">
                <a16:creationId xmlns:a16="http://schemas.microsoft.com/office/drawing/2014/main" id="{C3A0B364-905E-49A1-B484-3FDDC316E809}"/>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BD5A6F-58FE-4B32-ACC1-42AF7A861E28}"/>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RAG(Retrieval Augmented Generation) 구축</a:t>
            </a:r>
          </a:p>
        </p:txBody>
      </p:sp>
      <p:sp>
        <p:nvSpPr>
          <p:cNvPr id="16" name="">
            <a:extLst xmlns:a="http://schemas.openxmlformats.org/drawingml/2006/main">
              <a:ext uri="{FF2B5EF4-FFF2-40B4-BE49-F238E27FC236}">
                <a16:creationId xmlns:a16="http://schemas.microsoft.com/office/drawing/2014/main" id="{591C5C35-6A71-4CFD-8935-5B95E465B8B2}"/>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정제 자료를 검색 근거로 제공하는 RAG 기반 구성.</a:t>
            </a:r>
          </a:p>
        </p:txBody>
      </p:sp>
      <p:sp>
        <p:nvSpPr>
          <p:cNvPr id="17" name="">
            <a:extLst xmlns:a="http://schemas.openxmlformats.org/drawingml/2006/main">
              <a:ext uri="{FF2B5EF4-FFF2-40B4-BE49-F238E27FC236}">
                <a16:creationId xmlns:a16="http://schemas.microsoft.com/office/drawing/2014/main" id="{94E7C85D-A98D-488D-B1D3-3BEB2B204825}"/>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기간·지역·대상 조건이 다른 유사 정책의 구분과 근거 페이지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정확성 평가</a:t>
            </a:r>
          </a:p>
        </p:txBody>
      </p:sp>
    </p:spTree>
    <p:extLst>
      <p:ext uri="{BB962C8B-B14F-4D97-AF65-F5344CB8AC3E}">
        <p14:creationId xmlns:p14="http://schemas.microsoft.com/office/powerpoint/2010/main" val="1175228821"/>
      </p:ext>
    </p:extLst>
  </p:cSld>
</p:sld>
</file>

<file path=ppt/slides/slide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560F41-2CA6-428C-9ED5-06D52D7BC18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 SFR-003~006 / 4–4</a:t>
            </a:r>
          </a:p>
        </p:txBody>
      </p:sp>
      <p:sp>
        <p:nvSpPr>
          <p:cNvPr id="2" name="">
            <a:extLst xmlns:a="http://schemas.openxmlformats.org/drawingml/2006/main">
              <a:ext uri="{FF2B5EF4-FFF2-40B4-BE49-F238E27FC236}">
                <a16:creationId xmlns:a16="http://schemas.microsoft.com/office/drawing/2014/main" id="{A0896E83-01E3-4ADE-840A-844C8AC296D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RFP 요구사항</a:t>
            </a:r>
          </a:p>
        </p:txBody>
      </p:sp>
      <p:sp>
        <p:nvSpPr>
          <p:cNvPr id="3" name="">
            <a:extLst xmlns:a="http://schemas.openxmlformats.org/drawingml/2006/main">
              <a:ext uri="{FF2B5EF4-FFF2-40B4-BE49-F238E27FC236}">
                <a16:creationId xmlns:a16="http://schemas.microsoft.com/office/drawing/2014/main" id="{C728F0DC-4492-4A27-A7A2-C029BCA1528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298082-8AD6-43FE-8614-E5D4B3C35AE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4D83022-4695-4750-8A31-82E963B3212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37</a:t>
            </a:r>
          </a:p>
        </p:txBody>
      </p:sp>
      <p:sp>
        <p:nvSpPr>
          <p:cNvPr id="6" name="">
            <a:extLst xmlns:a="http://schemas.openxmlformats.org/drawingml/2006/main">
              <a:ext uri="{FF2B5EF4-FFF2-40B4-BE49-F238E27FC236}">
                <a16:creationId xmlns:a16="http://schemas.microsoft.com/office/drawing/2014/main" id="{F4CDC331-58E7-4FE3-8FC5-A89A216CBA61}"/>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C4D1AF3-97D5-47FE-ADB4-FE537223DFD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생성형 AI 챗봇 검색 서비스 개발</a:t>
            </a:r>
          </a:p>
        </p:txBody>
      </p:sp>
      <p:sp>
        <p:nvSpPr>
          <p:cNvPr id="8" name="">
            <a:extLst xmlns:a="http://schemas.openxmlformats.org/drawingml/2006/main">
              <a:ext uri="{FF2B5EF4-FFF2-40B4-BE49-F238E27FC236}">
                <a16:creationId xmlns:a16="http://schemas.microsoft.com/office/drawing/2014/main" id="{65AC58BD-0D8D-4138-85B8-84EFDD907EA9}"/>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도민의 대화형 정보 탐색을 위한 챗봇·검색 서비스 구현.</a:t>
            </a:r>
          </a:p>
        </p:txBody>
      </p:sp>
      <p:sp>
        <p:nvSpPr>
          <p:cNvPr id="9" name="">
            <a:extLst xmlns:a="http://schemas.openxmlformats.org/drawingml/2006/main">
              <a:ext uri="{FF2B5EF4-FFF2-40B4-BE49-F238E27FC236}">
                <a16:creationId xmlns:a16="http://schemas.microsoft.com/office/drawing/2014/main" id="{ADFE8603-90F2-4C38-9335-F1D247D92220}"/>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모호한 문의의 추가 질문, 잘못된 서비스 링크, 응답 실패 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기존 탐색 경로 확인</a:t>
            </a:r>
          </a:p>
        </p:txBody>
      </p:sp>
    </p:spTree>
    <p:extLst>
      <p:ext uri="{BB962C8B-B14F-4D97-AF65-F5344CB8AC3E}">
        <p14:creationId xmlns:p14="http://schemas.microsoft.com/office/powerpoint/2010/main" val="1983009839"/>
      </p:ext>
    </p:extLst>
  </p:cSld>
</p:sld>
</file>

<file path=ppt/slides/slide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F6AB7C-2D03-4B47-88D4-82318826D17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목표기능 구성도 / RFP 원문 추출</a:t>
            </a:r>
          </a:p>
        </p:txBody>
      </p:sp>
      <p:sp>
        <p:nvSpPr>
          <p:cNvPr id="2" name="">
            <a:extLst xmlns:a="http://schemas.openxmlformats.org/drawingml/2006/main">
              <a:ext uri="{FF2B5EF4-FFF2-40B4-BE49-F238E27FC236}">
                <a16:creationId xmlns:a16="http://schemas.microsoft.com/office/drawing/2014/main" id="{7715C257-2837-4A2E-890E-053435E580D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홈페이지 AI 목표기능</a:t>
            </a:r>
          </a:p>
        </p:txBody>
      </p:sp>
      <p:sp>
        <p:nvSpPr>
          <p:cNvPr id="3" name="">
            <a:extLst xmlns:a="http://schemas.openxmlformats.org/drawingml/2006/main">
              <a:ext uri="{FF2B5EF4-FFF2-40B4-BE49-F238E27FC236}">
                <a16:creationId xmlns:a16="http://schemas.microsoft.com/office/drawing/2014/main" id="{7507481C-2484-4482-BC93-6572D506F5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6828EA-0F71-49D6-B1B9-CD4D4987631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2E8E8C1-4A90-426E-B83F-798DFAB8996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38</a:t>
            </a:r>
          </a:p>
        </p:txBody>
      </p:sp>
      <p:pic>
        <p:nvPicPr>
          <p:cNvPr id="6" name="">
            <a:extLst xmlns:a="http://schemas.openxmlformats.org/drawingml/2006/main">
              <a:ext uri="{FF2B5EF4-FFF2-40B4-BE49-F238E27FC236}">
                <a16:creationId xmlns:a16="http://schemas.microsoft.com/office/drawing/2014/main" id="{4B369309-7920-447E-946F-647B4E8E8995}"/>
              </a:ext>
            </a:extLst>
          </p:cNvPr>
          <p:cNvPicPr>
            <a:picLocks xmlns:a="http://schemas.openxmlformats.org/drawingml/2006/main" noChangeAspect="1"/>
          </p:cNvPicPr>
          <p:nvPr/>
        </p:nvPicPr>
        <p:blipFill>
          <a:blip xmlns:r="http://schemas.openxmlformats.org/officeDocument/2006/relationships" xmlns:a="http://schemas.openxmlformats.org/drawingml/2006/main" r:embed="Rcf97597e9ee948a3"/>
          <a:stretch xmlns:a="http://schemas.openxmlformats.org/drawingml/2006/main"/>
        </p:blipFill>
        <p:spPr>
          <a:xfrm xmlns:a="http://schemas.openxmlformats.org/drawingml/2006/main">
            <a:off x="2692765" y="1657350"/>
            <a:ext cx="680647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FF9D805-4E03-462E-9C04-2A1D9793615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챗봇·RAG·데이터 파이프라인·모델 관리의 분리</a:t>
            </a:r>
          </a:p>
        </p:txBody>
      </p:sp>
    </p:spTree>
    <p:extLst>
      <p:ext uri="{BB962C8B-B14F-4D97-AF65-F5344CB8AC3E}">
        <p14:creationId xmlns:p14="http://schemas.microsoft.com/office/powerpoint/2010/main" val="943350799"/>
      </p:ext>
    </p:extLst>
  </p:cSld>
</p:sld>
</file>

<file path=ppt/slides/slide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2DBD25-670A-4035-8964-DB025418FD7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RFP 서비스 아키텍처 구성도 / RFP 원문 추출</a:t>
            </a:r>
          </a:p>
        </p:txBody>
      </p:sp>
      <p:sp>
        <p:nvSpPr>
          <p:cNvPr id="2" name="">
            <a:extLst xmlns:a="http://schemas.openxmlformats.org/drawingml/2006/main">
              <a:ext uri="{FF2B5EF4-FFF2-40B4-BE49-F238E27FC236}">
                <a16:creationId xmlns:a16="http://schemas.microsoft.com/office/drawing/2014/main" id="{C64B037F-B958-47FD-88D5-2C5E26B997E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홈페이지–RAG–외부 LLM</a:t>
            </a:r>
          </a:p>
        </p:txBody>
      </p:sp>
      <p:sp>
        <p:nvSpPr>
          <p:cNvPr id="3" name="">
            <a:extLst xmlns:a="http://schemas.openxmlformats.org/drawingml/2006/main">
              <a:ext uri="{FF2B5EF4-FFF2-40B4-BE49-F238E27FC236}">
                <a16:creationId xmlns:a16="http://schemas.microsoft.com/office/drawing/2014/main" id="{4558ED27-69B5-40AB-A78D-6B608779858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9C4673-7DE1-4A03-B86D-9701159895E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26D0AC5-E8D8-462C-8BF4-2A414E13568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39</a:t>
            </a:r>
          </a:p>
        </p:txBody>
      </p:sp>
      <p:pic>
        <p:nvPicPr>
          <p:cNvPr id="6" name="">
            <a:extLst xmlns:a="http://schemas.openxmlformats.org/drawingml/2006/main">
              <a:ext uri="{FF2B5EF4-FFF2-40B4-BE49-F238E27FC236}">
                <a16:creationId xmlns:a16="http://schemas.microsoft.com/office/drawing/2014/main" id="{663E2E8A-E36F-4B68-A846-B81D2DD97A10}"/>
              </a:ext>
            </a:extLst>
          </p:cNvPr>
          <p:cNvPicPr>
            <a:picLocks xmlns:a="http://schemas.openxmlformats.org/drawingml/2006/main" noChangeAspect="1"/>
          </p:cNvPicPr>
          <p:nvPr/>
        </p:nvPicPr>
        <p:blipFill>
          <a:blip xmlns:r="http://schemas.openxmlformats.org/officeDocument/2006/relationships" xmlns:a="http://schemas.openxmlformats.org/drawingml/2006/main" r:embed="Rce977962bed643b8"/>
          <a:stretch xmlns:a="http://schemas.openxmlformats.org/drawingml/2006/main"/>
        </p:blipFill>
        <p:spPr>
          <a:xfrm xmlns:a="http://schemas.openxmlformats.org/drawingml/2006/main">
            <a:off x="2939707" y="1657350"/>
            <a:ext cx="631258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4351378-463A-4695-AA24-3C60F4A2428A}"/>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홈페이지 RDB → 공공클라우드 Vector DB → 외부 LLM</a:t>
            </a:r>
          </a:p>
        </p:txBody>
      </p:sp>
    </p:spTree>
    <p:extLst>
      <p:ext uri="{BB962C8B-B14F-4D97-AF65-F5344CB8AC3E}">
        <p14:creationId xmlns:p14="http://schemas.microsoft.com/office/powerpoint/2010/main" val="1845436999"/>
      </p:ext>
    </p:extLst>
  </p:cSld>
</p:sld>
</file>

<file path=ppt/slides/slide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123EB8C4-EF26-438B-A36B-4C429EF7699D}"/>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7896D8B-CF28-4625-8E31-6A86CEBA11C5}"/>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5588A1F-399F-4C02-83B3-FE80791EE53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EE18081-DA8A-4409-8E51-33895C166280}"/>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EC51756B-EA6E-405F-977E-405424E5C250}"/>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B7B46376-2551-4ED7-9EAD-73DA9D161774}"/>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66F501EC-F52C-4516-B8A5-3A92BCCC626D}"/>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AC050E39-A5A1-4082-8149-995972CE155B}"/>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919CE915-3B5A-484D-9A4F-247AB14CD50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C017DCE1-A935-465D-A878-8AD99349E66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지식 갱신·검색·근거 응답</a:t>
            </a:r>
          </a:p>
        </p:txBody>
      </p:sp>
      <p:sp>
        <p:nvSpPr>
          <p:cNvPr id="2" name="">
            <a:extLst xmlns:a="http://schemas.openxmlformats.org/drawingml/2006/main">
              <a:ext uri="{FF2B5EF4-FFF2-40B4-BE49-F238E27FC236}">
                <a16:creationId xmlns:a16="http://schemas.microsoft.com/office/drawing/2014/main" id="{B54EDDCD-63F1-490B-B519-8584F856B7C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세부 서비스 구조</a:t>
            </a:r>
          </a:p>
        </p:txBody>
      </p:sp>
      <p:sp>
        <p:nvSpPr>
          <p:cNvPr id="3" name="">
            <a:extLst xmlns:a="http://schemas.openxmlformats.org/drawingml/2006/main">
              <a:ext uri="{FF2B5EF4-FFF2-40B4-BE49-F238E27FC236}">
                <a16:creationId xmlns:a16="http://schemas.microsoft.com/office/drawing/2014/main" id="{0805FF66-4BF5-4B53-93D0-AABCE1914A3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47D9E6-4864-4A6A-8DB1-0406C342841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0599143-CD71-48D4-B969-9A234B08046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40</a:t>
            </a:r>
          </a:p>
        </p:txBody>
      </p:sp>
      <p:sp>
        <p:nvSpPr>
          <p:cNvPr id="6" name="">
            <a:extLst xmlns:a="http://schemas.openxmlformats.org/drawingml/2006/main">
              <a:ext uri="{FF2B5EF4-FFF2-40B4-BE49-F238E27FC236}">
                <a16:creationId xmlns:a16="http://schemas.microsoft.com/office/drawing/2014/main" id="{9C58853F-6F49-43D0-A396-26690D12AE2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정책·공고 → 지식 갱신 → 의도·정보 비교 → 원문 안내</a:t>
            </a:r>
          </a:p>
        </p:txBody>
      </p:sp>
      <p:sp>
        <p:nvSpPr>
          <p:cNvPr id="7" name="">
            <a:extLst xmlns:a="http://schemas.openxmlformats.org/drawingml/2006/main">
              <a:ext uri="{FF2B5EF4-FFF2-40B4-BE49-F238E27FC236}">
                <a16:creationId xmlns:a16="http://schemas.microsoft.com/office/drawing/2014/main" id="{A23B9DA9-AA03-4A69-8E53-EA58730F03F9}"/>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F9ED11F1-1856-4F0F-A9FD-4FCBC5C4055C}"/>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CF8F82C1-02EF-4091-B215-8152D63DF64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홈페이지·공고 DB</a:t>
            </a:r>
          </a:p>
        </p:txBody>
      </p:sp>
      <p:sp>
        <p:nvSpPr>
          <p:cNvPr id="10" name="">
            <a:extLst xmlns:a="http://schemas.openxmlformats.org/drawingml/2006/main">
              <a:ext uri="{FF2B5EF4-FFF2-40B4-BE49-F238E27FC236}">
                <a16:creationId xmlns:a16="http://schemas.microsoft.com/office/drawing/2014/main" id="{D88AE38F-1CAE-498E-8FB6-57C7A5E9178E}"/>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07A01A8-401A-48A0-83BA-1F0BA4B9DAD8}"/>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B31447B-D69E-4F3D-B995-BC2325A6DBE1}"/>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수집·갱신·벡터화</a:t>
            </a:r>
          </a:p>
        </p:txBody>
      </p:sp>
      <p:sp>
        <p:nvSpPr>
          <p:cNvPr id="13" name="">
            <a:extLst xmlns:a="http://schemas.openxmlformats.org/drawingml/2006/main">
              <a:ext uri="{FF2B5EF4-FFF2-40B4-BE49-F238E27FC236}">
                <a16:creationId xmlns:a16="http://schemas.microsoft.com/office/drawing/2014/main" id="{4079281A-40BD-45AA-A537-1BADA59CB13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C4F5A5D-0446-4EE3-B61C-DBDF3AF0B12D}"/>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E2C17E46-41A6-41EF-A2E0-BEB7328606DB}"/>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공공클라우드 RAG</a:t>
            </a:r>
          </a:p>
        </p:txBody>
      </p:sp>
      <p:sp>
        <p:nvSpPr>
          <p:cNvPr id="16" name="">
            <a:extLst xmlns:a="http://schemas.openxmlformats.org/drawingml/2006/main">
              <a:ext uri="{FF2B5EF4-FFF2-40B4-BE49-F238E27FC236}">
                <a16:creationId xmlns:a16="http://schemas.microsoft.com/office/drawing/2014/main" id="{D7B5FB9F-4FF1-41B8-91E4-D0B90160FC0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95FD91E-7445-47B7-8596-4ABFA80FF327}"/>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AC8FFC0C-38E9-4887-A8C9-284DE65227C2}"/>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공고 검색</a:t>
            </a:r>
          </a:p>
        </p:txBody>
      </p:sp>
      <p:sp>
        <p:nvSpPr>
          <p:cNvPr id="19" name="">
            <a:extLst xmlns:a="http://schemas.openxmlformats.org/drawingml/2006/main">
              <a:ext uri="{FF2B5EF4-FFF2-40B4-BE49-F238E27FC236}">
                <a16:creationId xmlns:a16="http://schemas.microsoft.com/office/drawing/2014/main" id="{217115C3-D5BA-435F-A3F4-9ACEB587719D}"/>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366FE02-BAD0-461B-917A-C7A4ADBF1D1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DC737112-F7F2-46AA-AAB0-C5FAA9ABFB7C}"/>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 챗봇</a:t>
            </a:r>
          </a:p>
        </p:txBody>
      </p:sp>
      <p:sp>
        <p:nvSpPr>
          <p:cNvPr id="22" name="">
            <a:extLst xmlns:a="http://schemas.openxmlformats.org/drawingml/2006/main">
              <a:ext uri="{FF2B5EF4-FFF2-40B4-BE49-F238E27FC236}">
                <a16:creationId xmlns:a16="http://schemas.microsoft.com/office/drawing/2014/main" id="{06970679-1ED2-4498-84E7-D5443E74233E}"/>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4E7D5AC-FB04-47B4-90DB-6C40D1FA4946}"/>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07FB4842-254D-40A9-9681-016EC2474757}"/>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지역·대상·기간</a:t>
            </a:r>
          </a:p>
        </p:txBody>
      </p:sp>
      <p:sp>
        <p:nvSpPr>
          <p:cNvPr id="25" name="">
            <a:extLst xmlns:a="http://schemas.openxmlformats.org/drawingml/2006/main">
              <a:ext uri="{FF2B5EF4-FFF2-40B4-BE49-F238E27FC236}">
                <a16:creationId xmlns:a16="http://schemas.microsoft.com/office/drawing/2014/main" id="{5DF3F818-63DD-499A-B733-900D0F8E0DD9}"/>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75B4616-50B0-45B4-B853-EC17597B3858}"/>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22387D85-5675-41F8-9133-6C722A8B425F}"/>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의도·조건 비교</a:t>
            </a:r>
          </a:p>
        </p:txBody>
      </p:sp>
      <p:sp>
        <p:nvSpPr>
          <p:cNvPr id="28" name="">
            <a:extLst xmlns:a="http://schemas.openxmlformats.org/drawingml/2006/main">
              <a:ext uri="{FF2B5EF4-FFF2-40B4-BE49-F238E27FC236}">
                <a16:creationId xmlns:a16="http://schemas.microsoft.com/office/drawing/2014/main" id="{B2695D66-3652-46C5-81DC-10D215D19D0E}"/>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BD81A0F-1C06-4360-A4EA-3445592582D0}"/>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2A282BB5-FE88-4C5E-87F5-BCF7F02CF386}"/>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마감·자격 검사</a:t>
            </a:r>
          </a:p>
        </p:txBody>
      </p:sp>
      <p:sp>
        <p:nvSpPr>
          <p:cNvPr id="31" name="">
            <a:extLst xmlns:a="http://schemas.openxmlformats.org/drawingml/2006/main">
              <a:ext uri="{FF2B5EF4-FFF2-40B4-BE49-F238E27FC236}">
                <a16:creationId xmlns:a16="http://schemas.microsoft.com/office/drawing/2014/main" id="{4870C9B3-114A-43D9-976B-95A499F8F11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5701F1C-38A5-4F98-916B-CA3E2E9D005F}"/>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88E68B9F-1D12-4F90-BB37-E4D9F79A5D3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조건 확인</a:t>
            </a:r>
          </a:p>
        </p:txBody>
      </p:sp>
      <p:sp>
        <p:nvSpPr>
          <p:cNvPr id="34" name="">
            <a:extLst xmlns:a="http://schemas.openxmlformats.org/drawingml/2006/main">
              <a:ext uri="{FF2B5EF4-FFF2-40B4-BE49-F238E27FC236}">
                <a16:creationId xmlns:a16="http://schemas.microsoft.com/office/drawing/2014/main" id="{137AFDA6-552D-41E5-A9CB-1D755A9ABCAE}"/>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71F589DF-04AA-4CB5-8BC8-EDA2DDDA2AEA}"/>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63D2F768-3121-4614-834A-6053D957CAE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신청 안내</a:t>
            </a:r>
          </a:p>
        </p:txBody>
      </p:sp>
      <p:sp>
        <p:nvSpPr>
          <p:cNvPr id="46" name="">
            <a:extLst xmlns:a="http://schemas.openxmlformats.org/drawingml/2006/main">
              <a:ext uri="{FF2B5EF4-FFF2-40B4-BE49-F238E27FC236}">
                <a16:creationId xmlns:a16="http://schemas.microsoft.com/office/drawing/2014/main" id="{375A46EA-17DF-4E4A-8B95-3A1C17FAB13C}"/>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37440951"/>
      </p:ext>
    </p:extLst>
  </p:cSld>
</p:sld>
</file>

<file path=ppt/slides/slide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589CEE9-2011-4CDA-BC7C-82440BFBB37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논리 인터페이스·복구 설계</a:t>
            </a:r>
          </a:p>
        </p:txBody>
      </p:sp>
      <p:sp>
        <p:nvSpPr>
          <p:cNvPr id="2" name="">
            <a:extLst xmlns:a="http://schemas.openxmlformats.org/drawingml/2006/main">
              <a:ext uri="{FF2B5EF4-FFF2-40B4-BE49-F238E27FC236}">
                <a16:creationId xmlns:a16="http://schemas.microsoft.com/office/drawing/2014/main" id="{45DBC4CB-6EF2-4299-940E-49D477264E6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데이터와 예외 처리</a:t>
            </a:r>
          </a:p>
        </p:txBody>
      </p:sp>
      <p:sp>
        <p:nvSpPr>
          <p:cNvPr id="3" name="">
            <a:extLst xmlns:a="http://schemas.openxmlformats.org/drawingml/2006/main">
              <a:ext uri="{FF2B5EF4-FFF2-40B4-BE49-F238E27FC236}">
                <a16:creationId xmlns:a16="http://schemas.microsoft.com/office/drawing/2014/main" id="{2AED1DFC-7B7C-4C79-ADDB-1EA95A5D0C9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0B2FB2-CB6C-419F-AAD5-EE6993AA371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3FE464C-2694-4F51-B0FB-379DE7AD366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41</a:t>
            </a:r>
          </a:p>
        </p:txBody>
      </p:sp>
      <p:sp>
        <p:nvSpPr>
          <p:cNvPr id="6" name="">
            <a:extLst xmlns:a="http://schemas.openxmlformats.org/drawingml/2006/main">
              <a:ext uri="{FF2B5EF4-FFF2-40B4-BE49-F238E27FC236}">
                <a16:creationId xmlns:a16="http://schemas.microsoft.com/office/drawing/2014/main" id="{3746A2A3-06A7-4E54-AF4B-CB6DC42F5C3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233FF20E-4B23-4D6E-8B61-8F5E24C672BB}"/>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AA1E543-9567-4797-BE6E-ECDAFFB9650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DECC9204-D1CC-4D1A-AB6A-04E937674BD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정책·공고 지식</a:t>
            </a:r>
          </a:p>
        </p:txBody>
      </p:sp>
      <p:sp>
        <p:nvSpPr>
          <p:cNvPr id="10" name="">
            <a:extLst xmlns:a="http://schemas.openxmlformats.org/drawingml/2006/main">
              <a:ext uri="{FF2B5EF4-FFF2-40B4-BE49-F238E27FC236}">
                <a16:creationId xmlns:a16="http://schemas.microsoft.com/office/drawing/2014/main" id="{90F94CC5-A6FD-4D41-B26D-05ADC9167C4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BCCD07-00BC-4C97-9D8D-8D22DE78523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4DEF031D-D2E5-4B8A-93B3-A401353D459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4E6EA8C-6C2C-4158-8078-E2852CC1CB1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1738498-7FCE-4723-8A2E-4044A46B076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AD4572F5-FED0-4265-8D34-14011C69BD3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목적·대상 조건·대화 이력 구성</a:t>
            </a:r>
          </a:p>
        </p:txBody>
      </p:sp>
      <p:sp>
        <p:nvSpPr>
          <p:cNvPr id="16" name="">
            <a:extLst xmlns:a="http://schemas.openxmlformats.org/drawingml/2006/main">
              <a:ext uri="{FF2B5EF4-FFF2-40B4-BE49-F238E27FC236}">
                <a16:creationId xmlns:a16="http://schemas.microsoft.com/office/drawing/2014/main" id="{F917FA40-9179-4F4B-A126-4D9D21A6AB2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EE2371C-0CFE-4A46-BEEB-EC8A9141077B}"/>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74F23C24-5930-4088-ADB2-385B41BAC395}"/>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조건·기한별 정답 공고와 원문 링크·변경 반</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 시각</a:t>
            </a:r>
          </a:p>
        </p:txBody>
      </p:sp>
      <p:sp>
        <p:nvSpPr>
          <p:cNvPr id="19" name="">
            <a:extLst xmlns:a="http://schemas.openxmlformats.org/drawingml/2006/main">
              <a:ext uri="{FF2B5EF4-FFF2-40B4-BE49-F238E27FC236}">
                <a16:creationId xmlns:a16="http://schemas.microsoft.com/office/drawing/2014/main" id="{4E4090C4-4972-48E4-8F16-3A249D3B3F4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32BE8DE-FFED-4565-9F73-62D83967161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C2EF189-B4CD-4FBB-969C-B575FD5C07A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유효 공고</a:t>
            </a:r>
          </a:p>
        </p:txBody>
      </p:sp>
      <p:sp>
        <p:nvSpPr>
          <p:cNvPr id="22" name="">
            <a:extLst xmlns:a="http://schemas.openxmlformats.org/drawingml/2006/main">
              <a:ext uri="{FF2B5EF4-FFF2-40B4-BE49-F238E27FC236}">
                <a16:creationId xmlns:a16="http://schemas.microsoft.com/office/drawing/2014/main" id="{9F555D50-4FA8-4BC1-9C8D-762CF621AD8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0EC8DFC-D089-480B-8050-FFBC4A362FC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054744C8-A108-48BF-BD10-B4F5D4B497C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 비교</a:t>
            </a:r>
          </a:p>
        </p:txBody>
      </p:sp>
      <p:sp>
        <p:nvSpPr>
          <p:cNvPr id="25" name="">
            <a:extLst xmlns:a="http://schemas.openxmlformats.org/drawingml/2006/main">
              <a:ext uri="{FF2B5EF4-FFF2-40B4-BE49-F238E27FC236}">
                <a16:creationId xmlns:a16="http://schemas.microsoft.com/office/drawing/2014/main" id="{0AA3B94B-3FF5-4FFE-BFFD-F5FF0CED0E0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07727A0-C5C0-4258-A236-3F8FF730555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마감 공고·유사한 다른 제도·갱신 전 색인</a:t>
            </a:r>
          </a:p>
        </p:txBody>
      </p:sp>
      <p:sp>
        <p:nvSpPr>
          <p:cNvPr id="27" name="">
            <a:extLst xmlns:a="http://schemas.openxmlformats.org/drawingml/2006/main">
              <a:ext uri="{FF2B5EF4-FFF2-40B4-BE49-F238E27FC236}">
                <a16:creationId xmlns:a16="http://schemas.microsoft.com/office/drawing/2014/main" id="{04CE923A-4093-4B41-B40C-71DDDEF9A59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C9BBC7E-DCC2-45DF-8B44-4812FEDF830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유효기간·대상조건·링크 점검</a:t>
            </a:r>
          </a:p>
        </p:txBody>
      </p:sp>
      <p:sp>
        <p:nvSpPr>
          <p:cNvPr id="29" name="">
            <a:extLst xmlns:a="http://schemas.openxmlformats.org/drawingml/2006/main">
              <a:ext uri="{FF2B5EF4-FFF2-40B4-BE49-F238E27FC236}">
                <a16:creationId xmlns:a16="http://schemas.microsoft.com/office/drawing/2014/main" id="{4033CD45-9AB4-4E54-8248-4D1428F9438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B6250AD-56FD-440C-AED9-3EFC9D2A257A}"/>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예외 질문·오류·만족도 기반 지식 보완</a:t>
            </a:r>
          </a:p>
        </p:txBody>
      </p:sp>
      <p:sp>
        <p:nvSpPr>
          <p:cNvPr id="31" name="">
            <a:extLst xmlns:a="http://schemas.openxmlformats.org/drawingml/2006/main">
              <a:ext uri="{FF2B5EF4-FFF2-40B4-BE49-F238E27FC236}">
                <a16:creationId xmlns:a16="http://schemas.microsoft.com/office/drawing/2014/main" id="{B9FE50E4-D991-44E9-B220-29CEDC13B9A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663EEE5-97DB-4912-9898-FB6168045CBF}"/>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조건·기한별 정답 공고와 원문 링크·변경 반영 시각</a:t>
            </a:r>
          </a:p>
        </p:txBody>
      </p:sp>
    </p:spTree>
    <p:extLst>
      <p:ext uri="{BB962C8B-B14F-4D97-AF65-F5344CB8AC3E}">
        <p14:creationId xmlns:p14="http://schemas.microsoft.com/office/powerpoint/2010/main" val="1486630005"/>
      </p:ext>
    </p:extLst>
  </p:cSld>
</p:sld>
</file>

<file path=ppt/slides/slide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5462F49-982A-4265-8186-02523830C66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PF-R05 / CCK 비교·재현 시험 설계</a:t>
            </a:r>
          </a:p>
        </p:txBody>
      </p:sp>
      <p:sp>
        <p:nvSpPr>
          <p:cNvPr id="2" name="">
            <a:extLst xmlns:a="http://schemas.openxmlformats.org/drawingml/2006/main">
              <a:ext uri="{FF2B5EF4-FFF2-40B4-BE49-F238E27FC236}">
                <a16:creationId xmlns:a16="http://schemas.microsoft.com/office/drawing/2014/main" id="{5BB0D033-AD7C-48C5-A3E5-307064F6BEA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경기도 대화형 정보 탐색 · 벤치마킹</a:t>
            </a:r>
          </a:p>
        </p:txBody>
      </p:sp>
      <p:sp>
        <p:nvSpPr>
          <p:cNvPr id="3" name="">
            <a:extLst xmlns:a="http://schemas.openxmlformats.org/drawingml/2006/main">
              <a:ext uri="{FF2B5EF4-FFF2-40B4-BE49-F238E27FC236}">
                <a16:creationId xmlns:a16="http://schemas.microsoft.com/office/drawing/2014/main" id="{50B3E47D-C2C5-4B84-A3B7-4D6F4643DDC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B05259-F802-4600-ABBE-A2A25D8EF01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05CDBAF-09CB-439C-90F6-E51369CF3E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42</a:t>
            </a:r>
          </a:p>
        </p:txBody>
      </p:sp>
      <p:sp>
        <p:nvSpPr>
          <p:cNvPr id="6" name="">
            <a:extLst xmlns:a="http://schemas.openxmlformats.org/drawingml/2006/main">
              <a:ext uri="{FF2B5EF4-FFF2-40B4-BE49-F238E27FC236}">
                <a16:creationId xmlns:a16="http://schemas.microsoft.com/office/drawing/2014/main" id="{706EEE77-A27C-4114-BE34-CEB76F95A09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0A2317E1-652B-439C-BEB2-5F79DFAA5F4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정책·복지·공고의 통합 탐색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원문을 통한 후속 절차 연결</a:t>
            </a:r>
          </a:p>
        </p:txBody>
      </p:sp>
      <p:sp>
        <p:nvSpPr>
          <p:cNvPr id="8" name="">
            <a:extLst xmlns:a="http://schemas.openxmlformats.org/drawingml/2006/main">
              <a:ext uri="{FF2B5EF4-FFF2-40B4-BE49-F238E27FC236}">
                <a16:creationId xmlns:a16="http://schemas.microsoft.com/office/drawing/2014/main" id="{1C969399-FDAE-45E3-A9DC-B0E1A6D8B3A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70EA939-73EC-4A37-844B-99483852A65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마감·지역·자격조건 오안내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착수와 정식 운영 성과의 차이</a:t>
            </a:r>
          </a:p>
        </p:txBody>
      </p:sp>
      <p:sp>
        <p:nvSpPr>
          <p:cNvPr id="10" name="">
            <a:extLst xmlns:a="http://schemas.openxmlformats.org/drawingml/2006/main">
              <a:ext uri="{FF2B5EF4-FFF2-40B4-BE49-F238E27FC236}">
                <a16:creationId xmlns:a16="http://schemas.microsoft.com/office/drawing/2014/main" id="{04D9C290-0AC0-4218-B7F5-ABDA4525BA6B}"/>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69881B7-70DC-4FB7-BA35-3D0CE0B233C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유효기간·대상조건·링크 점검</a:t>
            </a:r>
          </a:p>
        </p:txBody>
      </p:sp>
      <p:sp>
        <p:nvSpPr>
          <p:cNvPr id="12" name="">
            <a:extLst xmlns:a="http://schemas.openxmlformats.org/drawingml/2006/main">
              <a:ext uri="{FF2B5EF4-FFF2-40B4-BE49-F238E27FC236}">
                <a16:creationId xmlns:a16="http://schemas.microsoft.com/office/drawing/2014/main" id="{B0D60BBC-74A1-4589-8864-E1B638FBF173}"/>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D54FB1A-5D61-4045-972A-95A58769767A}"/>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자격조건을 설명하고 관련 공고와 신청 페이지 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a:t>
            </a:r>
          </a:p>
        </p:txBody>
      </p:sp>
      <p:sp>
        <p:nvSpPr>
          <p:cNvPr id="14" name="">
            <a:extLst xmlns:a="http://schemas.openxmlformats.org/drawingml/2006/main">
              <a:ext uri="{FF2B5EF4-FFF2-40B4-BE49-F238E27FC236}">
                <a16:creationId xmlns:a16="http://schemas.microsoft.com/office/drawing/2014/main" id="{6735AC64-4E82-45E7-B55A-1D66318C285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15091B0-561B-451A-BC86-039878F5637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마감 공고·유사한 다른 제도·갱신 전 색인</a:t>
            </a:r>
          </a:p>
        </p:txBody>
      </p:sp>
      <p:sp>
        <p:nvSpPr>
          <p:cNvPr id="16" name="">
            <a:extLst xmlns:a="http://schemas.openxmlformats.org/drawingml/2006/main">
              <a:ext uri="{FF2B5EF4-FFF2-40B4-BE49-F238E27FC236}">
                <a16:creationId xmlns:a16="http://schemas.microsoft.com/office/drawing/2014/main" id="{2DE20689-2DF2-4527-A9CC-4A26F75F144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4ABA186-1056-4CF5-90DF-1E8E4B86D2D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조건·기한별 정답 공고와 원문 링크·변경 반영 시각</a:t>
            </a:r>
          </a:p>
        </p:txBody>
      </p:sp>
    </p:spTree>
    <p:extLst>
      <p:ext uri="{BB962C8B-B14F-4D97-AF65-F5344CB8AC3E}">
        <p14:creationId xmlns:p14="http://schemas.microsoft.com/office/powerpoint/2010/main" val="826203342"/>
      </p:ext>
    </p:extLst>
  </p:cSld>
</p:sld>
</file>

<file path=ppt/slides/slide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AE2D58A-287D-4DDA-8186-514FF947E7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공식 RFP 확인 / 운영·효과 미확인 / 국내</a:t>
            </a:r>
          </a:p>
        </p:txBody>
      </p:sp>
      <p:sp>
        <p:nvSpPr>
          <p:cNvPr id="2" name="">
            <a:extLst xmlns:a="http://schemas.openxmlformats.org/drawingml/2006/main">
              <a:ext uri="{FF2B5EF4-FFF2-40B4-BE49-F238E27FC236}">
                <a16:creationId xmlns:a16="http://schemas.microsoft.com/office/drawing/2014/main" id="{ACB075E2-C474-48A5-B7DB-E22F9BA33D2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a:t>
            </a:r>
          </a:p>
        </p:txBody>
      </p:sp>
      <p:sp>
        <p:nvSpPr>
          <p:cNvPr id="3" name="">
            <a:extLst xmlns:a="http://schemas.openxmlformats.org/drawingml/2006/main">
              <a:ext uri="{FF2B5EF4-FFF2-40B4-BE49-F238E27FC236}">
                <a16:creationId xmlns:a16="http://schemas.microsoft.com/office/drawing/2014/main" id="{45777600-C651-4FE8-8F6F-BC4721815AE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D5BC22-3F1A-4A66-BAFD-3C3F4C351B2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ECE4210-3CD9-4BD5-BB8F-A8F68E972F4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43</a:t>
            </a:r>
          </a:p>
        </p:txBody>
      </p:sp>
      <p:sp>
        <p:nvSpPr>
          <p:cNvPr id="6" name="">
            <a:extLst xmlns:a="http://schemas.openxmlformats.org/drawingml/2006/main">
              <a:ext uri="{FF2B5EF4-FFF2-40B4-BE49-F238E27FC236}">
                <a16:creationId xmlns:a16="http://schemas.microsoft.com/office/drawing/2014/main" id="{52FCB319-F63E-4966-9EBC-DC3883A4C95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ED26246-CE21-45D2-92C6-D4A58160479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휴가·출장 등 행정업무를 음성·텍스트 요청에서 시작해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MIS와 전자결재까지 연결하는 사업. 기존 서식·데이터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로직이 MIS에 있고 AI·모바일 호출용 API가 없다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연계 제약을 RFP에 명시.</a:t>
            </a:r>
          </a:p>
        </p:txBody>
      </p:sp>
      <p:sp>
        <p:nvSpPr>
          <p:cNvPr id="8" name="">
            <a:extLst xmlns:a="http://schemas.openxmlformats.org/drawingml/2006/main">
              <a:ext uri="{FF2B5EF4-FFF2-40B4-BE49-F238E27FC236}">
                <a16:creationId xmlns:a16="http://schemas.microsoft.com/office/drawing/2014/main" id="{A604FA68-4C67-4933-B623-86B275F9942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342FF98-93C5-4D94-B7D6-3B86E31BD21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발화의 STT 변환, NLU 의도·개체 추출, 필수 항목 검증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사용자 확인, MIS 서식 생성, 결재선 추천, 상신·상태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조회를 구분하는 처리 구조. FUR-009의 신규 API는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서식 메타데이터, 잔여연차·근태 조회, 업무규칙 검증,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전자결재 상신을 포함하는 범위.</a:t>
            </a:r>
          </a:p>
        </p:txBody>
      </p:sp>
      <p:sp>
        <p:nvSpPr>
          <p:cNvPr id="10" name="">
            <a:extLst xmlns:a="http://schemas.openxmlformats.org/drawingml/2006/main">
              <a:ext uri="{FF2B5EF4-FFF2-40B4-BE49-F238E27FC236}">
                <a16:creationId xmlns:a16="http://schemas.microsoft.com/office/drawing/2014/main" id="{76A4589B-2A02-4DB5-8DB3-F9AD343EC47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9D24268-8D83-4E63-B000-3476D33C94A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AI 모델 정확도 외에 실제 업무 시스템의 접수 상태까지 확인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해야 하는 사례. 같은 요청의 재시도, 날짜 수정, 결재선 변경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상신 후 취소를 검수 시나리오로 분리할 필요. CCK 재사용</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도구와 별개로 TS 기간계 API 개발·멱등성·상태 대사를 추</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가 범위로 산정.</a:t>
            </a:r>
          </a:p>
        </p:txBody>
      </p:sp>
      <p:sp>
        <p:nvSpPr>
          <p:cNvPr id="12" name="">
            <a:extLst xmlns:a="http://schemas.openxmlformats.org/drawingml/2006/main">
              <a:ext uri="{FF2B5EF4-FFF2-40B4-BE49-F238E27FC236}">
                <a16:creationId xmlns:a16="http://schemas.microsoft.com/office/drawing/2014/main" id="{28C892EF-062D-49AD-9440-AF344D01922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648B1BC-1C2E-40D1-8778-C74EC44777E9}"/>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발화 필드·확인 화면 / TS 기간계 API 차분 / 전결·취소·재시도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연결</a:t>
            </a:r>
          </a:p>
        </p:txBody>
      </p:sp>
      <p:sp>
        <p:nvSpPr>
          <p:cNvPr id="14" name="">
            <a:extLst xmlns:a="http://schemas.openxmlformats.org/drawingml/2006/main">
              <a:ext uri="{FF2B5EF4-FFF2-40B4-BE49-F238E27FC236}">
                <a16:creationId xmlns:a16="http://schemas.microsoft.com/office/drawing/2014/main" id="{DFA62908-162F-4721-AA9C-FF0CF4203CA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2BB05AA-0000-45D2-9D36-F301731F2254}"/>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날짜 오류·중복 전송·취소 시 승인 전 차단·멱등성·원천 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태 대사</a:t>
            </a:r>
          </a:p>
        </p:txBody>
      </p:sp>
      <p:sp>
        <p:nvSpPr>
          <p:cNvPr id="16" name="">
            <a:extLst xmlns:a="http://schemas.openxmlformats.org/drawingml/2006/main">
              <a:ext uri="{FF2B5EF4-FFF2-40B4-BE49-F238E27FC236}">
                <a16:creationId xmlns:a16="http://schemas.microsoft.com/office/drawing/2014/main" id="{6BD472EC-6BBB-4620-B1BD-55B45D22E9A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D2C2E47-1D7E-4891-83DC-BA0CB240C12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신청 완료시간 / 재입력률 / 중복·미접수 건수</a:t>
            </a:r>
          </a:p>
        </p:txBody>
      </p:sp>
      <p:sp>
        <p:nvSpPr>
          <p:cNvPr id="18" name="">
            <a:extLst xmlns:a="http://schemas.openxmlformats.org/drawingml/2006/main">
              <a:ext uri="{FF2B5EF4-FFF2-40B4-BE49-F238E27FC236}">
                <a16:creationId xmlns:a16="http://schemas.microsoft.com/office/drawing/2014/main" id="{7B62B070-3C06-4D68-9B82-B3BE0DE8742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RFP 요구 범위 · MIS API 계층 신규 개발 포함 · 운영 성과와 구분</a:t>
            </a:r>
          </a:p>
        </p:txBody>
      </p:sp>
    </p:spTree>
    <p:extLst>
      <p:ext uri="{BB962C8B-B14F-4D97-AF65-F5344CB8AC3E}">
        <p14:creationId xmlns:p14="http://schemas.microsoft.com/office/powerpoint/2010/main" val="346833657"/>
      </p:ext>
    </p:extLst>
  </p:cSld>
</p:sld>
</file>

<file path=ppt/slides/slide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1CA35D8-24AB-4B56-959F-2EFA0C19C0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 FUR-001~009·TER-005 / 1–3</a:t>
            </a:r>
          </a:p>
        </p:txBody>
      </p:sp>
      <p:sp>
        <p:nvSpPr>
          <p:cNvPr id="2" name="">
            <a:extLst xmlns:a="http://schemas.openxmlformats.org/drawingml/2006/main">
              <a:ext uri="{FF2B5EF4-FFF2-40B4-BE49-F238E27FC236}">
                <a16:creationId xmlns:a16="http://schemas.microsoft.com/office/drawing/2014/main" id="{8CA18949-1AA9-4A97-AB4E-29B736BFE53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RFP 요구사항</a:t>
            </a:r>
          </a:p>
        </p:txBody>
      </p:sp>
      <p:sp>
        <p:nvSpPr>
          <p:cNvPr id="3" name="">
            <a:extLst xmlns:a="http://schemas.openxmlformats.org/drawingml/2006/main">
              <a:ext uri="{FF2B5EF4-FFF2-40B4-BE49-F238E27FC236}">
                <a16:creationId xmlns:a16="http://schemas.microsoft.com/office/drawing/2014/main" id="{C1852405-27E0-4B05-8E30-3467B0E3ED4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8178B4-2576-4C69-8894-4F506E6C403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D8F250F-318D-4312-8D2A-64DC1E28BB7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44</a:t>
            </a:r>
          </a:p>
        </p:txBody>
      </p:sp>
      <p:sp>
        <p:nvSpPr>
          <p:cNvPr id="6" name="">
            <a:extLst xmlns:a="http://schemas.openxmlformats.org/drawingml/2006/main">
              <a:ext uri="{FF2B5EF4-FFF2-40B4-BE49-F238E27FC236}">
                <a16:creationId xmlns:a16="http://schemas.microsoft.com/office/drawing/2014/main" id="{8B75E6EC-F2DA-4E42-8D73-0E68F0D07807}"/>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EE1908-41F8-4500-A60C-DB73209989B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FUR-001 음성 인식(STT) 기반 입력 처리</a:t>
            </a:r>
          </a:p>
        </p:txBody>
      </p:sp>
      <p:sp>
        <p:nvSpPr>
          <p:cNvPr id="8" name="">
            <a:extLst xmlns:a="http://schemas.openxmlformats.org/drawingml/2006/main">
              <a:ext uri="{FF2B5EF4-FFF2-40B4-BE49-F238E27FC236}">
                <a16:creationId xmlns:a16="http://schemas.microsoft.com/office/drawing/2014/main" id="{0052D455-AB64-4028-B8BC-5E4D9ED20277}"/>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음성 발화를 행정 요청의 텍스트 입력으로 변환하는 STT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기능.</a:t>
            </a:r>
          </a:p>
        </p:txBody>
      </p:sp>
      <p:sp>
        <p:nvSpPr>
          <p:cNvPr id="9" name="">
            <a:extLst xmlns:a="http://schemas.openxmlformats.org/drawingml/2006/main">
              <a:ext uri="{FF2B5EF4-FFF2-40B4-BE49-F238E27FC236}">
                <a16:creationId xmlns:a16="http://schemas.microsoft.com/office/drawing/2014/main" id="{61600FD3-BE86-4ED4-9178-39EB4F49A8C2}"/>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잡음·기관 고유어·날짜·숫자·수정 발화의 전사 결과를 정답과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0" name="">
            <a:extLst xmlns:a="http://schemas.openxmlformats.org/drawingml/2006/main">
              <a:ext uri="{FF2B5EF4-FFF2-40B4-BE49-F238E27FC236}">
                <a16:creationId xmlns:a16="http://schemas.microsoft.com/office/drawing/2014/main" id="{BF268FC5-E952-4981-A0E8-6A9854154B4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C324B9-B60B-4933-80E5-E20B44AEE7A1}"/>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FUR-002 자연어 이해(NLU) 및 사용자 의도 분석</a:t>
            </a:r>
          </a:p>
        </p:txBody>
      </p:sp>
      <p:sp>
        <p:nvSpPr>
          <p:cNvPr id="12" name="">
            <a:extLst xmlns:a="http://schemas.openxmlformats.org/drawingml/2006/main">
              <a:ext uri="{FF2B5EF4-FFF2-40B4-BE49-F238E27FC236}">
                <a16:creationId xmlns:a16="http://schemas.microsoft.com/office/drawing/2014/main" id="{ADFE4AC2-993B-440B-86D6-8F153277CC8A}"/>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전사·텍스트에서 사용자의 의도와 업무에 필요한 항목을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식별하는 NLU 기능.</a:t>
            </a:r>
          </a:p>
        </p:txBody>
      </p:sp>
      <p:sp>
        <p:nvSpPr>
          <p:cNvPr id="13" name="">
            <a:extLst xmlns:a="http://schemas.openxmlformats.org/drawingml/2006/main">
              <a:ext uri="{FF2B5EF4-FFF2-40B4-BE49-F238E27FC236}">
                <a16:creationId xmlns:a16="http://schemas.microsoft.com/office/drawing/2014/main" id="{5EE0CC4F-9516-489C-9229-CE0FC8EA6FA2}"/>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휴가·출장·복명 의도 혼동, 날짜 누락, 정정 발화 처리의 슬롯</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별 평가</a:t>
            </a:r>
          </a:p>
        </p:txBody>
      </p:sp>
      <p:sp>
        <p:nvSpPr>
          <p:cNvPr id="14" name="">
            <a:extLst xmlns:a="http://schemas.openxmlformats.org/drawingml/2006/main">
              <a:ext uri="{FF2B5EF4-FFF2-40B4-BE49-F238E27FC236}">
                <a16:creationId xmlns:a16="http://schemas.microsoft.com/office/drawing/2014/main" id="{D632852C-3EF7-4E09-9B9D-A58419426541}"/>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078188-A478-4A7D-99F6-A06C9E63AC2D}"/>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FUR-003 지능형 업무 자동화 엔진</a:t>
            </a:r>
          </a:p>
        </p:txBody>
      </p:sp>
      <p:sp>
        <p:nvSpPr>
          <p:cNvPr id="16" name="">
            <a:extLst xmlns:a="http://schemas.openxmlformats.org/drawingml/2006/main">
              <a:ext uri="{FF2B5EF4-FFF2-40B4-BE49-F238E27FC236}">
                <a16:creationId xmlns:a16="http://schemas.microsoft.com/office/drawing/2014/main" id="{D1F188EA-3EE4-4AAA-94F2-6B37DEF9BE37}"/>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식별한 의도를 업무자동화 절차로 연결하는 실행 엔진.</a:t>
            </a:r>
          </a:p>
        </p:txBody>
      </p:sp>
      <p:sp>
        <p:nvSpPr>
          <p:cNvPr id="17" name="">
            <a:extLst xmlns:a="http://schemas.openxmlformats.org/drawingml/2006/main">
              <a:ext uri="{FF2B5EF4-FFF2-40B4-BE49-F238E27FC236}">
                <a16:creationId xmlns:a16="http://schemas.microsoft.com/office/drawing/2014/main" id="{2205BCF4-8A20-4CCD-ACEA-3A26050D3D0C}"/>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C05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필수값 누락·비허용 업무·중간 실패 조건의 실행 보류와 재개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확인</a:t>
            </a:r>
          </a:p>
        </p:txBody>
      </p:sp>
    </p:spTree>
    <p:extLst>
      <p:ext uri="{BB962C8B-B14F-4D97-AF65-F5344CB8AC3E}">
        <p14:creationId xmlns:p14="http://schemas.microsoft.com/office/powerpoint/2010/main" val="878446627"/>
      </p:ext>
    </p:extLst>
  </p:cSld>
</p:sld>
</file>

<file path=ppt/slides/slide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A2D4ABF-4221-46DC-B342-F2F73384975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 FUR-001~009·TER-005 / 4–6</a:t>
            </a:r>
          </a:p>
        </p:txBody>
      </p:sp>
      <p:sp>
        <p:nvSpPr>
          <p:cNvPr id="2" name="">
            <a:extLst xmlns:a="http://schemas.openxmlformats.org/drawingml/2006/main">
              <a:ext uri="{FF2B5EF4-FFF2-40B4-BE49-F238E27FC236}">
                <a16:creationId xmlns:a16="http://schemas.microsoft.com/office/drawing/2014/main" id="{5C8780D4-FAF8-41B1-BE9C-94719E61F8C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RFP 요구사항</a:t>
            </a:r>
          </a:p>
        </p:txBody>
      </p:sp>
      <p:sp>
        <p:nvSpPr>
          <p:cNvPr id="3" name="">
            <a:extLst xmlns:a="http://schemas.openxmlformats.org/drawingml/2006/main">
              <a:ext uri="{FF2B5EF4-FFF2-40B4-BE49-F238E27FC236}">
                <a16:creationId xmlns:a16="http://schemas.microsoft.com/office/drawing/2014/main" id="{5802D140-9576-434F-B456-05576C7F1ED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5574225-FFE6-411A-8B38-B838F7E2083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6A323B6-D1E3-4A75-9CCC-307372AB63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45</a:t>
            </a:r>
          </a:p>
        </p:txBody>
      </p:sp>
      <p:sp>
        <p:nvSpPr>
          <p:cNvPr id="6" name="">
            <a:extLst xmlns:a="http://schemas.openxmlformats.org/drawingml/2006/main">
              <a:ext uri="{FF2B5EF4-FFF2-40B4-BE49-F238E27FC236}">
                <a16:creationId xmlns:a16="http://schemas.microsoft.com/office/drawing/2014/main" id="{72572EC1-F738-4BA7-AE1A-D66591C69C0C}"/>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D60665C-19FB-4524-8D9B-05CE3DCF1A4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FUR-004 행정서식 생성(MIS)·전자결재 연동 및 결재선 자동 추천</a:t>
            </a:r>
          </a:p>
        </p:txBody>
      </p:sp>
      <p:sp>
        <p:nvSpPr>
          <p:cNvPr id="8" name="">
            <a:extLst xmlns:a="http://schemas.openxmlformats.org/drawingml/2006/main">
              <a:ext uri="{FF2B5EF4-FFF2-40B4-BE49-F238E27FC236}">
                <a16:creationId xmlns:a16="http://schemas.microsoft.com/office/drawing/2014/main" id="{F2E370E3-4660-415B-9F04-A8EAB2CB723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MIS 행정서식 생성과 전자결재·결재선 연계.</a:t>
            </a:r>
          </a:p>
        </p:txBody>
      </p:sp>
      <p:sp>
        <p:nvSpPr>
          <p:cNvPr id="9" name="">
            <a:extLst xmlns:a="http://schemas.openxmlformats.org/drawingml/2006/main">
              <a:ext uri="{FF2B5EF4-FFF2-40B4-BE49-F238E27FC236}">
                <a16:creationId xmlns:a16="http://schemas.microsoft.com/office/drawing/2014/main" id="{7D38E0C3-7B8D-46EF-9405-46500289FC51}"/>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직원의 결재선, 수정 전 날짜, 중복 신청을 포함해 확인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화면과 최종 등록값 대사</a:t>
            </a:r>
          </a:p>
        </p:txBody>
      </p:sp>
      <p:sp>
        <p:nvSpPr>
          <p:cNvPr id="10" name="">
            <a:extLst xmlns:a="http://schemas.openxmlformats.org/drawingml/2006/main">
              <a:ext uri="{FF2B5EF4-FFF2-40B4-BE49-F238E27FC236}">
                <a16:creationId xmlns:a16="http://schemas.microsoft.com/office/drawing/2014/main" id="{DE39245B-F6E1-45F2-BE30-14BA5F2A0D5D}"/>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24909F-A1E5-4EF2-806E-62451D0C41E8}"/>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FUR-007 그룹웨어·기간계 시스템 연계</a:t>
            </a:r>
          </a:p>
        </p:txBody>
      </p:sp>
      <p:sp>
        <p:nvSpPr>
          <p:cNvPr id="12" name="">
            <a:extLst xmlns:a="http://schemas.openxmlformats.org/drawingml/2006/main">
              <a:ext uri="{FF2B5EF4-FFF2-40B4-BE49-F238E27FC236}">
                <a16:creationId xmlns:a16="http://schemas.microsoft.com/office/drawing/2014/main" id="{32191E3F-215B-4FF0-ADE6-760C8FFFAEC1}"/>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그룹웨어·기간계와 연계해 요청 및 처리 결과를 교환하는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기능.</a:t>
            </a:r>
          </a:p>
        </p:txBody>
      </p:sp>
      <p:sp>
        <p:nvSpPr>
          <p:cNvPr id="13" name="">
            <a:extLst xmlns:a="http://schemas.openxmlformats.org/drawingml/2006/main">
              <a:ext uri="{FF2B5EF4-FFF2-40B4-BE49-F238E27FC236}">
                <a16:creationId xmlns:a16="http://schemas.microsoft.com/office/drawing/2014/main" id="{8F21EF75-81A5-49E7-8620-841BC97846A7}"/>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C07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인증 만료·연계 장애·응답 지연 시 실제 등록 상태와 사용자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안내의 일치 확인</a:t>
            </a:r>
          </a:p>
        </p:txBody>
      </p:sp>
      <p:sp>
        <p:nvSpPr>
          <p:cNvPr id="14" name="">
            <a:extLst xmlns:a="http://schemas.openxmlformats.org/drawingml/2006/main">
              <a:ext uri="{FF2B5EF4-FFF2-40B4-BE49-F238E27FC236}">
                <a16:creationId xmlns:a16="http://schemas.microsoft.com/office/drawing/2014/main" id="{AA0FFB1A-625E-417C-A859-56F20BF927BA}"/>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8DDD62C-1203-4845-88C9-4144723B3DAB}"/>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FUR-009 통합경영정보시스템(MIS) 행정업무 API 개발</a:t>
            </a:r>
          </a:p>
        </p:txBody>
      </p:sp>
      <p:sp>
        <p:nvSpPr>
          <p:cNvPr id="16" name="">
            <a:extLst xmlns:a="http://schemas.openxmlformats.org/drawingml/2006/main">
              <a:ext uri="{FF2B5EF4-FFF2-40B4-BE49-F238E27FC236}">
                <a16:creationId xmlns:a16="http://schemas.microsoft.com/office/drawing/2014/main" id="{7066C1B9-6ACF-4C08-A6E4-41DF6CF6E719}"/>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자연어 행정 서비스에 필요한 MIS 업무 API의 신규 개발.</a:t>
            </a:r>
          </a:p>
        </p:txBody>
      </p:sp>
      <p:sp>
        <p:nvSpPr>
          <p:cNvPr id="17" name="">
            <a:extLst xmlns:a="http://schemas.openxmlformats.org/drawingml/2006/main">
              <a:ext uri="{FF2B5EF4-FFF2-40B4-BE49-F238E27FC236}">
                <a16:creationId xmlns:a16="http://schemas.microsoft.com/office/drawing/2014/main" id="{8CAC5844-5F47-4316-B6F6-E9141B63910F}"/>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인자·권한·중복 요청·취소 가능 상태를 API 계약 및 실제</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데이터와 대조</a:t>
            </a:r>
          </a:p>
        </p:txBody>
      </p:sp>
    </p:spTree>
    <p:extLst>
      <p:ext uri="{BB962C8B-B14F-4D97-AF65-F5344CB8AC3E}">
        <p14:creationId xmlns:p14="http://schemas.microsoft.com/office/powerpoint/2010/main" val="1106539201"/>
      </p:ext>
    </p:extLst>
  </p:cSld>
</p:sld>
</file>

<file path=ppt/slides/slide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36C312-FD77-4F58-980E-49355EDF918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RFP 수록 기존 시스템 구성 / RFP 원문 추출</a:t>
            </a:r>
          </a:p>
        </p:txBody>
      </p:sp>
      <p:sp>
        <p:nvSpPr>
          <p:cNvPr id="2" name="">
            <a:extLst xmlns:a="http://schemas.openxmlformats.org/drawingml/2006/main">
              <a:ext uri="{FF2B5EF4-FFF2-40B4-BE49-F238E27FC236}">
                <a16:creationId xmlns:a16="http://schemas.microsoft.com/office/drawing/2014/main" id="{04B6EEF4-90FD-49F7-B545-8DB57D1C3C1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업무시스템</a:t>
            </a:r>
          </a:p>
        </p:txBody>
      </p:sp>
      <p:sp>
        <p:nvSpPr>
          <p:cNvPr id="3" name="">
            <a:extLst xmlns:a="http://schemas.openxmlformats.org/drawingml/2006/main">
              <a:ext uri="{FF2B5EF4-FFF2-40B4-BE49-F238E27FC236}">
                <a16:creationId xmlns:a16="http://schemas.microsoft.com/office/drawing/2014/main" id="{434FDA71-917B-4F87-952B-170554A7959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F35F0BA-CAB4-4984-A58D-35F68928458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0616F52-A1FF-4A05-B458-49C39059CA7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46</a:t>
            </a:r>
          </a:p>
        </p:txBody>
      </p:sp>
      <p:pic>
        <p:nvPicPr>
          <p:cNvPr id="6" name="">
            <a:extLst xmlns:a="http://schemas.openxmlformats.org/drawingml/2006/main">
              <a:ext uri="{FF2B5EF4-FFF2-40B4-BE49-F238E27FC236}">
                <a16:creationId xmlns:a16="http://schemas.microsoft.com/office/drawing/2014/main" id="{04BED8D2-6627-4789-A480-8A811A8F90B2}"/>
              </a:ext>
            </a:extLst>
          </p:cNvPr>
          <p:cNvPicPr>
            <a:picLocks xmlns:a="http://schemas.openxmlformats.org/drawingml/2006/main" noChangeAspect="1"/>
          </p:cNvPicPr>
          <p:nvPr/>
        </p:nvPicPr>
        <p:blipFill>
          <a:blip xmlns:r="http://schemas.openxmlformats.org/officeDocument/2006/relationships" xmlns:a="http://schemas.openxmlformats.org/drawingml/2006/main" r:embed="Re352c882de1d4d82"/>
          <a:stretch xmlns:a="http://schemas.openxmlformats.org/drawingml/2006/main"/>
        </p:blipFill>
        <p:spPr>
          <a:xfrm xmlns:a="http://schemas.openxmlformats.org/drawingml/2006/main">
            <a:off x="2003569" y="1657350"/>
            <a:ext cx="8184862"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1FAB48A-DC99-4F99-B217-23DF81C4A4D3}"/>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협업 포털·통합경영정보·전자결재·외부 연계 현황</a:t>
            </a:r>
          </a:p>
        </p:txBody>
      </p:sp>
    </p:spTree>
    <p:extLst>
      <p:ext uri="{BB962C8B-B14F-4D97-AF65-F5344CB8AC3E}">
        <p14:creationId xmlns:p14="http://schemas.microsoft.com/office/powerpoint/2010/main" val="676096955"/>
      </p:ext>
    </p:extLst>
  </p:cSld>
</p:sld>
</file>

<file path=ppt/slides/slide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033BAE8-2612-4C19-B47F-CC0D80820E1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651C666-59B4-437F-AEFE-19BA6190A6D3}"/>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492AEC3-97A4-429E-ABC4-33A146C0BD9E}"/>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9150AD3-6D75-4938-AD64-466BEC6F630D}"/>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7B08CB4B-9BB6-4626-9E3F-870DC39A695C}"/>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528A59E-9633-4388-ADCE-70D355901CEC}"/>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A475623D-6F29-44C2-B540-614D4987D30A}"/>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190B4BCD-B7C9-4D10-898E-FA58E7F5A9DE}"/>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F34CF899-958F-4792-994A-3867A0DF9C93}"/>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00F28AC0-AC86-4047-B755-BED18A5B47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입력 구조화·확인·업무시스템 처리</a:t>
            </a:r>
          </a:p>
        </p:txBody>
      </p:sp>
      <p:sp>
        <p:nvSpPr>
          <p:cNvPr id="2" name="">
            <a:extLst xmlns:a="http://schemas.openxmlformats.org/drawingml/2006/main">
              <a:ext uri="{FF2B5EF4-FFF2-40B4-BE49-F238E27FC236}">
                <a16:creationId xmlns:a16="http://schemas.microsoft.com/office/drawing/2014/main" id="{E165C747-8CBD-4DC8-BFE6-8B242138548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세부 서비스 구조</a:t>
            </a:r>
          </a:p>
        </p:txBody>
      </p:sp>
      <p:sp>
        <p:nvSpPr>
          <p:cNvPr id="3" name="">
            <a:extLst xmlns:a="http://schemas.openxmlformats.org/drawingml/2006/main">
              <a:ext uri="{FF2B5EF4-FFF2-40B4-BE49-F238E27FC236}">
                <a16:creationId xmlns:a16="http://schemas.microsoft.com/office/drawing/2014/main" id="{469728AA-C3F6-44EC-803B-31D6AC6C80F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329CBA-99DD-4671-982E-DB684447E85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DA83CDA-DF05-4E61-A833-756EAE449D3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47</a:t>
            </a:r>
          </a:p>
        </p:txBody>
      </p:sp>
      <p:sp>
        <p:nvSpPr>
          <p:cNvPr id="6" name="">
            <a:extLst xmlns:a="http://schemas.openxmlformats.org/drawingml/2006/main">
              <a:ext uri="{FF2B5EF4-FFF2-40B4-BE49-F238E27FC236}">
                <a16:creationId xmlns:a16="http://schemas.microsoft.com/office/drawing/2014/main" id="{9D64E3DE-1395-405C-A95A-80432E001CBB}"/>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음성·자연어 → 필드 추출 → 사용자 확인 → MIS·결재 연계</a:t>
            </a:r>
          </a:p>
        </p:txBody>
      </p:sp>
      <p:sp>
        <p:nvSpPr>
          <p:cNvPr id="7" name="">
            <a:extLst xmlns:a="http://schemas.openxmlformats.org/drawingml/2006/main">
              <a:ext uri="{FF2B5EF4-FFF2-40B4-BE49-F238E27FC236}">
                <a16:creationId xmlns:a16="http://schemas.microsoft.com/office/drawing/2014/main" id="{368D5CAF-6D26-4584-A7CB-E9ABAB46BD38}"/>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E876733-BA3E-4A6D-932F-4183B968EC88}"/>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16A8A7C9-574B-4FCE-918C-A599C94B2C40}"/>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음성·텍스트 입력</a:t>
            </a:r>
          </a:p>
        </p:txBody>
      </p:sp>
      <p:sp>
        <p:nvSpPr>
          <p:cNvPr id="10" name="">
            <a:extLst xmlns:a="http://schemas.openxmlformats.org/drawingml/2006/main">
              <a:ext uri="{FF2B5EF4-FFF2-40B4-BE49-F238E27FC236}">
                <a16:creationId xmlns:a16="http://schemas.microsoft.com/office/drawing/2014/main" id="{33A91D1A-5BCC-4728-91C2-FBBF5BF63534}"/>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28B723A-9788-4250-AE9B-A65C2BB746D6}"/>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3BC75215-75A0-44BF-9D51-679397A71560}"/>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직원·조직·직무</a:t>
            </a:r>
          </a:p>
        </p:txBody>
      </p:sp>
      <p:sp>
        <p:nvSpPr>
          <p:cNvPr id="13" name="">
            <a:extLst xmlns:a="http://schemas.openxmlformats.org/drawingml/2006/main">
              <a:ext uri="{FF2B5EF4-FFF2-40B4-BE49-F238E27FC236}">
                <a16:creationId xmlns:a16="http://schemas.microsoft.com/office/drawing/2014/main" id="{68741664-18B5-483C-897B-680C161067E1}"/>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6317724-2326-4E76-BCDE-9B682A7FDF0B}"/>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35DE8B37-9440-4A7C-BE49-3DAF634DC64E}"/>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STT·의도·필드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추출</a:t>
            </a:r>
          </a:p>
        </p:txBody>
      </p:sp>
      <p:sp>
        <p:nvSpPr>
          <p:cNvPr id="16" name="">
            <a:extLst xmlns:a="http://schemas.openxmlformats.org/drawingml/2006/main">
              <a:ext uri="{FF2B5EF4-FFF2-40B4-BE49-F238E27FC236}">
                <a16:creationId xmlns:a16="http://schemas.microsoft.com/office/drawing/2014/main" id="{A57BEB4A-9557-4990-B0B2-72551DC4842A}"/>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2B48DA5-D58D-4B71-9BAD-A020EF01E3E7}"/>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AA7B7010-DFAA-45F7-BA92-0A358DF07D51}"/>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날짜·필수값 검사</a:t>
            </a:r>
          </a:p>
        </p:txBody>
      </p:sp>
      <p:sp>
        <p:nvSpPr>
          <p:cNvPr id="19" name="">
            <a:extLst xmlns:a="http://schemas.openxmlformats.org/drawingml/2006/main">
              <a:ext uri="{FF2B5EF4-FFF2-40B4-BE49-F238E27FC236}">
                <a16:creationId xmlns:a16="http://schemas.microsoft.com/office/drawing/2014/main" id="{7A9FA2C5-C7B0-4125-8349-ACA2A93B8DDA}"/>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C7647D18-0968-44D0-BC48-57EF77CB96DE}"/>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BB8D2BB5-7026-4E60-96A0-E3FC70DC525C}"/>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사용자 최종 확인</a:t>
            </a:r>
          </a:p>
        </p:txBody>
      </p:sp>
      <p:sp>
        <p:nvSpPr>
          <p:cNvPr id="22" name="">
            <a:extLst xmlns:a="http://schemas.openxmlformats.org/drawingml/2006/main">
              <a:ext uri="{FF2B5EF4-FFF2-40B4-BE49-F238E27FC236}">
                <a16:creationId xmlns:a16="http://schemas.microsoft.com/office/drawing/2014/main" id="{CB63EC9B-B017-484F-87A2-2F7303A6992E}"/>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93750808-D489-48B7-9EE8-7D1CF2E2E052}"/>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43699077-0D0A-4288-8AA8-0F193C3ECFF4}"/>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신규 MIS API·상</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a:t>
            </a:r>
          </a:p>
        </p:txBody>
      </p:sp>
      <p:sp>
        <p:nvSpPr>
          <p:cNvPr id="25" name="">
            <a:extLst xmlns:a="http://schemas.openxmlformats.org/drawingml/2006/main">
              <a:ext uri="{FF2B5EF4-FFF2-40B4-BE49-F238E27FC236}">
                <a16:creationId xmlns:a16="http://schemas.microsoft.com/office/drawing/2014/main" id="{E06F70DD-F5F7-460B-A32E-399EC5D9A404}"/>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A052B7F-201A-4D84-96C5-4F7FF9EF8733}"/>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3FA64E45-E756-4252-BA7C-F5C1B06E7E99}"/>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인사·근태·결재선</a:t>
            </a:r>
          </a:p>
        </p:txBody>
      </p:sp>
      <p:sp>
        <p:nvSpPr>
          <p:cNvPr id="28" name="">
            <a:extLst xmlns:a="http://schemas.openxmlformats.org/drawingml/2006/main">
              <a:ext uri="{FF2B5EF4-FFF2-40B4-BE49-F238E27FC236}">
                <a16:creationId xmlns:a16="http://schemas.microsoft.com/office/drawing/2014/main" id="{B105B2C6-8C4A-48BB-814F-044B4A137EAE}"/>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8ADF465-AAC9-4183-928A-CC7B552E1738}"/>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239772AB-8DA7-406E-9CCD-EC9D37C26F69}"/>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근태·서식 조회</a:t>
            </a:r>
          </a:p>
        </p:txBody>
      </p:sp>
      <p:sp>
        <p:nvSpPr>
          <p:cNvPr id="31" name="">
            <a:extLst xmlns:a="http://schemas.openxmlformats.org/drawingml/2006/main">
              <a:ext uri="{FF2B5EF4-FFF2-40B4-BE49-F238E27FC236}">
                <a16:creationId xmlns:a16="http://schemas.microsoft.com/office/drawing/2014/main" id="{9C68FE95-62DA-4BE2-AF71-35B607A2BE07}"/>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D63ADFE-B96A-414F-AD08-168F7A613086}"/>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800D19D-5F5C-480A-B694-6C4D735CD180}"/>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초안·접수 상태</a:t>
            </a:r>
          </a:p>
        </p:txBody>
      </p:sp>
      <p:sp>
        <p:nvSpPr>
          <p:cNvPr id="34" name="">
            <a:extLst xmlns:a="http://schemas.openxmlformats.org/drawingml/2006/main">
              <a:ext uri="{FF2B5EF4-FFF2-40B4-BE49-F238E27FC236}">
                <a16:creationId xmlns:a16="http://schemas.microsoft.com/office/drawing/2014/main" id="{0F91C63C-7837-40CF-AF7C-191E4C731269}"/>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B2F4002-F56F-4ACF-BC2F-018BAD9C6E42}"/>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BCEA5CC-F729-4486-8538-F88DF612E1C1}"/>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취소·중복 대사</a:t>
            </a:r>
          </a:p>
        </p:txBody>
      </p:sp>
      <p:sp>
        <p:nvSpPr>
          <p:cNvPr id="46" name="">
            <a:extLst xmlns:a="http://schemas.openxmlformats.org/drawingml/2006/main">
              <a:ext uri="{FF2B5EF4-FFF2-40B4-BE49-F238E27FC236}">
                <a16:creationId xmlns:a16="http://schemas.microsoft.com/office/drawing/2014/main" id="{7C485EF9-07C2-481A-BCBC-3972F0B0FE7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4281561"/>
      </p:ext>
    </p:extLst>
  </p:cSld>
</p:sld>
</file>

<file path=ppt/slides/slide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27377CB-C533-49AC-89CA-C48801992E4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논리 인터페이스·복구 설계</a:t>
            </a:r>
          </a:p>
        </p:txBody>
      </p:sp>
      <p:sp>
        <p:nvSpPr>
          <p:cNvPr id="2" name="">
            <a:extLst xmlns:a="http://schemas.openxmlformats.org/drawingml/2006/main">
              <a:ext uri="{FF2B5EF4-FFF2-40B4-BE49-F238E27FC236}">
                <a16:creationId xmlns:a16="http://schemas.microsoft.com/office/drawing/2014/main" id="{2248637C-EECF-4F61-82D2-A8DB45C3637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데이터와 예외 처리</a:t>
            </a:r>
          </a:p>
        </p:txBody>
      </p:sp>
      <p:sp>
        <p:nvSpPr>
          <p:cNvPr id="3" name="">
            <a:extLst xmlns:a="http://schemas.openxmlformats.org/drawingml/2006/main">
              <a:ext uri="{FF2B5EF4-FFF2-40B4-BE49-F238E27FC236}">
                <a16:creationId xmlns:a16="http://schemas.microsoft.com/office/drawing/2014/main" id="{0A9CB8B6-B1F4-44D0-B0A5-10733B6A3F5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805A77-E6B0-4ED4-A8DB-B458C6C6B8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3A2F932-59F8-40A0-A039-3F9125928A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48</a:t>
            </a:r>
          </a:p>
        </p:txBody>
      </p:sp>
      <p:sp>
        <p:nvSpPr>
          <p:cNvPr id="6" name="">
            <a:extLst xmlns:a="http://schemas.openxmlformats.org/drawingml/2006/main">
              <a:ext uri="{FF2B5EF4-FFF2-40B4-BE49-F238E27FC236}">
                <a16:creationId xmlns:a16="http://schemas.microsoft.com/office/drawing/2014/main" id="{08FB6808-0AC4-4B94-9454-C9D4DBD3D74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C78B435-DD53-41AE-8A78-35C690F6B6C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1CCC127-6898-4E0D-B1FD-619023899AB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C52125DB-3E95-4C72-8CF8-B900167BE8F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음성/텍스트 입력과 조직·직무·권한 확인</a:t>
            </a:r>
          </a:p>
        </p:txBody>
      </p:sp>
      <p:sp>
        <p:nvSpPr>
          <p:cNvPr id="10" name="">
            <a:extLst xmlns:a="http://schemas.openxmlformats.org/drawingml/2006/main">
              <a:ext uri="{FF2B5EF4-FFF2-40B4-BE49-F238E27FC236}">
                <a16:creationId xmlns:a16="http://schemas.microsoft.com/office/drawing/2014/main" id="{339937B2-7CAA-4B8D-AA05-DC530F10635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00FE690-9CA9-4F16-BDE0-5BB67737654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29237214-051B-4AD1-8BE0-994BD3D093A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 발화</a:t>
            </a:r>
          </a:p>
        </p:txBody>
      </p:sp>
      <p:sp>
        <p:nvSpPr>
          <p:cNvPr id="13" name="">
            <a:extLst xmlns:a="http://schemas.openxmlformats.org/drawingml/2006/main">
              <a:ext uri="{FF2B5EF4-FFF2-40B4-BE49-F238E27FC236}">
                <a16:creationId xmlns:a16="http://schemas.microsoft.com/office/drawing/2014/main" id="{4A823153-46CE-4E09-86D8-A10876AF8CF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5CCDA5E-9932-4A10-8D64-6958711FF5E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AEF3CDCA-542D-41B6-8EB6-7898E5D39DC7}"/>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신청 초안·처리 상태</a:t>
            </a:r>
          </a:p>
        </p:txBody>
      </p:sp>
      <p:sp>
        <p:nvSpPr>
          <p:cNvPr id="16" name="">
            <a:extLst xmlns:a="http://schemas.openxmlformats.org/drawingml/2006/main">
              <a:ext uri="{FF2B5EF4-FFF2-40B4-BE49-F238E27FC236}">
                <a16:creationId xmlns:a16="http://schemas.microsoft.com/office/drawing/2014/main" id="{278031D1-A991-41CF-9528-815D00F90B7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D647032-F7D4-4290-9660-16D3934E9A5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146DCA32-98E8-4C8F-B791-2E83340253F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확인된 초안</a:t>
            </a:r>
          </a:p>
        </p:txBody>
      </p:sp>
      <p:sp>
        <p:nvSpPr>
          <p:cNvPr id="19" name="">
            <a:extLst xmlns:a="http://schemas.openxmlformats.org/drawingml/2006/main">
              <a:ext uri="{FF2B5EF4-FFF2-40B4-BE49-F238E27FC236}">
                <a16:creationId xmlns:a16="http://schemas.microsoft.com/office/drawing/2014/main" id="{48D12BE5-20CC-4EB2-BA31-55C5063C5C5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221C310-1522-40AC-BBFD-DFF1B543B22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82BCF24D-E14F-42EB-8295-4F96A980B4AC}"/>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접수 결과</a:t>
            </a:r>
          </a:p>
        </p:txBody>
      </p:sp>
      <p:sp>
        <p:nvSpPr>
          <p:cNvPr id="22" name="">
            <a:extLst xmlns:a="http://schemas.openxmlformats.org/drawingml/2006/main">
              <a:ext uri="{FF2B5EF4-FFF2-40B4-BE49-F238E27FC236}">
                <a16:creationId xmlns:a16="http://schemas.microsoft.com/office/drawing/2014/main" id="{74004741-3A22-4C0F-B020-97C9AFC0DD1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36EF6AA-9688-4860-9803-6249AAD06B2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7E35F492-19EC-4B80-A504-DA638CC9DAB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접수 결과</a:t>
            </a:r>
          </a:p>
        </p:txBody>
      </p:sp>
      <p:sp>
        <p:nvSpPr>
          <p:cNvPr id="25" name="">
            <a:extLst xmlns:a="http://schemas.openxmlformats.org/drawingml/2006/main">
              <a:ext uri="{FF2B5EF4-FFF2-40B4-BE49-F238E27FC236}">
                <a16:creationId xmlns:a16="http://schemas.microsoft.com/office/drawing/2014/main" id="{123632D1-97B2-4A10-BB68-C56D37ADF02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3287D459-BDB0-4C91-8986-25AAA7F7DDE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날짜 오인식·필수 항목 누락·API 재시도·취소</a:t>
            </a:r>
          </a:p>
        </p:txBody>
      </p:sp>
      <p:sp>
        <p:nvSpPr>
          <p:cNvPr id="27" name="">
            <a:extLst xmlns:a="http://schemas.openxmlformats.org/drawingml/2006/main">
              <a:ext uri="{FF2B5EF4-FFF2-40B4-BE49-F238E27FC236}">
                <a16:creationId xmlns:a16="http://schemas.microsoft.com/office/drawing/2014/main" id="{502DD2DF-3E8D-4855-B010-680AB1F304E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40FD42C-3C8D-4A0B-BEAD-9F4239CCDBE3}"/>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필드 재확인·멱등성·상태 대사</a:t>
            </a:r>
          </a:p>
        </p:txBody>
      </p:sp>
      <p:sp>
        <p:nvSpPr>
          <p:cNvPr id="29" name="">
            <a:extLst xmlns:a="http://schemas.openxmlformats.org/drawingml/2006/main">
              <a:ext uri="{FF2B5EF4-FFF2-40B4-BE49-F238E27FC236}">
                <a16:creationId xmlns:a16="http://schemas.microsoft.com/office/drawing/2014/main" id="{1679508E-9881-427A-A99E-55614B7F7EF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9E11D7A-46A5-4D97-9763-FF15C4B35DA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수정·취소·재시도 상태의 원천 대사</a:t>
            </a:r>
          </a:p>
        </p:txBody>
      </p:sp>
      <p:sp>
        <p:nvSpPr>
          <p:cNvPr id="31" name="">
            <a:extLst xmlns:a="http://schemas.openxmlformats.org/drawingml/2006/main">
              <a:ext uri="{FF2B5EF4-FFF2-40B4-BE49-F238E27FC236}">
                <a16:creationId xmlns:a16="http://schemas.microsoft.com/office/drawing/2014/main" id="{712FCFCB-F970-4C3B-82E9-3D6A31EECC9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C5BBC69-37F5-43DA-867C-FD993AF3643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확인 전 실행 차단·중복 방지·MIS 접수 상태 대사</a:t>
            </a:r>
          </a:p>
        </p:txBody>
      </p:sp>
    </p:spTree>
    <p:extLst>
      <p:ext uri="{BB962C8B-B14F-4D97-AF65-F5344CB8AC3E}">
        <p14:creationId xmlns:p14="http://schemas.microsoft.com/office/powerpoint/2010/main" val="1846102917"/>
      </p:ext>
    </p:extLst>
  </p:cSld>
</p:sld>
</file>

<file path=ppt/slides/slide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4734E7-E57E-4C48-B9E3-A9FD3178527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PF-R06 / CCK 비교·재현 시험 설계</a:t>
            </a:r>
          </a:p>
        </p:txBody>
      </p:sp>
      <p:sp>
        <p:nvSpPr>
          <p:cNvPr id="2" name="">
            <a:extLst xmlns:a="http://schemas.openxmlformats.org/drawingml/2006/main">
              <a:ext uri="{FF2B5EF4-FFF2-40B4-BE49-F238E27FC236}">
                <a16:creationId xmlns:a16="http://schemas.microsoft.com/office/drawing/2014/main" id="{B9922730-34BC-4B05-A715-6D8EEA1D9A0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철도기술연구원 행정 AI · 벤치마킹</a:t>
            </a:r>
          </a:p>
        </p:txBody>
      </p:sp>
      <p:sp>
        <p:nvSpPr>
          <p:cNvPr id="3" name="">
            <a:extLst xmlns:a="http://schemas.openxmlformats.org/drawingml/2006/main">
              <a:ext uri="{FF2B5EF4-FFF2-40B4-BE49-F238E27FC236}">
                <a16:creationId xmlns:a16="http://schemas.microsoft.com/office/drawing/2014/main" id="{8BD26E5E-171A-4FF8-A660-5D7DE700C2D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EBB8E7-D743-4E19-9DE1-A48565C6AD5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7269AB9-ABE9-419F-B7CC-1B755D01B63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49</a:t>
            </a:r>
          </a:p>
        </p:txBody>
      </p:sp>
      <p:sp>
        <p:nvSpPr>
          <p:cNvPr id="6" name="">
            <a:extLst xmlns:a="http://schemas.openxmlformats.org/drawingml/2006/main">
              <a:ext uri="{FF2B5EF4-FFF2-40B4-BE49-F238E27FC236}">
                <a16:creationId xmlns:a16="http://schemas.microsoft.com/office/drawing/2014/main" id="{E8D0F5B3-9CFB-49A3-AE5D-1CC5987789F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884849D-11E4-4846-85B8-6168ECBB27C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발화 구조화와 기존 MIS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실행 전 사용자 확인</a:t>
            </a:r>
          </a:p>
        </p:txBody>
      </p:sp>
      <p:sp>
        <p:nvSpPr>
          <p:cNvPr id="8" name="">
            <a:extLst xmlns:a="http://schemas.openxmlformats.org/drawingml/2006/main">
              <a:ext uri="{FF2B5EF4-FFF2-40B4-BE49-F238E27FC236}">
                <a16:creationId xmlns:a16="http://schemas.microsoft.com/office/drawing/2014/main" id="{57C74C2A-37AB-4AD1-81B9-F51054C97B0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7A8341F-3487-4C4A-928C-F0365F58158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날짜·출장 항목 추출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재시도에 따른 중복 신청</a:t>
            </a:r>
          </a:p>
        </p:txBody>
      </p:sp>
      <p:sp>
        <p:nvSpPr>
          <p:cNvPr id="10" name="">
            <a:extLst xmlns:a="http://schemas.openxmlformats.org/drawingml/2006/main">
              <a:ext uri="{FF2B5EF4-FFF2-40B4-BE49-F238E27FC236}">
                <a16:creationId xmlns:a16="http://schemas.microsoft.com/office/drawing/2014/main" id="{52C9579C-BCD6-4B99-92F6-0F375E7A7FF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8AB2B84-3C41-42AF-80F8-C1DA4D59979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필수 필드 재확인·멱등성·상태 대사</a:t>
            </a:r>
          </a:p>
        </p:txBody>
      </p:sp>
      <p:sp>
        <p:nvSpPr>
          <p:cNvPr id="12" name="">
            <a:extLst xmlns:a="http://schemas.openxmlformats.org/drawingml/2006/main">
              <a:ext uri="{FF2B5EF4-FFF2-40B4-BE49-F238E27FC236}">
                <a16:creationId xmlns:a16="http://schemas.microsoft.com/office/drawing/2014/main" id="{06368FD7-1303-41D5-8038-B636F899BD8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B0264C7-4B9D-4504-A774-D6ED2EA1281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출장 목적·기간·장소를 말하고 확인 후 기안·상신</a:t>
            </a:r>
          </a:p>
        </p:txBody>
      </p:sp>
      <p:sp>
        <p:nvSpPr>
          <p:cNvPr id="14" name="">
            <a:extLst xmlns:a="http://schemas.openxmlformats.org/drawingml/2006/main">
              <a:ext uri="{FF2B5EF4-FFF2-40B4-BE49-F238E27FC236}">
                <a16:creationId xmlns:a16="http://schemas.microsoft.com/office/drawing/2014/main" id="{FB10E04C-7A76-4F5D-B39A-93F5D0EEA37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83F9B0BB-53D5-4A99-84A1-492469071D35}"/>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날짜 오인식·필수 항목 누락·API 재시도·취소</a:t>
            </a:r>
          </a:p>
        </p:txBody>
      </p:sp>
      <p:sp>
        <p:nvSpPr>
          <p:cNvPr id="16" name="">
            <a:extLst xmlns:a="http://schemas.openxmlformats.org/drawingml/2006/main">
              <a:ext uri="{FF2B5EF4-FFF2-40B4-BE49-F238E27FC236}">
                <a16:creationId xmlns:a16="http://schemas.microsoft.com/office/drawing/2014/main" id="{D7B0E1C7-742F-49BB-B6C1-EDE72EF95AD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4F3CAE6-D1FC-4091-85D0-F8B361C42D9F}"/>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확인 전 실행 차단·중복 방지·MIS 접수 상태 대사</a:t>
            </a:r>
          </a:p>
        </p:txBody>
      </p:sp>
    </p:spTree>
    <p:extLst>
      <p:ext uri="{BB962C8B-B14F-4D97-AF65-F5344CB8AC3E}">
        <p14:creationId xmlns:p14="http://schemas.microsoft.com/office/powerpoint/2010/main" val="1369338996"/>
      </p:ext>
    </p:extLst>
  </p:cSld>
</p:sld>
</file>

<file path=ppt/slides/slide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25E22AE-B6D7-465C-A6DE-86003B2538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2026-10-14 본공고·최종 첨부 확인 / 입찰 진행 / 국내</a:t>
            </a:r>
          </a:p>
        </p:txBody>
      </p:sp>
      <p:sp>
        <p:nvSpPr>
          <p:cNvPr id="2" name="">
            <a:extLst xmlns:a="http://schemas.openxmlformats.org/drawingml/2006/main">
              <a:ext uri="{FF2B5EF4-FFF2-40B4-BE49-F238E27FC236}">
                <a16:creationId xmlns:a16="http://schemas.microsoft.com/office/drawing/2014/main" id="{1C381781-04B3-43E2-A763-37727BF6072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a:t>
            </a:r>
          </a:p>
        </p:txBody>
      </p:sp>
      <p:sp>
        <p:nvSpPr>
          <p:cNvPr id="3" name="">
            <a:extLst xmlns:a="http://schemas.openxmlformats.org/drawingml/2006/main">
              <a:ext uri="{FF2B5EF4-FFF2-40B4-BE49-F238E27FC236}">
                <a16:creationId xmlns:a16="http://schemas.microsoft.com/office/drawing/2014/main" id="{319E7D11-11D4-4F2A-A317-B7B71C7D1BF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1734120-060C-45E3-93FD-E3CC16221D8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C2A871A-BFA4-4C4E-BDF3-0D81DC16AD0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50</a:t>
            </a:r>
          </a:p>
        </p:txBody>
      </p:sp>
      <p:sp>
        <p:nvSpPr>
          <p:cNvPr id="6" name="">
            <a:extLst xmlns:a="http://schemas.openxmlformats.org/drawingml/2006/main">
              <a:ext uri="{FF2B5EF4-FFF2-40B4-BE49-F238E27FC236}">
                <a16:creationId xmlns:a16="http://schemas.microsoft.com/office/drawing/2014/main" id="{95325043-7E79-406A-B4DC-C928FA773485}"/>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9489A72-5DD9-411F-BA98-2971F2E702E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스팸 관련 법령·가이드·체크리스트를 국민의 질문에 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결하는 대민 AI 상담 구축. 홈페이지·앱 접점과 지식베이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스·외부 생성형 AI API·관리자·운영 기능을 함께 요구하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사업.</a:t>
            </a:r>
          </a:p>
        </p:txBody>
      </p:sp>
      <p:sp>
        <p:nvSpPr>
          <p:cNvPr id="8" name="">
            <a:extLst xmlns:a="http://schemas.openxmlformats.org/drawingml/2006/main">
              <a:ext uri="{FF2B5EF4-FFF2-40B4-BE49-F238E27FC236}">
                <a16:creationId xmlns:a16="http://schemas.microsoft.com/office/drawing/2014/main" id="{21783834-40C2-472B-B718-4D8BAA0C36C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DFCE531-05C4-4FC3-B850-37BC2D5134C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 입력 점검 후 최신 법령 근거를 검색하고 외부 AI A</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PI로 답변을 생성하는 구조. 검색·답변 단계에서 출처와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답변불가 처리를 분리하고, 자동 평가와 전문가 검토를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운영 과정에 결합하는 설계. 최종 RFP 판본의 성능·품질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요구를 기준으로 비교.</a:t>
            </a:r>
          </a:p>
        </p:txBody>
      </p:sp>
      <p:sp>
        <p:nvSpPr>
          <p:cNvPr id="10" name="">
            <a:extLst xmlns:a="http://schemas.openxmlformats.org/drawingml/2006/main">
              <a:ext uri="{FF2B5EF4-FFF2-40B4-BE49-F238E27FC236}">
                <a16:creationId xmlns:a16="http://schemas.microsoft.com/office/drawing/2014/main" id="{C4FC7A15-47C1-4D09-9916-48176A1CE8B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8F51B1A-E9BD-4999-A7E6-11BFB15B56D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규정 검색 성공이 적절한 민원 안내를 보장하지 않는 점을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수에 반영할 필요. 법령 개정, 유사 조문, 근거 없는 질문, 공</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격성 입력을 구분한 시험셋과 전문가 판정의 연결. TS 안내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서비스에 적용할 경우 법정 판단·신청 처리는 해당 업무 시스</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템과 담당자의 책임으로 연결.</a:t>
            </a:r>
          </a:p>
        </p:txBody>
      </p:sp>
      <p:sp>
        <p:nvSpPr>
          <p:cNvPr id="12" name="">
            <a:extLst xmlns:a="http://schemas.openxmlformats.org/drawingml/2006/main">
              <a:ext uri="{FF2B5EF4-FFF2-40B4-BE49-F238E27FC236}">
                <a16:creationId xmlns:a16="http://schemas.microsoft.com/office/drawing/2014/main" id="{77F17382-27FE-4F8F-92FF-7635D4E7DA8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2567379-48F3-4AA3-854F-428890F6FBE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법령·체크리스트 판본 / 응답 보류 / 전문가 정답셋·부하 시험</a:t>
            </a:r>
          </a:p>
        </p:txBody>
      </p:sp>
      <p:sp>
        <p:nvSpPr>
          <p:cNvPr id="14" name="">
            <a:extLst xmlns:a="http://schemas.openxmlformats.org/drawingml/2006/main">
              <a:ext uri="{FF2B5EF4-FFF2-40B4-BE49-F238E27FC236}">
                <a16:creationId xmlns:a16="http://schemas.microsoft.com/office/drawing/2014/main" id="{403F72CA-CDB6-4B5F-B908-3E046E72A18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C600EC9-E7A8-47F5-9A71-6BFADA67E34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조문·근거 부재·공격 입력·동시 요청의 품질·성능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a:t>
            </a:r>
          </a:p>
        </p:txBody>
      </p:sp>
      <p:sp>
        <p:nvSpPr>
          <p:cNvPr id="16" name="">
            <a:extLst xmlns:a="http://schemas.openxmlformats.org/drawingml/2006/main">
              <a:ext uri="{FF2B5EF4-FFF2-40B4-BE49-F238E27FC236}">
                <a16:creationId xmlns:a16="http://schemas.microsoft.com/office/drawing/2014/main" id="{AE37B7AA-8827-48D1-81EB-81C6D2F5E2C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0DA05AD-AC99-486D-B580-5F50AF82F76B}"/>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정답률 / 보류 적정률 / 응답시간·오류율</a:t>
            </a:r>
          </a:p>
        </p:txBody>
      </p:sp>
      <p:sp>
        <p:nvSpPr>
          <p:cNvPr id="18" name="">
            <a:extLst xmlns:a="http://schemas.openxmlformats.org/drawingml/2006/main">
              <a:ext uri="{FF2B5EF4-FFF2-40B4-BE49-F238E27FC236}">
                <a16:creationId xmlns:a16="http://schemas.microsoft.com/office/drawing/2014/main" id="{6C7D3FA7-C2C3-4479-930F-8C6ED265FEC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사전본 동시300명→본공고100명. 오픈소스 모델/라이브러리 문구→외부 생성형AI API+RAG 방식</a:t>
            </a:r>
          </a:p>
        </p:txBody>
      </p:sp>
    </p:spTree>
    <p:extLst>
      <p:ext uri="{BB962C8B-B14F-4D97-AF65-F5344CB8AC3E}">
        <p14:creationId xmlns:p14="http://schemas.microsoft.com/office/powerpoint/2010/main" val="533117248"/>
      </p:ext>
    </p:extLst>
  </p:cSld>
</p:sld>
</file>

<file path=ppt/slides/slide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455974D-3F60-4510-88DF-C66918FFA39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1–3</a:t>
            </a:r>
          </a:p>
        </p:txBody>
      </p:sp>
      <p:sp>
        <p:nvSpPr>
          <p:cNvPr id="2" name="">
            <a:extLst xmlns:a="http://schemas.openxmlformats.org/drawingml/2006/main">
              <a:ext uri="{FF2B5EF4-FFF2-40B4-BE49-F238E27FC236}">
                <a16:creationId xmlns:a16="http://schemas.microsoft.com/office/drawing/2014/main" id="{402A26EE-C2A0-4233-8742-FC937874695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695B52BC-471A-4476-BC44-A3532EB5F3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780DAF5-3CB9-41B3-9783-E2733812F60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8F45FF1-3049-4AFE-8F83-C41CCDA6099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51</a:t>
            </a:r>
          </a:p>
        </p:txBody>
      </p:sp>
      <p:sp>
        <p:nvSpPr>
          <p:cNvPr id="6" name="">
            <a:extLst xmlns:a="http://schemas.openxmlformats.org/drawingml/2006/main">
              <a:ext uri="{FF2B5EF4-FFF2-40B4-BE49-F238E27FC236}">
                <a16:creationId xmlns:a16="http://schemas.microsoft.com/office/drawing/2014/main" id="{E7680CB0-32AA-4A13-A6EE-436C3B2666D3}"/>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A140858-2D8B-4E3E-B487-802616DF5B54}"/>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SFR-001 AI 스팸 챗봇 서비스 구축</a:t>
            </a:r>
          </a:p>
        </p:txBody>
      </p:sp>
      <p:sp>
        <p:nvSpPr>
          <p:cNvPr id="8" name="">
            <a:extLst xmlns:a="http://schemas.openxmlformats.org/drawingml/2006/main">
              <a:ext uri="{FF2B5EF4-FFF2-40B4-BE49-F238E27FC236}">
                <a16:creationId xmlns:a16="http://schemas.microsoft.com/office/drawing/2014/main" id="{6C3BD19E-2BEA-400C-AEE2-9B4A83DD47F2}"/>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관련 법령·업무 문의에 대응하는 AI 챗봇 구축.</a:t>
            </a:r>
          </a:p>
        </p:txBody>
      </p:sp>
      <p:sp>
        <p:nvSpPr>
          <p:cNvPr id="9" name="">
            <a:extLst xmlns:a="http://schemas.openxmlformats.org/drawingml/2006/main">
              <a:ext uri="{FF2B5EF4-FFF2-40B4-BE49-F238E27FC236}">
                <a16:creationId xmlns:a16="http://schemas.microsoft.com/office/drawing/2014/main" id="{4E6B3356-7620-4CED-983C-074F936A000B}"/>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법령 설명·신고 절차·예외 사유 질문을 구분해 올바른 안내 경</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로 확인</a:t>
            </a:r>
          </a:p>
        </p:txBody>
      </p:sp>
      <p:sp>
        <p:nvSpPr>
          <p:cNvPr id="10" name="">
            <a:extLst xmlns:a="http://schemas.openxmlformats.org/drawingml/2006/main">
              <a:ext uri="{FF2B5EF4-FFF2-40B4-BE49-F238E27FC236}">
                <a16:creationId xmlns:a16="http://schemas.microsoft.com/office/drawing/2014/main" id="{7F7963F5-47D6-41E3-8F1A-F8611E436E94}"/>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B3AE7D-4A84-4695-8F1E-0E147431E9D3}"/>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SFR-002 AI 스팸 챗봇 서비스 지식베이스 관리</a:t>
            </a:r>
          </a:p>
        </p:txBody>
      </p:sp>
      <p:sp>
        <p:nvSpPr>
          <p:cNvPr id="12" name="">
            <a:extLst xmlns:a="http://schemas.openxmlformats.org/drawingml/2006/main">
              <a:ext uri="{FF2B5EF4-FFF2-40B4-BE49-F238E27FC236}">
                <a16:creationId xmlns:a16="http://schemas.microsoft.com/office/drawing/2014/main" id="{EC79ECE3-362A-4166-B91D-2C659E0F5B0A}"/>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관련 지식자료를 등록·정비·활용하는 지식베이스 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성.</a:t>
            </a:r>
          </a:p>
        </p:txBody>
      </p:sp>
      <p:sp>
        <p:nvSpPr>
          <p:cNvPr id="13" name="">
            <a:extLst xmlns:a="http://schemas.openxmlformats.org/drawingml/2006/main">
              <a:ext uri="{FF2B5EF4-FFF2-40B4-BE49-F238E27FC236}">
                <a16:creationId xmlns:a16="http://schemas.microsoft.com/office/drawing/2014/main" id="{CABC8E6D-A19A-4A4D-8638-8D63F2B6788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개정 자료·폐기 자료·상충 FAQ의 승인·갱신 및 검색 제외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확인</a:t>
            </a:r>
          </a:p>
        </p:txBody>
      </p:sp>
      <p:sp>
        <p:nvSpPr>
          <p:cNvPr id="14" name="">
            <a:extLst xmlns:a="http://schemas.openxmlformats.org/drawingml/2006/main">
              <a:ext uri="{FF2B5EF4-FFF2-40B4-BE49-F238E27FC236}">
                <a16:creationId xmlns:a16="http://schemas.microsoft.com/office/drawing/2014/main" id="{CB8EDC5A-E9CB-4F1F-95F7-E8BF5DE9F768}"/>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18737F6-147E-4BA8-BF88-8482E9468E84}"/>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AI 스팸 챗봇 서비스 모델</a:t>
            </a:r>
          </a:p>
        </p:txBody>
      </p:sp>
      <p:sp>
        <p:nvSpPr>
          <p:cNvPr id="16" name="">
            <a:extLst xmlns:a="http://schemas.openxmlformats.org/drawingml/2006/main">
              <a:ext uri="{FF2B5EF4-FFF2-40B4-BE49-F238E27FC236}">
                <a16:creationId xmlns:a16="http://schemas.microsoft.com/office/drawing/2014/main" id="{B2EB2829-D9D9-4475-ADBD-79802444B318}"/>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스팸 업무 질의응답을 위한 AI 모델 구성·적용.</a:t>
            </a:r>
          </a:p>
        </p:txBody>
      </p:sp>
      <p:sp>
        <p:nvSpPr>
          <p:cNvPr id="17" name="">
            <a:extLst xmlns:a="http://schemas.openxmlformats.org/drawingml/2006/main">
              <a:ext uri="{FF2B5EF4-FFF2-40B4-BE49-F238E27FC236}">
                <a16:creationId xmlns:a16="http://schemas.microsoft.com/office/drawing/2014/main" id="{5EA7D641-C97F-4101-A77B-26B21A6DB270}"/>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없는 법적 단정, 문맥 누락, 질의와 무관한 응답을 업무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정답셋으로 평가</a:t>
            </a:r>
          </a:p>
        </p:txBody>
      </p:sp>
    </p:spTree>
    <p:extLst>
      <p:ext uri="{BB962C8B-B14F-4D97-AF65-F5344CB8AC3E}">
        <p14:creationId xmlns:p14="http://schemas.microsoft.com/office/powerpoint/2010/main" val="2028609900"/>
      </p:ext>
    </p:extLst>
  </p:cSld>
</p:sld>
</file>

<file path=ppt/slides/slide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F8FFC91-8861-4A2E-9A0A-5816F5994B0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4–6</a:t>
            </a:r>
          </a:p>
        </p:txBody>
      </p:sp>
      <p:sp>
        <p:nvSpPr>
          <p:cNvPr id="2" name="">
            <a:extLst xmlns:a="http://schemas.openxmlformats.org/drawingml/2006/main">
              <a:ext uri="{FF2B5EF4-FFF2-40B4-BE49-F238E27FC236}">
                <a16:creationId xmlns:a16="http://schemas.microsoft.com/office/drawing/2014/main" id="{2374B381-5024-4EFC-A28A-140BF78C53B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DFF845B7-5FFB-430D-B474-9FDD64C7AD4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1E7376-0772-4578-AE2F-444C010197C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7DFDFE5-B6B4-447F-8A58-6A46D1AF9F8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52</a:t>
            </a:r>
          </a:p>
        </p:txBody>
      </p:sp>
      <p:sp>
        <p:nvSpPr>
          <p:cNvPr id="6" name="">
            <a:extLst xmlns:a="http://schemas.openxmlformats.org/drawingml/2006/main">
              <a:ext uri="{FF2B5EF4-FFF2-40B4-BE49-F238E27FC236}">
                <a16:creationId xmlns:a16="http://schemas.microsoft.com/office/drawing/2014/main" id="{F2474E0E-428B-4C31-A73E-6B13067AE5A2}"/>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2757E9-129D-4A65-9F56-5E9360DFA7F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AI 스팸 챗봇 서비스 관리자 기능</a:t>
            </a:r>
          </a:p>
        </p:txBody>
      </p:sp>
      <p:sp>
        <p:nvSpPr>
          <p:cNvPr id="8" name="">
            <a:extLst xmlns:a="http://schemas.openxmlformats.org/drawingml/2006/main">
              <a:ext uri="{FF2B5EF4-FFF2-40B4-BE49-F238E27FC236}">
                <a16:creationId xmlns:a16="http://schemas.microsoft.com/office/drawing/2014/main" id="{3F79771D-C86F-4FF3-AB65-80D0BEF8C335}"/>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관리자의 지식·서비스 관리 기능 제공.</a:t>
            </a:r>
          </a:p>
        </p:txBody>
      </p:sp>
      <p:sp>
        <p:nvSpPr>
          <p:cNvPr id="9" name="">
            <a:extLst xmlns:a="http://schemas.openxmlformats.org/drawingml/2006/main">
              <a:ext uri="{FF2B5EF4-FFF2-40B4-BE49-F238E27FC236}">
                <a16:creationId xmlns:a16="http://schemas.microsoft.com/office/drawing/2014/main" id="{2F12EED2-21BA-4EDB-A1C5-42EFAADDCF2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C06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지식 수정·게시·삭제의 역할별 허용 범위와 변경 이력 확인</a:t>
            </a:r>
          </a:p>
        </p:txBody>
      </p:sp>
      <p:sp>
        <p:nvSpPr>
          <p:cNvPr id="10" name="">
            <a:extLst xmlns:a="http://schemas.openxmlformats.org/drawingml/2006/main">
              <a:ext uri="{FF2B5EF4-FFF2-40B4-BE49-F238E27FC236}">
                <a16:creationId xmlns:a16="http://schemas.microsoft.com/office/drawing/2014/main" id="{CFA9EFF9-7B1F-4A35-ACD9-A7FEB3EF328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CEC1C37-F261-4EDC-8338-22CB5B03F03C}"/>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AI 스팸 챗봇 서비스 시스템 연계</a:t>
            </a:r>
          </a:p>
        </p:txBody>
      </p:sp>
      <p:sp>
        <p:nvSpPr>
          <p:cNvPr id="12" name="">
            <a:extLst xmlns:a="http://schemas.openxmlformats.org/drawingml/2006/main">
              <a:ext uri="{FF2B5EF4-FFF2-40B4-BE49-F238E27FC236}">
                <a16:creationId xmlns:a16="http://schemas.microsoft.com/office/drawing/2014/main" id="{5065DF28-D2D0-454A-94C5-C630A85FFC1E}"/>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업무시스템과 AI 챗봇의 연계 기능.</a:t>
            </a:r>
          </a:p>
        </p:txBody>
      </p:sp>
      <p:sp>
        <p:nvSpPr>
          <p:cNvPr id="13" name="">
            <a:extLst xmlns:a="http://schemas.openxmlformats.org/drawingml/2006/main">
              <a:ext uri="{FF2B5EF4-FFF2-40B4-BE49-F238E27FC236}">
                <a16:creationId xmlns:a16="http://schemas.microsoft.com/office/drawing/2014/main" id="{6F47E629-D977-40A7-A60D-180BC82DA46B}"/>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인증 오류·미존재 데이터·연계 실패 시 비정상 결과의 차단과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 확인</a:t>
            </a:r>
          </a:p>
        </p:txBody>
      </p:sp>
      <p:sp>
        <p:nvSpPr>
          <p:cNvPr id="14" name="">
            <a:extLst xmlns:a="http://schemas.openxmlformats.org/drawingml/2006/main">
              <a:ext uri="{FF2B5EF4-FFF2-40B4-BE49-F238E27FC236}">
                <a16:creationId xmlns:a16="http://schemas.microsoft.com/office/drawing/2014/main" id="{D271EA5A-0727-4C3E-B4A1-51D8422C6268}"/>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78B9A2-25DB-4ED1-B127-625896488EE4}"/>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SFR-006 AI 스팸 챗봇 서비스 운영 관리</a:t>
            </a:r>
          </a:p>
        </p:txBody>
      </p:sp>
      <p:sp>
        <p:nvSpPr>
          <p:cNvPr id="16" name="">
            <a:extLst xmlns:a="http://schemas.openxmlformats.org/drawingml/2006/main">
              <a:ext uri="{FF2B5EF4-FFF2-40B4-BE49-F238E27FC236}">
                <a16:creationId xmlns:a16="http://schemas.microsoft.com/office/drawing/2014/main" id="{F055AB95-44AF-498F-87E3-C8092E538F30}"/>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서비스의 운영 상태와 처리 이력을 관리하는 기능.</a:t>
            </a:r>
          </a:p>
        </p:txBody>
      </p:sp>
      <p:sp>
        <p:nvSpPr>
          <p:cNvPr id="17" name="">
            <a:extLst xmlns:a="http://schemas.openxmlformats.org/drawingml/2006/main">
              <a:ext uri="{FF2B5EF4-FFF2-40B4-BE49-F238E27FC236}">
                <a16:creationId xmlns:a16="http://schemas.microsoft.com/office/drawing/2014/main" id="{CA0A9158-619A-4335-8EE6-82DD819A2465}"/>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장애·오답 접수부터 보정·재시험까지의 처리 상태 추적</a:t>
            </a:r>
          </a:p>
        </p:txBody>
      </p:sp>
    </p:spTree>
    <p:extLst>
      <p:ext uri="{BB962C8B-B14F-4D97-AF65-F5344CB8AC3E}">
        <p14:creationId xmlns:p14="http://schemas.microsoft.com/office/powerpoint/2010/main" val="433698045"/>
      </p:ext>
    </p:extLst>
  </p:cSld>
</p:sld>
</file>

<file path=ppt/slides/slide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8051E7F-098B-4777-9D70-3C418395E30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최종 RFP 2026.10.14 · SFR-001~006·PER-001·004·QUR-001 / 7–7</a:t>
            </a:r>
          </a:p>
        </p:txBody>
      </p:sp>
      <p:sp>
        <p:nvSpPr>
          <p:cNvPr id="2" name="">
            <a:extLst xmlns:a="http://schemas.openxmlformats.org/drawingml/2006/main">
              <a:ext uri="{FF2B5EF4-FFF2-40B4-BE49-F238E27FC236}">
                <a16:creationId xmlns:a16="http://schemas.microsoft.com/office/drawing/2014/main" id="{53702101-CC64-4799-AA14-4DFF728FE3A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요구사항</a:t>
            </a:r>
          </a:p>
        </p:txBody>
      </p:sp>
      <p:sp>
        <p:nvSpPr>
          <p:cNvPr id="3" name="">
            <a:extLst xmlns:a="http://schemas.openxmlformats.org/drawingml/2006/main">
              <a:ext uri="{FF2B5EF4-FFF2-40B4-BE49-F238E27FC236}">
                <a16:creationId xmlns:a16="http://schemas.microsoft.com/office/drawing/2014/main" id="{B8CAA76F-4981-4A2D-AF96-9FE5A1F537C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F6824DB-3430-42EE-8DBC-98CDD4884F5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B9A6825-7E5A-4706-BFAB-2387F6CCD1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53</a:t>
            </a:r>
          </a:p>
        </p:txBody>
      </p:sp>
      <p:sp>
        <p:nvSpPr>
          <p:cNvPr id="6" name="">
            <a:extLst xmlns:a="http://schemas.openxmlformats.org/drawingml/2006/main">
              <a:ext uri="{FF2B5EF4-FFF2-40B4-BE49-F238E27FC236}">
                <a16:creationId xmlns:a16="http://schemas.microsoft.com/office/drawing/2014/main" id="{4B40E815-D5BF-452D-A7B2-112021C5F21A}"/>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3D5C71D-4EED-467E-9D6D-90EF93FA3349}"/>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QUR-001 AI 스팸 챗봇 서비스 답변 품질</a:t>
            </a:r>
          </a:p>
        </p:txBody>
      </p:sp>
      <p:sp>
        <p:nvSpPr>
          <p:cNvPr id="8" name="">
            <a:extLst xmlns:a="http://schemas.openxmlformats.org/drawingml/2006/main">
              <a:ext uri="{FF2B5EF4-FFF2-40B4-BE49-F238E27FC236}">
                <a16:creationId xmlns:a16="http://schemas.microsoft.com/office/drawing/2014/main" id="{D8CA4D86-BEAA-4A34-8F9C-94DA173A60C6}"/>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답변 품질을 점검하고 개선하는 품질 요구.</a:t>
            </a:r>
          </a:p>
        </p:txBody>
      </p:sp>
      <p:sp>
        <p:nvSpPr>
          <p:cNvPr id="9" name="">
            <a:extLst xmlns:a="http://schemas.openxmlformats.org/drawingml/2006/main">
              <a:ext uri="{FF2B5EF4-FFF2-40B4-BE49-F238E27FC236}">
                <a16:creationId xmlns:a16="http://schemas.microsoft.com/office/drawing/2014/main" id="{50BEF2AF-B05F-477E-B8AC-F8CAEA1D772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C05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 질문별 근거 정확성·완전성·일관성 평가와 보정 전후 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교 증빙</a:t>
            </a:r>
          </a:p>
        </p:txBody>
      </p:sp>
    </p:spTree>
    <p:extLst>
      <p:ext uri="{BB962C8B-B14F-4D97-AF65-F5344CB8AC3E}">
        <p14:creationId xmlns:p14="http://schemas.microsoft.com/office/powerpoint/2010/main" val="1501627504"/>
      </p:ext>
    </p:extLst>
  </p:cSld>
</p:sld>
</file>

<file path=ppt/slides/slide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3D6E43-2B17-443C-9855-BFCF9D0A1E8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CCK 분석 재구성 · 원문 도면 아님</a:t>
            </a:r>
          </a:p>
        </p:txBody>
      </p:sp>
      <p:sp>
        <p:nvSpPr>
          <p:cNvPr id="2" name="">
            <a:extLst xmlns:a="http://schemas.openxmlformats.org/drawingml/2006/main">
              <a:ext uri="{FF2B5EF4-FFF2-40B4-BE49-F238E27FC236}">
                <a16:creationId xmlns:a16="http://schemas.microsoft.com/office/drawing/2014/main" id="{6CCB3880-F707-44F3-ADAA-E26F605892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RFP 기반 서비스 흐름 재구성</a:t>
            </a:r>
          </a:p>
        </p:txBody>
      </p:sp>
      <p:sp>
        <p:nvSpPr>
          <p:cNvPr id="3" name="">
            <a:extLst xmlns:a="http://schemas.openxmlformats.org/drawingml/2006/main">
              <a:ext uri="{FF2B5EF4-FFF2-40B4-BE49-F238E27FC236}">
                <a16:creationId xmlns:a16="http://schemas.microsoft.com/office/drawing/2014/main" id="{195267A8-F3CD-4230-B9F2-AB1C027BA74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D9EFD6-3EA5-42E6-AB0A-8B8BFC11C4F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4063F54-8E2F-45DD-89D8-94A0FD951B8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54</a:t>
            </a:r>
          </a:p>
        </p:txBody>
      </p:sp>
      <p:pic>
        <p:nvPicPr>
          <p:cNvPr id="6" name="">
            <a:extLst xmlns:a="http://schemas.openxmlformats.org/drawingml/2006/main">
              <a:ext uri="{FF2B5EF4-FFF2-40B4-BE49-F238E27FC236}">
                <a16:creationId xmlns:a16="http://schemas.microsoft.com/office/drawing/2014/main" id="{0FD47D31-D312-4D1B-B31F-ED4DFE97B28C}"/>
              </a:ext>
            </a:extLst>
          </p:cNvPr>
          <p:cNvPicPr>
            <a:picLocks xmlns:a="http://schemas.openxmlformats.org/drawingml/2006/main" noChangeAspect="1"/>
          </p:cNvPicPr>
          <p:nvPr/>
        </p:nvPicPr>
        <p:blipFill>
          <a:blip xmlns:r="http://schemas.openxmlformats.org/officeDocument/2006/relationships" xmlns:a="http://schemas.openxmlformats.org/drawingml/2006/main" r:embed="Re803a751df4e4c98"/>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8D96433-B5A8-4B43-AFC1-26831F7A1240}"/>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최종 RFP SFR-001~006·QUR-001 / 원문 서비스 도면 미확인</a:t>
            </a:r>
          </a:p>
        </p:txBody>
      </p:sp>
    </p:spTree>
    <p:extLst>
      <p:ext uri="{BB962C8B-B14F-4D97-AF65-F5344CB8AC3E}">
        <p14:creationId xmlns:p14="http://schemas.microsoft.com/office/powerpoint/2010/main" val="469189559"/>
      </p:ext>
    </p:extLst>
  </p:cSld>
</p:sld>
</file>

<file path=ppt/slides/slide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A3A08647-7940-438C-9781-EB1C0561311C}"/>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FEAE52A-4633-4776-909A-CCEC247E7F36}"/>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05589BCA-A0FD-4B45-A5A3-7E81CB3C80A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89122993-B07F-4CAA-94ED-4914929E3985}"/>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27130F6-B9C8-4689-BEE8-95176481C3CD}"/>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E1679AD-E5B0-4D45-A7EE-73A3B82E1483}"/>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EB04F711-E7F6-4390-97D6-8D368CC62F41}"/>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2A9603B-C0B6-46B2-8B28-60A91A443260}"/>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D6557C2-2764-4819-AA3D-62AD7B99EB8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BC3CAFA8-5BBD-4414-B523-9BFF437208B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지식 갱신·검색·근거 응답</a:t>
            </a:r>
          </a:p>
        </p:txBody>
      </p:sp>
      <p:sp>
        <p:nvSpPr>
          <p:cNvPr id="2" name="">
            <a:extLst xmlns:a="http://schemas.openxmlformats.org/drawingml/2006/main">
              <a:ext uri="{FF2B5EF4-FFF2-40B4-BE49-F238E27FC236}">
                <a16:creationId xmlns:a16="http://schemas.microsoft.com/office/drawing/2014/main" id="{592F5F87-C35D-40E3-BD1C-D480EEBF4DC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세부 서비스 구조</a:t>
            </a:r>
          </a:p>
        </p:txBody>
      </p:sp>
      <p:sp>
        <p:nvSpPr>
          <p:cNvPr id="3" name="">
            <a:extLst xmlns:a="http://schemas.openxmlformats.org/drawingml/2006/main">
              <a:ext uri="{FF2B5EF4-FFF2-40B4-BE49-F238E27FC236}">
                <a16:creationId xmlns:a16="http://schemas.microsoft.com/office/drawing/2014/main" id="{9809D755-1DDC-429F-88AA-42C75C3FC0E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D0B6C05-851D-44B6-A84D-3D5479C68AF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B786D57-EBB5-4968-95A2-B8734B19426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55</a:t>
            </a:r>
          </a:p>
        </p:txBody>
      </p:sp>
      <p:sp>
        <p:nvSpPr>
          <p:cNvPr id="6" name="">
            <a:extLst xmlns:a="http://schemas.openxmlformats.org/drawingml/2006/main">
              <a:ext uri="{FF2B5EF4-FFF2-40B4-BE49-F238E27FC236}">
                <a16:creationId xmlns:a16="http://schemas.microsoft.com/office/drawing/2014/main" id="{6A55E747-9F09-45D1-8006-0B6D0BF776E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법령·지식 → 외부 AI·RAG → 출처·답변 보류 → 전문가 평가</a:t>
            </a:r>
          </a:p>
        </p:txBody>
      </p:sp>
      <p:sp>
        <p:nvSpPr>
          <p:cNvPr id="7" name="">
            <a:extLst xmlns:a="http://schemas.openxmlformats.org/drawingml/2006/main">
              <a:ext uri="{FF2B5EF4-FFF2-40B4-BE49-F238E27FC236}">
                <a16:creationId xmlns:a16="http://schemas.microsoft.com/office/drawing/2014/main" id="{D5F37E9B-E1AD-42AE-85F4-17780E4E971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ED8D326-970C-46B2-AE82-E45327EAA07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67C38E91-51B1-4F11-B0B8-6908C7CCD3B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스팸법령·가이드</a:t>
            </a:r>
          </a:p>
        </p:txBody>
      </p:sp>
      <p:sp>
        <p:nvSpPr>
          <p:cNvPr id="10" name="">
            <a:extLst xmlns:a="http://schemas.openxmlformats.org/drawingml/2006/main">
              <a:ext uri="{FF2B5EF4-FFF2-40B4-BE49-F238E27FC236}">
                <a16:creationId xmlns:a16="http://schemas.microsoft.com/office/drawing/2014/main" id="{8CD1C44D-7479-4EAA-9293-4CE32B023991}"/>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EE6BE04-9485-4715-ADDE-6BE7A022E43C}"/>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A301F186-0FFB-4DE1-9ABE-0A2448E704C1}"/>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조문·판본 정비</a:t>
            </a:r>
          </a:p>
        </p:txBody>
      </p:sp>
      <p:sp>
        <p:nvSpPr>
          <p:cNvPr id="13" name="">
            <a:extLst xmlns:a="http://schemas.openxmlformats.org/drawingml/2006/main">
              <a:ext uri="{FF2B5EF4-FFF2-40B4-BE49-F238E27FC236}">
                <a16:creationId xmlns:a16="http://schemas.microsoft.com/office/drawing/2014/main" id="{A3DD6679-DC07-468C-A017-74C0516F866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6C3A065-679E-48B8-B0B2-5065B237BF3F}"/>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662B8540-1FFF-4629-B996-80FAE3B6F73C}"/>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지식·평가셋</a:t>
            </a:r>
          </a:p>
        </p:txBody>
      </p:sp>
      <p:sp>
        <p:nvSpPr>
          <p:cNvPr id="16" name="">
            <a:extLst xmlns:a="http://schemas.openxmlformats.org/drawingml/2006/main">
              <a:ext uri="{FF2B5EF4-FFF2-40B4-BE49-F238E27FC236}">
                <a16:creationId xmlns:a16="http://schemas.microsoft.com/office/drawing/2014/main" id="{968C8603-9621-425E-A1E7-889B9207B0D8}"/>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E55D29F-88FF-4F9D-849D-FB738E18A10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4CABE31B-ECC7-4CD1-AC8D-068ABF169BE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 RAG 검색</a:t>
            </a:r>
          </a:p>
        </p:txBody>
      </p:sp>
      <p:sp>
        <p:nvSpPr>
          <p:cNvPr id="19" name="">
            <a:extLst xmlns:a="http://schemas.openxmlformats.org/drawingml/2006/main">
              <a:ext uri="{FF2B5EF4-FFF2-40B4-BE49-F238E27FC236}">
                <a16:creationId xmlns:a16="http://schemas.microsoft.com/office/drawing/2014/main" id="{8A5CEDDF-CE47-4D01-A752-0B0E7E1D0B9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3E3F7D8-1870-443B-A81E-577C4846C104}"/>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6928F2BA-F055-4275-8D65-C696B5AFFDA6}"/>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홈페이지·앱 질의</a:t>
            </a:r>
          </a:p>
        </p:txBody>
      </p:sp>
      <p:sp>
        <p:nvSpPr>
          <p:cNvPr id="22" name="">
            <a:extLst xmlns:a="http://schemas.openxmlformats.org/drawingml/2006/main">
              <a:ext uri="{FF2B5EF4-FFF2-40B4-BE49-F238E27FC236}">
                <a16:creationId xmlns:a16="http://schemas.microsoft.com/office/drawing/2014/main" id="{322B6822-A9B2-4A12-AFAB-9AFAE129CD94}"/>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7B3C232-2C74-4C83-AF1D-A21364A0BB64}"/>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F0036815-DC49-4AA1-A9FC-7BCB82CE1CFC}"/>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문의·민감정보</a:t>
            </a:r>
          </a:p>
        </p:txBody>
      </p:sp>
      <p:sp>
        <p:nvSpPr>
          <p:cNvPr id="25" name="">
            <a:extLst xmlns:a="http://schemas.openxmlformats.org/drawingml/2006/main">
              <a:ext uri="{FF2B5EF4-FFF2-40B4-BE49-F238E27FC236}">
                <a16:creationId xmlns:a16="http://schemas.microsoft.com/office/drawing/2014/main" id="{5E3CF127-4671-4235-AF0D-22AA09421566}"/>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65D75CE-919F-4F0F-AC82-29EE196E361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16D1E9CE-40AF-4884-AE3D-2761C91A1714}"/>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외부 생성 AI API</a:t>
            </a:r>
          </a:p>
        </p:txBody>
      </p:sp>
      <p:sp>
        <p:nvSpPr>
          <p:cNvPr id="28" name="">
            <a:extLst xmlns:a="http://schemas.openxmlformats.org/drawingml/2006/main">
              <a:ext uri="{FF2B5EF4-FFF2-40B4-BE49-F238E27FC236}">
                <a16:creationId xmlns:a16="http://schemas.microsoft.com/office/drawing/2014/main" id="{3D9120F2-4D29-4056-B9DE-54F8BA6A5D6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7F1326E-D154-48DC-B378-29A7E991056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E01CFB37-F514-41C4-A83A-AB7F8803A39B}"/>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출처·답변불가 판</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a:t>
            </a:r>
          </a:p>
        </p:txBody>
      </p:sp>
      <p:sp>
        <p:nvSpPr>
          <p:cNvPr id="31" name="">
            <a:extLst xmlns:a="http://schemas.openxmlformats.org/drawingml/2006/main">
              <a:ext uri="{FF2B5EF4-FFF2-40B4-BE49-F238E27FC236}">
                <a16:creationId xmlns:a16="http://schemas.microsoft.com/office/drawing/2014/main" id="{1C2676A3-B4F9-49B7-AB28-61AE83C1F926}"/>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1D9D7BB-A466-4F7E-BA6D-82B537139A52}"/>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2AC4CA8F-E64E-4ECE-882A-6FFFC811232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민원인·전문가</a:t>
            </a:r>
          </a:p>
        </p:txBody>
      </p:sp>
      <p:sp>
        <p:nvSpPr>
          <p:cNvPr id="34" name="">
            <a:extLst xmlns:a="http://schemas.openxmlformats.org/drawingml/2006/main">
              <a:ext uri="{FF2B5EF4-FFF2-40B4-BE49-F238E27FC236}">
                <a16:creationId xmlns:a16="http://schemas.microsoft.com/office/drawing/2014/main" id="{5F61498F-5521-420B-98B0-133B1BDDC3F3}"/>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874C23E-FE7E-4C3F-AC2C-A32FB9AFDE0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B3266EEE-EF2C-4DBD-8AB6-E083F4FA587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답변·후속 안내</a:t>
            </a:r>
          </a:p>
        </p:txBody>
      </p:sp>
      <p:sp>
        <p:nvSpPr>
          <p:cNvPr id="46" name="">
            <a:extLst xmlns:a="http://schemas.openxmlformats.org/drawingml/2006/main">
              <a:ext uri="{FF2B5EF4-FFF2-40B4-BE49-F238E27FC236}">
                <a16:creationId xmlns:a16="http://schemas.microsoft.com/office/drawing/2014/main" id="{1F6CBFFC-0598-43EC-B68E-A227D723BBA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68892431"/>
      </p:ext>
    </p:extLst>
  </p:cSld>
</p:sld>
</file>

<file path=ppt/slides/slide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0F5E3F9-B803-474B-A35D-E538204577F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논리 인터페이스·복구 설계</a:t>
            </a:r>
          </a:p>
        </p:txBody>
      </p:sp>
      <p:sp>
        <p:nvSpPr>
          <p:cNvPr id="2" name="">
            <a:extLst xmlns:a="http://schemas.openxmlformats.org/drawingml/2006/main">
              <a:ext uri="{FF2B5EF4-FFF2-40B4-BE49-F238E27FC236}">
                <a16:creationId xmlns:a16="http://schemas.microsoft.com/office/drawing/2014/main" id="{F83D67BB-B9AB-4D3F-8C9B-E9D7ADC04C0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데이터와 예외 처리</a:t>
            </a:r>
          </a:p>
        </p:txBody>
      </p:sp>
      <p:sp>
        <p:nvSpPr>
          <p:cNvPr id="3" name="">
            <a:extLst xmlns:a="http://schemas.openxmlformats.org/drawingml/2006/main">
              <a:ext uri="{FF2B5EF4-FFF2-40B4-BE49-F238E27FC236}">
                <a16:creationId xmlns:a16="http://schemas.microsoft.com/office/drawing/2014/main" id="{EDF15DFF-D5FF-499B-8BC5-F84AF73C25B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61C36D-CEBC-4677-9EE2-4D511CEB3A3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7E0D5E2-0941-4F3D-A242-8F7DEA2DA5D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56</a:t>
            </a:r>
          </a:p>
        </p:txBody>
      </p:sp>
      <p:sp>
        <p:nvSpPr>
          <p:cNvPr id="6" name="">
            <a:extLst xmlns:a="http://schemas.openxmlformats.org/drawingml/2006/main">
              <a:ext uri="{FF2B5EF4-FFF2-40B4-BE49-F238E27FC236}">
                <a16:creationId xmlns:a16="http://schemas.microsoft.com/office/drawing/2014/main" id="{248A49D1-A832-414B-A483-B2A4C4F24A98}"/>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DE21179-4B3F-4D15-B1AE-7FCB5243F40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D475849-6896-4C08-9145-089C45A6D6B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E6CD4246-925F-4B31-BC22-F8C4CEFBAFE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법령·체크리스트</a:t>
            </a:r>
          </a:p>
        </p:txBody>
      </p:sp>
      <p:sp>
        <p:nvSpPr>
          <p:cNvPr id="10" name="">
            <a:extLst xmlns:a="http://schemas.openxmlformats.org/drawingml/2006/main">
              <a:ext uri="{FF2B5EF4-FFF2-40B4-BE49-F238E27FC236}">
                <a16:creationId xmlns:a16="http://schemas.microsoft.com/office/drawing/2014/main" id="{FE9A1FA2-5BA0-4FD1-9B64-96B658851CA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18550D-1C95-40F7-A34D-1019FEE8C11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5416FEA2-690A-4DF6-B2A6-3859A783787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DFA5071E-7928-4638-865B-9BC7E7F5E15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7EFCC-FEAE-43C8-9F3C-01029673BBD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EE9E0060-E83B-4DC7-8FA4-1BE15BD5F24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질의 길이·민감정보·공격 입력 점검</a:t>
            </a:r>
          </a:p>
        </p:txBody>
      </p:sp>
      <p:sp>
        <p:nvSpPr>
          <p:cNvPr id="16" name="">
            <a:extLst xmlns:a="http://schemas.openxmlformats.org/drawingml/2006/main">
              <a:ext uri="{FF2B5EF4-FFF2-40B4-BE49-F238E27FC236}">
                <a16:creationId xmlns:a16="http://schemas.microsoft.com/office/drawing/2014/main" id="{5CD0246C-4796-4C69-B4B4-E904972DDF93}"/>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F448DCA-B5BE-45CC-8DA3-BABA112E1B7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FAC5DFB7-CC36-4BA3-A38E-99B3D6067365}"/>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정답표·거부셋·최종 RFP 성능조건</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별 측정</a:t>
            </a:r>
          </a:p>
        </p:txBody>
      </p:sp>
      <p:sp>
        <p:nvSpPr>
          <p:cNvPr id="19" name="">
            <a:extLst xmlns:a="http://schemas.openxmlformats.org/drawingml/2006/main">
              <a:ext uri="{FF2B5EF4-FFF2-40B4-BE49-F238E27FC236}">
                <a16:creationId xmlns:a16="http://schemas.microsoft.com/office/drawing/2014/main" id="{C78A8FC9-0138-45C4-AC3E-B0388E1804F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B301657-609A-4F77-8ACA-2B1DAD884B0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1FFA6465-0BDA-4414-80D3-5665C197C8E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 근거</a:t>
            </a:r>
          </a:p>
        </p:txBody>
      </p:sp>
      <p:sp>
        <p:nvSpPr>
          <p:cNvPr id="22" name="">
            <a:extLst xmlns:a="http://schemas.openxmlformats.org/drawingml/2006/main">
              <a:ext uri="{FF2B5EF4-FFF2-40B4-BE49-F238E27FC236}">
                <a16:creationId xmlns:a16="http://schemas.microsoft.com/office/drawing/2014/main" id="{4FCF06D6-4DA9-49F2-916D-F2C70EBCB16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386A8B3-49EB-4909-B178-3D338BEEF75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9FADF600-9093-4EA2-A514-76E3CB2B850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답변·보류</a:t>
            </a:r>
          </a:p>
        </p:txBody>
      </p:sp>
      <p:sp>
        <p:nvSpPr>
          <p:cNvPr id="25" name="">
            <a:extLst xmlns:a="http://schemas.openxmlformats.org/drawingml/2006/main">
              <a:ext uri="{FF2B5EF4-FFF2-40B4-BE49-F238E27FC236}">
                <a16:creationId xmlns:a16="http://schemas.microsoft.com/office/drawing/2014/main" id="{6C04ABC9-6321-47E6-9C13-1A83826A203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C10C210-D08D-4CAF-985E-8DBEDE62B94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전 조문·근거 없는 질의·공격 입력·부하 증가</a:t>
            </a:r>
          </a:p>
        </p:txBody>
      </p:sp>
      <p:sp>
        <p:nvSpPr>
          <p:cNvPr id="27" name="">
            <a:extLst xmlns:a="http://schemas.openxmlformats.org/drawingml/2006/main">
              <a:ext uri="{FF2B5EF4-FFF2-40B4-BE49-F238E27FC236}">
                <a16:creationId xmlns:a16="http://schemas.microsoft.com/office/drawing/2014/main" id="{C1069ED6-90DE-42A8-A817-01DAAEF05F3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F8FC49E-E3C6-478B-90FC-12372C43296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조문별 정답·근거 없음 거부셋</a:t>
            </a:r>
          </a:p>
        </p:txBody>
      </p:sp>
      <p:sp>
        <p:nvSpPr>
          <p:cNvPr id="29" name="">
            <a:extLst xmlns:a="http://schemas.openxmlformats.org/drawingml/2006/main">
              <a:ext uri="{FF2B5EF4-FFF2-40B4-BE49-F238E27FC236}">
                <a16:creationId xmlns:a16="http://schemas.microsoft.com/office/drawing/2014/main" id="{C0EBC24A-2789-48A9-BB1B-691BAA52903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126545C-1880-48B6-82CA-497E7C90888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자동 평가·전문가 판정·호출량·지연 관리</a:t>
            </a:r>
          </a:p>
        </p:txBody>
      </p:sp>
      <p:sp>
        <p:nvSpPr>
          <p:cNvPr id="31" name="">
            <a:extLst xmlns:a="http://schemas.openxmlformats.org/drawingml/2006/main">
              <a:ext uri="{FF2B5EF4-FFF2-40B4-BE49-F238E27FC236}">
                <a16:creationId xmlns:a16="http://schemas.microsoft.com/office/drawing/2014/main" id="{FB99FE08-4DF9-41C9-B890-D81DDBE7868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CB20EB6-A810-4157-9BD9-33EF83FFC7C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정답표·거부셋·최종 RFP 성능조건별 측정</a:t>
            </a:r>
          </a:p>
        </p:txBody>
      </p:sp>
    </p:spTree>
    <p:extLst>
      <p:ext uri="{BB962C8B-B14F-4D97-AF65-F5344CB8AC3E}">
        <p14:creationId xmlns:p14="http://schemas.microsoft.com/office/powerpoint/2010/main" val="1052435649"/>
      </p:ext>
    </p:extLst>
  </p:cSld>
</p:sld>
</file>

<file path=ppt/slides/slide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59A5526-5EB9-451C-9085-242BDBACCAC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PF-R07 / CCK 비교·재현 시험 설계</a:t>
            </a:r>
          </a:p>
        </p:txBody>
      </p:sp>
      <p:sp>
        <p:nvSpPr>
          <p:cNvPr id="2" name="">
            <a:extLst xmlns:a="http://schemas.openxmlformats.org/drawingml/2006/main">
              <a:ext uri="{FF2B5EF4-FFF2-40B4-BE49-F238E27FC236}">
                <a16:creationId xmlns:a16="http://schemas.microsoft.com/office/drawing/2014/main" id="{E75DB2B1-167F-45BD-8D86-6E432C32A69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KISA 스팸 민원 AI · 벤치마킹</a:t>
            </a:r>
          </a:p>
        </p:txBody>
      </p:sp>
      <p:sp>
        <p:nvSpPr>
          <p:cNvPr id="3" name="">
            <a:extLst xmlns:a="http://schemas.openxmlformats.org/drawingml/2006/main">
              <a:ext uri="{FF2B5EF4-FFF2-40B4-BE49-F238E27FC236}">
                <a16:creationId xmlns:a16="http://schemas.microsoft.com/office/drawing/2014/main" id="{CB041C99-F57A-4275-97D7-9493445797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51583F0-1B93-4047-BE26-5FCB008CDA5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69BD7A2-4D9E-4020-94D4-8A4F574B35A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57</a:t>
            </a:r>
          </a:p>
        </p:txBody>
      </p:sp>
      <p:sp>
        <p:nvSpPr>
          <p:cNvPr id="6" name="">
            <a:extLst xmlns:a="http://schemas.openxmlformats.org/drawingml/2006/main">
              <a:ext uri="{FF2B5EF4-FFF2-40B4-BE49-F238E27FC236}">
                <a16:creationId xmlns:a16="http://schemas.microsoft.com/office/drawing/2014/main" id="{AD9AFEA6-2942-4942-AB64-02B7D86F379C}"/>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95B2F7A3-A3F7-4410-93BA-64F71A6163A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법령·체크리스트의 RAG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출처·보류·전문가 평가 요구</a:t>
            </a:r>
          </a:p>
        </p:txBody>
      </p:sp>
      <p:sp>
        <p:nvSpPr>
          <p:cNvPr id="8" name="">
            <a:extLst xmlns:a="http://schemas.openxmlformats.org/drawingml/2006/main">
              <a:ext uri="{FF2B5EF4-FFF2-40B4-BE49-F238E27FC236}">
                <a16:creationId xmlns:a16="http://schemas.microsoft.com/office/drawing/2014/main" id="{707E9D0E-5A5B-432E-BF04-9747F3BDF66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3E62E0D-DB00-4A6C-A9FD-247C263F78C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구버전 법령·상충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입찰 요구를 구현 기능으로 인식</a:t>
            </a:r>
          </a:p>
        </p:txBody>
      </p:sp>
      <p:sp>
        <p:nvSpPr>
          <p:cNvPr id="10" name="">
            <a:extLst xmlns:a="http://schemas.openxmlformats.org/drawingml/2006/main">
              <a:ext uri="{FF2B5EF4-FFF2-40B4-BE49-F238E27FC236}">
                <a16:creationId xmlns:a16="http://schemas.microsoft.com/office/drawing/2014/main" id="{F8A9C0D5-3D99-4795-BD70-7A23D054B6F8}"/>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267B80D-AD4C-4D13-A4AD-B65F163ABA6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조문별 정답·근거 없음 거부셋</a:t>
            </a:r>
          </a:p>
        </p:txBody>
      </p:sp>
      <p:sp>
        <p:nvSpPr>
          <p:cNvPr id="12" name="">
            <a:extLst xmlns:a="http://schemas.openxmlformats.org/drawingml/2006/main">
              <a:ext uri="{FF2B5EF4-FFF2-40B4-BE49-F238E27FC236}">
                <a16:creationId xmlns:a16="http://schemas.microsoft.com/office/drawing/2014/main" id="{A4C606C7-448B-4893-AF3F-8234DE08127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EFFC335-E88C-45CE-A509-98E60A55EA1C}"/>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스팸 전송 상황을 질문하고 관련 법령·체크리스트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a:t>
            </a:r>
          </a:p>
        </p:txBody>
      </p:sp>
      <p:sp>
        <p:nvSpPr>
          <p:cNvPr id="14" name="">
            <a:extLst xmlns:a="http://schemas.openxmlformats.org/drawingml/2006/main">
              <a:ext uri="{FF2B5EF4-FFF2-40B4-BE49-F238E27FC236}">
                <a16:creationId xmlns:a16="http://schemas.microsoft.com/office/drawing/2014/main" id="{06BA327B-214C-48C2-856C-332AF93BE15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3EA92EF-ADD0-4303-8535-32214CEE443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개정 전 조문·근거 없는 질의·공격 입력·부하 증가</a:t>
            </a:r>
          </a:p>
        </p:txBody>
      </p:sp>
      <p:sp>
        <p:nvSpPr>
          <p:cNvPr id="16" name="">
            <a:extLst xmlns:a="http://schemas.openxmlformats.org/drawingml/2006/main">
              <a:ext uri="{FF2B5EF4-FFF2-40B4-BE49-F238E27FC236}">
                <a16:creationId xmlns:a16="http://schemas.microsoft.com/office/drawing/2014/main" id="{3F76DB93-8F71-4ACC-AECB-81DBC0CB0AC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9B61606-663D-4C61-ADD6-D768550DAC2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정답표·거부셋·최종 RFP 성능조건별 측정</a:t>
            </a:r>
          </a:p>
        </p:txBody>
      </p:sp>
    </p:spTree>
    <p:extLst>
      <p:ext uri="{BB962C8B-B14F-4D97-AF65-F5344CB8AC3E}">
        <p14:creationId xmlns:p14="http://schemas.microsoft.com/office/powerpoint/2010/main" val="1645402929"/>
      </p:ext>
    </p:extLst>
  </p:cSld>
</p:sld>
</file>

<file path=ppt/slides/slide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9B2D7D1-0858-4C6D-8A03-618B5A4F3CE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사전규격 RFP + 공급사 계약 발표 확인 / 최종본·준공 미확인 / 국내</a:t>
            </a:r>
          </a:p>
        </p:txBody>
      </p:sp>
      <p:sp>
        <p:nvSpPr>
          <p:cNvPr id="2" name="">
            <a:extLst xmlns:a="http://schemas.openxmlformats.org/drawingml/2006/main">
              <a:ext uri="{FF2B5EF4-FFF2-40B4-BE49-F238E27FC236}">
                <a16:creationId xmlns:a16="http://schemas.microsoft.com/office/drawing/2014/main" id="{BCC9D166-79B6-4701-93A1-554DD6756E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a:t>
            </a:r>
          </a:p>
        </p:txBody>
      </p:sp>
      <p:sp>
        <p:nvSpPr>
          <p:cNvPr id="3" name="">
            <a:extLst xmlns:a="http://schemas.openxmlformats.org/drawingml/2006/main">
              <a:ext uri="{FF2B5EF4-FFF2-40B4-BE49-F238E27FC236}">
                <a16:creationId xmlns:a16="http://schemas.microsoft.com/office/drawing/2014/main" id="{4FCDB18B-498F-4359-8958-FAB01785895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5829C1-987D-4479-BEDA-FC4C942387C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F2F8ADD-31E8-47D9-AF0C-BD5FDC92C3A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58</a:t>
            </a:r>
          </a:p>
        </p:txBody>
      </p:sp>
      <p:sp>
        <p:nvSpPr>
          <p:cNvPr id="6" name="">
            <a:extLst xmlns:a="http://schemas.openxmlformats.org/drawingml/2006/main">
              <a:ext uri="{FF2B5EF4-FFF2-40B4-BE49-F238E27FC236}">
                <a16:creationId xmlns:a16="http://schemas.microsoft.com/office/drawing/2014/main" id="{68A5F725-8900-4EDD-9C22-0FE06A08F49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70E9911-3DC0-48E5-B5C1-28EA2603295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대국민 챗봇, 임직원 지식 활용, 안건 검색·요약과 데이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터 카탈로그를 함께 다루는 생성형 AI 플랫폼 계획. 대외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공개 지식과 내부 업무 자료를 같은 검색 범위로 취급하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 않는 것이 구성의 출발점.</a:t>
            </a:r>
          </a:p>
        </p:txBody>
      </p:sp>
      <p:sp>
        <p:nvSpPr>
          <p:cNvPr id="8" name="">
            <a:extLst xmlns:a="http://schemas.openxmlformats.org/drawingml/2006/main">
              <a:ext uri="{FF2B5EF4-FFF2-40B4-BE49-F238E27FC236}">
                <a16:creationId xmlns:a16="http://schemas.microsoft.com/office/drawing/2014/main" id="{9B7C1F04-1EF0-47F5-982A-99E38299F6C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9D2D24A-F991-4AA6-8A3D-5D8834A0FFA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사전공개 RFP 도면은 대민·임직원 서비스를 나누고 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각 보안·서비스·데이터·관리 서브넷을 배치. 내부 영역은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SSO/EAM·ECM·업무 시스템과 연결하고, 별도 데이터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카탈로그는 업무분류체계·담당부서·메타데이터·사용승</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인을 연결하는 구조.</a:t>
            </a:r>
          </a:p>
        </p:txBody>
      </p:sp>
      <p:sp>
        <p:nvSpPr>
          <p:cNvPr id="10" name="">
            <a:extLst xmlns:a="http://schemas.openxmlformats.org/drawingml/2006/main">
              <a:ext uri="{FF2B5EF4-FFF2-40B4-BE49-F238E27FC236}">
                <a16:creationId xmlns:a16="http://schemas.microsoft.com/office/drawing/2014/main" id="{A5815216-45D7-4CBC-836D-5D1F73D9064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A2E0D88-DB05-450E-AA7F-FF2B6502CD4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조직 기반 플랫폼에서는 직원이 누구인지뿐 아니라 특정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데이터의 업무 소관·활용 목적·승인 조건을 함께 관리하는 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고 사례. CCK 추가 개발은 조직·업무 사전과 카탈로그의 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결, DRM·권한 전파, 안건 범위검색, 산식 검증의 업무별 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리. 사전공개 요구와 실제 운영 성과는 별도 증빙으로 평가.</a:t>
            </a:r>
          </a:p>
        </p:txBody>
      </p:sp>
      <p:sp>
        <p:nvSpPr>
          <p:cNvPr id="12" name="">
            <a:extLst xmlns:a="http://schemas.openxmlformats.org/drawingml/2006/main">
              <a:ext uri="{FF2B5EF4-FFF2-40B4-BE49-F238E27FC236}">
                <a16:creationId xmlns:a16="http://schemas.microsoft.com/office/drawing/2014/main" id="{C75F5668-3C51-4D89-B76F-E08551E878A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C53FFA9-CA04-4A45-88C1-9BAD9C94F44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내외부 지식·망 분리 / 문서 DRM·권한 / 안건·산식·데이터 카탈</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a:t>
            </a:r>
          </a:p>
        </p:txBody>
      </p:sp>
      <p:sp>
        <p:nvSpPr>
          <p:cNvPr id="14" name="">
            <a:extLst xmlns:a="http://schemas.openxmlformats.org/drawingml/2006/main">
              <a:ext uri="{FF2B5EF4-FFF2-40B4-BE49-F238E27FC236}">
                <a16:creationId xmlns:a16="http://schemas.microsoft.com/office/drawing/2014/main" id="{671F6DB4-E26D-48CF-AEDB-106A53D2C3EB}"/>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741AC2D-8098-486C-9F32-C5D5AC550B5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외부 계정의 내부자료 요청·DRM·산식 오류에 대한 독립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검증</a:t>
            </a:r>
          </a:p>
        </p:txBody>
      </p:sp>
      <p:sp>
        <p:nvSpPr>
          <p:cNvPr id="16" name="">
            <a:extLst xmlns:a="http://schemas.openxmlformats.org/drawingml/2006/main">
              <a:ext uri="{FF2B5EF4-FFF2-40B4-BE49-F238E27FC236}">
                <a16:creationId xmlns:a16="http://schemas.microsoft.com/office/drawing/2014/main" id="{AC900D59-233E-43A6-8741-99470452F52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E146F90-0D47-4E41-B3DC-08E8EC3C5F2B}"/>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비인가 노출 건수 / 원천 추적률 / 안건 검토시간</a:t>
            </a:r>
          </a:p>
        </p:txBody>
      </p:sp>
      <p:sp>
        <p:nvSpPr>
          <p:cNvPr id="18" name="">
            <a:extLst xmlns:a="http://schemas.openxmlformats.org/drawingml/2006/main">
              <a:ext uri="{FF2B5EF4-FFF2-40B4-BE49-F238E27FC236}">
                <a16:creationId xmlns:a16="http://schemas.microsoft.com/office/drawing/2014/main" id="{A4B8C7D1-04BE-43F2-B9A0-015DD4B3C8E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학습용 FAQ500건과 서비스별 검증셋500건은 별도 요구. 계획상 수치를 운영 실적으로 사용하지 않음</a:t>
            </a:r>
          </a:p>
        </p:txBody>
      </p:sp>
    </p:spTree>
    <p:extLst>
      <p:ext uri="{BB962C8B-B14F-4D97-AF65-F5344CB8AC3E}">
        <p14:creationId xmlns:p14="http://schemas.microsoft.com/office/powerpoint/2010/main" val="1181159221"/>
      </p:ext>
    </p:extLst>
  </p:cSld>
</p:sld>
</file>

<file path=ppt/slides/slide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20B038F-6650-4FDA-8AB8-D9548F55971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1–3</a:t>
            </a:r>
          </a:p>
        </p:txBody>
      </p:sp>
      <p:sp>
        <p:nvSpPr>
          <p:cNvPr id="2" name="">
            <a:extLst xmlns:a="http://schemas.openxmlformats.org/drawingml/2006/main">
              <a:ext uri="{FF2B5EF4-FFF2-40B4-BE49-F238E27FC236}">
                <a16:creationId xmlns:a16="http://schemas.microsoft.com/office/drawing/2014/main" id="{9E2B1188-998E-4214-9EB9-3D82B55F3B7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224C5F76-654D-44BF-9E07-D4392A05277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124BD02-0362-46E8-940D-AE60BB68DA9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68DE67F-DE63-4DE7-A946-FFD9D7CDDE1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59</a:t>
            </a:r>
          </a:p>
        </p:txBody>
      </p:sp>
      <p:sp>
        <p:nvSpPr>
          <p:cNvPr id="6" name="">
            <a:extLst xmlns:a="http://schemas.openxmlformats.org/drawingml/2006/main">
              <a:ext uri="{FF2B5EF4-FFF2-40B4-BE49-F238E27FC236}">
                <a16:creationId xmlns:a16="http://schemas.microsoft.com/office/drawing/2014/main" id="{21CFE09C-A3C5-4D57-9E18-841DC7906B4E}"/>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F8553FC-2DD2-45B5-96BB-8977A0AD3DA1}"/>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SFR-003 AI 서비스 에이전트 관리 기능</a:t>
            </a:r>
          </a:p>
        </p:txBody>
      </p:sp>
      <p:sp>
        <p:nvSpPr>
          <p:cNvPr id="8" name="">
            <a:extLst xmlns:a="http://schemas.openxmlformats.org/drawingml/2006/main">
              <a:ext uri="{FF2B5EF4-FFF2-40B4-BE49-F238E27FC236}">
                <a16:creationId xmlns:a16="http://schemas.microsoft.com/office/drawing/2014/main" id="{55A0CAAD-5B53-4EBF-A15B-C0819A68144E}"/>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에이전트의 구성·운영 관리 기능.</a:t>
            </a:r>
          </a:p>
        </p:txBody>
      </p:sp>
      <p:sp>
        <p:nvSpPr>
          <p:cNvPr id="9" name="">
            <a:extLst xmlns:a="http://schemas.openxmlformats.org/drawingml/2006/main">
              <a:ext uri="{FF2B5EF4-FFF2-40B4-BE49-F238E27FC236}">
                <a16:creationId xmlns:a16="http://schemas.microsoft.com/office/drawing/2014/main" id="{E7C5B24B-725D-49B8-990A-F5D9235E9C55}"/>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C08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잘못된 도구 권한과 구성 변경 시 실행 차단·판본 추적 확인</a:t>
            </a:r>
          </a:p>
        </p:txBody>
      </p:sp>
      <p:sp>
        <p:nvSpPr>
          <p:cNvPr id="10" name="">
            <a:extLst xmlns:a="http://schemas.openxmlformats.org/drawingml/2006/main">
              <a:ext uri="{FF2B5EF4-FFF2-40B4-BE49-F238E27FC236}">
                <a16:creationId xmlns:a16="http://schemas.microsoft.com/office/drawing/2014/main" id="{6013F440-0C24-48F5-ACF4-5129D822D64E}"/>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32695C-7BCF-490D-956B-F62895B57504}"/>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SFR-004 AI 서비스 RAG 기능</a:t>
            </a:r>
          </a:p>
        </p:txBody>
      </p:sp>
      <p:sp>
        <p:nvSpPr>
          <p:cNvPr id="12" name="">
            <a:extLst xmlns:a="http://schemas.openxmlformats.org/drawingml/2006/main">
              <a:ext uri="{FF2B5EF4-FFF2-40B4-BE49-F238E27FC236}">
                <a16:creationId xmlns:a16="http://schemas.microsoft.com/office/drawing/2014/main" id="{67CF2BE2-826D-40A9-9EEB-B77BD44F2666}"/>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지식을 검색해 생성 응답에 연결하는 RAG 기능.</a:t>
            </a:r>
          </a:p>
        </p:txBody>
      </p:sp>
      <p:sp>
        <p:nvSpPr>
          <p:cNvPr id="13" name="">
            <a:extLst xmlns:a="http://schemas.openxmlformats.org/drawingml/2006/main">
              <a:ext uri="{FF2B5EF4-FFF2-40B4-BE49-F238E27FC236}">
                <a16:creationId xmlns:a16="http://schemas.microsoft.com/office/drawing/2014/main" id="{404B1703-FBFF-4FE4-91AC-3B650834B40D}"/>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사내·대국민 문서 혼재 시 검색 범위 분리와 출처 정확성 대사</a:t>
            </a:r>
          </a:p>
        </p:txBody>
      </p:sp>
      <p:sp>
        <p:nvSpPr>
          <p:cNvPr id="14" name="">
            <a:extLst xmlns:a="http://schemas.openxmlformats.org/drawingml/2006/main">
              <a:ext uri="{FF2B5EF4-FFF2-40B4-BE49-F238E27FC236}">
                <a16:creationId xmlns:a16="http://schemas.microsoft.com/office/drawing/2014/main" id="{6CAB34E1-9836-4C95-93F2-FC49C3536F2E}"/>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560DEF-90A2-48DD-B271-5A1DBD78D78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SFR-005 AI 서비스 데이터 파이프라인 자동화 기능</a:t>
            </a:r>
          </a:p>
        </p:txBody>
      </p:sp>
      <p:sp>
        <p:nvSpPr>
          <p:cNvPr id="16" name="">
            <a:extLst xmlns:a="http://schemas.openxmlformats.org/drawingml/2006/main">
              <a:ext uri="{FF2B5EF4-FFF2-40B4-BE49-F238E27FC236}">
                <a16:creationId xmlns:a16="http://schemas.microsoft.com/office/drawing/2014/main" id="{DA9C2F39-8D0E-4A69-9F54-096A95815E4D}"/>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자료의 수집·전처리·검색 반영 데이터 파이프라인.</a:t>
            </a:r>
          </a:p>
        </p:txBody>
      </p:sp>
      <p:sp>
        <p:nvSpPr>
          <p:cNvPr id="17" name="">
            <a:extLst xmlns:a="http://schemas.openxmlformats.org/drawingml/2006/main">
              <a:ext uri="{FF2B5EF4-FFF2-40B4-BE49-F238E27FC236}">
                <a16:creationId xmlns:a16="http://schemas.microsoft.com/office/drawing/2014/main" id="{90B5324C-2547-4A36-8436-68CB037D0722}"/>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등록·개정·삭제·정제 실패의 처리 결과와 원천 변경 대사</a:t>
            </a:r>
          </a:p>
        </p:txBody>
      </p:sp>
    </p:spTree>
    <p:extLst>
      <p:ext uri="{BB962C8B-B14F-4D97-AF65-F5344CB8AC3E}">
        <p14:creationId xmlns:p14="http://schemas.microsoft.com/office/powerpoint/2010/main" val="636850690"/>
      </p:ext>
    </p:extLst>
  </p:cSld>
</p:sld>
</file>

<file path=ppt/slides/slide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E9F08C4-49BE-473A-BE85-541F8E9BD38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4–6</a:t>
            </a:r>
          </a:p>
        </p:txBody>
      </p:sp>
      <p:sp>
        <p:nvSpPr>
          <p:cNvPr id="2" name="">
            <a:extLst xmlns:a="http://schemas.openxmlformats.org/drawingml/2006/main">
              <a:ext uri="{FF2B5EF4-FFF2-40B4-BE49-F238E27FC236}">
                <a16:creationId xmlns:a16="http://schemas.microsoft.com/office/drawing/2014/main" id="{C948AC58-711F-49B1-984F-644B58DE8CD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D3D00788-A08A-4708-8535-D427324F8B0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B46B03-F4CB-406C-AA77-FCAE3C2F418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91A6FDF-E633-43BE-B85A-33A5997001B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60</a:t>
            </a:r>
          </a:p>
        </p:txBody>
      </p:sp>
      <p:sp>
        <p:nvSpPr>
          <p:cNvPr id="6" name="">
            <a:extLst xmlns:a="http://schemas.openxmlformats.org/drawingml/2006/main">
              <a:ext uri="{FF2B5EF4-FFF2-40B4-BE49-F238E27FC236}">
                <a16:creationId xmlns:a16="http://schemas.microsoft.com/office/drawing/2014/main" id="{51409962-D2E3-404E-A1CA-AB899D0131F5}"/>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92BF84D-7D98-46D2-95E8-98078E76FA1B}"/>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SFR-009 AI 서비스(사내 AI 챗봇 서비스) 구축</a:t>
            </a:r>
          </a:p>
        </p:txBody>
      </p:sp>
      <p:sp>
        <p:nvSpPr>
          <p:cNvPr id="8" name="">
            <a:extLst xmlns:a="http://schemas.openxmlformats.org/drawingml/2006/main">
              <a:ext uri="{FF2B5EF4-FFF2-40B4-BE49-F238E27FC236}">
                <a16:creationId xmlns:a16="http://schemas.microsoft.com/office/drawing/2014/main" id="{D34D5A73-84D2-4346-B9C5-95A54F4FE749}"/>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사내 직원용 업무 지식 챗봇 기능.</a:t>
            </a:r>
          </a:p>
        </p:txBody>
      </p:sp>
      <p:sp>
        <p:nvSpPr>
          <p:cNvPr id="9" name="">
            <a:extLst xmlns:a="http://schemas.openxmlformats.org/drawingml/2006/main">
              <a:ext uri="{FF2B5EF4-FFF2-40B4-BE49-F238E27FC236}">
                <a16:creationId xmlns:a16="http://schemas.microsoft.com/office/drawing/2014/main" id="{6330C980-85CB-4286-974E-CCA9CD5C0C4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C03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동일 질의의 직무별 관련성, 비공개 자료 접근, 최신 규정 인</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용 확인</a:t>
            </a:r>
          </a:p>
        </p:txBody>
      </p:sp>
      <p:sp>
        <p:nvSpPr>
          <p:cNvPr id="10" name="">
            <a:extLst xmlns:a="http://schemas.openxmlformats.org/drawingml/2006/main">
              <a:ext uri="{FF2B5EF4-FFF2-40B4-BE49-F238E27FC236}">
                <a16:creationId xmlns:a16="http://schemas.microsoft.com/office/drawing/2014/main" id="{D23BA07D-91BF-4CA0-9785-D1FC64F6C128}"/>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C5B6F8-EE62-4236-B3A0-671D0F39F4BC}"/>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SFR-012 데이터 카탈로그 일반 사항</a:t>
            </a:r>
          </a:p>
        </p:txBody>
      </p:sp>
      <p:sp>
        <p:nvSpPr>
          <p:cNvPr id="12" name="">
            <a:extLst xmlns:a="http://schemas.openxmlformats.org/drawingml/2006/main">
              <a:ext uri="{FF2B5EF4-FFF2-40B4-BE49-F238E27FC236}">
                <a16:creationId xmlns:a16="http://schemas.microsoft.com/office/drawing/2014/main" id="{B3395760-9B9C-4580-9AB2-7C5474F17F60}"/>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전사 데이터 카탈로그의 공통 기능 구성.</a:t>
            </a:r>
          </a:p>
        </p:txBody>
      </p:sp>
      <p:sp>
        <p:nvSpPr>
          <p:cNvPr id="13" name="">
            <a:extLst xmlns:a="http://schemas.openxmlformats.org/drawingml/2006/main">
              <a:ext uri="{FF2B5EF4-FFF2-40B4-BE49-F238E27FC236}">
                <a16:creationId xmlns:a16="http://schemas.microsoft.com/office/drawing/2014/main" id="{7358A832-EBDA-44E7-A540-DFFEBEC791C6}"/>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C09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자산 식별자·담당자·설명의 원천 일치와 누락 항목 확인</a:t>
            </a:r>
          </a:p>
        </p:txBody>
      </p:sp>
      <p:sp>
        <p:nvSpPr>
          <p:cNvPr id="14" name="">
            <a:extLst xmlns:a="http://schemas.openxmlformats.org/drawingml/2006/main">
              <a:ext uri="{FF2B5EF4-FFF2-40B4-BE49-F238E27FC236}">
                <a16:creationId xmlns:a16="http://schemas.microsoft.com/office/drawing/2014/main" id="{F1BE88F7-61F8-4D19-A01D-D4BDFBA20E6F}"/>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D096BC-6A13-42AC-BA5F-F71ED8966AC7}"/>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SFR-013 데이터 카탈로그 공사 맞춤 개발</a:t>
            </a:r>
          </a:p>
        </p:txBody>
      </p:sp>
      <p:sp>
        <p:nvSpPr>
          <p:cNvPr id="16" name="">
            <a:extLst xmlns:a="http://schemas.openxmlformats.org/drawingml/2006/main">
              <a:ext uri="{FF2B5EF4-FFF2-40B4-BE49-F238E27FC236}">
                <a16:creationId xmlns:a16="http://schemas.microsoft.com/office/drawing/2014/main" id="{8A656F50-9FED-41DE-B1DD-CBD8423DDEF9}"/>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업무에 맞춘 데이터 카탈로그 구성과 활용.</a:t>
            </a:r>
          </a:p>
        </p:txBody>
      </p:sp>
      <p:sp>
        <p:nvSpPr>
          <p:cNvPr id="17" name="">
            <a:extLst xmlns:a="http://schemas.openxmlformats.org/drawingml/2006/main">
              <a:ext uri="{FF2B5EF4-FFF2-40B4-BE49-F238E27FC236}">
                <a16:creationId xmlns:a16="http://schemas.microsoft.com/office/drawing/2014/main" id="{7BB9FD48-2520-423A-9C3C-9ADA0F6AD411}"/>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C11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부서·업무 분류 변경과 사용자 권한에 따른 자산 정보 표시 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사</a:t>
            </a:r>
          </a:p>
        </p:txBody>
      </p:sp>
    </p:spTree>
    <p:extLst>
      <p:ext uri="{BB962C8B-B14F-4D97-AF65-F5344CB8AC3E}">
        <p14:creationId xmlns:p14="http://schemas.microsoft.com/office/powerpoint/2010/main" val="1020545470"/>
      </p:ext>
    </p:extLst>
  </p:cSld>
</p:sld>
</file>

<file path=ppt/slides/slide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0500B1-4E9C-4131-960E-F8269AD3FF5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2026.04 · SFR-001~014·DAR·CNR / 7–7</a:t>
            </a:r>
          </a:p>
        </p:txBody>
      </p:sp>
      <p:sp>
        <p:nvSpPr>
          <p:cNvPr id="2" name="">
            <a:extLst xmlns:a="http://schemas.openxmlformats.org/drawingml/2006/main">
              <a:ext uri="{FF2B5EF4-FFF2-40B4-BE49-F238E27FC236}">
                <a16:creationId xmlns:a16="http://schemas.microsoft.com/office/drawing/2014/main" id="{BBAB2D83-460B-4514-9F9B-BC916599F71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RFP 요구사항</a:t>
            </a:r>
          </a:p>
        </p:txBody>
      </p:sp>
      <p:sp>
        <p:nvSpPr>
          <p:cNvPr id="3" name="">
            <a:extLst xmlns:a="http://schemas.openxmlformats.org/drawingml/2006/main">
              <a:ext uri="{FF2B5EF4-FFF2-40B4-BE49-F238E27FC236}">
                <a16:creationId xmlns:a16="http://schemas.microsoft.com/office/drawing/2014/main" id="{7E66C648-FC24-4C54-AA3B-AE6B0C07DE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6706D2-657C-403C-AFEC-D633279DD4F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1FCBF66-0929-4C29-8B50-03C5E1A93C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61</a:t>
            </a:r>
          </a:p>
        </p:txBody>
      </p:sp>
      <p:sp>
        <p:nvSpPr>
          <p:cNvPr id="6" name="">
            <a:extLst xmlns:a="http://schemas.openxmlformats.org/drawingml/2006/main">
              <a:ext uri="{FF2B5EF4-FFF2-40B4-BE49-F238E27FC236}">
                <a16:creationId xmlns:a16="http://schemas.microsoft.com/office/drawing/2014/main" id="{75B1EAA6-10D1-4E49-BA12-B156A12575FB}"/>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44DF6A8-9FA5-4B74-90AF-76700C3F2F56}"/>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SFR-014 데이터 카탈로그 검색 기능</a:t>
            </a:r>
          </a:p>
        </p:txBody>
      </p:sp>
      <p:sp>
        <p:nvSpPr>
          <p:cNvPr id="8" name="">
            <a:extLst xmlns:a="http://schemas.openxmlformats.org/drawingml/2006/main">
              <a:ext uri="{FF2B5EF4-FFF2-40B4-BE49-F238E27FC236}">
                <a16:creationId xmlns:a16="http://schemas.microsoft.com/office/drawing/2014/main" id="{5C1AEAA5-F562-43A5-B1C9-8ED6AF3CEA9E}"/>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카탈로그의 데이터 자산 검색 기능.</a:t>
            </a:r>
          </a:p>
        </p:txBody>
      </p:sp>
      <p:sp>
        <p:nvSpPr>
          <p:cNvPr id="9" name="">
            <a:extLst xmlns:a="http://schemas.openxmlformats.org/drawingml/2006/main">
              <a:ext uri="{FF2B5EF4-FFF2-40B4-BE49-F238E27FC236}">
                <a16:creationId xmlns:a16="http://schemas.microsoft.com/office/drawing/2014/main" id="{413ADF5D-4F54-4F7A-8671-429AF54525DF}"/>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다른 업무 용어로 같은 자산 탐색, 동명이자산 구분, 검색 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과 권한 확인</a:t>
            </a:r>
          </a:p>
        </p:txBody>
      </p:sp>
    </p:spTree>
    <p:extLst>
      <p:ext uri="{BB962C8B-B14F-4D97-AF65-F5344CB8AC3E}">
        <p14:creationId xmlns:p14="http://schemas.microsoft.com/office/powerpoint/2010/main" val="1785800677"/>
      </p:ext>
    </p:extLst>
  </p:cSld>
</p:sld>
</file>

<file path=ppt/slides/slide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32943E-58C8-4211-92ED-F7CD167C7E8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목표 구성도 / RFP 원문 추출</a:t>
            </a:r>
          </a:p>
        </p:txBody>
      </p:sp>
      <p:sp>
        <p:nvSpPr>
          <p:cNvPr id="2" name="">
            <a:extLst xmlns:a="http://schemas.openxmlformats.org/drawingml/2006/main">
              <a:ext uri="{FF2B5EF4-FFF2-40B4-BE49-F238E27FC236}">
                <a16:creationId xmlns:a16="http://schemas.microsoft.com/office/drawing/2014/main" id="{6D524C61-ADB3-4F31-9F67-A9543E54590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대민·임직원 AI 서비스 분리</a:t>
            </a:r>
          </a:p>
        </p:txBody>
      </p:sp>
      <p:sp>
        <p:nvSpPr>
          <p:cNvPr id="3" name="">
            <a:extLst xmlns:a="http://schemas.openxmlformats.org/drawingml/2006/main">
              <a:ext uri="{FF2B5EF4-FFF2-40B4-BE49-F238E27FC236}">
                <a16:creationId xmlns:a16="http://schemas.microsoft.com/office/drawing/2014/main" id="{E260A14F-3C59-4494-AABF-60D9C588262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ACD788-1807-451D-ACB8-0A51319520C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4D56AE7-DA73-4185-8FF8-56C247E471E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62</a:t>
            </a:r>
          </a:p>
        </p:txBody>
      </p:sp>
      <p:pic>
        <p:nvPicPr>
          <p:cNvPr id="6" name="">
            <a:extLst xmlns:a="http://schemas.openxmlformats.org/drawingml/2006/main">
              <a:ext uri="{FF2B5EF4-FFF2-40B4-BE49-F238E27FC236}">
                <a16:creationId xmlns:a16="http://schemas.microsoft.com/office/drawing/2014/main" id="{34C01227-439C-47CD-A544-7CE601FF8C10}"/>
              </a:ext>
            </a:extLst>
          </p:cNvPr>
          <p:cNvPicPr>
            <a:picLocks xmlns:a="http://schemas.openxmlformats.org/drawingml/2006/main" noChangeAspect="1"/>
          </p:cNvPicPr>
          <p:nvPr/>
        </p:nvPicPr>
        <p:blipFill>
          <a:blip xmlns:r="http://schemas.openxmlformats.org/officeDocument/2006/relationships" xmlns:a="http://schemas.openxmlformats.org/drawingml/2006/main" r:embed="Rae9e146f9b8a49af"/>
          <a:stretch xmlns:a="http://schemas.openxmlformats.org/drawingml/2006/main"/>
        </p:blipFill>
        <p:spPr>
          <a:xfrm xmlns:a="http://schemas.openxmlformats.org/drawingml/2006/main">
            <a:off x="2342322" y="1657350"/>
            <a:ext cx="750735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6A7E581-B164-44BC-93CE-A37FA6AE7716}"/>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보안·서비스·데이터·관리 서브넷과 SSO·업무 데이터 경계</a:t>
            </a:r>
          </a:p>
        </p:txBody>
      </p:sp>
    </p:spTree>
    <p:extLst>
      <p:ext uri="{BB962C8B-B14F-4D97-AF65-F5344CB8AC3E}">
        <p14:creationId xmlns:p14="http://schemas.microsoft.com/office/powerpoint/2010/main" val="1694388323"/>
      </p:ext>
    </p:extLst>
  </p:cSld>
</p:sld>
</file>

<file path=ppt/slides/slide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C1D906-6F7C-4DB5-8E11-3C067A13D7C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사전공개 RFP 데이터 구성도 / RFP 원문 추출</a:t>
            </a:r>
          </a:p>
        </p:txBody>
      </p:sp>
      <p:sp>
        <p:nvSpPr>
          <p:cNvPr id="2" name="">
            <a:extLst xmlns:a="http://schemas.openxmlformats.org/drawingml/2006/main">
              <a:ext uri="{FF2B5EF4-FFF2-40B4-BE49-F238E27FC236}">
                <a16:creationId xmlns:a16="http://schemas.microsoft.com/office/drawing/2014/main" id="{FD9E1B40-8A1A-4335-8990-5F1E15085A8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데이터 카탈로그·업무 매핑</a:t>
            </a:r>
          </a:p>
        </p:txBody>
      </p:sp>
      <p:sp>
        <p:nvSpPr>
          <p:cNvPr id="3" name="">
            <a:extLst xmlns:a="http://schemas.openxmlformats.org/drawingml/2006/main">
              <a:ext uri="{FF2B5EF4-FFF2-40B4-BE49-F238E27FC236}">
                <a16:creationId xmlns:a16="http://schemas.microsoft.com/office/drawing/2014/main" id="{7F4427B8-BDA3-4FC7-976D-12AC163F1FC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CE9A55-0E38-476D-AA8E-552A3694476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E2581EC-3FF5-4075-9BC3-B1D25A335DE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63</a:t>
            </a:r>
          </a:p>
        </p:txBody>
      </p:sp>
      <p:pic>
        <p:nvPicPr>
          <p:cNvPr id="6" name="">
            <a:extLst xmlns:a="http://schemas.openxmlformats.org/drawingml/2006/main">
              <a:ext uri="{FF2B5EF4-FFF2-40B4-BE49-F238E27FC236}">
                <a16:creationId xmlns:a16="http://schemas.microsoft.com/office/drawing/2014/main" id="{2D4C092E-F929-4ED3-9B4F-B794342C1D44}"/>
              </a:ext>
            </a:extLst>
          </p:cNvPr>
          <p:cNvPicPr>
            <a:picLocks xmlns:a="http://schemas.openxmlformats.org/drawingml/2006/main" noChangeAspect="1"/>
          </p:cNvPicPr>
          <p:nvPr/>
        </p:nvPicPr>
        <p:blipFill>
          <a:blip xmlns:r="http://schemas.openxmlformats.org/officeDocument/2006/relationships" xmlns:a="http://schemas.openxmlformats.org/drawingml/2006/main" r:embed="Rea6101ca79ac4538"/>
          <a:stretch xmlns:a="http://schemas.openxmlformats.org/drawingml/2006/main"/>
        </p:blipFill>
        <p:spPr>
          <a:xfrm xmlns:a="http://schemas.openxmlformats.org/drawingml/2006/main">
            <a:off x="1935307" y="1657350"/>
            <a:ext cx="832138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23FCEC9-F54C-410B-8E61-F4326AE317D7}"/>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대시보드·통합검색·데이터등록·표준·품질과 업무 매핑</a:t>
            </a:r>
          </a:p>
        </p:txBody>
      </p:sp>
    </p:spTree>
    <p:extLst>
      <p:ext uri="{BB962C8B-B14F-4D97-AF65-F5344CB8AC3E}">
        <p14:creationId xmlns:p14="http://schemas.microsoft.com/office/powerpoint/2010/main" val="748767300"/>
      </p:ext>
    </p:extLst>
  </p:cSld>
</p:sld>
</file>

<file path=ppt/slides/slide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0693EA6-1084-47CC-905B-3CE3820CC20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E0D7971-EE2A-48D3-9F4C-5C9921717CC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68F8C02A-F86C-4AF3-9F4D-0156E087A746}"/>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CE7D03D-05E8-450B-8EB8-91CF1A7B43CD}"/>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6A93C8C4-44CE-47C8-8E9D-56FB7BA1ED40}"/>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960A831-6B43-4F9E-984F-7518DFD508DC}"/>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E9226F98-23AE-416E-9A26-8CB7C1D1A94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A96966DD-D96D-46A1-A116-B08EC1DD4F5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DCC83A02-F8C5-4061-A79A-4F378315785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9FF6E84-856F-48AB-ABA7-E51A88F5AB8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권한·목적 판정 후 허용·차단 분기</a:t>
            </a:r>
          </a:p>
        </p:txBody>
      </p:sp>
      <p:sp>
        <p:nvSpPr>
          <p:cNvPr id="2" name="">
            <a:extLst xmlns:a="http://schemas.openxmlformats.org/drawingml/2006/main">
              <a:ext uri="{FF2B5EF4-FFF2-40B4-BE49-F238E27FC236}">
                <a16:creationId xmlns:a16="http://schemas.microsoft.com/office/drawing/2014/main" id="{059DD088-F02C-4066-B9E6-3A9173261D3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세부 서비스 구조</a:t>
            </a:r>
          </a:p>
        </p:txBody>
      </p:sp>
      <p:sp>
        <p:nvSpPr>
          <p:cNvPr id="3" name="">
            <a:extLst xmlns:a="http://schemas.openxmlformats.org/drawingml/2006/main">
              <a:ext uri="{FF2B5EF4-FFF2-40B4-BE49-F238E27FC236}">
                <a16:creationId xmlns:a16="http://schemas.microsoft.com/office/drawing/2014/main" id="{B0A410D7-CB68-42D5-82C2-5B4C68C60FC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C7EC8D-2AF6-4B79-AEFA-2176C1CF92A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DFEB54A-9C48-42AA-93B0-47851102E68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64</a:t>
            </a:r>
          </a:p>
        </p:txBody>
      </p:sp>
      <p:sp>
        <p:nvSpPr>
          <p:cNvPr id="6" name="">
            <a:extLst xmlns:a="http://schemas.openxmlformats.org/drawingml/2006/main">
              <a:ext uri="{FF2B5EF4-FFF2-40B4-BE49-F238E27FC236}">
                <a16:creationId xmlns:a16="http://schemas.microsoft.com/office/drawing/2014/main" id="{B6FA66B8-D1F4-44F1-9A36-D8C21BA8AD9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지식·안건 → 권한·망·DRM → 검색·산식 검증 → 평가·운영</a:t>
            </a:r>
          </a:p>
        </p:txBody>
      </p:sp>
      <p:sp>
        <p:nvSpPr>
          <p:cNvPr id="7" name="">
            <a:extLst xmlns:a="http://schemas.openxmlformats.org/drawingml/2006/main">
              <a:ext uri="{FF2B5EF4-FFF2-40B4-BE49-F238E27FC236}">
                <a16:creationId xmlns:a16="http://schemas.microsoft.com/office/drawing/2014/main" id="{683CB4DA-F204-4CAB-BA6A-97D373578453}"/>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CBBEF2B-4AC7-4F0D-BF71-CA8035BC701B}"/>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E0EB5942-C98D-429D-BA53-0033281BB3E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국민·사내 접점</a:t>
            </a:r>
          </a:p>
        </p:txBody>
      </p:sp>
      <p:sp>
        <p:nvSpPr>
          <p:cNvPr id="10" name="">
            <a:extLst xmlns:a="http://schemas.openxmlformats.org/drawingml/2006/main">
              <a:ext uri="{FF2B5EF4-FFF2-40B4-BE49-F238E27FC236}">
                <a16:creationId xmlns:a16="http://schemas.microsoft.com/office/drawing/2014/main" id="{CA901BDF-2553-47AE-8893-D65F0D7BA575}"/>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D39AFDE-7A7B-4106-B17D-42F6CF2A086B}"/>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55F24AFC-6D1B-4B42-B27C-D82008E560CA}"/>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SSO·DRM·망 구분</a:t>
            </a:r>
          </a:p>
        </p:txBody>
      </p:sp>
      <p:sp>
        <p:nvSpPr>
          <p:cNvPr id="13" name="">
            <a:extLst xmlns:a="http://schemas.openxmlformats.org/drawingml/2006/main">
              <a:ext uri="{FF2B5EF4-FFF2-40B4-BE49-F238E27FC236}">
                <a16:creationId xmlns:a16="http://schemas.microsoft.com/office/drawing/2014/main" id="{3E9A37AD-8A18-48EC-B4A6-9BF1FC8602F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D8F9860-AFC2-4406-8E76-6514B96911F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9E4D835C-703F-4508-9836-1DF8BA7B2589}"/>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권한·망·모델 관리</a:t>
            </a:r>
          </a:p>
        </p:txBody>
      </p:sp>
      <p:sp>
        <p:nvSpPr>
          <p:cNvPr id="16" name="">
            <a:extLst xmlns:a="http://schemas.openxmlformats.org/drawingml/2006/main">
              <a:ext uri="{FF2B5EF4-FFF2-40B4-BE49-F238E27FC236}">
                <a16:creationId xmlns:a16="http://schemas.microsoft.com/office/drawing/2014/main" id="{BC577B67-3D7E-45BB-8902-FBCDD99D7363}"/>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BE7B55C-221F-40D9-AE78-22D6FF1AF10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2523F0ED-B14E-44C5-89DF-4ABDAE339DC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산식·단위 대조</a:t>
            </a:r>
          </a:p>
        </p:txBody>
      </p:sp>
      <p:sp>
        <p:nvSpPr>
          <p:cNvPr id="19" name="">
            <a:extLst xmlns:a="http://schemas.openxmlformats.org/drawingml/2006/main">
              <a:ext uri="{FF2B5EF4-FFF2-40B4-BE49-F238E27FC236}">
                <a16:creationId xmlns:a16="http://schemas.microsoft.com/office/drawing/2014/main" id="{1CCF31E7-3B6E-47DB-A8EE-0EC3CCFDBB2D}"/>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6A08060-F829-4FAC-AF27-BE6652C3C14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66EB5D11-3C28-469D-8557-6FC83EBB8AE4}"/>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ECM·안건·공개</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자료</a:t>
            </a:r>
          </a:p>
        </p:txBody>
      </p:sp>
      <p:sp>
        <p:nvSpPr>
          <p:cNvPr id="22" name="">
            <a:extLst xmlns:a="http://schemas.openxmlformats.org/drawingml/2006/main">
              <a:ext uri="{FF2B5EF4-FFF2-40B4-BE49-F238E27FC236}">
                <a16:creationId xmlns:a16="http://schemas.microsoft.com/office/drawing/2014/main" id="{764C4F4B-EC92-4638-BCFB-1D147E26791D}"/>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CDB7DE2-4D27-4EA2-9280-9E5B7F9438DA}"/>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832C2BE0-505D-41F1-9A91-C45906F8ADD5}"/>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모델·요약·산식</a:t>
            </a:r>
          </a:p>
        </p:txBody>
      </p:sp>
      <p:sp>
        <p:nvSpPr>
          <p:cNvPr id="25" name="">
            <a:extLst xmlns:a="http://schemas.openxmlformats.org/drawingml/2006/main">
              <a:ext uri="{FF2B5EF4-FFF2-40B4-BE49-F238E27FC236}">
                <a16:creationId xmlns:a16="http://schemas.microsoft.com/office/drawing/2014/main" id="{6B6E2458-57EA-4686-82CF-80516C95A3C5}"/>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6739C08F-227D-4309-BD66-2DE00C217970}"/>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46C9E544-CAE3-4020-B7DA-16B179E1016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담당 검토</a:t>
            </a:r>
          </a:p>
        </p:txBody>
      </p:sp>
      <p:sp>
        <p:nvSpPr>
          <p:cNvPr id="28" name="">
            <a:extLst xmlns:a="http://schemas.openxmlformats.org/drawingml/2006/main">
              <a:ext uri="{FF2B5EF4-FFF2-40B4-BE49-F238E27FC236}">
                <a16:creationId xmlns:a16="http://schemas.microsoft.com/office/drawing/2014/main" id="{475045B6-00FF-4F83-9C12-E36A5E278F41}"/>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EB8AAC20-9914-4945-8D4B-52F4BC8B76EB}"/>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0C8365D4-35D5-4E43-BC6F-5F363596F9D2}"/>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요약·계산</a:t>
            </a:r>
          </a:p>
        </p:txBody>
      </p:sp>
      <p:sp>
        <p:nvSpPr>
          <p:cNvPr id="31" name="">
            <a:extLst xmlns:a="http://schemas.openxmlformats.org/drawingml/2006/main">
              <a:ext uri="{FF2B5EF4-FFF2-40B4-BE49-F238E27FC236}">
                <a16:creationId xmlns:a16="http://schemas.microsoft.com/office/drawing/2014/main" id="{269F3757-803A-46FF-A1D1-0FC35FFBB2F4}"/>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51E1C82-C582-43B0-848F-B150B2015F1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668F4843-287B-4DE6-B663-C1527CDDB25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품질·민감정보 점</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a:t>
            </a:r>
          </a:p>
        </p:txBody>
      </p:sp>
      <p:sp>
        <p:nvSpPr>
          <p:cNvPr id="34" name="">
            <a:extLst xmlns:a="http://schemas.openxmlformats.org/drawingml/2006/main">
              <a:ext uri="{FF2B5EF4-FFF2-40B4-BE49-F238E27FC236}">
                <a16:creationId xmlns:a16="http://schemas.microsoft.com/office/drawing/2014/main" id="{86263DEB-5E1A-4378-BECB-0893457FCFE3}"/>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4928DD9-0364-4E26-8145-EB93A6E0C47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36D4CC8E-DE24-4D21-9BBF-D0134551E9E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대민·사내 DB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리</a:t>
            </a:r>
          </a:p>
        </p:txBody>
      </p:sp>
      <p:sp>
        <p:nvSpPr>
          <p:cNvPr id="46" name="">
            <a:extLst xmlns:a="http://schemas.openxmlformats.org/drawingml/2006/main">
              <a:ext uri="{FF2B5EF4-FFF2-40B4-BE49-F238E27FC236}">
                <a16:creationId xmlns:a16="http://schemas.microsoft.com/office/drawing/2014/main" id="{C5522332-1CF3-47DC-857B-ED46633A1BF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64147959"/>
      </p:ext>
    </p:extLst>
  </p:cSld>
</p:sld>
</file>

<file path=ppt/slides/slide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2A7E2CA-603F-4B2C-9D5A-56C196580E7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논리 인터페이스·복구 설계</a:t>
            </a:r>
          </a:p>
        </p:txBody>
      </p:sp>
      <p:sp>
        <p:nvSpPr>
          <p:cNvPr id="2" name="">
            <a:extLst xmlns:a="http://schemas.openxmlformats.org/drawingml/2006/main">
              <a:ext uri="{FF2B5EF4-FFF2-40B4-BE49-F238E27FC236}">
                <a16:creationId xmlns:a16="http://schemas.microsoft.com/office/drawing/2014/main" id="{B0629861-2412-41DF-87BC-B86046AB649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데이터와 예외 처리</a:t>
            </a:r>
          </a:p>
        </p:txBody>
      </p:sp>
      <p:sp>
        <p:nvSpPr>
          <p:cNvPr id="3" name="">
            <a:extLst xmlns:a="http://schemas.openxmlformats.org/drawingml/2006/main">
              <a:ext uri="{FF2B5EF4-FFF2-40B4-BE49-F238E27FC236}">
                <a16:creationId xmlns:a16="http://schemas.microsoft.com/office/drawing/2014/main" id="{AD039023-DC87-4828-BABA-A05A40A48F7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9B14B4-0C5A-4AFB-AD46-612FD83305D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0BA4DFB-A32F-463F-A7CE-19E96937131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65</a:t>
            </a:r>
          </a:p>
        </p:txBody>
      </p:sp>
      <p:sp>
        <p:nvSpPr>
          <p:cNvPr id="6" name="">
            <a:extLst xmlns:a="http://schemas.openxmlformats.org/drawingml/2006/main">
              <a:ext uri="{FF2B5EF4-FFF2-40B4-BE49-F238E27FC236}">
                <a16:creationId xmlns:a16="http://schemas.microsoft.com/office/drawing/2014/main" id="{0FC13856-9904-4BE2-A3A3-5C340C6E5B1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5D19A6B-4554-4957-B1F8-E781D7D8745B}"/>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93C3238-0F42-4712-85A1-7F55B0164484}"/>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1AEB5F46-A0D0-410F-8BF2-3137C94EF90C}"/>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외부·내부 접점과 망·계정·DRM 경계 분리</a:t>
            </a:r>
          </a:p>
        </p:txBody>
      </p:sp>
      <p:sp>
        <p:nvSpPr>
          <p:cNvPr id="10" name="">
            <a:extLst xmlns:a="http://schemas.openxmlformats.org/drawingml/2006/main">
              <a:ext uri="{FF2B5EF4-FFF2-40B4-BE49-F238E27FC236}">
                <a16:creationId xmlns:a16="http://schemas.microsoft.com/office/drawing/2014/main" id="{8CD2DCAB-320B-4BE8-952D-63CFCB9C8CD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7D4D7DA-C14E-45F2-AF0F-4008D303842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F91B5845-BCE2-47E6-A6C6-DD79C82D16D0}"/>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질의·권한</a:t>
            </a:r>
          </a:p>
        </p:txBody>
      </p:sp>
      <p:sp>
        <p:nvSpPr>
          <p:cNvPr id="13" name="">
            <a:extLst xmlns:a="http://schemas.openxmlformats.org/drawingml/2006/main">
              <a:ext uri="{FF2B5EF4-FFF2-40B4-BE49-F238E27FC236}">
                <a16:creationId xmlns:a16="http://schemas.microsoft.com/office/drawing/2014/main" id="{7ED73A95-DD31-4B15-B5DC-E09F9A2B3F7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AEF82CC-DE3A-4013-A574-5B0831B364A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EC892E8B-150D-4A5F-83D0-9315BB92370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권한·망·모델 관리</a:t>
            </a:r>
          </a:p>
        </p:txBody>
      </p:sp>
      <p:sp>
        <p:nvSpPr>
          <p:cNvPr id="16" name="">
            <a:extLst xmlns:a="http://schemas.openxmlformats.org/drawingml/2006/main">
              <a:ext uri="{FF2B5EF4-FFF2-40B4-BE49-F238E27FC236}">
                <a16:creationId xmlns:a16="http://schemas.microsoft.com/office/drawing/2014/main" id="{92BFBF19-E655-4A93-8A6F-938FAA17944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A6A639-F964-4BD2-8914-172E8949E3E6}"/>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8D818C63-5154-4202-B642-2718FBE4AB6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요약·계산</a:t>
            </a:r>
          </a:p>
        </p:txBody>
      </p:sp>
      <p:sp>
        <p:nvSpPr>
          <p:cNvPr id="19" name="">
            <a:extLst xmlns:a="http://schemas.openxmlformats.org/drawingml/2006/main">
              <a:ext uri="{FF2B5EF4-FFF2-40B4-BE49-F238E27FC236}">
                <a16:creationId xmlns:a16="http://schemas.microsoft.com/office/drawing/2014/main" id="{3CA2F096-401B-442F-B72D-3154AB80B2F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44F56ED-2EE6-4B79-B35E-842FAEA9289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12C90D71-57D4-4D67-BAAB-02C0A27C972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요약·계산</a:t>
            </a:r>
          </a:p>
        </p:txBody>
      </p:sp>
      <p:sp>
        <p:nvSpPr>
          <p:cNvPr id="22" name="">
            <a:extLst xmlns:a="http://schemas.openxmlformats.org/drawingml/2006/main">
              <a:ext uri="{FF2B5EF4-FFF2-40B4-BE49-F238E27FC236}">
                <a16:creationId xmlns:a16="http://schemas.microsoft.com/office/drawing/2014/main" id="{832F0060-39CD-48CE-B687-31BAE01F3A8A}"/>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27D0972-1D59-444E-BE3B-76D43F4C605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BBB935AB-42F8-4369-A8E8-B77A69131FD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D298750A-10C3-4EBD-94D3-7AC39A7A7CA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9A404E8-B745-45FF-9437-DFED8C947B8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외부 계정의 내부 안건 요청·DRM 제한·단위 오류</a:t>
            </a:r>
          </a:p>
        </p:txBody>
      </p:sp>
      <p:sp>
        <p:nvSpPr>
          <p:cNvPr id="27" name="">
            <a:extLst xmlns:a="http://schemas.openxmlformats.org/drawingml/2006/main">
              <a:ext uri="{FF2B5EF4-FFF2-40B4-BE49-F238E27FC236}">
                <a16:creationId xmlns:a16="http://schemas.microsoft.com/office/drawing/2014/main" id="{E3AF8436-4D12-41C9-A929-573F97BC922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593F020-58FD-40D8-B981-271F2F44CF0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망·권한·산식별 독립 검증</a:t>
            </a:r>
          </a:p>
        </p:txBody>
      </p:sp>
      <p:sp>
        <p:nvSpPr>
          <p:cNvPr id="29" name="">
            <a:extLst xmlns:a="http://schemas.openxmlformats.org/drawingml/2006/main">
              <a:ext uri="{FF2B5EF4-FFF2-40B4-BE49-F238E27FC236}">
                <a16:creationId xmlns:a16="http://schemas.microsoft.com/office/drawing/2014/main" id="{20567E6B-8224-45EB-AD7C-3DD51E1812B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F03DD45-3AF6-415E-A974-E381F44C6D0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 품질·민감정보·답변 품질 모니터링</a:t>
            </a:r>
          </a:p>
        </p:txBody>
      </p:sp>
      <p:sp>
        <p:nvSpPr>
          <p:cNvPr id="31" name="">
            <a:extLst xmlns:a="http://schemas.openxmlformats.org/drawingml/2006/main">
              <a:ext uri="{FF2B5EF4-FFF2-40B4-BE49-F238E27FC236}">
                <a16:creationId xmlns:a16="http://schemas.microsoft.com/office/drawing/2014/main" id="{06CEE9C3-CBA9-4B77-A9FF-C9D743E97C76}"/>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6771E76-66CD-4ABB-9EA1-AA72B368E87A}"/>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망·권한별 노출 결과와 원문·계산·카탈로그 대사</a:t>
            </a:r>
          </a:p>
        </p:txBody>
      </p:sp>
    </p:spTree>
    <p:extLst>
      <p:ext uri="{BB962C8B-B14F-4D97-AF65-F5344CB8AC3E}">
        <p14:creationId xmlns:p14="http://schemas.microsoft.com/office/powerpoint/2010/main" val="1269928872"/>
      </p:ext>
    </p:extLst>
  </p:cSld>
</p:sld>
</file>

<file path=ppt/slides/slide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C2BD9C5-CD38-4635-8FBC-DA95285D930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PF-R08 / CCK 비교·재현 시험 설계</a:t>
            </a:r>
          </a:p>
        </p:txBody>
      </p:sp>
      <p:sp>
        <p:nvSpPr>
          <p:cNvPr id="2" name="">
            <a:extLst xmlns:a="http://schemas.openxmlformats.org/drawingml/2006/main">
              <a:ext uri="{FF2B5EF4-FFF2-40B4-BE49-F238E27FC236}">
                <a16:creationId xmlns:a16="http://schemas.microsoft.com/office/drawing/2014/main" id="{E73F06C0-7005-4211-A356-0F95922F81F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예금보험공사 생성형 AI · 벤치마킹</a:t>
            </a:r>
          </a:p>
        </p:txBody>
      </p:sp>
      <p:sp>
        <p:nvSpPr>
          <p:cNvPr id="3" name="">
            <a:extLst xmlns:a="http://schemas.openxmlformats.org/drawingml/2006/main">
              <a:ext uri="{FF2B5EF4-FFF2-40B4-BE49-F238E27FC236}">
                <a16:creationId xmlns:a16="http://schemas.microsoft.com/office/drawing/2014/main" id="{3A9B25A1-2F42-4BB1-B619-4B58C5476ED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A494F64-0D33-4C70-AB31-096AB34863E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945A75C-A342-4749-BC32-433DF8CF930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66</a:t>
            </a:r>
          </a:p>
        </p:txBody>
      </p:sp>
      <p:sp>
        <p:nvSpPr>
          <p:cNvPr id="6" name="">
            <a:extLst xmlns:a="http://schemas.openxmlformats.org/drawingml/2006/main">
              <a:ext uri="{FF2B5EF4-FFF2-40B4-BE49-F238E27FC236}">
                <a16:creationId xmlns:a16="http://schemas.microsoft.com/office/drawing/2014/main" id="{5DBA1741-45F0-40C8-B5B1-39E27CCBF8D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53B5EB80-4869-4053-94A7-81096D4D83C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대국민·사내 지식 경계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카탈로그와 데이터 통제 결합</a:t>
            </a:r>
          </a:p>
        </p:txBody>
      </p:sp>
      <p:sp>
        <p:nvSpPr>
          <p:cNvPr id="8" name="">
            <a:extLst xmlns:a="http://schemas.openxmlformats.org/drawingml/2006/main">
              <a:ext uri="{FF2B5EF4-FFF2-40B4-BE49-F238E27FC236}">
                <a16:creationId xmlns:a16="http://schemas.microsoft.com/office/drawing/2014/main" id="{7737AEA4-61E4-4282-BDBC-0D464D7173E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BC993D1-067A-498A-AB2B-7BE66A1348A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DRM·접근권한 전파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금융 산식·단위 오류</a:t>
            </a:r>
          </a:p>
        </p:txBody>
      </p:sp>
      <p:sp>
        <p:nvSpPr>
          <p:cNvPr id="10" name="">
            <a:extLst xmlns:a="http://schemas.openxmlformats.org/drawingml/2006/main">
              <a:ext uri="{FF2B5EF4-FFF2-40B4-BE49-F238E27FC236}">
                <a16:creationId xmlns:a16="http://schemas.microsoft.com/office/drawing/2014/main" id="{A5884DCD-9247-4CAF-B915-D78BB3DA5D5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B4973CF-B44C-4681-B26F-37E8D4F476C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망·권한·산식별 독립 검증</a:t>
            </a:r>
          </a:p>
        </p:txBody>
      </p:sp>
      <p:sp>
        <p:nvSpPr>
          <p:cNvPr id="12" name="">
            <a:extLst xmlns:a="http://schemas.openxmlformats.org/drawingml/2006/main">
              <a:ext uri="{FF2B5EF4-FFF2-40B4-BE49-F238E27FC236}">
                <a16:creationId xmlns:a16="http://schemas.microsoft.com/office/drawing/2014/main" id="{CCA536BF-E6FB-4CF3-BC2F-A92DFA61FDA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E08F573-36ED-40AD-8CBC-3550BD6BE7C5}"/>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허용된 안건만 검색·요약하고 규정 산식을 독립 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인</a:t>
            </a:r>
          </a:p>
        </p:txBody>
      </p:sp>
      <p:sp>
        <p:nvSpPr>
          <p:cNvPr id="14" name="">
            <a:extLst xmlns:a="http://schemas.openxmlformats.org/drawingml/2006/main">
              <a:ext uri="{FF2B5EF4-FFF2-40B4-BE49-F238E27FC236}">
                <a16:creationId xmlns:a16="http://schemas.microsoft.com/office/drawing/2014/main" id="{995AFADD-E821-495C-A0CE-9DDD84B98EC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B157F27-34A3-45B8-AD8E-53A887C63E2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외부 계정의 내부 안건 요청·DRM 제한·단위 오류</a:t>
            </a:r>
          </a:p>
        </p:txBody>
      </p:sp>
      <p:sp>
        <p:nvSpPr>
          <p:cNvPr id="16" name="">
            <a:extLst xmlns:a="http://schemas.openxmlformats.org/drawingml/2006/main">
              <a:ext uri="{FF2B5EF4-FFF2-40B4-BE49-F238E27FC236}">
                <a16:creationId xmlns:a16="http://schemas.microsoft.com/office/drawing/2014/main" id="{74F355D7-B27C-483A-A58D-3980F7DE68E3}"/>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3A012415-A4C0-4D8D-B7A3-DB7DCC15C80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망·권한별 노출 결과와 원문·계산·카탈로그 대사</a:t>
            </a:r>
          </a:p>
        </p:txBody>
      </p:sp>
    </p:spTree>
    <p:extLst>
      <p:ext uri="{BB962C8B-B14F-4D97-AF65-F5344CB8AC3E}">
        <p14:creationId xmlns:p14="http://schemas.microsoft.com/office/powerpoint/2010/main" val="1532188998"/>
      </p:ext>
    </p:extLst>
  </p:cSld>
</p:sld>
</file>

<file path=ppt/slides/slide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16C62E8-FBE2-4BC1-86F0-3406695C23A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정정 RFP 확인 / 구축·운영 성과 미확인 / 국내</a:t>
            </a:r>
          </a:p>
        </p:txBody>
      </p:sp>
      <p:sp>
        <p:nvSpPr>
          <p:cNvPr id="2" name="">
            <a:extLst xmlns:a="http://schemas.openxmlformats.org/drawingml/2006/main">
              <a:ext uri="{FF2B5EF4-FFF2-40B4-BE49-F238E27FC236}">
                <a16:creationId xmlns:a16="http://schemas.microsoft.com/office/drawing/2014/main" id="{47E14B6E-D844-48DC-9DF2-23DC6A2F90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a:t>
            </a:r>
          </a:p>
        </p:txBody>
      </p:sp>
      <p:sp>
        <p:nvSpPr>
          <p:cNvPr id="3" name="">
            <a:extLst xmlns:a="http://schemas.openxmlformats.org/drawingml/2006/main">
              <a:ext uri="{FF2B5EF4-FFF2-40B4-BE49-F238E27FC236}">
                <a16:creationId xmlns:a16="http://schemas.microsoft.com/office/drawing/2014/main" id="{C9F5E057-29DF-456E-8FF9-BF12C75CE6B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92BA16-2BB9-4A1B-B1D0-2703176ACFB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9AF0C28-7CEE-4C70-9A8A-89913A49353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67</a:t>
            </a:r>
          </a:p>
        </p:txBody>
      </p:sp>
      <p:sp>
        <p:nvSpPr>
          <p:cNvPr id="6" name="">
            <a:extLst xmlns:a="http://schemas.openxmlformats.org/drawingml/2006/main">
              <a:ext uri="{FF2B5EF4-FFF2-40B4-BE49-F238E27FC236}">
                <a16:creationId xmlns:a16="http://schemas.microsoft.com/office/drawing/2014/main" id="{4DD6F28B-8471-491B-9A54-242C86C8726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132A17A-6D7C-4067-ACCE-431791A9674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공통 AI 대화·전용 업무 화면 위에 인사복지, 안전관리,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시추, 지질, 비축설비, 석유시장 보고서의 6개 업무를 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성하는 사업. 전사 공통 기반과 도메인별 지식·산출물의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경계를 비교하기 적합한 사례.</a:t>
            </a:r>
          </a:p>
        </p:txBody>
      </p:sp>
      <p:sp>
        <p:nvSpPr>
          <p:cNvPr id="8" name="">
            <a:extLst xmlns:a="http://schemas.openxmlformats.org/drawingml/2006/main">
              <a:ext uri="{FF2B5EF4-FFF2-40B4-BE49-F238E27FC236}">
                <a16:creationId xmlns:a16="http://schemas.microsoft.com/office/drawing/2014/main" id="{8DE3F60D-B416-46DD-AE61-637913D401E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413DD370-DB81-40BF-9F1B-4A695A7FB440}"/>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SER 요구는 공통 접점·업무 범위·권한과 응용 서비스를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정의하고, FUR-001~006은 업무별 자료와 출력 기능</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분리. 직원 사번·소속·직급·업무분장, 문서 접근조건,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정형 데이터·ERP 연계를 각 업무 처리의 문맥으로 사용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구조.</a:t>
            </a:r>
          </a:p>
        </p:txBody>
      </p:sp>
      <p:sp>
        <p:nvSpPr>
          <p:cNvPr id="10" name="">
            <a:extLst xmlns:a="http://schemas.openxmlformats.org/drawingml/2006/main">
              <a:ext uri="{FF2B5EF4-FFF2-40B4-BE49-F238E27FC236}">
                <a16:creationId xmlns:a16="http://schemas.microsoft.com/office/drawing/2014/main" id="{FBCA7771-CA8A-4FD8-8976-73F7143700E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F79AD19-AE57-4361-9610-4CC4AB60488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TS의 1차 조직·권한·업무 분류 기반을 만든 뒤 부서별 특화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서비스를 붙이는 순서에 활용할 대상. 공통 챗봇 설치와 6개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업무의 인수 완료를 같은 실적으로 보지 않고, 업무별 데이터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원천·전문가 정답셋·실행 승인·결과 대사를 따로 관리할 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18092820-ACBB-4B5D-AA01-A2E5EF4FEBD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3A21EFC-B1BF-4F1B-A78C-C035445ECA2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TS 업무 도메인 라우터 / 사용자 역할·효력일 / 업무별 검색·원</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천 연계</a:t>
            </a:r>
          </a:p>
        </p:txBody>
      </p:sp>
      <p:sp>
        <p:nvSpPr>
          <p:cNvPr id="14" name="">
            <a:extLst xmlns:a="http://schemas.openxmlformats.org/drawingml/2006/main">
              <a:ext uri="{FF2B5EF4-FFF2-40B4-BE49-F238E27FC236}">
                <a16:creationId xmlns:a16="http://schemas.microsoft.com/office/drawing/2014/main" id="{C151FD3F-F283-4DF1-8443-4D3DD1FCD93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9070144-79B5-42CE-903B-9F9468D0140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전보·겸직·다른 도메인 질의의 라우팅·근거·접근 허용 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 대조</a:t>
            </a:r>
          </a:p>
        </p:txBody>
      </p:sp>
      <p:sp>
        <p:nvSpPr>
          <p:cNvPr id="16" name="">
            <a:extLst xmlns:a="http://schemas.openxmlformats.org/drawingml/2006/main">
              <a:ext uri="{FF2B5EF4-FFF2-40B4-BE49-F238E27FC236}">
                <a16:creationId xmlns:a16="http://schemas.microsoft.com/office/drawing/2014/main" id="{636EA48C-B747-4F48-BA93-EE68D4C90D1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6A743E1C-8F9F-40FA-B69A-C5543084072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 분류 정확도 / 근거 적합률 / 도메인 추가 구축 공수</a:t>
            </a:r>
          </a:p>
        </p:txBody>
      </p:sp>
      <p:sp>
        <p:nvSpPr>
          <p:cNvPr id="18" name="">
            <a:extLst xmlns:a="http://schemas.openxmlformats.org/drawingml/2006/main">
              <a:ext uri="{FF2B5EF4-FFF2-40B4-BE49-F238E27FC236}">
                <a16:creationId xmlns:a16="http://schemas.microsoft.com/office/drawing/2014/main" id="{3C149B6E-3D4C-4993-BF17-94126A0FEC7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별도 과제(오피넷 AICC·적정유가 등)를 이번 개발로 합산하지 않음</a:t>
            </a:r>
          </a:p>
        </p:txBody>
      </p:sp>
    </p:spTree>
    <p:extLst>
      <p:ext uri="{BB962C8B-B14F-4D97-AF65-F5344CB8AC3E}">
        <p14:creationId xmlns:p14="http://schemas.microsoft.com/office/powerpoint/2010/main" val="15575328"/>
      </p:ext>
    </p:extLst>
  </p:cSld>
</p:sld>
</file>

<file path=ppt/slides/slide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344944C-FEA7-42F4-9D8A-7A1C27ED9BD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1–3</a:t>
            </a:r>
          </a:p>
        </p:txBody>
      </p:sp>
      <p:sp>
        <p:nvSpPr>
          <p:cNvPr id="2" name="">
            <a:extLst xmlns:a="http://schemas.openxmlformats.org/drawingml/2006/main">
              <a:ext uri="{FF2B5EF4-FFF2-40B4-BE49-F238E27FC236}">
                <a16:creationId xmlns:a16="http://schemas.microsoft.com/office/drawing/2014/main" id="{ED8541FC-1E70-4073-8238-92BB4F079D5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8949B385-46A1-4337-9200-DFBE1F6788D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5955D5-2873-4045-9C2E-DC4EDCD06AC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BDAA506-9DF3-4EC9-A87C-37F50ECF842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68</a:t>
            </a:r>
          </a:p>
        </p:txBody>
      </p:sp>
      <p:sp>
        <p:nvSpPr>
          <p:cNvPr id="6" name="">
            <a:extLst xmlns:a="http://schemas.openxmlformats.org/drawingml/2006/main">
              <a:ext uri="{FF2B5EF4-FFF2-40B4-BE49-F238E27FC236}">
                <a16:creationId xmlns:a16="http://schemas.microsoft.com/office/drawing/2014/main" id="{82912B09-8F62-48D0-9C9A-DD437B46B10F}"/>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5AFDE0E-53A0-41D9-BA38-0BEE67EBB992}"/>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SER-001 AI 대화형 서비스</a:t>
            </a:r>
          </a:p>
        </p:txBody>
      </p:sp>
      <p:sp>
        <p:nvSpPr>
          <p:cNvPr id="8" name="">
            <a:extLst xmlns:a="http://schemas.openxmlformats.org/drawingml/2006/main">
              <a:ext uri="{FF2B5EF4-FFF2-40B4-BE49-F238E27FC236}">
                <a16:creationId xmlns:a16="http://schemas.microsoft.com/office/drawing/2014/main" id="{91E792F7-CB70-42EA-98DE-3C6EDEA1F31F}"/>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 AI 대화형 서비스 제공.</a:t>
            </a:r>
          </a:p>
        </p:txBody>
      </p:sp>
      <p:sp>
        <p:nvSpPr>
          <p:cNvPr id="9" name="">
            <a:extLst xmlns:a="http://schemas.openxmlformats.org/drawingml/2006/main">
              <a:ext uri="{FF2B5EF4-FFF2-40B4-BE49-F238E27FC236}">
                <a16:creationId xmlns:a16="http://schemas.microsoft.com/office/drawing/2014/main" id="{FE330C94-15D2-4915-B74A-F9E8630FA746}"/>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C03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문맥 유지·출처 확인·입력 범위·오류 안내의 대화 시나리오 평</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가</a:t>
            </a:r>
          </a:p>
        </p:txBody>
      </p:sp>
      <p:sp>
        <p:nvSpPr>
          <p:cNvPr id="10" name="">
            <a:extLst xmlns:a="http://schemas.openxmlformats.org/drawingml/2006/main">
              <a:ext uri="{FF2B5EF4-FFF2-40B4-BE49-F238E27FC236}">
                <a16:creationId xmlns:a16="http://schemas.microsoft.com/office/drawing/2014/main" id="{42B1C900-2252-4E2C-8B62-536938FCDE55}"/>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ACA00C4-32D0-4043-9D84-4C54013B3E23}"/>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SER-002 업무 특화 화면 서비스</a:t>
            </a:r>
          </a:p>
        </p:txBody>
      </p:sp>
      <p:sp>
        <p:nvSpPr>
          <p:cNvPr id="12" name="">
            <a:extLst xmlns:a="http://schemas.openxmlformats.org/drawingml/2006/main">
              <a:ext uri="{FF2B5EF4-FFF2-40B4-BE49-F238E27FC236}">
                <a16:creationId xmlns:a16="http://schemas.microsoft.com/office/drawing/2014/main" id="{0CA1A943-4C9A-4CD8-B532-7C2244AC5374}"/>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특화 화면에서 필요한 입력과 결과를 제공.</a:t>
            </a:r>
          </a:p>
        </p:txBody>
      </p:sp>
      <p:sp>
        <p:nvSpPr>
          <p:cNvPr id="13" name="">
            <a:extLst xmlns:a="http://schemas.openxmlformats.org/drawingml/2006/main">
              <a:ext uri="{FF2B5EF4-FFF2-40B4-BE49-F238E27FC236}">
                <a16:creationId xmlns:a16="http://schemas.microsoft.com/office/drawing/2014/main" id="{C5415F82-710A-4A70-B8B4-A0B29A6D4B4A}"/>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C01 · C02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업무별 필수 항목 누락·정정·결과 편집의 화면 동작 확인</a:t>
            </a:r>
          </a:p>
        </p:txBody>
      </p:sp>
      <p:sp>
        <p:nvSpPr>
          <p:cNvPr id="14" name="">
            <a:extLst xmlns:a="http://schemas.openxmlformats.org/drawingml/2006/main">
              <a:ext uri="{FF2B5EF4-FFF2-40B4-BE49-F238E27FC236}">
                <a16:creationId xmlns:a16="http://schemas.microsoft.com/office/drawing/2014/main" id="{12AE5B96-D6A8-49B7-A016-AC7143C8534E}"/>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4300894-8BFC-4DCD-9FA0-C52F9586EB7C}"/>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SER-003 AI 응용 서비스 대상 업무</a:t>
            </a:r>
          </a:p>
        </p:txBody>
      </p:sp>
      <p:sp>
        <p:nvSpPr>
          <p:cNvPr id="16" name="">
            <a:extLst xmlns:a="http://schemas.openxmlformats.org/drawingml/2006/main">
              <a:ext uri="{FF2B5EF4-FFF2-40B4-BE49-F238E27FC236}">
                <a16:creationId xmlns:a16="http://schemas.microsoft.com/office/drawing/2014/main" id="{606DA63E-E1FB-4BC2-B1E5-CFB02902C2D2}"/>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AI 응용서비스 대상 업무의 범위 구성.</a:t>
            </a:r>
          </a:p>
        </p:txBody>
      </p:sp>
      <p:sp>
        <p:nvSpPr>
          <p:cNvPr id="17" name="">
            <a:extLst xmlns:a="http://schemas.openxmlformats.org/drawingml/2006/main">
              <a:ext uri="{FF2B5EF4-FFF2-40B4-BE49-F238E27FC236}">
                <a16:creationId xmlns:a16="http://schemas.microsoft.com/office/drawing/2014/main" id="{5957F4D6-0A06-43D2-AE9D-EC2AB2FC8F1E}"/>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C04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인사·안전·시추·지질·설비·시장 업무의 잘못된 라우팅과 복합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요청 확인</a:t>
            </a:r>
          </a:p>
        </p:txBody>
      </p:sp>
    </p:spTree>
    <p:extLst>
      <p:ext uri="{BB962C8B-B14F-4D97-AF65-F5344CB8AC3E}">
        <p14:creationId xmlns:p14="http://schemas.microsoft.com/office/powerpoint/2010/main" val="2042536515"/>
      </p:ext>
    </p:extLst>
  </p:cSld>
</p:sld>
</file>

<file path=ppt/slides/slide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37F65B1-7BDF-43F2-A9DE-3C950FDC401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4–6</a:t>
            </a:r>
          </a:p>
        </p:txBody>
      </p:sp>
      <p:sp>
        <p:nvSpPr>
          <p:cNvPr id="2" name="">
            <a:extLst xmlns:a="http://schemas.openxmlformats.org/drawingml/2006/main">
              <a:ext uri="{FF2B5EF4-FFF2-40B4-BE49-F238E27FC236}">
                <a16:creationId xmlns:a16="http://schemas.microsoft.com/office/drawing/2014/main" id="{19E5EEA9-A0A7-4392-A9F2-78909E468A6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C9C6DE6D-5C47-4344-B767-CBA903ED6E2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550D4CD-06BE-44DE-A052-364BA2B8573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C47AAD1-52B9-4B06-9364-A3041D7E625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69</a:t>
            </a:r>
          </a:p>
        </p:txBody>
      </p:sp>
      <p:sp>
        <p:nvSpPr>
          <p:cNvPr id="6" name="">
            <a:extLst xmlns:a="http://schemas.openxmlformats.org/drawingml/2006/main">
              <a:ext uri="{FF2B5EF4-FFF2-40B4-BE49-F238E27FC236}">
                <a16:creationId xmlns:a16="http://schemas.microsoft.com/office/drawing/2014/main" id="{B6FADE0D-7085-46C2-83CD-42C2FFD6C9EE}"/>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962B25-E459-42B4-9506-F7029E9EA967}"/>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SER-004 응용 서비스 공통</a:t>
            </a:r>
          </a:p>
        </p:txBody>
      </p:sp>
      <p:sp>
        <p:nvSpPr>
          <p:cNvPr id="8" name="">
            <a:extLst xmlns:a="http://schemas.openxmlformats.org/drawingml/2006/main">
              <a:ext uri="{FF2B5EF4-FFF2-40B4-BE49-F238E27FC236}">
                <a16:creationId xmlns:a16="http://schemas.microsoft.com/office/drawing/2014/main" id="{4BAEDEC0-AB78-49C1-BDC1-FF6057976A13}"/>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응용서비스에 공통 적용할 기능과 운영 기준 구성.</a:t>
            </a:r>
          </a:p>
        </p:txBody>
      </p:sp>
      <p:sp>
        <p:nvSpPr>
          <p:cNvPr id="9" name="">
            <a:extLst xmlns:a="http://schemas.openxmlformats.org/drawingml/2006/main">
              <a:ext uri="{FF2B5EF4-FFF2-40B4-BE49-F238E27FC236}">
                <a16:creationId xmlns:a16="http://schemas.microsoft.com/office/drawing/2014/main" id="{3FCEE1BE-AD1C-4E7C-AB67-3C81A2B701D1}"/>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C05 · C08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개별 서비스 추가 시 공통 인증·통제·운영 기록 적용의 누락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a:t>
            </a:r>
          </a:p>
        </p:txBody>
      </p:sp>
      <p:sp>
        <p:nvSpPr>
          <p:cNvPr id="10" name="">
            <a:extLst xmlns:a="http://schemas.openxmlformats.org/drawingml/2006/main">
              <a:ext uri="{FF2B5EF4-FFF2-40B4-BE49-F238E27FC236}">
                <a16:creationId xmlns:a16="http://schemas.microsoft.com/office/drawing/2014/main" id="{E1BDEAEE-79D7-4EF8-9790-588DFBF84D22}"/>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D433B3-A1D1-4DD0-8837-F60814EDC391}"/>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FUR-001 [일반행정] 인사·복지 AI 서비스</a:t>
            </a:r>
          </a:p>
        </p:txBody>
      </p:sp>
      <p:sp>
        <p:nvSpPr>
          <p:cNvPr id="12" name="">
            <a:extLst xmlns:a="http://schemas.openxmlformats.org/drawingml/2006/main">
              <a:ext uri="{FF2B5EF4-FFF2-40B4-BE49-F238E27FC236}">
                <a16:creationId xmlns:a16="http://schemas.microsoft.com/office/drawing/2014/main" id="{B76F56EE-4254-4A31-BD53-90AB629FB40E}"/>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인사·복지 규정과 업무 지식을 활용한 직원 지원.</a:t>
            </a:r>
          </a:p>
        </p:txBody>
      </p:sp>
      <p:sp>
        <p:nvSpPr>
          <p:cNvPr id="13" name="">
            <a:extLst xmlns:a="http://schemas.openxmlformats.org/drawingml/2006/main">
              <a:ext uri="{FF2B5EF4-FFF2-40B4-BE49-F238E27FC236}">
                <a16:creationId xmlns:a16="http://schemas.microsoft.com/office/drawing/2014/main" id="{5311FB07-ECD1-4652-A8E0-CB8D8A719B50}"/>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근무 조건·시행일·예외 조항이 다른 질문의 근거 선택 비교</a:t>
            </a:r>
          </a:p>
        </p:txBody>
      </p:sp>
      <p:sp>
        <p:nvSpPr>
          <p:cNvPr id="14" name="">
            <a:extLst xmlns:a="http://schemas.openxmlformats.org/drawingml/2006/main">
              <a:ext uri="{FF2B5EF4-FFF2-40B4-BE49-F238E27FC236}">
                <a16:creationId xmlns:a16="http://schemas.microsoft.com/office/drawing/2014/main" id="{0A5F4E80-D370-45A5-84A2-BA2788DC7F6A}"/>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326EB3E-FC3E-42AA-B3F2-B22D2904CEDE}"/>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FUR-002 [안전관리] 안전관리 AI 서비스</a:t>
            </a:r>
          </a:p>
        </p:txBody>
      </p:sp>
      <p:sp>
        <p:nvSpPr>
          <p:cNvPr id="16" name="">
            <a:extLst xmlns:a="http://schemas.openxmlformats.org/drawingml/2006/main">
              <a:ext uri="{FF2B5EF4-FFF2-40B4-BE49-F238E27FC236}">
                <a16:creationId xmlns:a16="http://schemas.microsoft.com/office/drawing/2014/main" id="{14F4F4A3-4AB5-4D8E-8FAC-4A3582BFE79C}"/>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분야 자료를 활용한 업무 지원.</a:t>
            </a:r>
          </a:p>
        </p:txBody>
      </p:sp>
      <p:sp>
        <p:nvSpPr>
          <p:cNvPr id="17" name="">
            <a:extLst xmlns:a="http://schemas.openxmlformats.org/drawingml/2006/main">
              <a:ext uri="{FF2B5EF4-FFF2-40B4-BE49-F238E27FC236}">
                <a16:creationId xmlns:a16="http://schemas.microsoft.com/office/drawing/2014/main" id="{7B35D65D-7AE9-4F49-BD95-0AF72B6ED1A8}"/>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C05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현장 조건과 적용 기준의 불일치·필수 조치 누락을 포함한 검</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토 평가</a:t>
            </a:r>
          </a:p>
        </p:txBody>
      </p:sp>
    </p:spTree>
    <p:extLst>
      <p:ext uri="{BB962C8B-B14F-4D97-AF65-F5344CB8AC3E}">
        <p14:creationId xmlns:p14="http://schemas.microsoft.com/office/powerpoint/2010/main" val="1665811251"/>
      </p:ext>
    </p:extLst>
  </p:cSld>
</p:sld>
</file>

<file path=ppt/slides/slide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673CD8D-6FA3-4D0B-B441-87362B9964E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7–9</a:t>
            </a:r>
          </a:p>
        </p:txBody>
      </p:sp>
      <p:sp>
        <p:nvSpPr>
          <p:cNvPr id="2" name="">
            <a:extLst xmlns:a="http://schemas.openxmlformats.org/drawingml/2006/main">
              <a:ext uri="{FF2B5EF4-FFF2-40B4-BE49-F238E27FC236}">
                <a16:creationId xmlns:a16="http://schemas.microsoft.com/office/drawing/2014/main" id="{048C5781-2A92-4281-AD08-BD69D3332C6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1243A6D2-921B-4B73-8F44-618D9DE942F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24E5B29-D8F0-4745-9169-A13124BD19F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F7ACF7B-D71C-448E-AC79-374F831CDEE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70</a:t>
            </a:r>
          </a:p>
        </p:txBody>
      </p:sp>
      <p:sp>
        <p:nvSpPr>
          <p:cNvPr id="6" name="">
            <a:extLst xmlns:a="http://schemas.openxmlformats.org/drawingml/2006/main">
              <a:ext uri="{FF2B5EF4-FFF2-40B4-BE49-F238E27FC236}">
                <a16:creationId xmlns:a16="http://schemas.microsoft.com/office/drawing/2014/main" id="{A97D68A2-3DF4-460A-A8EF-5FF634640C4C}"/>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7143B2-61D8-41CA-A1E4-3988F6CE1E52}"/>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FUR-003 [석유개발] 석유 시추 정보 AI 서비스</a:t>
            </a:r>
          </a:p>
        </p:txBody>
      </p:sp>
      <p:sp>
        <p:nvSpPr>
          <p:cNvPr id="8" name="">
            <a:extLst xmlns:a="http://schemas.openxmlformats.org/drawingml/2006/main">
              <a:ext uri="{FF2B5EF4-FFF2-40B4-BE49-F238E27FC236}">
                <a16:creationId xmlns:a16="http://schemas.microsoft.com/office/drawing/2014/main" id="{D192507E-757C-4487-8D87-6622A1FDC6FB}"/>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시추 분야 자료와 전문 지식의 업무 활용.</a:t>
            </a:r>
          </a:p>
        </p:txBody>
      </p:sp>
      <p:sp>
        <p:nvSpPr>
          <p:cNvPr id="9" name="">
            <a:extLst xmlns:a="http://schemas.openxmlformats.org/drawingml/2006/main">
              <a:ext uri="{FF2B5EF4-FFF2-40B4-BE49-F238E27FC236}">
                <a16:creationId xmlns:a16="http://schemas.microsoft.com/office/drawing/2014/main" id="{4186FCB4-8F80-4F46-ABB4-4919A6DAACE8}"/>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전문 용어·설비 조건·단위 오류와 출처 없는 추론의 구분 평가</a:t>
            </a:r>
          </a:p>
        </p:txBody>
      </p:sp>
      <p:sp>
        <p:nvSpPr>
          <p:cNvPr id="10" name="">
            <a:extLst xmlns:a="http://schemas.openxmlformats.org/drawingml/2006/main">
              <a:ext uri="{FF2B5EF4-FFF2-40B4-BE49-F238E27FC236}">
                <a16:creationId xmlns:a16="http://schemas.microsoft.com/office/drawing/2014/main" id="{D04D6E74-FD7F-45F0-99B5-3A1145E1036D}"/>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491A4E-1159-45FD-8790-2A20E9C44849}"/>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FUR-004 [석유개발] 석유 지질 정보 AI 서비스</a:t>
            </a:r>
          </a:p>
        </p:txBody>
      </p:sp>
      <p:sp>
        <p:nvSpPr>
          <p:cNvPr id="12" name="">
            <a:extLst xmlns:a="http://schemas.openxmlformats.org/drawingml/2006/main">
              <a:ext uri="{FF2B5EF4-FFF2-40B4-BE49-F238E27FC236}">
                <a16:creationId xmlns:a16="http://schemas.microsoft.com/office/drawing/2014/main" id="{6F7B8B6B-5531-4686-9FAC-8AC8708F6F70}"/>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지질 자료와 분석 업무의 AI 지원.</a:t>
            </a:r>
          </a:p>
        </p:txBody>
      </p:sp>
      <p:sp>
        <p:nvSpPr>
          <p:cNvPr id="13" name="">
            <a:extLst xmlns:a="http://schemas.openxmlformats.org/drawingml/2006/main">
              <a:ext uri="{FF2B5EF4-FFF2-40B4-BE49-F238E27FC236}">
                <a16:creationId xmlns:a16="http://schemas.microsoft.com/office/drawing/2014/main" id="{4B6485DC-2517-40BF-8BC9-6EBAB64A79C9}"/>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서로 다른 지역·시기 자료의 혼용과 전문 수치·그림 근거 연결</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 확인</a:t>
            </a:r>
          </a:p>
        </p:txBody>
      </p:sp>
      <p:sp>
        <p:nvSpPr>
          <p:cNvPr id="14" name="">
            <a:extLst xmlns:a="http://schemas.openxmlformats.org/drawingml/2006/main">
              <a:ext uri="{FF2B5EF4-FFF2-40B4-BE49-F238E27FC236}">
                <a16:creationId xmlns:a16="http://schemas.microsoft.com/office/drawing/2014/main" id="{6C2D15CB-CDB7-4F87-8EAE-0DB81D18DBC2}"/>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5B37BA-3656-4D2B-9202-0C364A2AD6DA}"/>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FUR-005 [석유비축] 비축설비 정비·운영 AI 서비스</a:t>
            </a:r>
          </a:p>
        </p:txBody>
      </p:sp>
      <p:sp>
        <p:nvSpPr>
          <p:cNvPr id="16" name="">
            <a:extLst xmlns:a="http://schemas.openxmlformats.org/drawingml/2006/main">
              <a:ext uri="{FF2B5EF4-FFF2-40B4-BE49-F238E27FC236}">
                <a16:creationId xmlns:a16="http://schemas.microsoft.com/office/drawing/2014/main" id="{B3C2EC9F-8F69-4315-A07C-176AB16E475F}"/>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비축설비 관련 자료의 검색·업무 지원.</a:t>
            </a:r>
          </a:p>
        </p:txBody>
      </p:sp>
      <p:sp>
        <p:nvSpPr>
          <p:cNvPr id="17" name="">
            <a:extLst xmlns:a="http://schemas.openxmlformats.org/drawingml/2006/main">
              <a:ext uri="{FF2B5EF4-FFF2-40B4-BE49-F238E27FC236}">
                <a16:creationId xmlns:a16="http://schemas.microsoft.com/office/drawing/2014/main" id="{5052AF12-7F70-4E66-9653-2999218E28F5}"/>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설비 번호·점검 시점·부품 조건이 다른 자료의 구분과 최신 이</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력 확인</a:t>
            </a:r>
          </a:p>
        </p:txBody>
      </p:sp>
    </p:spTree>
    <p:extLst>
      <p:ext uri="{BB962C8B-B14F-4D97-AF65-F5344CB8AC3E}">
        <p14:creationId xmlns:p14="http://schemas.microsoft.com/office/powerpoint/2010/main" val="2131217354"/>
      </p:ext>
    </p:extLst>
  </p:cSld>
</p:sld>
</file>

<file path=ppt/slides/slide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382EDBC-E493-4398-8B79-2214A203B0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RFP 2026.09 · SER-001~004·FUR-001~006 / 10–10</a:t>
            </a:r>
          </a:p>
        </p:txBody>
      </p:sp>
      <p:sp>
        <p:nvSpPr>
          <p:cNvPr id="2" name="">
            <a:extLst xmlns:a="http://schemas.openxmlformats.org/drawingml/2006/main">
              <a:ext uri="{FF2B5EF4-FFF2-40B4-BE49-F238E27FC236}">
                <a16:creationId xmlns:a16="http://schemas.microsoft.com/office/drawing/2014/main" id="{AA8030A8-D9CD-4E1A-B9B0-CB4D00D5F45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RFP 요구사항</a:t>
            </a:r>
          </a:p>
        </p:txBody>
      </p:sp>
      <p:sp>
        <p:nvSpPr>
          <p:cNvPr id="3" name="">
            <a:extLst xmlns:a="http://schemas.openxmlformats.org/drawingml/2006/main">
              <a:ext uri="{FF2B5EF4-FFF2-40B4-BE49-F238E27FC236}">
                <a16:creationId xmlns:a16="http://schemas.microsoft.com/office/drawing/2014/main" id="{B9CD773B-DA50-4216-BAD9-CB5E94DB2E3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9444C4-8343-49BD-AF69-F0B05976498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434FBBB-F292-4AD8-B8B5-7163561F011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71</a:t>
            </a:r>
          </a:p>
        </p:txBody>
      </p:sp>
      <p:sp>
        <p:nvSpPr>
          <p:cNvPr id="6" name="">
            <a:extLst xmlns:a="http://schemas.openxmlformats.org/drawingml/2006/main">
              <a:ext uri="{FF2B5EF4-FFF2-40B4-BE49-F238E27FC236}">
                <a16:creationId xmlns:a16="http://schemas.microsoft.com/office/drawing/2014/main" id="{2B5327B6-E6C6-4355-A6DE-F641778CE164}"/>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EEEF4C-8AF7-4DCD-AA47-D97F6FEF5472}"/>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FUR-006 [석유정보] 석유시장 보고서 작성 AI 서비스</a:t>
            </a:r>
          </a:p>
        </p:txBody>
      </p:sp>
      <p:sp>
        <p:nvSpPr>
          <p:cNvPr id="8" name="">
            <a:extLst xmlns:a="http://schemas.openxmlformats.org/drawingml/2006/main">
              <a:ext uri="{FF2B5EF4-FFF2-40B4-BE49-F238E27FC236}">
                <a16:creationId xmlns:a16="http://schemas.microsoft.com/office/drawing/2014/main" id="{8E959D6D-0E65-4F1D-A9BC-E69C436D8085}"/>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시장 자료를 활용한 보고서 작성 지원.</a:t>
            </a:r>
          </a:p>
        </p:txBody>
      </p:sp>
      <p:sp>
        <p:nvSpPr>
          <p:cNvPr id="9" name="">
            <a:extLst xmlns:a="http://schemas.openxmlformats.org/drawingml/2006/main">
              <a:ext uri="{FF2B5EF4-FFF2-40B4-BE49-F238E27FC236}">
                <a16:creationId xmlns:a16="http://schemas.microsoft.com/office/drawing/2014/main" id="{B9BC452A-0CD6-4847-A5C9-0CCB8DBEAB12}"/>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C04 · C06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기준일·통화·단위 혼용, 숫자 인용, 최신 자료 누락의 항목별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a:t>
            </a:r>
          </a:p>
        </p:txBody>
      </p:sp>
    </p:spTree>
    <p:extLst>
      <p:ext uri="{BB962C8B-B14F-4D97-AF65-F5344CB8AC3E}">
        <p14:creationId xmlns:p14="http://schemas.microsoft.com/office/powerpoint/2010/main" val="101334324"/>
      </p:ext>
    </p:extLst>
  </p:cSld>
</p:sld>
</file>

<file path=ppt/slides/slide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C3F37C-767C-4D99-A177-7FC7144719D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CCK 분석 재구성 · 원문 도면 아님</a:t>
            </a:r>
          </a:p>
        </p:txBody>
      </p:sp>
      <p:sp>
        <p:nvSpPr>
          <p:cNvPr id="2" name="">
            <a:extLst xmlns:a="http://schemas.openxmlformats.org/drawingml/2006/main">
              <a:ext uri="{FF2B5EF4-FFF2-40B4-BE49-F238E27FC236}">
                <a16:creationId xmlns:a16="http://schemas.microsoft.com/office/drawing/2014/main" id="{94D0A79F-25CA-41DD-9993-672EEAB4C9F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생성형 AI · 6개 업무 영역 재구성</a:t>
            </a:r>
          </a:p>
        </p:txBody>
      </p:sp>
      <p:sp>
        <p:nvSpPr>
          <p:cNvPr id="3" name="">
            <a:extLst xmlns:a="http://schemas.openxmlformats.org/drawingml/2006/main">
              <a:ext uri="{FF2B5EF4-FFF2-40B4-BE49-F238E27FC236}">
                <a16:creationId xmlns:a16="http://schemas.microsoft.com/office/drawing/2014/main" id="{7981FA34-FA4C-4CA9-8FA4-CD19350083E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D6F824-7D02-42E3-A795-2943DF8F862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D774A7D-BCBA-4D09-B356-BC3B7299DB7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72</a:t>
            </a:r>
          </a:p>
        </p:txBody>
      </p:sp>
      <p:pic>
        <p:nvPicPr>
          <p:cNvPr id="6" name="">
            <a:extLst xmlns:a="http://schemas.openxmlformats.org/drawingml/2006/main">
              <a:ext uri="{FF2B5EF4-FFF2-40B4-BE49-F238E27FC236}">
                <a16:creationId xmlns:a16="http://schemas.microsoft.com/office/drawing/2014/main" id="{20B232D2-7488-4D08-94E8-7BD42B6A679C}"/>
              </a:ext>
            </a:extLst>
          </p:cNvPr>
          <p:cNvPicPr>
            <a:picLocks xmlns:a="http://schemas.openxmlformats.org/drawingml/2006/main" noChangeAspect="1"/>
          </p:cNvPicPr>
          <p:nvPr/>
        </p:nvPicPr>
        <p:blipFill>
          <a:blip xmlns:r="http://schemas.openxmlformats.org/officeDocument/2006/relationships" xmlns:a="http://schemas.openxmlformats.org/drawingml/2006/main" r:embed="R55ffbefa99e6440b"/>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230A2CF-01CB-41A7-A3D9-620852BBDE88}"/>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정정 RFP SER-001~004·FUR-001~006 / 원문 서비스 도면 미확인</a:t>
            </a:r>
          </a:p>
        </p:txBody>
      </p:sp>
    </p:spTree>
    <p:extLst>
      <p:ext uri="{BB962C8B-B14F-4D97-AF65-F5344CB8AC3E}">
        <p14:creationId xmlns:p14="http://schemas.microsoft.com/office/powerpoint/2010/main" val="34066422"/>
      </p:ext>
    </p:extLst>
  </p:cSld>
</p:sld>
</file>

<file path=ppt/slides/slide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15593376-9EF0-46CB-945B-FA5F5A25E056}"/>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03B885B-FC24-4041-BCC1-8C8AF3AE4517}"/>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00C85DC-E125-4046-8C3D-8C0C34C3A360}"/>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CE9C4B4-B495-4EFA-88E7-9AA1B3682F24}"/>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8E94C7E4-2A73-4B6E-8D76-8E095B35572D}"/>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66B214B-CE93-4DD2-B4DD-979BB6CEC430}"/>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1CE5D059-D05B-482C-BDC3-0F00B4DEE77A}"/>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27F96EFE-7D8E-4D9B-A993-20FEE068BC13}"/>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71B14733-188A-40D3-8613-6F71FB7A4DF2}"/>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A5309636-5E3D-443C-AB56-626B1013156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권한·목적 판정 후 허용·차단 분기</a:t>
            </a:r>
          </a:p>
        </p:txBody>
      </p:sp>
      <p:sp>
        <p:nvSpPr>
          <p:cNvPr id="2" name="">
            <a:extLst xmlns:a="http://schemas.openxmlformats.org/drawingml/2006/main">
              <a:ext uri="{FF2B5EF4-FFF2-40B4-BE49-F238E27FC236}">
                <a16:creationId xmlns:a16="http://schemas.microsoft.com/office/drawing/2014/main" id="{D29A128F-7B2F-43F6-AC38-4C75216AA68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세부 서비스 구조</a:t>
            </a:r>
          </a:p>
        </p:txBody>
      </p:sp>
      <p:sp>
        <p:nvSpPr>
          <p:cNvPr id="3" name="">
            <a:extLst xmlns:a="http://schemas.openxmlformats.org/drawingml/2006/main">
              <a:ext uri="{FF2B5EF4-FFF2-40B4-BE49-F238E27FC236}">
                <a16:creationId xmlns:a16="http://schemas.microsoft.com/office/drawing/2014/main" id="{80A6FF0B-D717-44AA-BB9F-8AC9ED383E4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C0E8702-567F-4E55-A868-6F2D08273BE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0213F8A-6E08-454A-B977-97E0574ED5F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73</a:t>
            </a:r>
          </a:p>
        </p:txBody>
      </p:sp>
      <p:sp>
        <p:nvSpPr>
          <p:cNvPr id="6" name="">
            <a:extLst xmlns:a="http://schemas.openxmlformats.org/drawingml/2006/main">
              <a:ext uri="{FF2B5EF4-FFF2-40B4-BE49-F238E27FC236}">
                <a16:creationId xmlns:a16="http://schemas.microsoft.com/office/drawing/2014/main" id="{11C0DB18-8DC9-47EF-8BE6-A4D988C2CEC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인사·안전 등 지식 → 도메인 RAG → 업무 앱·ERP → 권한·성과 관리</a:t>
            </a:r>
          </a:p>
        </p:txBody>
      </p:sp>
      <p:sp>
        <p:nvSpPr>
          <p:cNvPr id="7" name="">
            <a:extLst xmlns:a="http://schemas.openxmlformats.org/drawingml/2006/main">
              <a:ext uri="{FF2B5EF4-FFF2-40B4-BE49-F238E27FC236}">
                <a16:creationId xmlns:a16="http://schemas.microsoft.com/office/drawing/2014/main" id="{1AF55DFF-D593-4C2F-8BA1-AD5317C7EA9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5475617-2210-445A-9C34-5FFCCA469BB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EA8E7088-20B2-4C31-BA16-EB1BCE25418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직원·업무 앱</a:t>
            </a:r>
          </a:p>
        </p:txBody>
      </p:sp>
      <p:sp>
        <p:nvSpPr>
          <p:cNvPr id="10" name="">
            <a:extLst xmlns:a="http://schemas.openxmlformats.org/drawingml/2006/main">
              <a:ext uri="{FF2B5EF4-FFF2-40B4-BE49-F238E27FC236}">
                <a16:creationId xmlns:a16="http://schemas.microsoft.com/office/drawing/2014/main" id="{29047831-F3D6-4B10-81B2-6D50CB772DA0}"/>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603D836-7540-4C52-A1F8-AB22395D160E}"/>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700536B1-9FBA-47F1-ADF7-1ED008F1A39C}"/>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사번·소속·업무</a:t>
            </a:r>
          </a:p>
        </p:txBody>
      </p:sp>
      <p:sp>
        <p:nvSpPr>
          <p:cNvPr id="13" name="">
            <a:extLst xmlns:a="http://schemas.openxmlformats.org/drawingml/2006/main">
              <a:ext uri="{FF2B5EF4-FFF2-40B4-BE49-F238E27FC236}">
                <a16:creationId xmlns:a16="http://schemas.microsoft.com/office/drawing/2014/main" id="{1C7D524D-8372-4836-B94F-FEEAB6039650}"/>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B80FF61-B60F-47FE-A9B2-61430CEF53D3}"/>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2D74DE5E-1924-4641-8656-7677927C7C2A}"/>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문서·ERP 권한</a:t>
            </a:r>
          </a:p>
        </p:txBody>
      </p:sp>
      <p:sp>
        <p:nvSpPr>
          <p:cNvPr id="16" name="">
            <a:extLst xmlns:a="http://schemas.openxmlformats.org/drawingml/2006/main">
              <a:ext uri="{FF2B5EF4-FFF2-40B4-BE49-F238E27FC236}">
                <a16:creationId xmlns:a16="http://schemas.microsoft.com/office/drawing/2014/main" id="{1DBFB5FC-237E-447D-83CC-D64C1C62C347}"/>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1DFE9D0-DE5D-49C7-9D32-07F30F8BD0D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84E02C88-8F14-41F1-99A2-D9979CE3AC0F}"/>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권한·근거 대조</a:t>
            </a:r>
          </a:p>
        </p:txBody>
      </p:sp>
      <p:sp>
        <p:nvSpPr>
          <p:cNvPr id="19" name="">
            <a:extLst xmlns:a="http://schemas.openxmlformats.org/drawingml/2006/main">
              <a:ext uri="{FF2B5EF4-FFF2-40B4-BE49-F238E27FC236}">
                <a16:creationId xmlns:a16="http://schemas.microsoft.com/office/drawing/2014/main" id="{4DABA007-3F20-4D37-A31C-6507133BAB33}"/>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4BE8EB4-F028-43A3-940E-91A01648D671}"/>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422A052F-EA68-443E-8ADB-A61A7959C977}"/>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시추·설비·규정</a:t>
            </a:r>
          </a:p>
        </p:txBody>
      </p:sp>
      <p:sp>
        <p:nvSpPr>
          <p:cNvPr id="22" name="">
            <a:extLst xmlns:a="http://schemas.openxmlformats.org/drawingml/2006/main">
              <a:ext uri="{FF2B5EF4-FFF2-40B4-BE49-F238E27FC236}">
                <a16:creationId xmlns:a16="http://schemas.microsoft.com/office/drawing/2014/main" id="{237E448E-8AD4-4808-B3FB-C7ECE298E73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B1E870D-2486-471B-8708-0117BD66631E}"/>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A6EC1DF9-923F-4ECF-9C96-8329FA1E17A0}"/>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6개 특화 AI 처리</a:t>
            </a:r>
          </a:p>
        </p:txBody>
      </p:sp>
      <p:sp>
        <p:nvSpPr>
          <p:cNvPr id="25" name="">
            <a:extLst xmlns:a="http://schemas.openxmlformats.org/drawingml/2006/main">
              <a:ext uri="{FF2B5EF4-FFF2-40B4-BE49-F238E27FC236}">
                <a16:creationId xmlns:a16="http://schemas.microsoft.com/office/drawing/2014/main" id="{A85B636A-6B45-48B2-81C0-1907A21AF3F1}"/>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8FB224C-DA51-4EBF-8196-323082FA0E0C}"/>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87B40487-D71D-4CCB-BFA9-35426B35FC0C}"/>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승인</a:t>
            </a:r>
          </a:p>
        </p:txBody>
      </p:sp>
      <p:sp>
        <p:nvSpPr>
          <p:cNvPr id="28" name="">
            <a:extLst xmlns:a="http://schemas.openxmlformats.org/drawingml/2006/main">
              <a:ext uri="{FF2B5EF4-FFF2-40B4-BE49-F238E27FC236}">
                <a16:creationId xmlns:a16="http://schemas.microsoft.com/office/drawing/2014/main" id="{2489DB4E-6465-406D-B8D5-FA0E4678270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E4FFAF2-5402-45D8-A569-7FF8F296FECB}"/>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D081524B-63B9-4280-ACEA-B7A2428585BE}"/>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ERP·보고서 연계</a:t>
            </a:r>
          </a:p>
        </p:txBody>
      </p:sp>
      <p:sp>
        <p:nvSpPr>
          <p:cNvPr id="31" name="">
            <a:extLst xmlns:a="http://schemas.openxmlformats.org/drawingml/2006/main">
              <a:ext uri="{FF2B5EF4-FFF2-40B4-BE49-F238E27FC236}">
                <a16:creationId xmlns:a16="http://schemas.microsoft.com/office/drawing/2014/main" id="{57AE4C9B-0EF0-40D2-9491-2E0569ACFC12}"/>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654F4E4-B153-4773-A0E0-B7DC6D95687E}"/>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C170FCD9-5147-4FAA-B7AB-C85D3A23F6D5}"/>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도메인별 평가</a:t>
            </a:r>
          </a:p>
        </p:txBody>
      </p:sp>
      <p:sp>
        <p:nvSpPr>
          <p:cNvPr id="34" name="">
            <a:extLst xmlns:a="http://schemas.openxmlformats.org/drawingml/2006/main">
              <a:ext uri="{FF2B5EF4-FFF2-40B4-BE49-F238E27FC236}">
                <a16:creationId xmlns:a16="http://schemas.microsoft.com/office/drawing/2014/main" id="{75A1C80F-91B9-4AE1-9D4F-17D95295ECDD}"/>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4E7168D-AA73-47AE-9A6E-B532F1B3075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0FC121C4-E839-4673-AF31-9CA741EAB6B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도메인 RAG 색</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a:t>
            </a:r>
          </a:p>
        </p:txBody>
      </p:sp>
      <p:sp>
        <p:nvSpPr>
          <p:cNvPr id="46" name="">
            <a:extLst xmlns:a="http://schemas.openxmlformats.org/drawingml/2006/main">
              <a:ext uri="{FF2B5EF4-FFF2-40B4-BE49-F238E27FC236}">
                <a16:creationId xmlns:a16="http://schemas.microsoft.com/office/drawing/2014/main" id="{3DCAA3FC-8786-498F-8773-4AA54D948A8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996247166"/>
      </p:ext>
    </p:extLst>
  </p:cSld>
</p:sld>
</file>

<file path=ppt/slides/slide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B188AA4-BF31-476B-B07B-DD952884172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논리 인터페이스·복구 설계</a:t>
            </a:r>
          </a:p>
        </p:txBody>
      </p:sp>
      <p:sp>
        <p:nvSpPr>
          <p:cNvPr id="2" name="">
            <a:extLst xmlns:a="http://schemas.openxmlformats.org/drawingml/2006/main">
              <a:ext uri="{FF2B5EF4-FFF2-40B4-BE49-F238E27FC236}">
                <a16:creationId xmlns:a16="http://schemas.microsoft.com/office/drawing/2014/main" id="{C3FFD8F4-FFDA-441D-A282-DEF25E6A90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데이터와 예외 처리</a:t>
            </a:r>
          </a:p>
        </p:txBody>
      </p:sp>
      <p:sp>
        <p:nvSpPr>
          <p:cNvPr id="3" name="">
            <a:extLst xmlns:a="http://schemas.openxmlformats.org/drawingml/2006/main">
              <a:ext uri="{FF2B5EF4-FFF2-40B4-BE49-F238E27FC236}">
                <a16:creationId xmlns:a16="http://schemas.microsoft.com/office/drawing/2014/main" id="{13ABAA1C-6488-436F-8E6F-22F49D37EC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4A4DC3-85D9-4E88-8EE6-3ADE0638220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9D41DBB-559E-4458-A29A-6C32AB55856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74</a:t>
            </a:r>
          </a:p>
        </p:txBody>
      </p:sp>
      <p:sp>
        <p:nvSpPr>
          <p:cNvPr id="6" name="">
            <a:extLst xmlns:a="http://schemas.openxmlformats.org/drawingml/2006/main">
              <a:ext uri="{FF2B5EF4-FFF2-40B4-BE49-F238E27FC236}">
                <a16:creationId xmlns:a16="http://schemas.microsoft.com/office/drawing/2014/main" id="{6D054103-2580-4001-9716-749B68C6D9E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ACC6585-2E31-46BC-B9F7-1EACF98A0BD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8EA39DCD-1E37-46B3-B4F1-81155CCBF9B0}"/>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191EBCF1-9DA9-4C82-BD68-BE354613769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사번·소속·직급·업무분장 기반 접근 판정</a:t>
            </a:r>
          </a:p>
        </p:txBody>
      </p:sp>
      <p:sp>
        <p:nvSpPr>
          <p:cNvPr id="10" name="">
            <a:extLst xmlns:a="http://schemas.openxmlformats.org/drawingml/2006/main">
              <a:ext uri="{FF2B5EF4-FFF2-40B4-BE49-F238E27FC236}">
                <a16:creationId xmlns:a16="http://schemas.microsoft.com/office/drawing/2014/main" id="{BC43071C-997D-4A39-939C-85E3EF708FC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D4C7493-5513-4549-88EA-D901EAD3BA1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53518DE7-A2C4-4E75-8389-C118761C42C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목적</a:t>
            </a:r>
          </a:p>
        </p:txBody>
      </p:sp>
      <p:sp>
        <p:nvSpPr>
          <p:cNvPr id="13" name="">
            <a:extLst xmlns:a="http://schemas.openxmlformats.org/drawingml/2006/main">
              <a:ext uri="{FF2B5EF4-FFF2-40B4-BE49-F238E27FC236}">
                <a16:creationId xmlns:a16="http://schemas.microsoft.com/office/drawing/2014/main" id="{2028A491-C4AD-4EAE-9352-92AA30D8894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D0CA2B-8860-4D57-AD30-7F1ED2D8CBEB}"/>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575A94E0-257E-4AA0-BD68-A990EEA9919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문서·ERP 권한</a:t>
            </a:r>
          </a:p>
        </p:txBody>
      </p:sp>
      <p:sp>
        <p:nvSpPr>
          <p:cNvPr id="16" name="">
            <a:extLst xmlns:a="http://schemas.openxmlformats.org/drawingml/2006/main">
              <a:ext uri="{FF2B5EF4-FFF2-40B4-BE49-F238E27FC236}">
                <a16:creationId xmlns:a16="http://schemas.microsoft.com/office/drawing/2014/main" id="{1D0A6ABF-C1AB-4A3E-9D65-6EFFAFAF143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2B4DA94-3653-460E-B82F-280CFF29D2D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E94A484C-4EA7-4C84-8376-80FD253731F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19" name="">
            <a:extLst xmlns:a="http://schemas.openxmlformats.org/drawingml/2006/main">
              <a:ext uri="{FF2B5EF4-FFF2-40B4-BE49-F238E27FC236}">
                <a16:creationId xmlns:a16="http://schemas.microsoft.com/office/drawing/2014/main" id="{253F3B7D-EFA5-47FB-AF53-57DF09A7978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19947EB-6088-4456-AC91-31B70E07406D}"/>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F9B12762-D047-4BBA-81BC-57BFED19DB4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초안</a:t>
            </a:r>
          </a:p>
        </p:txBody>
      </p:sp>
      <p:sp>
        <p:nvSpPr>
          <p:cNvPr id="22" name="">
            <a:extLst xmlns:a="http://schemas.openxmlformats.org/drawingml/2006/main">
              <a:ext uri="{FF2B5EF4-FFF2-40B4-BE49-F238E27FC236}">
                <a16:creationId xmlns:a16="http://schemas.microsoft.com/office/drawing/2014/main" id="{47E3398E-7A99-4DAE-A623-785744E4825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2879D59-901F-41D9-8774-4D539D423CD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AE73A0EB-6026-48F4-AA0A-668252E3EAD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업무 처리</a:t>
            </a:r>
          </a:p>
        </p:txBody>
      </p:sp>
      <p:sp>
        <p:nvSpPr>
          <p:cNvPr id="25" name="">
            <a:extLst xmlns:a="http://schemas.openxmlformats.org/drawingml/2006/main">
              <a:ext uri="{FF2B5EF4-FFF2-40B4-BE49-F238E27FC236}">
                <a16:creationId xmlns:a16="http://schemas.microsoft.com/office/drawing/2014/main" id="{018D46B8-8AEE-4134-AA90-F5FCB02DA7E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825364B-BAA6-46C1-B6F7-AC2B10ADCAF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직급·근속 변경·다른 도메인 자료·시추 원문 누락</a:t>
            </a:r>
          </a:p>
        </p:txBody>
      </p:sp>
      <p:sp>
        <p:nvSpPr>
          <p:cNvPr id="27" name="">
            <a:extLst xmlns:a="http://schemas.openxmlformats.org/drawingml/2006/main">
              <a:ext uri="{FF2B5EF4-FFF2-40B4-BE49-F238E27FC236}">
                <a16:creationId xmlns:a16="http://schemas.microsoft.com/office/drawing/2014/main" id="{2AF16159-0ECE-413F-9986-29337D6673C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32D2DE3-419B-4F18-AE19-A34696BEAC0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도메인 경계·현업 승인·결과 대사</a:t>
            </a:r>
          </a:p>
        </p:txBody>
      </p:sp>
      <p:sp>
        <p:nvSpPr>
          <p:cNvPr id="29" name="">
            <a:extLst xmlns:a="http://schemas.openxmlformats.org/drawingml/2006/main">
              <a:ext uri="{FF2B5EF4-FFF2-40B4-BE49-F238E27FC236}">
                <a16:creationId xmlns:a16="http://schemas.microsoft.com/office/drawing/2014/main" id="{BBF04462-BB38-4D27-850C-D68362106711}"/>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8ACE4BFC-6899-450D-9098-A927A523C51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변경 이력·도메인 평가·업무별 운영 관리</a:t>
            </a:r>
          </a:p>
        </p:txBody>
      </p:sp>
      <p:sp>
        <p:nvSpPr>
          <p:cNvPr id="31" name="">
            <a:extLst xmlns:a="http://schemas.openxmlformats.org/drawingml/2006/main">
              <a:ext uri="{FF2B5EF4-FFF2-40B4-BE49-F238E27FC236}">
                <a16:creationId xmlns:a16="http://schemas.microsoft.com/office/drawing/2014/main" id="{008E7A3E-E580-46FB-A16C-8670059AF05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0DC4829-4DDD-49D8-861C-1454D882195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라우팅·접근 결과와 원천 인용·변경 이력</a:t>
            </a:r>
          </a:p>
        </p:txBody>
      </p:sp>
    </p:spTree>
    <p:extLst>
      <p:ext uri="{BB962C8B-B14F-4D97-AF65-F5344CB8AC3E}">
        <p14:creationId xmlns:p14="http://schemas.microsoft.com/office/powerpoint/2010/main" val="2043100032"/>
      </p:ext>
    </p:extLst>
  </p:cSld>
</p:sld>
</file>

<file path=ppt/slides/slide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E2762F-CCF1-4BAB-9065-40F395D52F2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PF-R09 / CCK 비교·재현 시험 설계</a:t>
            </a:r>
          </a:p>
        </p:txBody>
      </p:sp>
      <p:sp>
        <p:nvSpPr>
          <p:cNvPr id="2" name="">
            <a:extLst xmlns:a="http://schemas.openxmlformats.org/drawingml/2006/main">
              <a:ext uri="{FF2B5EF4-FFF2-40B4-BE49-F238E27FC236}">
                <a16:creationId xmlns:a16="http://schemas.microsoft.com/office/drawing/2014/main" id="{717D6FA4-7B32-4A09-9D83-3363FF0E08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석유공사 업무 AI · 벤치마킹</a:t>
            </a:r>
          </a:p>
        </p:txBody>
      </p:sp>
      <p:sp>
        <p:nvSpPr>
          <p:cNvPr id="3" name="">
            <a:extLst xmlns:a="http://schemas.openxmlformats.org/drawingml/2006/main">
              <a:ext uri="{FF2B5EF4-FFF2-40B4-BE49-F238E27FC236}">
                <a16:creationId xmlns:a16="http://schemas.microsoft.com/office/drawing/2014/main" id="{5911BA57-5F8F-4ABA-9B14-B1638112C9C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B67571-8D24-49C9-93CF-FD0EFC4EC10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1C6131A-7230-4BE9-9A7B-A8C6E4DDE33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75</a:t>
            </a:r>
          </a:p>
        </p:txBody>
      </p:sp>
      <p:sp>
        <p:nvSpPr>
          <p:cNvPr id="6" name="">
            <a:extLst xmlns:a="http://schemas.openxmlformats.org/drawingml/2006/main">
              <a:ext uri="{FF2B5EF4-FFF2-40B4-BE49-F238E27FC236}">
                <a16:creationId xmlns:a16="http://schemas.microsoft.com/office/drawing/2014/main" id="{4F6B0738-0C07-425E-9E86-38EC5B20FE9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ECFF294C-F82B-4D68-ADD6-244169CB801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챗봇과 6개 도메인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지식·ERP 경로의 결합</a:t>
            </a:r>
          </a:p>
        </p:txBody>
      </p:sp>
      <p:sp>
        <p:nvSpPr>
          <p:cNvPr id="8" name="">
            <a:extLst xmlns:a="http://schemas.openxmlformats.org/drawingml/2006/main">
              <a:ext uri="{FF2B5EF4-FFF2-40B4-BE49-F238E27FC236}">
                <a16:creationId xmlns:a16="http://schemas.microsoft.com/office/drawing/2014/main" id="{FDE7B9C9-4C8E-4FE0-987F-CD86139DB15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DB9FC84-1039-41E5-91FE-66903A88A4F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도메인 지식의 혼합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안전·시추 권고를 자동 실행</a:t>
            </a:r>
          </a:p>
        </p:txBody>
      </p:sp>
      <p:sp>
        <p:nvSpPr>
          <p:cNvPr id="10" name="">
            <a:extLst xmlns:a="http://schemas.openxmlformats.org/drawingml/2006/main">
              <a:ext uri="{FF2B5EF4-FFF2-40B4-BE49-F238E27FC236}">
                <a16:creationId xmlns:a16="http://schemas.microsoft.com/office/drawing/2014/main" id="{C668F8A5-9372-4C08-A286-2B6745E20FF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1DE58450-7FD9-4C4E-A2C8-CF1C72EC28EA}"/>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도메인 경계·현업 승인·결과 대사</a:t>
            </a:r>
          </a:p>
        </p:txBody>
      </p:sp>
      <p:sp>
        <p:nvSpPr>
          <p:cNvPr id="12" name="">
            <a:extLst xmlns:a="http://schemas.openxmlformats.org/drawingml/2006/main">
              <a:ext uri="{FF2B5EF4-FFF2-40B4-BE49-F238E27FC236}">
                <a16:creationId xmlns:a16="http://schemas.microsoft.com/office/drawing/2014/main" id="{3C678DB5-FE25-4DCF-B338-C817958CE9DE}"/>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4E56AC6-B3A3-4736-85ED-8DD159AB5CC1}"/>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직원의 업무 목적을 6개 도메인 중 해당 앱으로 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결</a:t>
            </a:r>
          </a:p>
        </p:txBody>
      </p:sp>
      <p:sp>
        <p:nvSpPr>
          <p:cNvPr id="14" name="">
            <a:extLst xmlns:a="http://schemas.openxmlformats.org/drawingml/2006/main">
              <a:ext uri="{FF2B5EF4-FFF2-40B4-BE49-F238E27FC236}">
                <a16:creationId xmlns:a16="http://schemas.microsoft.com/office/drawing/2014/main" id="{515ED808-2BBD-4A17-9D64-34763B51AC2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2B6B7FEB-A7C1-447C-BD4D-4898DBDA52A9}"/>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직급·근속 변경·다른 도메인 자료·시추 원문 누락</a:t>
            </a:r>
          </a:p>
        </p:txBody>
      </p:sp>
      <p:sp>
        <p:nvSpPr>
          <p:cNvPr id="16" name="">
            <a:extLst xmlns:a="http://schemas.openxmlformats.org/drawingml/2006/main">
              <a:ext uri="{FF2B5EF4-FFF2-40B4-BE49-F238E27FC236}">
                <a16:creationId xmlns:a16="http://schemas.microsoft.com/office/drawing/2014/main" id="{9E4A8CD5-0CDD-4BCF-8F7B-1F9398E8DC2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922C2D7-C18C-4ADB-B6D7-E5F072F7605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라우팅·접근 결과와 원천 인용·변경 이력</a:t>
            </a:r>
          </a:p>
        </p:txBody>
      </p:sp>
    </p:spTree>
    <p:extLst>
      <p:ext uri="{BB962C8B-B14F-4D97-AF65-F5344CB8AC3E}">
        <p14:creationId xmlns:p14="http://schemas.microsoft.com/office/powerpoint/2010/main" val="1886908260"/>
      </p:ext>
    </p:extLst>
  </p:cSld>
</p:sld>
</file>

<file path=ppt/slides/slide7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F083B06-1608-48F9-9343-4363440A130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공통기반 운영 / 업무 앱 시범 / 국내</a:t>
            </a:r>
          </a:p>
        </p:txBody>
      </p:sp>
      <p:sp>
        <p:nvSpPr>
          <p:cNvPr id="2" name="">
            <a:extLst xmlns:a="http://schemas.openxmlformats.org/drawingml/2006/main">
              <a:ext uri="{FF2B5EF4-FFF2-40B4-BE49-F238E27FC236}">
                <a16:creationId xmlns:a16="http://schemas.microsoft.com/office/drawing/2014/main" id="{EA81E4E8-441B-4D2B-8CD9-7EBF08B5215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a:t>
            </a:r>
          </a:p>
        </p:txBody>
      </p:sp>
      <p:sp>
        <p:nvSpPr>
          <p:cNvPr id="3" name="">
            <a:extLst xmlns:a="http://schemas.openxmlformats.org/drawingml/2006/main">
              <a:ext uri="{FF2B5EF4-FFF2-40B4-BE49-F238E27FC236}">
                <a16:creationId xmlns:a16="http://schemas.microsoft.com/office/drawing/2014/main" id="{CD93409D-DACF-4202-9F1D-5053B40D1B8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8EDBEF-213A-4435-9571-961CD16684B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C06662E-74A2-43B1-A9A5-EBCFC844FEF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76</a:t>
            </a:r>
          </a:p>
        </p:txBody>
      </p:sp>
      <p:sp>
        <p:nvSpPr>
          <p:cNvPr id="6" name="">
            <a:extLst xmlns:a="http://schemas.openxmlformats.org/drawingml/2006/main">
              <a:ext uri="{FF2B5EF4-FFF2-40B4-BE49-F238E27FC236}">
                <a16:creationId xmlns:a16="http://schemas.microsoft.com/office/drawing/2014/main" id="{63DDD879-40A4-4B93-A140-8998FE161CA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93FF2CC-0FCE-42B9-805F-3C2304F5DCB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범정부 AI 공통기반과 법령비서의 시범 서비스 사례. 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통 AI 이용 환경에 법령·판례 자료를 결합해 직원의 규정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탐색과 근거 확인을 지원하는 구조.</a:t>
            </a:r>
          </a:p>
        </p:txBody>
      </p:sp>
      <p:sp>
        <p:nvSpPr>
          <p:cNvPr id="8" name="">
            <a:extLst xmlns:a="http://schemas.openxmlformats.org/drawingml/2006/main">
              <a:ext uri="{FF2B5EF4-FFF2-40B4-BE49-F238E27FC236}">
                <a16:creationId xmlns:a16="http://schemas.microsoft.com/office/drawing/2014/main" id="{71B4CFEA-7CEA-410D-9CE5-590414E891C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52AAB69-8708-4F12-A6C0-7D44919EB54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공개된 서비스 범위에 따라 로그인·질의 문맥·법령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근거 응답·사용자 검토로 재구성. 적용 시점과 법령·판례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관계를 검색 메타데이터로 유지하고 생성 답변에서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해당 원문으로 돌아가는 확인 경로의 구성.</a:t>
            </a:r>
          </a:p>
        </p:txBody>
      </p:sp>
      <p:sp>
        <p:nvSpPr>
          <p:cNvPr id="10" name="">
            <a:extLst xmlns:a="http://schemas.openxmlformats.org/drawingml/2006/main">
              <a:ext uri="{FF2B5EF4-FFF2-40B4-BE49-F238E27FC236}">
                <a16:creationId xmlns:a16="http://schemas.microsoft.com/office/drawing/2014/main" id="{8BB5B77D-1FBC-4A57-8AA6-8364D49F794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E8B2DFF-FD7D-4F4E-A26C-D5730B74C4A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법령 지식의 공통 이용과 부서별 업무 책임의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연결을 구분해 추가 개발할 필요. 같은 질문의 담당 직무·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시행일별 적용 기준, 폐지·개정 조문 혼용, 근거 없는 단정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응답을 검수 대상으로 설정.</a:t>
            </a:r>
          </a:p>
        </p:txBody>
      </p:sp>
      <p:sp>
        <p:nvSpPr>
          <p:cNvPr id="12" name="">
            <a:extLst xmlns:a="http://schemas.openxmlformats.org/drawingml/2006/main">
              <a:ext uri="{FF2B5EF4-FFF2-40B4-BE49-F238E27FC236}">
                <a16:creationId xmlns:a16="http://schemas.microsoft.com/office/drawing/2014/main" id="{D206996A-F47C-4B6F-BD6A-8C24F2650E3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6E9FDEF-117C-44DB-BB7B-AAC3984E702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소관·직무·규정 판본 연결 및 부서별 정답셋</a:t>
            </a:r>
          </a:p>
        </p:txBody>
      </p:sp>
      <p:sp>
        <p:nvSpPr>
          <p:cNvPr id="14" name="">
            <a:extLst xmlns:a="http://schemas.openxmlformats.org/drawingml/2006/main">
              <a:ext uri="{FF2B5EF4-FFF2-40B4-BE49-F238E27FC236}">
                <a16:creationId xmlns:a16="http://schemas.microsoft.com/office/drawing/2014/main" id="{B48D8E86-0B13-41FD-9275-A17901FCABF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EE0F312-7924-4697-A8F7-6889CF8534A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규정 질의의 판본·출처·소관 일치 검증</a:t>
            </a:r>
          </a:p>
        </p:txBody>
      </p:sp>
      <p:sp>
        <p:nvSpPr>
          <p:cNvPr id="16" name="">
            <a:extLst xmlns:a="http://schemas.openxmlformats.org/drawingml/2006/main">
              <a:ext uri="{FF2B5EF4-FFF2-40B4-BE49-F238E27FC236}">
                <a16:creationId xmlns:a16="http://schemas.microsoft.com/office/drawing/2014/main" id="{18A6526F-C5B2-4F2C-9973-2482A0A0B38E}"/>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0CBFB69-A0A8-46A6-9217-74AC818FDF0B}"/>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7C802CA8-A7A3-4AB3-8E09-4371140C7E6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시범 개시와 범정부 확산 계획의 구분 · 업무시간 절감 실측 별도</a:t>
            </a:r>
          </a:p>
        </p:txBody>
      </p:sp>
    </p:spTree>
    <p:extLst>
      <p:ext uri="{BB962C8B-B14F-4D97-AF65-F5344CB8AC3E}">
        <p14:creationId xmlns:p14="http://schemas.microsoft.com/office/powerpoint/2010/main" val="1286076553"/>
      </p:ext>
    </p:extLst>
  </p:cSld>
</p:sld>
</file>

<file path=ppt/slides/slide7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90AF6229-B759-47B6-9EB1-F0B3414EEEC9}"/>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1702AE7-29B4-4317-B258-DA8F45AB36E0}"/>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13CBE6B-3C01-4CF1-961F-994C51DC8794}"/>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A1B58A0-6617-4120-BCD8-0B248F925088}"/>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60CB22CF-E61D-46AF-B9D3-874E22523CEC}"/>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E31A0A0-6C3D-47C6-90CA-2941368D52A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9CF452A9-9F3B-4DB0-A099-67E71F3FB45C}"/>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4E80EAE-9583-4F96-AE07-DD2C00CCD087}"/>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FA20FE08-2AEC-4158-BF95-7EAD38D0788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364D2C28-47F1-4459-A3D5-193A49CE9AD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지식 갱신·검색·근거 응답</a:t>
            </a:r>
          </a:p>
        </p:txBody>
      </p:sp>
      <p:sp>
        <p:nvSpPr>
          <p:cNvPr id="2" name="">
            <a:extLst xmlns:a="http://schemas.openxmlformats.org/drawingml/2006/main">
              <a:ext uri="{FF2B5EF4-FFF2-40B4-BE49-F238E27FC236}">
                <a16:creationId xmlns:a16="http://schemas.microsoft.com/office/drawing/2014/main" id="{6A72DBAF-99D8-4D22-A34A-83875ED7505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세부 서비스 구조</a:t>
            </a:r>
          </a:p>
        </p:txBody>
      </p:sp>
      <p:sp>
        <p:nvSpPr>
          <p:cNvPr id="3" name="">
            <a:extLst xmlns:a="http://schemas.openxmlformats.org/drawingml/2006/main">
              <a:ext uri="{FF2B5EF4-FFF2-40B4-BE49-F238E27FC236}">
                <a16:creationId xmlns:a16="http://schemas.microsoft.com/office/drawing/2014/main" id="{E8796DF0-D362-42BA-843B-A758B837273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F72DA9-2DAB-44A0-88F1-22ACDC01D61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853EC4E-8483-46B8-B596-CF6693F353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77</a:t>
            </a:r>
          </a:p>
        </p:txBody>
      </p:sp>
      <p:sp>
        <p:nvSpPr>
          <p:cNvPr id="6" name="">
            <a:extLst xmlns:a="http://schemas.openxmlformats.org/drawingml/2006/main">
              <a:ext uri="{FF2B5EF4-FFF2-40B4-BE49-F238E27FC236}">
                <a16:creationId xmlns:a16="http://schemas.microsoft.com/office/drawing/2014/main" id="{A3905EA6-12C9-444A-8842-46FECABBC55B}"/>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공통 이용환경 → 공통 모델·검색 → 법령·판례 지식 → 법령비서·직원 검토</a:t>
            </a:r>
          </a:p>
        </p:txBody>
      </p:sp>
      <p:sp>
        <p:nvSpPr>
          <p:cNvPr id="7" name="">
            <a:extLst xmlns:a="http://schemas.openxmlformats.org/drawingml/2006/main">
              <a:ext uri="{FF2B5EF4-FFF2-40B4-BE49-F238E27FC236}">
                <a16:creationId xmlns:a16="http://schemas.microsoft.com/office/drawing/2014/main" id="{35C83444-6029-43F5-8FE9-AC221DCCBE0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5D1B68C-0FE2-475D-8FCD-BCC51971996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D4E2E172-B2C1-4333-9970-80E110DE28C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법령·문서</a:t>
            </a:r>
          </a:p>
        </p:txBody>
      </p:sp>
      <p:sp>
        <p:nvSpPr>
          <p:cNvPr id="10" name="">
            <a:extLst xmlns:a="http://schemas.openxmlformats.org/drawingml/2006/main">
              <a:ext uri="{FF2B5EF4-FFF2-40B4-BE49-F238E27FC236}">
                <a16:creationId xmlns:a16="http://schemas.microsoft.com/office/drawing/2014/main" id="{CFDCFB78-BB5E-44C5-AC91-92DE0CF042E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B9DD8482-6DAD-4EB5-9116-9BDB22C6C7CB}"/>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2DA6EE4F-1D32-4E42-BBA2-41D7ABF4E56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기준일·근거 정리</a:t>
            </a:r>
          </a:p>
        </p:txBody>
      </p:sp>
      <p:sp>
        <p:nvSpPr>
          <p:cNvPr id="13" name="">
            <a:extLst xmlns:a="http://schemas.openxmlformats.org/drawingml/2006/main">
              <a:ext uri="{FF2B5EF4-FFF2-40B4-BE49-F238E27FC236}">
                <a16:creationId xmlns:a16="http://schemas.microsoft.com/office/drawing/2014/main" id="{6B1669E2-FF21-4F68-9B54-03303937D827}"/>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830D4E9F-D054-4AF0-B953-A042D5D12F37}"/>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37CB2E09-ABE6-4A3C-8EF2-107D438471BD}"/>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지식·평가 자료</a:t>
            </a:r>
          </a:p>
        </p:txBody>
      </p:sp>
      <p:sp>
        <p:nvSpPr>
          <p:cNvPr id="16" name="">
            <a:extLst xmlns:a="http://schemas.openxmlformats.org/drawingml/2006/main">
              <a:ext uri="{FF2B5EF4-FFF2-40B4-BE49-F238E27FC236}">
                <a16:creationId xmlns:a16="http://schemas.microsoft.com/office/drawing/2014/main" id="{75D83058-607F-4C4F-90E8-C0403D242BC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184660C-315B-40AD-82DD-08F350020D1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D134D30C-E0D1-4B14-A7B7-C496F1722CC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법령·판례 검색</a:t>
            </a:r>
          </a:p>
        </p:txBody>
      </p:sp>
      <p:sp>
        <p:nvSpPr>
          <p:cNvPr id="19" name="">
            <a:extLst xmlns:a="http://schemas.openxmlformats.org/drawingml/2006/main">
              <a:ext uri="{FF2B5EF4-FFF2-40B4-BE49-F238E27FC236}">
                <a16:creationId xmlns:a16="http://schemas.microsoft.com/office/drawing/2014/main" id="{AE6B82FF-02E6-4645-B45B-BDD7F78CD587}"/>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E1A0F07-B1B7-4BB4-AEA7-7C3B92DA9113}"/>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0D96F821-8054-4245-ABAD-C5858A118AD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직원 접점</a:t>
            </a:r>
          </a:p>
        </p:txBody>
      </p:sp>
      <p:sp>
        <p:nvSpPr>
          <p:cNvPr id="22" name="">
            <a:extLst xmlns:a="http://schemas.openxmlformats.org/drawingml/2006/main">
              <a:ext uri="{FF2B5EF4-FFF2-40B4-BE49-F238E27FC236}">
                <a16:creationId xmlns:a16="http://schemas.microsoft.com/office/drawing/2014/main" id="{778E2802-583B-4C45-9E78-35054F55FFF6}"/>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4F9EB64-6700-4B2D-9157-18C3BB7542FD}"/>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277F8EE-6C8B-48AC-822C-2543EDE5CC55}"/>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질의·적용시점</a:t>
            </a:r>
          </a:p>
        </p:txBody>
      </p:sp>
      <p:sp>
        <p:nvSpPr>
          <p:cNvPr id="25" name="">
            <a:extLst xmlns:a="http://schemas.openxmlformats.org/drawingml/2006/main">
              <a:ext uri="{FF2B5EF4-FFF2-40B4-BE49-F238E27FC236}">
                <a16:creationId xmlns:a16="http://schemas.microsoft.com/office/drawing/2014/main" id="{C059F39D-1376-4F04-A085-9A76A64F2CAB}"/>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EECB3BD-35D4-4FEF-8B27-98CDD775DAA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8258289F-D6FE-4354-9877-2BE2042B45FF}"/>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공통 AI·법령비서</a:t>
            </a:r>
          </a:p>
        </p:txBody>
      </p:sp>
      <p:sp>
        <p:nvSpPr>
          <p:cNvPr id="28" name="">
            <a:extLst xmlns:a="http://schemas.openxmlformats.org/drawingml/2006/main">
              <a:ext uri="{FF2B5EF4-FFF2-40B4-BE49-F238E27FC236}">
                <a16:creationId xmlns:a16="http://schemas.microsoft.com/office/drawing/2014/main" id="{6F25F39D-78BE-4644-BE32-B522EE69020F}"/>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4342A3E-BD89-4C8B-BD23-4B611C2DCE37}"/>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11C73616-11A8-414C-8FB0-ACBA516ADE31}"/>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조문·시점 대조</a:t>
            </a:r>
          </a:p>
        </p:txBody>
      </p:sp>
      <p:sp>
        <p:nvSpPr>
          <p:cNvPr id="31" name="">
            <a:extLst xmlns:a="http://schemas.openxmlformats.org/drawingml/2006/main">
              <a:ext uri="{FF2B5EF4-FFF2-40B4-BE49-F238E27FC236}">
                <a16:creationId xmlns:a16="http://schemas.microsoft.com/office/drawing/2014/main" id="{80130804-A43D-4A7E-A82E-5D89D24CEF4A}"/>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86100A73-8D83-41A3-A9A2-1F7D7F894617}"/>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078AD2B1-E047-48C2-B006-BCA4FE5E9CE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법제 담당 검토</a:t>
            </a:r>
          </a:p>
        </p:txBody>
      </p:sp>
      <p:sp>
        <p:nvSpPr>
          <p:cNvPr id="34" name="">
            <a:extLst xmlns:a="http://schemas.openxmlformats.org/drawingml/2006/main">
              <a:ext uri="{FF2B5EF4-FFF2-40B4-BE49-F238E27FC236}">
                <a16:creationId xmlns:a16="http://schemas.microsoft.com/office/drawing/2014/main" id="{0B460AEB-E755-4FAF-B862-3E28A3371350}"/>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6C0D7199-5C2D-4C25-B094-99E221CD0F67}"/>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E2EF8329-8214-4B48-A2CE-ADC0C5AF6839}"/>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문서 참고</a:t>
            </a:r>
          </a:p>
        </p:txBody>
      </p:sp>
      <p:sp>
        <p:nvSpPr>
          <p:cNvPr id="46" name="">
            <a:extLst xmlns:a="http://schemas.openxmlformats.org/drawingml/2006/main">
              <a:ext uri="{FF2B5EF4-FFF2-40B4-BE49-F238E27FC236}">
                <a16:creationId xmlns:a16="http://schemas.microsoft.com/office/drawing/2014/main" id="{4AD74751-0D48-4121-A40A-FB6A03B4D96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22657743"/>
      </p:ext>
    </p:extLst>
  </p:cSld>
</p:sld>
</file>

<file path=ppt/slides/slide7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76E9D51-4E1D-4B58-AEE7-B11C59E9761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논리 인터페이스·복구 설계</a:t>
            </a:r>
          </a:p>
        </p:txBody>
      </p:sp>
      <p:sp>
        <p:nvSpPr>
          <p:cNvPr id="2" name="">
            <a:extLst xmlns:a="http://schemas.openxmlformats.org/drawingml/2006/main">
              <a:ext uri="{FF2B5EF4-FFF2-40B4-BE49-F238E27FC236}">
                <a16:creationId xmlns:a16="http://schemas.microsoft.com/office/drawing/2014/main" id="{959A10A8-CE2B-4C24-ADF8-DFAB8514DC5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데이터와 예외 처리</a:t>
            </a:r>
          </a:p>
        </p:txBody>
      </p:sp>
      <p:sp>
        <p:nvSpPr>
          <p:cNvPr id="3" name="">
            <a:extLst xmlns:a="http://schemas.openxmlformats.org/drawingml/2006/main">
              <a:ext uri="{FF2B5EF4-FFF2-40B4-BE49-F238E27FC236}">
                <a16:creationId xmlns:a16="http://schemas.microsoft.com/office/drawing/2014/main" id="{359B1B9C-DE46-4D53-AC6C-A0A745C42C9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C3C0B6C-3F4B-4AA4-9708-375B88A9DE8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FDBA5D2-DD03-4E7F-9C3C-FD42F1EFF1F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78</a:t>
            </a:r>
          </a:p>
        </p:txBody>
      </p:sp>
      <p:sp>
        <p:nvSpPr>
          <p:cNvPr id="6" name="">
            <a:extLst xmlns:a="http://schemas.openxmlformats.org/drawingml/2006/main">
              <a:ext uri="{FF2B5EF4-FFF2-40B4-BE49-F238E27FC236}">
                <a16:creationId xmlns:a16="http://schemas.microsoft.com/office/drawing/2014/main" id="{676079DA-523E-4BF4-9FA6-3345EDBC777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D08F5BE-C66B-4BF2-8AF2-E063899C671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39E04CD-654A-420C-AC5A-502AFF8AD35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544AC5EE-C246-4C52-BCD8-BCA4C5D41E5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법령·판례 지식</a:t>
            </a:r>
          </a:p>
        </p:txBody>
      </p:sp>
      <p:sp>
        <p:nvSpPr>
          <p:cNvPr id="10" name="">
            <a:extLst xmlns:a="http://schemas.openxmlformats.org/drawingml/2006/main">
              <a:ext uri="{FF2B5EF4-FFF2-40B4-BE49-F238E27FC236}">
                <a16:creationId xmlns:a16="http://schemas.microsoft.com/office/drawing/2014/main" id="{6BC49A2E-7CB4-4A75-8A2F-1E0D6A81F9E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9A2375-F925-427E-BF5D-915C8B5391F7}"/>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41A2045B-433D-4881-9408-592935AEC8C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F484C395-2F6B-486D-9ACC-9173681B5AA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78EE081-62D7-4CF6-854B-A774222D281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02F091E9-F2F3-4BDA-9900-EAC3F2E27B48}"/>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계정·업무 질의·적용 시점 구성</a:t>
            </a:r>
          </a:p>
        </p:txBody>
      </p:sp>
      <p:sp>
        <p:nvSpPr>
          <p:cNvPr id="16" name="">
            <a:extLst xmlns:a="http://schemas.openxmlformats.org/drawingml/2006/main">
              <a:ext uri="{FF2B5EF4-FFF2-40B4-BE49-F238E27FC236}">
                <a16:creationId xmlns:a16="http://schemas.microsoft.com/office/drawing/2014/main" id="{25604365-BA1C-4DD2-9418-19C95D52B5E3}"/>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3887C51-D387-4A1A-9CF6-EEE873EB169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E2D9E3FA-C175-4401-BB9F-474C8983CC8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조문·시점·소관 정답셋과 검토자 판정</a:t>
            </a:r>
          </a:p>
        </p:txBody>
      </p:sp>
      <p:sp>
        <p:nvSpPr>
          <p:cNvPr id="19" name="">
            <a:extLst xmlns:a="http://schemas.openxmlformats.org/drawingml/2006/main">
              <a:ext uri="{FF2B5EF4-FFF2-40B4-BE49-F238E27FC236}">
                <a16:creationId xmlns:a16="http://schemas.microsoft.com/office/drawing/2014/main" id="{5F701636-96D9-4738-BB86-08ABB8008043}"/>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61DB291-34C9-4A60-90A9-8CF4D2DA408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769DBB0E-6527-4F6D-8F6F-B92D8CD5B12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근거</a:t>
            </a:r>
          </a:p>
        </p:txBody>
      </p:sp>
      <p:sp>
        <p:nvSpPr>
          <p:cNvPr id="22" name="">
            <a:extLst xmlns:a="http://schemas.openxmlformats.org/drawingml/2006/main">
              <a:ext uri="{FF2B5EF4-FFF2-40B4-BE49-F238E27FC236}">
                <a16:creationId xmlns:a16="http://schemas.microsoft.com/office/drawing/2014/main" id="{CDBD8374-F509-4320-8628-D0B8A9B3640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9D7CCC8-D22E-4E64-B215-293BB0D4B856}"/>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1F137614-5927-43DE-8618-00C45D68298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답변</a:t>
            </a:r>
          </a:p>
        </p:txBody>
      </p:sp>
      <p:sp>
        <p:nvSpPr>
          <p:cNvPr id="25" name="">
            <a:extLst xmlns:a="http://schemas.openxmlformats.org/drawingml/2006/main">
              <a:ext uri="{FF2B5EF4-FFF2-40B4-BE49-F238E27FC236}">
                <a16:creationId xmlns:a16="http://schemas.microsoft.com/office/drawing/2014/main" id="{7512E9C3-66F8-4B75-8AE2-E13485EE93E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3C8DCD89-5292-46D1-A207-97494C7185A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조문·유사 명칭 법률·소관 차이</a:t>
            </a:r>
          </a:p>
        </p:txBody>
      </p:sp>
      <p:sp>
        <p:nvSpPr>
          <p:cNvPr id="27" name="">
            <a:extLst xmlns:a="http://schemas.openxmlformats.org/drawingml/2006/main">
              <a:ext uri="{FF2B5EF4-FFF2-40B4-BE49-F238E27FC236}">
                <a16:creationId xmlns:a16="http://schemas.microsoft.com/office/drawing/2014/main" id="{B2CBEF63-8905-4A5B-AD7D-6E800AA7F92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7596FE1-5B63-4B01-AE6E-E068FA8CC6D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적용 시점·소관·근거 일치</a:t>
            </a:r>
          </a:p>
        </p:txBody>
      </p:sp>
      <p:sp>
        <p:nvSpPr>
          <p:cNvPr id="29" name="">
            <a:extLst xmlns:a="http://schemas.openxmlformats.org/drawingml/2006/main">
              <a:ext uri="{FF2B5EF4-FFF2-40B4-BE49-F238E27FC236}">
                <a16:creationId xmlns:a16="http://schemas.microsoft.com/office/drawing/2014/main" id="{AF95C4AD-557F-4849-A041-9E633D80785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D3BB691-C09C-4D44-A061-042E929429D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시범 질의의 정답·근거·사용성 평가</a:t>
            </a:r>
          </a:p>
        </p:txBody>
      </p:sp>
      <p:sp>
        <p:nvSpPr>
          <p:cNvPr id="31" name="">
            <a:extLst xmlns:a="http://schemas.openxmlformats.org/drawingml/2006/main">
              <a:ext uri="{FF2B5EF4-FFF2-40B4-BE49-F238E27FC236}">
                <a16:creationId xmlns:a16="http://schemas.microsoft.com/office/drawing/2014/main" id="{48714F2E-419F-4C76-AB25-BB81D2A3F3B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23DAF11-560B-4A67-938E-FDDA5D90BB6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조문·시점·소관 정답셋과 검토자 판정</a:t>
            </a:r>
          </a:p>
        </p:txBody>
      </p:sp>
    </p:spTree>
    <p:extLst>
      <p:ext uri="{BB962C8B-B14F-4D97-AF65-F5344CB8AC3E}">
        <p14:creationId xmlns:p14="http://schemas.microsoft.com/office/powerpoint/2010/main" val="75057720"/>
      </p:ext>
    </p:extLst>
  </p:cSld>
</p:sld>
</file>

<file path=ppt/slides/slide7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85AD03D-9A2B-4CEF-A653-7A146C4F6A9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PF01 / CCK 비교·재현 시험 설계</a:t>
            </a:r>
          </a:p>
        </p:txBody>
      </p:sp>
      <p:sp>
        <p:nvSpPr>
          <p:cNvPr id="2" name="">
            <a:extLst xmlns:a="http://schemas.openxmlformats.org/drawingml/2006/main">
              <a:ext uri="{FF2B5EF4-FFF2-40B4-BE49-F238E27FC236}">
                <a16:creationId xmlns:a16="http://schemas.microsoft.com/office/drawing/2014/main" id="{2C1CE940-2369-4990-9F34-0341BCBD1E3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범정부 AI 공통기반·법령비서 · 벤치마킹</a:t>
            </a:r>
          </a:p>
        </p:txBody>
      </p:sp>
      <p:sp>
        <p:nvSpPr>
          <p:cNvPr id="3" name="">
            <a:extLst xmlns:a="http://schemas.openxmlformats.org/drawingml/2006/main">
              <a:ext uri="{FF2B5EF4-FFF2-40B4-BE49-F238E27FC236}">
                <a16:creationId xmlns:a16="http://schemas.microsoft.com/office/drawing/2014/main" id="{6BE5557C-DF86-4476-80FE-42B55F2A688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47806F-0FB9-40D5-9311-ECBF7A0D106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B09BE3A-3D56-4EB7-A8D3-A63F4E872F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79</a:t>
            </a:r>
          </a:p>
        </p:txBody>
      </p:sp>
      <p:sp>
        <p:nvSpPr>
          <p:cNvPr id="6" name="">
            <a:extLst xmlns:a="http://schemas.openxmlformats.org/drawingml/2006/main">
              <a:ext uri="{FF2B5EF4-FFF2-40B4-BE49-F238E27FC236}">
                <a16:creationId xmlns:a16="http://schemas.microsoft.com/office/drawing/2014/main" id="{DE1DCE6E-0B98-4AF9-B855-833117E394F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40F5413-4CC2-4800-9C67-B5F6D0BDFE86}"/>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이용환경의 공동 활용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법령비서 등 업무 앱 결합</a:t>
            </a:r>
          </a:p>
        </p:txBody>
      </p:sp>
      <p:sp>
        <p:nvSpPr>
          <p:cNvPr id="8" name="">
            <a:extLst xmlns:a="http://schemas.openxmlformats.org/drawingml/2006/main">
              <a:ext uri="{FF2B5EF4-FFF2-40B4-BE49-F238E27FC236}">
                <a16:creationId xmlns:a16="http://schemas.microsoft.com/office/drawing/2014/main" id="{92779E22-DEB9-46C0-ADBA-2FE751537B2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B052738-C657-4F2F-8818-A3C47ED6BAC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답변과 적용 조문 판단의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서비스의 성과 일반화</a:t>
            </a:r>
          </a:p>
        </p:txBody>
      </p:sp>
      <p:sp>
        <p:nvSpPr>
          <p:cNvPr id="10" name="">
            <a:extLst xmlns:a="http://schemas.openxmlformats.org/drawingml/2006/main">
              <a:ext uri="{FF2B5EF4-FFF2-40B4-BE49-F238E27FC236}">
                <a16:creationId xmlns:a16="http://schemas.microsoft.com/office/drawing/2014/main" id="{720F6DD0-8B93-47A8-A376-76C5B898D6B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E4ECF8F-A2BA-4786-B244-547F7BA44B8F}"/>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적용 시점·소관·근거 일치</a:t>
            </a:r>
          </a:p>
        </p:txBody>
      </p:sp>
      <p:sp>
        <p:nvSpPr>
          <p:cNvPr id="12" name="">
            <a:extLst xmlns:a="http://schemas.openxmlformats.org/drawingml/2006/main">
              <a:ext uri="{FF2B5EF4-FFF2-40B4-BE49-F238E27FC236}">
                <a16:creationId xmlns:a16="http://schemas.microsoft.com/office/drawing/2014/main" id="{EF1E492B-7BF4-48C3-8A76-D1866C81925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2ACFE24-667F-49BC-8B84-04D071C193CC}"/>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적용 업무와 시점에 맞는 법령·판례 근거 검토</a:t>
            </a:r>
          </a:p>
        </p:txBody>
      </p:sp>
      <p:sp>
        <p:nvSpPr>
          <p:cNvPr id="14" name="">
            <a:extLst xmlns:a="http://schemas.openxmlformats.org/drawingml/2006/main">
              <a:ext uri="{FF2B5EF4-FFF2-40B4-BE49-F238E27FC236}">
                <a16:creationId xmlns:a16="http://schemas.microsoft.com/office/drawing/2014/main" id="{B9D7FF16-3593-4301-AC99-30FBB8D7EB6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D1A4A514-819E-4750-911B-D18919B2188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조문·유사 명칭 법률·소관 차이</a:t>
            </a:r>
          </a:p>
        </p:txBody>
      </p:sp>
      <p:sp>
        <p:nvSpPr>
          <p:cNvPr id="16" name="">
            <a:extLst xmlns:a="http://schemas.openxmlformats.org/drawingml/2006/main">
              <a:ext uri="{FF2B5EF4-FFF2-40B4-BE49-F238E27FC236}">
                <a16:creationId xmlns:a16="http://schemas.microsoft.com/office/drawing/2014/main" id="{41F89861-E04D-41EB-BE5B-7A5D7DE3BC0A}"/>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C1049F2-FEB6-4FF6-8D66-B5C93FBBC3F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조문·시점·소관 정답셋과 검토자 판정</a:t>
            </a:r>
          </a:p>
        </p:txBody>
      </p:sp>
    </p:spTree>
    <p:extLst>
      <p:ext uri="{BB962C8B-B14F-4D97-AF65-F5344CB8AC3E}">
        <p14:creationId xmlns:p14="http://schemas.microsoft.com/office/powerpoint/2010/main" val="1595111454"/>
      </p:ext>
    </p:extLst>
  </p:cSld>
</p:sld>
</file>

<file path=ppt/slides/slide8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B445749-5AFF-4D00-BFFF-063B7024601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정식 운영 · 기관 발표 / 국내</a:t>
            </a:r>
          </a:p>
        </p:txBody>
      </p:sp>
      <p:sp>
        <p:nvSpPr>
          <p:cNvPr id="2" name="">
            <a:extLst xmlns:a="http://schemas.openxmlformats.org/drawingml/2006/main">
              <a:ext uri="{FF2B5EF4-FFF2-40B4-BE49-F238E27FC236}">
                <a16:creationId xmlns:a16="http://schemas.microsoft.com/office/drawing/2014/main" id="{1CD9E4A7-53FE-4ADE-9560-9D40E7EE113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a:t>
            </a:r>
          </a:p>
        </p:txBody>
      </p:sp>
      <p:sp>
        <p:nvSpPr>
          <p:cNvPr id="3" name="">
            <a:extLst xmlns:a="http://schemas.openxmlformats.org/drawingml/2006/main">
              <a:ext uri="{FF2B5EF4-FFF2-40B4-BE49-F238E27FC236}">
                <a16:creationId xmlns:a16="http://schemas.microsoft.com/office/drawing/2014/main" id="{FDD148D6-76B9-4AB1-9D1E-0F8132672A1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A92BD1-2A91-43A7-B852-D4960D1CB6D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5A1C920-B769-49B4-A97D-E5EEDA887B0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80</a:t>
            </a:r>
          </a:p>
        </p:txBody>
      </p:sp>
      <p:sp>
        <p:nvSpPr>
          <p:cNvPr id="6" name="">
            <a:extLst xmlns:a="http://schemas.openxmlformats.org/drawingml/2006/main">
              <a:ext uri="{FF2B5EF4-FFF2-40B4-BE49-F238E27FC236}">
                <a16:creationId xmlns:a16="http://schemas.microsoft.com/office/drawing/2014/main" id="{DC2F7C34-B820-412A-B2BF-C660D8DA79E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50AA527-5C14-4108-B08A-E85A5DA636B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한국전력의 사내표준 AI 플랫폼 사례. 직원의 표준 질의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 근거 조문을 연결하고 표준 개정 검토와 전자결재까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 이어지는 업무 지원 구조.</a:t>
            </a:r>
          </a:p>
        </p:txBody>
      </p:sp>
      <p:sp>
        <p:nvSpPr>
          <p:cNvPr id="8" name="">
            <a:extLst xmlns:a="http://schemas.openxmlformats.org/drawingml/2006/main">
              <a:ext uri="{FF2B5EF4-FFF2-40B4-BE49-F238E27FC236}">
                <a16:creationId xmlns:a16="http://schemas.microsoft.com/office/drawing/2014/main" id="{AA9D4F9C-DEA4-4128-91E6-26ED3AD61DA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4209B164-C389-4FF8-8E61-36CC9BF56B2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표준 문서의 조문·판본을 검색 단위로 구성하고 질의 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답에 근거를 제시하는 흐름. 개정 검토에서는 변경 대상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 관련 조문을 비교하고 검토자가 확인한 내용을 결재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과정으로 연결하는 논리 설계.</a:t>
            </a:r>
          </a:p>
        </p:txBody>
      </p:sp>
      <p:sp>
        <p:nvSpPr>
          <p:cNvPr id="10" name="">
            <a:extLst xmlns:a="http://schemas.openxmlformats.org/drawingml/2006/main">
              <a:ext uri="{FF2B5EF4-FFF2-40B4-BE49-F238E27FC236}">
                <a16:creationId xmlns:a16="http://schemas.microsoft.com/office/drawing/2014/main" id="{E4E05F0A-3808-4908-B6EF-7946EF39669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D80769C-9CAC-4FDC-8524-274EE769D82F}"/>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 참고할 지점은 검색 결과가 규정 개정·결재 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무로 이어지는 연결. TS 지침의 시행일·관련 조항·개정 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임 부서를 함께 관리하고 최신 조문 검색, 개정 영향 누락,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승인 전 반영을 각각 시험할 필요.</a:t>
            </a:r>
          </a:p>
        </p:txBody>
      </p:sp>
      <p:sp>
        <p:nvSpPr>
          <p:cNvPr id="12" name="">
            <a:extLst xmlns:a="http://schemas.openxmlformats.org/drawingml/2006/main">
              <a:ext uri="{FF2B5EF4-FFF2-40B4-BE49-F238E27FC236}">
                <a16:creationId xmlns:a16="http://schemas.microsoft.com/office/drawing/2014/main" id="{C5F10F24-C505-429A-8967-A08B5519389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BB45D46-D82A-4188-9130-DA7EE76B7008}"/>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규정 개정 영향 업무 탐색 / 폐지 지식 차단 / 승인판본 배포</a:t>
            </a:r>
          </a:p>
        </p:txBody>
      </p:sp>
      <p:sp>
        <p:nvSpPr>
          <p:cNvPr id="14" name="">
            <a:extLst xmlns:a="http://schemas.openxmlformats.org/drawingml/2006/main">
              <a:ext uri="{FF2B5EF4-FFF2-40B4-BE49-F238E27FC236}">
                <a16:creationId xmlns:a16="http://schemas.microsoft.com/office/drawing/2014/main" id="{07DED572-2AF6-4135-954B-8403204DC1B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D02A5E1-B4E4-4DE7-B92B-3A321D9A94A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전후 질문의 판본 일치 및 영향 업무 재평가</a:t>
            </a:r>
          </a:p>
        </p:txBody>
      </p:sp>
      <p:sp>
        <p:nvSpPr>
          <p:cNvPr id="16" name="">
            <a:extLst xmlns:a="http://schemas.openxmlformats.org/drawingml/2006/main">
              <a:ext uri="{FF2B5EF4-FFF2-40B4-BE49-F238E27FC236}">
                <a16:creationId xmlns:a16="http://schemas.microsoft.com/office/drawing/2014/main" id="{2F7005A9-3993-4F17-9EEF-10179BB4881C}"/>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CE47ADE-91B8-4B15-8E8B-36D018A6594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BBC20041-5846-46EB-822B-12A3D6ACB30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문서번호·답변 근거의 정비 부담 공개 · 제시된 절감 기대와 실측 성과의 구분</a:t>
            </a:r>
          </a:p>
        </p:txBody>
      </p:sp>
    </p:spTree>
    <p:extLst>
      <p:ext uri="{BB962C8B-B14F-4D97-AF65-F5344CB8AC3E}">
        <p14:creationId xmlns:p14="http://schemas.microsoft.com/office/powerpoint/2010/main" val="711552274"/>
      </p:ext>
    </p:extLst>
  </p:cSld>
</p:sld>
</file>

<file path=ppt/slides/slide8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B78DCCA8-D4E8-4276-9DCD-89A8ABE3ADC8}"/>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ECBB9FF-1AF6-467F-B788-CF81FF0278C8}"/>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DA04982-4938-49AB-9F88-6A33BA7B4B5E}"/>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9E555AC-CDBE-4DE7-ABC4-CF894B82B3C6}"/>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287AF25D-F10C-4F02-A66F-9BC6379D16C0}"/>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C55DFA4-4EC0-4B49-A830-A7841E2EB67A}"/>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9F1234A0-AB7C-4B96-A721-382A83870B28}"/>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720B3AAF-4AF9-47B1-9C6D-342AB88CC131}"/>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3C0AE025-24D7-4E6D-B7DD-E4E3C35BED1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B282834A-BAC2-4802-8012-CCEFFF6EE95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원문 추출·대조·사람 확정</a:t>
            </a:r>
          </a:p>
        </p:txBody>
      </p:sp>
      <p:sp>
        <p:nvSpPr>
          <p:cNvPr id="2" name="">
            <a:extLst xmlns:a="http://schemas.openxmlformats.org/drawingml/2006/main">
              <a:ext uri="{FF2B5EF4-FFF2-40B4-BE49-F238E27FC236}">
                <a16:creationId xmlns:a16="http://schemas.microsoft.com/office/drawing/2014/main" id="{B5A058C6-E4B8-44D8-B65F-F7C72683130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세부 서비스 구조</a:t>
            </a:r>
          </a:p>
        </p:txBody>
      </p:sp>
      <p:sp>
        <p:nvSpPr>
          <p:cNvPr id="3" name="">
            <a:extLst xmlns:a="http://schemas.openxmlformats.org/drawingml/2006/main">
              <a:ext uri="{FF2B5EF4-FFF2-40B4-BE49-F238E27FC236}">
                <a16:creationId xmlns:a16="http://schemas.microsoft.com/office/drawing/2014/main" id="{0FAE5BE6-DB98-4F01-BA55-F46E7E6692D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D09598-4FE9-4EE1-A4D1-B4692F152D6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718CD82-EDE4-458A-AEB6-471A764F754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81</a:t>
            </a:r>
          </a:p>
        </p:txBody>
      </p:sp>
      <p:sp>
        <p:nvSpPr>
          <p:cNvPr id="6" name="">
            <a:extLst xmlns:a="http://schemas.openxmlformats.org/drawingml/2006/main">
              <a:ext uri="{FF2B5EF4-FFF2-40B4-BE49-F238E27FC236}">
                <a16:creationId xmlns:a16="http://schemas.microsoft.com/office/drawing/2014/main" id="{107C6A5E-B41C-4742-8EAF-E9E460AB1EC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사내표준 정비 → 근거 질의·응답 → 개정·오류 점검 → 전자결재·담당 검토</a:t>
            </a:r>
          </a:p>
        </p:txBody>
      </p:sp>
      <p:sp>
        <p:nvSpPr>
          <p:cNvPr id="7" name="">
            <a:extLst xmlns:a="http://schemas.openxmlformats.org/drawingml/2006/main">
              <a:ext uri="{FF2B5EF4-FFF2-40B4-BE49-F238E27FC236}">
                <a16:creationId xmlns:a16="http://schemas.microsoft.com/office/drawing/2014/main" id="{1C777C5D-ECA6-433C-94EB-A1E2F61DEFA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AB2C23F-C4B0-47C1-88A4-17A91E25553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7A3B60DB-6407-4842-A3C6-76070B7CEB0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사내표준 질의</a:t>
            </a:r>
          </a:p>
        </p:txBody>
      </p:sp>
      <p:sp>
        <p:nvSpPr>
          <p:cNvPr id="10" name="">
            <a:extLst xmlns:a="http://schemas.openxmlformats.org/drawingml/2006/main">
              <a:ext uri="{FF2B5EF4-FFF2-40B4-BE49-F238E27FC236}">
                <a16:creationId xmlns:a16="http://schemas.microsoft.com/office/drawing/2014/main" id="{C5A3AF01-190B-4392-BA3F-7A2164A1EB87}"/>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EFD15AC-DEC4-4690-A019-0A181CDC7E4C}"/>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460821F2-D091-4B86-869C-16CBEB84C00B}"/>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 대조·초안</a:t>
            </a:r>
          </a:p>
        </p:txBody>
      </p:sp>
      <p:sp>
        <p:nvSpPr>
          <p:cNvPr id="13" name="">
            <a:extLst xmlns:a="http://schemas.openxmlformats.org/drawingml/2006/main">
              <a:ext uri="{FF2B5EF4-FFF2-40B4-BE49-F238E27FC236}">
                <a16:creationId xmlns:a16="http://schemas.microsoft.com/office/drawing/2014/main" id="{FA8D13D5-2C0E-4FB0-82B6-C43D19AAA51F}"/>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87A65819-4B9D-44EB-8FDB-0E6A3A0F5D14}"/>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DA22C2E7-DA87-4FB3-A297-B43B465EE9E5}"/>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영향·판본 검사</a:t>
            </a:r>
          </a:p>
        </p:txBody>
      </p:sp>
      <p:sp>
        <p:nvSpPr>
          <p:cNvPr id="16" name="">
            <a:extLst xmlns:a="http://schemas.openxmlformats.org/drawingml/2006/main">
              <a:ext uri="{FF2B5EF4-FFF2-40B4-BE49-F238E27FC236}">
                <a16:creationId xmlns:a16="http://schemas.microsoft.com/office/drawing/2014/main" id="{80E18EDD-5528-476A-BB2C-C393FE6A46C3}"/>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A30D3E5-9311-4E55-8CAF-B6E09AA14A5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D80FF86F-F1AE-4499-AD66-2920FB5F91A2}"/>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소관부서 검토</a:t>
            </a:r>
          </a:p>
        </p:txBody>
      </p:sp>
      <p:sp>
        <p:nvSpPr>
          <p:cNvPr id="19" name="">
            <a:extLst xmlns:a="http://schemas.openxmlformats.org/drawingml/2006/main">
              <a:ext uri="{FF2B5EF4-FFF2-40B4-BE49-F238E27FC236}">
                <a16:creationId xmlns:a16="http://schemas.microsoft.com/office/drawing/2014/main" id="{9A31E767-73B6-4469-AA14-F5F1F9ABAD8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96B4E47-BE5F-4DA1-B3BF-C0A6774F04B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8CF471BE-C767-491A-9DC4-AF8A68DE185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전자결재 연결</a:t>
            </a:r>
          </a:p>
        </p:txBody>
      </p:sp>
      <p:sp>
        <p:nvSpPr>
          <p:cNvPr id="22" name="">
            <a:extLst xmlns:a="http://schemas.openxmlformats.org/drawingml/2006/main">
              <a:ext uri="{FF2B5EF4-FFF2-40B4-BE49-F238E27FC236}">
                <a16:creationId xmlns:a16="http://schemas.microsoft.com/office/drawing/2014/main" id="{0DCAE655-42EC-4E61-AEFF-FD5C04E388D2}"/>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4D515B1-4A93-4181-BC18-39D9B80DBDB3}"/>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7AD5F1F4-0489-479D-A56C-FD9C9F2E41E9}"/>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사내표준·개정이력</a:t>
            </a:r>
          </a:p>
        </p:txBody>
      </p:sp>
      <p:sp>
        <p:nvSpPr>
          <p:cNvPr id="25" name="">
            <a:extLst xmlns:a="http://schemas.openxmlformats.org/drawingml/2006/main">
              <a:ext uri="{FF2B5EF4-FFF2-40B4-BE49-F238E27FC236}">
                <a16:creationId xmlns:a16="http://schemas.microsoft.com/office/drawing/2014/main" id="{95496B2E-2232-4C4E-975C-A2564FA896D4}"/>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82F3DF1-4120-4959-91F9-74A8DEBE2E09}"/>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DAF2AB98-F175-482A-9D12-AA128F4A5CCC}"/>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조문·효력일 정합화</a:t>
            </a:r>
          </a:p>
        </p:txBody>
      </p:sp>
      <p:sp>
        <p:nvSpPr>
          <p:cNvPr id="28" name="">
            <a:extLst xmlns:a="http://schemas.openxmlformats.org/drawingml/2006/main">
              <a:ext uri="{FF2B5EF4-FFF2-40B4-BE49-F238E27FC236}">
                <a16:creationId xmlns:a16="http://schemas.microsoft.com/office/drawing/2014/main" id="{A84C7B29-4FD0-413C-82CD-6A0BCB0DEC98}"/>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F85C4CC-F43D-4164-8030-B08CB1F86C9B}"/>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9F9812B8-4497-4022-92FE-7D1E77B792A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표준 검색</a:t>
            </a:r>
          </a:p>
        </p:txBody>
      </p:sp>
      <p:sp>
        <p:nvSpPr>
          <p:cNvPr id="31" name="">
            <a:extLst xmlns:a="http://schemas.openxmlformats.org/drawingml/2006/main">
              <a:ext uri="{FF2B5EF4-FFF2-40B4-BE49-F238E27FC236}">
                <a16:creationId xmlns:a16="http://schemas.microsoft.com/office/drawing/2014/main" id="{791E3E38-4CA9-4A56-8484-13B0F25D288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DA45BBE-2D28-45DB-945C-D1091A8CEDA0}"/>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C350D6C9-C8C1-4F7D-B839-ED0A51197B1C}"/>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표준·개정 후보</a:t>
            </a:r>
          </a:p>
        </p:txBody>
      </p:sp>
      <p:sp>
        <p:nvSpPr>
          <p:cNvPr id="34" name="">
            <a:extLst xmlns:a="http://schemas.openxmlformats.org/drawingml/2006/main">
              <a:ext uri="{FF2B5EF4-FFF2-40B4-BE49-F238E27FC236}">
                <a16:creationId xmlns:a16="http://schemas.microsoft.com/office/drawing/2014/main" id="{B8C564DD-DAE2-4F49-9DED-43F12F1CBDD8}"/>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4EB6100-BC32-4973-880C-0028FB4822B0}"/>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C23132CF-BF0A-4D22-B3F4-EC55C426A8AB}"/>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승인본 갱신</a:t>
            </a:r>
          </a:p>
        </p:txBody>
      </p:sp>
      <p:sp>
        <p:nvSpPr>
          <p:cNvPr id="46" name="">
            <a:extLst xmlns:a="http://schemas.openxmlformats.org/drawingml/2006/main">
              <a:ext uri="{FF2B5EF4-FFF2-40B4-BE49-F238E27FC236}">
                <a16:creationId xmlns:a16="http://schemas.microsoft.com/office/drawing/2014/main" id="{1F7F2A3E-46B7-427F-B88D-D671A8E6F65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99146807"/>
      </p:ext>
    </p:extLst>
  </p:cSld>
</p:sld>
</file>

<file path=ppt/slides/slide8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3DC7E9B-E391-407A-8C65-32B25715F3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논리 인터페이스·복구 설계</a:t>
            </a:r>
          </a:p>
        </p:txBody>
      </p:sp>
      <p:sp>
        <p:nvSpPr>
          <p:cNvPr id="2" name="">
            <a:extLst xmlns:a="http://schemas.openxmlformats.org/drawingml/2006/main">
              <a:ext uri="{FF2B5EF4-FFF2-40B4-BE49-F238E27FC236}">
                <a16:creationId xmlns:a16="http://schemas.microsoft.com/office/drawing/2014/main" id="{0D5C0B40-813F-4BC3-861A-AF83F32EAA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데이터와 예외 처리</a:t>
            </a:r>
          </a:p>
        </p:txBody>
      </p:sp>
      <p:sp>
        <p:nvSpPr>
          <p:cNvPr id="3" name="">
            <a:extLst xmlns:a="http://schemas.openxmlformats.org/drawingml/2006/main">
              <a:ext uri="{FF2B5EF4-FFF2-40B4-BE49-F238E27FC236}">
                <a16:creationId xmlns:a16="http://schemas.microsoft.com/office/drawing/2014/main" id="{513943FD-8DF6-4183-AED8-DA882BA90B9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71895A-858F-436B-BC4C-F8838432044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50948B6-A29D-4969-A278-0355D682391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82</a:t>
            </a:r>
          </a:p>
        </p:txBody>
      </p:sp>
      <p:sp>
        <p:nvSpPr>
          <p:cNvPr id="6" name="">
            <a:extLst xmlns:a="http://schemas.openxmlformats.org/drawingml/2006/main">
              <a:ext uri="{FF2B5EF4-FFF2-40B4-BE49-F238E27FC236}">
                <a16:creationId xmlns:a16="http://schemas.microsoft.com/office/drawing/2014/main" id="{6E8D456C-B16C-4DFD-B7F3-6520FABD99A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1665967-0D55-428C-BB2D-9D2EC014A0F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21D9148-0A0D-4BA1-B3A4-9BF027278CC0}"/>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08137182-9712-4C69-BFF8-8780CD42CF0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사내표준·개정 이력</a:t>
            </a:r>
          </a:p>
        </p:txBody>
      </p:sp>
      <p:sp>
        <p:nvSpPr>
          <p:cNvPr id="10" name="">
            <a:extLst xmlns:a="http://schemas.openxmlformats.org/drawingml/2006/main">
              <a:ext uri="{FF2B5EF4-FFF2-40B4-BE49-F238E27FC236}">
                <a16:creationId xmlns:a16="http://schemas.microsoft.com/office/drawing/2014/main" id="{19D4C17B-191E-43BA-9470-D814654EE2F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469FAD-329A-4956-9C56-F96432447FC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CD57AB90-69A5-44BF-9736-BCE623B7431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E50445DC-2145-4A24-992D-A91DDDECB82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9C729A-4212-4405-98A2-7C7402CFC0ED}"/>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A3083FD3-6BBB-4F87-BCCE-3AC96C0BD4D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개정·오류 후보</a:t>
            </a:r>
          </a:p>
        </p:txBody>
      </p:sp>
      <p:sp>
        <p:nvSpPr>
          <p:cNvPr id="16" name="">
            <a:extLst xmlns:a="http://schemas.openxmlformats.org/drawingml/2006/main">
              <a:ext uri="{FF2B5EF4-FFF2-40B4-BE49-F238E27FC236}">
                <a16:creationId xmlns:a16="http://schemas.microsoft.com/office/drawing/2014/main" id="{F43F00AE-B0B3-40D2-ACC8-B6D742A3FC7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4C6FAB-C438-45ED-BB62-D1DAA148CD2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BD5897B6-118F-4A91-93CA-17230EB4630B}"/>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조문</a:t>
            </a:r>
          </a:p>
        </p:txBody>
      </p:sp>
      <p:sp>
        <p:nvSpPr>
          <p:cNvPr id="19" name="">
            <a:extLst xmlns:a="http://schemas.openxmlformats.org/drawingml/2006/main">
              <a:ext uri="{FF2B5EF4-FFF2-40B4-BE49-F238E27FC236}">
                <a16:creationId xmlns:a16="http://schemas.microsoft.com/office/drawing/2014/main" id="{EFD589F3-9B99-41BB-921C-F267C8855330}"/>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10D7513-2FC2-49FB-A406-4D986DBB21A3}"/>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A48D3F9B-D949-403C-94FC-9D6DEDC4CA0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개정·오류 후보</a:t>
            </a:r>
          </a:p>
        </p:txBody>
      </p:sp>
      <p:sp>
        <p:nvSpPr>
          <p:cNvPr id="22" name="">
            <a:extLst xmlns:a="http://schemas.openxmlformats.org/drawingml/2006/main">
              <a:ext uri="{FF2B5EF4-FFF2-40B4-BE49-F238E27FC236}">
                <a16:creationId xmlns:a16="http://schemas.microsoft.com/office/drawing/2014/main" id="{C62C5A4C-1269-410B-AFB5-DABFDD12A4CE}"/>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320115F-CD18-454E-9694-F8C7041291B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D95083BE-2678-47C9-9624-F139C18E51C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결재 검토</a:t>
            </a:r>
          </a:p>
        </p:txBody>
      </p:sp>
      <p:sp>
        <p:nvSpPr>
          <p:cNvPr id="25" name="">
            <a:extLst xmlns:a="http://schemas.openxmlformats.org/drawingml/2006/main">
              <a:ext uri="{FF2B5EF4-FFF2-40B4-BE49-F238E27FC236}">
                <a16:creationId xmlns:a16="http://schemas.microsoft.com/office/drawing/2014/main" id="{7E0B0E4D-467C-44A2-A178-52D23AC3D98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75343CA-95FD-45BE-84D8-FD2C8184A7FC}"/>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미승인 개정안·참조 조문 삭제·구판 재인용</a:t>
            </a:r>
          </a:p>
        </p:txBody>
      </p:sp>
      <p:sp>
        <p:nvSpPr>
          <p:cNvPr id="27" name="">
            <a:extLst xmlns:a="http://schemas.openxmlformats.org/drawingml/2006/main">
              <a:ext uri="{FF2B5EF4-FFF2-40B4-BE49-F238E27FC236}">
                <a16:creationId xmlns:a16="http://schemas.microsoft.com/office/drawing/2014/main" id="{692F1FFA-33EA-4A58-A035-B5FF1512414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A61018A6-3155-4C2C-B194-38543A3FBB5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 판본·효력일·영향 조문 대사</a:t>
            </a:r>
          </a:p>
        </p:txBody>
      </p:sp>
      <p:sp>
        <p:nvSpPr>
          <p:cNvPr id="29" name="">
            <a:extLst xmlns:a="http://schemas.openxmlformats.org/drawingml/2006/main">
              <a:ext uri="{FF2B5EF4-FFF2-40B4-BE49-F238E27FC236}">
                <a16:creationId xmlns:a16="http://schemas.microsoft.com/office/drawing/2014/main" id="{69E728F4-3F11-44D8-B2D1-0E9C3C688B4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2F7AA75A-1249-4DBF-8875-864AC8E9DAE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승인본 반영·구판 회수·개정 영향 점검</a:t>
            </a:r>
          </a:p>
        </p:txBody>
      </p:sp>
      <p:sp>
        <p:nvSpPr>
          <p:cNvPr id="31" name="">
            <a:extLst xmlns:a="http://schemas.openxmlformats.org/drawingml/2006/main">
              <a:ext uri="{FF2B5EF4-FFF2-40B4-BE49-F238E27FC236}">
                <a16:creationId xmlns:a16="http://schemas.microsoft.com/office/drawing/2014/main" id="{ACE9F20E-B68C-44EF-8CEB-BF402C6AC36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4951A01-C2A9-4579-B47C-1869E849C14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판본별 변경·영향·결재·색인 반영 연결표</a:t>
            </a:r>
          </a:p>
        </p:txBody>
      </p:sp>
    </p:spTree>
    <p:extLst>
      <p:ext uri="{BB962C8B-B14F-4D97-AF65-F5344CB8AC3E}">
        <p14:creationId xmlns:p14="http://schemas.microsoft.com/office/powerpoint/2010/main" val="583749795"/>
      </p:ext>
    </p:extLst>
  </p:cSld>
</p:sld>
</file>

<file path=ppt/slides/slide8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654C969-C042-476A-992B-1886B208C26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PF02 / CCK 비교·재현 시험 설계</a:t>
            </a:r>
          </a:p>
        </p:txBody>
      </p:sp>
      <p:sp>
        <p:nvSpPr>
          <p:cNvPr id="2" name="">
            <a:extLst xmlns:a="http://schemas.openxmlformats.org/drawingml/2006/main">
              <a:ext uri="{FF2B5EF4-FFF2-40B4-BE49-F238E27FC236}">
                <a16:creationId xmlns:a16="http://schemas.microsoft.com/office/drawing/2014/main" id="{D55D6E8B-12C3-4CCA-B5C1-E56764E67E6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한전 사내표준 AI 플랫폼 · 벤치마킹</a:t>
            </a:r>
          </a:p>
        </p:txBody>
      </p:sp>
      <p:sp>
        <p:nvSpPr>
          <p:cNvPr id="3" name="">
            <a:extLst xmlns:a="http://schemas.openxmlformats.org/drawingml/2006/main">
              <a:ext uri="{FF2B5EF4-FFF2-40B4-BE49-F238E27FC236}">
                <a16:creationId xmlns:a16="http://schemas.microsoft.com/office/drawing/2014/main" id="{BC494DB6-EFC8-472E-BE62-264CFF649E7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11056C-5300-4A0A-8F97-F8DC12654C5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188816E-5B2A-421A-B078-4152FD8EC8F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83</a:t>
            </a:r>
          </a:p>
        </p:txBody>
      </p:sp>
      <p:sp>
        <p:nvSpPr>
          <p:cNvPr id="6" name="">
            <a:extLst xmlns:a="http://schemas.openxmlformats.org/drawingml/2006/main">
              <a:ext uri="{FF2B5EF4-FFF2-40B4-BE49-F238E27FC236}">
                <a16:creationId xmlns:a16="http://schemas.microsoft.com/office/drawing/2014/main" id="{9CC28A9F-78B8-42C2-B0E6-8E3372ED80A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50B5032-781D-4DF3-8239-160208855E8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사내표준 검색과 개정 검토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전자결재 흐름에서의 활용</a:t>
            </a:r>
          </a:p>
        </p:txBody>
      </p:sp>
      <p:sp>
        <p:nvSpPr>
          <p:cNvPr id="8" name="">
            <a:extLst xmlns:a="http://schemas.openxmlformats.org/drawingml/2006/main">
              <a:ext uri="{FF2B5EF4-FFF2-40B4-BE49-F238E27FC236}">
                <a16:creationId xmlns:a16="http://schemas.microsoft.com/office/drawing/2014/main" id="{107E6156-6813-4635-8B2D-461EFF4C735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EFF960E-159C-422E-9353-2BBF5158AD1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규정 판본·효력일 불일치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개정 초안의 무승인 배포</a:t>
            </a:r>
          </a:p>
        </p:txBody>
      </p:sp>
      <p:sp>
        <p:nvSpPr>
          <p:cNvPr id="10" name="">
            <a:extLst xmlns:a="http://schemas.openxmlformats.org/drawingml/2006/main">
              <a:ext uri="{FF2B5EF4-FFF2-40B4-BE49-F238E27FC236}">
                <a16:creationId xmlns:a16="http://schemas.microsoft.com/office/drawing/2014/main" id="{842761D0-2D93-43AB-AEBF-2DAE63EC116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6E919C2-7044-4E9E-B561-8DC54256388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승인 판본·효력일·영향 조문 대사</a:t>
            </a:r>
          </a:p>
        </p:txBody>
      </p:sp>
      <p:sp>
        <p:nvSpPr>
          <p:cNvPr id="12" name="">
            <a:extLst xmlns:a="http://schemas.openxmlformats.org/drawingml/2006/main">
              <a:ext uri="{FF2B5EF4-FFF2-40B4-BE49-F238E27FC236}">
                <a16:creationId xmlns:a16="http://schemas.microsoft.com/office/drawing/2014/main" id="{9C54306F-44B0-49F6-BEB0-ABD0BCEDF64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744B225-A81A-401E-8E10-028301692EE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특정 사내표준을 개정하고 영향 조문을 검토해 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재</a:t>
            </a:r>
          </a:p>
        </p:txBody>
      </p:sp>
      <p:sp>
        <p:nvSpPr>
          <p:cNvPr id="14" name="">
            <a:extLst xmlns:a="http://schemas.openxmlformats.org/drawingml/2006/main">
              <a:ext uri="{FF2B5EF4-FFF2-40B4-BE49-F238E27FC236}">
                <a16:creationId xmlns:a16="http://schemas.microsoft.com/office/drawing/2014/main" id="{EAFDD120-3A81-4ADC-AEDB-EAAAD6A1286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2D86C91E-8A36-417D-8D24-3CEA439ADBB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미승인 개정안·참조 조문 삭제·구판 재인용</a:t>
            </a:r>
          </a:p>
        </p:txBody>
      </p:sp>
      <p:sp>
        <p:nvSpPr>
          <p:cNvPr id="16" name="">
            <a:extLst xmlns:a="http://schemas.openxmlformats.org/drawingml/2006/main">
              <a:ext uri="{FF2B5EF4-FFF2-40B4-BE49-F238E27FC236}">
                <a16:creationId xmlns:a16="http://schemas.microsoft.com/office/drawing/2014/main" id="{59FC5BB8-80B1-4D76-B291-15583434B2D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380E6739-B0A4-4939-AD0C-3297AB09E0D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판본별 변경·영향·결재·색인 반영 연결표</a:t>
            </a:r>
          </a:p>
        </p:txBody>
      </p:sp>
    </p:spTree>
    <p:extLst>
      <p:ext uri="{BB962C8B-B14F-4D97-AF65-F5344CB8AC3E}">
        <p14:creationId xmlns:p14="http://schemas.microsoft.com/office/powerpoint/2010/main" val="1976789531"/>
      </p:ext>
    </p:extLst>
  </p:cSld>
</p:sld>
</file>

<file path=ppt/slides/slide8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8EA35F1-C1BE-4793-BC69-2F1256C428B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공식 RFP 확보 / 운영 성과 미확인 / 국내</a:t>
            </a:r>
          </a:p>
        </p:txBody>
      </p:sp>
      <p:sp>
        <p:nvSpPr>
          <p:cNvPr id="2" name="">
            <a:extLst xmlns:a="http://schemas.openxmlformats.org/drawingml/2006/main">
              <a:ext uri="{FF2B5EF4-FFF2-40B4-BE49-F238E27FC236}">
                <a16:creationId xmlns:a16="http://schemas.microsoft.com/office/drawing/2014/main" id="{A70FA7A2-65FF-4F08-BC66-AE67044AC82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a:t>
            </a:r>
          </a:p>
        </p:txBody>
      </p:sp>
      <p:sp>
        <p:nvSpPr>
          <p:cNvPr id="3" name="">
            <a:extLst xmlns:a="http://schemas.openxmlformats.org/drawingml/2006/main">
              <a:ext uri="{FF2B5EF4-FFF2-40B4-BE49-F238E27FC236}">
                <a16:creationId xmlns:a16="http://schemas.microsoft.com/office/drawing/2014/main" id="{11E05E7A-36F9-487C-8FCE-D433B07D5FB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EB2860-2199-44E1-9F55-EA9D8DB1CC9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FB95F74-14E3-4B95-81BA-FC9727B6344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84</a:t>
            </a:r>
          </a:p>
        </p:txBody>
      </p:sp>
      <p:sp>
        <p:nvSpPr>
          <p:cNvPr id="6" name="">
            <a:extLst xmlns:a="http://schemas.openxmlformats.org/drawingml/2006/main">
              <a:ext uri="{FF2B5EF4-FFF2-40B4-BE49-F238E27FC236}">
                <a16:creationId xmlns:a16="http://schemas.microsoft.com/office/drawing/2014/main" id="{311E73F3-45F2-4CB5-81B7-C6D23B766E2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F5080829-2BDA-4A0A-8679-1507E18796B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해외 인프라 사업 산출물의 검색과 업무별 에이전트 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용을 기관 공통 서비스로 구성하는 요구. 사업·부서마다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보유 문서와 접근조건이 달라 문서 수집 단계부터 소유·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권한·업무 문맥을 연결해야 하는 유형.</a:t>
            </a:r>
          </a:p>
        </p:txBody>
      </p:sp>
      <p:sp>
        <p:nvSpPr>
          <p:cNvPr id="8" name="">
            <a:extLst xmlns:a="http://schemas.openxmlformats.org/drawingml/2006/main">
              <a:ext uri="{FF2B5EF4-FFF2-40B4-BE49-F238E27FC236}">
                <a16:creationId xmlns:a16="http://schemas.microsoft.com/office/drawing/2014/main" id="{6C8234FB-7B1A-448C-A2B6-A6FC2A1CFF27}"/>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13B8019-1222-463F-A174-F493CFC60291}"/>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RFP 사업범위의 핵심은 문서 메타데이터 자동 부착, 청</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킹, 하이브리드 검색의 동적 권한 필터, API 기반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에이전트. 검색 결과를 나중에 가리는 방식보다 검색 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보를 구성할 때 허용 자료만 전달하는 설계가 주요 비교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지점.</a:t>
            </a:r>
          </a:p>
        </p:txBody>
      </p:sp>
      <p:sp>
        <p:nvSpPr>
          <p:cNvPr id="10" name="">
            <a:extLst xmlns:a="http://schemas.openxmlformats.org/drawingml/2006/main">
              <a:ext uri="{FF2B5EF4-FFF2-40B4-BE49-F238E27FC236}">
                <a16:creationId xmlns:a16="http://schemas.microsoft.com/office/drawing/2014/main" id="{C28A354D-97F1-4DC0-9F80-01C9F44479D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6883186-8FF9-4EE9-A4F9-6147740F135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기관 공통 RAG를 재사용하면서 공식 조직·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 ID와 문서 권한을 추가 연결하는 범위로 구체화. 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보·겸직·사업 종료·문서 회수에 따른 색인과 캐시의 갱신,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도구별 실행권한을 별도 검수할 필요.</a:t>
            </a:r>
          </a:p>
        </p:txBody>
      </p:sp>
      <p:sp>
        <p:nvSpPr>
          <p:cNvPr id="12" name="">
            <a:extLst xmlns:a="http://schemas.openxmlformats.org/drawingml/2006/main">
              <a:ext uri="{FF2B5EF4-FFF2-40B4-BE49-F238E27FC236}">
                <a16:creationId xmlns:a16="http://schemas.microsoft.com/office/drawing/2014/main" id="{BDEDF7D0-6A56-4514-AEBC-5AF255CE8DE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84FB412-1B46-4676-9E2F-F2808CAF293A}"/>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사업·문서·청크 메타데이터 / 동적 권한 필터 / 부서별 API 어댑</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터</a:t>
            </a:r>
          </a:p>
        </p:txBody>
      </p:sp>
      <p:sp>
        <p:nvSpPr>
          <p:cNvPr id="14" name="">
            <a:extLst xmlns:a="http://schemas.openxmlformats.org/drawingml/2006/main">
              <a:ext uri="{FF2B5EF4-FFF2-40B4-BE49-F238E27FC236}">
                <a16:creationId xmlns:a16="http://schemas.microsoft.com/office/drawing/2014/main" id="{C46B0883-0B31-4F58-9B34-8CB8ADFC632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14E02A1-1599-476C-B32B-37D803C65F5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암호문서·권한 회수·메타데이터 누락 상태에서 검색 결과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원천 대사</a:t>
            </a:r>
          </a:p>
        </p:txBody>
      </p:sp>
      <p:sp>
        <p:nvSpPr>
          <p:cNvPr id="16" name="">
            <a:extLst xmlns:a="http://schemas.openxmlformats.org/drawingml/2006/main">
              <a:ext uri="{FF2B5EF4-FFF2-40B4-BE49-F238E27FC236}">
                <a16:creationId xmlns:a16="http://schemas.microsoft.com/office/drawing/2014/main" id="{0E4EE044-6E9C-46B4-804C-5729831A53C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D298A27-1EA2-43C7-AF3B-FE86A6D2758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권한 오노출 / 근거 일치율 / 지식 갱신 지연</a:t>
            </a:r>
          </a:p>
        </p:txBody>
      </p:sp>
      <p:sp>
        <p:nvSpPr>
          <p:cNvPr id="18" name="">
            <a:extLst xmlns:a="http://schemas.openxmlformats.org/drawingml/2006/main">
              <a:ext uri="{FF2B5EF4-FFF2-40B4-BE49-F238E27FC236}">
                <a16:creationId xmlns:a16="http://schemas.microsoft.com/office/drawing/2014/main" id="{7E8088F5-52BC-4821-9EF1-470BA36C7668}"/>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로컬 PUBLIC 원본 재사용 사례. 최신 계약·검수·운영 상황은 별도 확인 필요</a:t>
            </a:r>
          </a:p>
        </p:txBody>
      </p:sp>
    </p:spTree>
    <p:extLst>
      <p:ext uri="{BB962C8B-B14F-4D97-AF65-F5344CB8AC3E}">
        <p14:creationId xmlns:p14="http://schemas.microsoft.com/office/powerpoint/2010/main" val="2692270"/>
      </p:ext>
    </p:extLst>
  </p:cSld>
</p:sld>
</file>

<file path=ppt/slides/slide8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1319BBA-17E9-4F5F-868F-F413655A1E1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대내 생성형 AI 서비스 구축 RFP · Ⅰ.3 사업범위·메타데이터 및 동적 권한 필터 / 1–3</a:t>
            </a:r>
          </a:p>
        </p:txBody>
      </p:sp>
      <p:sp>
        <p:nvSpPr>
          <p:cNvPr id="2" name="">
            <a:extLst xmlns:a="http://schemas.openxmlformats.org/drawingml/2006/main">
              <a:ext uri="{FF2B5EF4-FFF2-40B4-BE49-F238E27FC236}">
                <a16:creationId xmlns:a16="http://schemas.microsoft.com/office/drawing/2014/main" id="{EB313CCE-C3DB-4923-992A-6C6008346DC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RFP 요구사항</a:t>
            </a:r>
          </a:p>
        </p:txBody>
      </p:sp>
      <p:sp>
        <p:nvSpPr>
          <p:cNvPr id="3" name="">
            <a:extLst xmlns:a="http://schemas.openxmlformats.org/drawingml/2006/main">
              <a:ext uri="{FF2B5EF4-FFF2-40B4-BE49-F238E27FC236}">
                <a16:creationId xmlns:a16="http://schemas.microsoft.com/office/drawing/2014/main" id="{25C11512-ECA8-4678-9F51-59E98E78893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740DC4-DD40-44E0-B77F-94F7268274A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D68A78D-7887-4314-8119-A00E2D5D506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85</a:t>
            </a:r>
          </a:p>
        </p:txBody>
      </p:sp>
      <p:sp>
        <p:nvSpPr>
          <p:cNvPr id="6" name="">
            <a:extLst xmlns:a="http://schemas.openxmlformats.org/drawingml/2006/main">
              <a:ext uri="{FF2B5EF4-FFF2-40B4-BE49-F238E27FC236}">
                <a16:creationId xmlns:a16="http://schemas.microsoft.com/office/drawing/2014/main" id="{1891048D-F5B6-41B4-9CDB-36EFF08DD673}"/>
              </a:ext>
            </a:extLst>
          </p:cNvPr>
          <p:cNvSpPr>
            <a:spLocks xmlns:a="http://schemas.openxmlformats.org/drawingml/2006/main" noGrp="1"/>
          </p:cNvSpPr>
          <p:nvPr/>
        </p:nvSpPr>
        <p:spPr>
          <a:xfrm xmlns:a="http://schemas.openxmlformats.org/drawingml/2006/main">
            <a:off x="571500" y="16764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82E7A7-5C40-4642-A216-CA1E13EFCD8F}"/>
              </a:ext>
            </a:extLst>
          </p:cNvPr>
          <p:cNvSpPr>
            <a:spLocks xmlns:a="http://schemas.openxmlformats.org/drawingml/2006/main" noGrp="1"/>
          </p:cNvSpPr>
          <p:nvPr/>
        </p:nvSpPr>
        <p:spPr>
          <a:xfrm xmlns:a="http://schemas.openxmlformats.org/drawingml/2006/main">
            <a:off x="571500" y="17526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지식검색 사내 산출물 기반 RAG</a:t>
            </a:r>
          </a:p>
        </p:txBody>
      </p:sp>
      <p:sp>
        <p:nvSpPr>
          <p:cNvPr id="8" name="">
            <a:extLst xmlns:a="http://schemas.openxmlformats.org/drawingml/2006/main">
              <a:ext uri="{FF2B5EF4-FFF2-40B4-BE49-F238E27FC236}">
                <a16:creationId xmlns:a16="http://schemas.microsoft.com/office/drawing/2014/main" id="{DFE8670B-D284-4CE4-A005-17E882C5AB55}"/>
              </a:ext>
            </a:extLst>
          </p:cNvPr>
          <p:cNvSpPr>
            <a:spLocks xmlns:a="http://schemas.openxmlformats.org/drawingml/2006/main" noGrp="1"/>
          </p:cNvSpPr>
          <p:nvPr/>
        </p:nvSpPr>
        <p:spPr>
          <a:xfrm xmlns:a="http://schemas.openxmlformats.org/drawingml/2006/main">
            <a:off x="571500" y="213360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 산출물의 수집·정제·메타데이터와 검색 증강 기반 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의응답 구성.</a:t>
            </a:r>
          </a:p>
        </p:txBody>
      </p:sp>
      <p:sp>
        <p:nvSpPr>
          <p:cNvPr id="9" name="">
            <a:extLst xmlns:a="http://schemas.openxmlformats.org/drawingml/2006/main">
              <a:ext uri="{FF2B5EF4-FFF2-40B4-BE49-F238E27FC236}">
                <a16:creationId xmlns:a16="http://schemas.microsoft.com/office/drawing/2014/main" id="{BE659A9E-2A6B-4C8C-931F-A1E33EA78CA4}"/>
              </a:ext>
            </a:extLst>
          </p:cNvPr>
          <p:cNvSpPr>
            <a:spLocks xmlns:a="http://schemas.openxmlformats.org/drawingml/2006/main" noGrp="1"/>
          </p:cNvSpPr>
          <p:nvPr/>
        </p:nvSpPr>
        <p:spPr>
          <a:xfrm xmlns:a="http://schemas.openxmlformats.org/drawingml/2006/main">
            <a:off x="6334125" y="213360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C03 · C09 · C10 · C11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문서 개정·삭제·다른 업무 자료 혼재 시 원문·판본·인용 위치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대사</a:t>
            </a:r>
          </a:p>
        </p:txBody>
      </p:sp>
      <p:sp>
        <p:nvSpPr>
          <p:cNvPr id="10" name="">
            <a:extLst xmlns:a="http://schemas.openxmlformats.org/drawingml/2006/main">
              <a:ext uri="{FF2B5EF4-FFF2-40B4-BE49-F238E27FC236}">
                <a16:creationId xmlns:a16="http://schemas.microsoft.com/office/drawing/2014/main" id="{EC35024D-578D-4A49-80F3-F2F665BC22DA}"/>
              </a:ext>
            </a:extLst>
          </p:cNvPr>
          <p:cNvSpPr>
            <a:spLocks xmlns:a="http://schemas.openxmlformats.org/drawingml/2006/main" noGrp="1"/>
          </p:cNvSpPr>
          <p:nvPr/>
        </p:nvSpPr>
        <p:spPr>
          <a:xfrm xmlns:a="http://schemas.openxmlformats.org/drawingml/2006/main">
            <a:off x="571500" y="31337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DCA040E-600C-4F65-98AE-1B41DE00D9DE}"/>
              </a:ext>
            </a:extLst>
          </p:cNvPr>
          <p:cNvSpPr>
            <a:spLocks xmlns:a="http://schemas.openxmlformats.org/drawingml/2006/main" noGrp="1"/>
          </p:cNvSpPr>
          <p:nvPr/>
        </p:nvSpPr>
        <p:spPr>
          <a:xfrm xmlns:a="http://schemas.openxmlformats.org/drawingml/2006/main">
            <a:off x="571500" y="32099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권한 메타데이터·동적 권한 필터</a:t>
            </a:r>
          </a:p>
        </p:txBody>
      </p:sp>
      <p:sp>
        <p:nvSpPr>
          <p:cNvPr id="12" name="">
            <a:extLst xmlns:a="http://schemas.openxmlformats.org/drawingml/2006/main">
              <a:ext uri="{FF2B5EF4-FFF2-40B4-BE49-F238E27FC236}">
                <a16:creationId xmlns:a16="http://schemas.microsoft.com/office/drawing/2014/main" id="{D097350D-FC3F-4565-A817-C1C3F17B4542}"/>
              </a:ext>
            </a:extLst>
          </p:cNvPr>
          <p:cNvSpPr>
            <a:spLocks xmlns:a="http://schemas.openxmlformats.org/drawingml/2006/main" noGrp="1"/>
          </p:cNvSpPr>
          <p:nvPr/>
        </p:nvSpPr>
        <p:spPr>
          <a:xfrm xmlns:a="http://schemas.openxmlformats.org/drawingml/2006/main">
            <a:off x="571500" y="35909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메타데이터와 사용자 권한을 이용해 검색·응답 대상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제한하는 요구.</a:t>
            </a:r>
          </a:p>
        </p:txBody>
      </p:sp>
      <p:sp>
        <p:nvSpPr>
          <p:cNvPr id="13" name="">
            <a:extLst xmlns:a="http://schemas.openxmlformats.org/drawingml/2006/main">
              <a:ext uri="{FF2B5EF4-FFF2-40B4-BE49-F238E27FC236}">
                <a16:creationId xmlns:a16="http://schemas.microsoft.com/office/drawing/2014/main" id="{77E4610B-EEBF-4AC4-9CCF-2A5F0B19A307}"/>
              </a:ext>
            </a:extLst>
          </p:cNvPr>
          <p:cNvSpPr>
            <a:spLocks xmlns:a="http://schemas.openxmlformats.org/drawingml/2006/main" noGrp="1"/>
          </p:cNvSpPr>
          <p:nvPr/>
        </p:nvSpPr>
        <p:spPr>
          <a:xfrm xmlns:a="http://schemas.openxmlformats.org/drawingml/2006/main">
            <a:off x="6334125" y="359092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C02 · C03 · C12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전보·공유 해제·권한 회수 직후 검색 후보와 답변 인용에서 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허용 자료 제외 확인</a:t>
            </a:r>
          </a:p>
        </p:txBody>
      </p:sp>
      <p:sp>
        <p:nvSpPr>
          <p:cNvPr id="14" name="">
            <a:extLst xmlns:a="http://schemas.openxmlformats.org/drawingml/2006/main">
              <a:ext uri="{FF2B5EF4-FFF2-40B4-BE49-F238E27FC236}">
                <a16:creationId xmlns:a16="http://schemas.microsoft.com/office/drawing/2014/main" id="{5CDEB53E-A8D3-495E-A9A9-EF074ACB1E28}"/>
              </a:ext>
            </a:extLst>
          </p:cNvPr>
          <p:cNvSpPr>
            <a:spLocks xmlns:a="http://schemas.openxmlformats.org/drawingml/2006/main" noGrp="1"/>
          </p:cNvSpPr>
          <p:nvPr/>
        </p:nvSpPr>
        <p:spPr>
          <a:xfrm xmlns:a="http://schemas.openxmlformats.org/drawingml/2006/main">
            <a:off x="571500" y="45910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9E27CAF-3115-47EB-AA96-806F5CEC42F3}"/>
              </a:ext>
            </a:extLst>
          </p:cNvPr>
          <p:cNvSpPr>
            <a:spLocks xmlns:a="http://schemas.openxmlformats.org/drawingml/2006/main" noGrp="1"/>
          </p:cNvSpPr>
          <p:nvPr/>
        </p:nvSpPr>
        <p:spPr>
          <a:xfrm xmlns:a="http://schemas.openxmlformats.org/drawingml/2006/main">
            <a:off x="571500" y="46672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Ⅰ.3 / 업무연계 내부 API 기반 업무 에이전트</a:t>
            </a:r>
          </a:p>
        </p:txBody>
      </p:sp>
      <p:sp>
        <p:nvSpPr>
          <p:cNvPr id="16" name="">
            <a:extLst xmlns:a="http://schemas.openxmlformats.org/drawingml/2006/main">
              <a:ext uri="{FF2B5EF4-FFF2-40B4-BE49-F238E27FC236}">
                <a16:creationId xmlns:a16="http://schemas.microsoft.com/office/drawing/2014/main" id="{B6DD2B53-2057-4256-9323-219D4CFC736E}"/>
              </a:ext>
            </a:extLst>
          </p:cNvPr>
          <p:cNvSpPr>
            <a:spLocks xmlns:a="http://schemas.openxmlformats.org/drawingml/2006/main" noGrp="1"/>
          </p:cNvSpPr>
          <p:nvPr/>
        </p:nvSpPr>
        <p:spPr>
          <a:xfrm xmlns:a="http://schemas.openxmlformats.org/drawingml/2006/main">
            <a:off x="571500" y="5048250"/>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 업무시스템의 API를 활용해 요청을 처리하는 업무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에이전트 구성.</a:t>
            </a:r>
          </a:p>
        </p:txBody>
      </p:sp>
      <p:sp>
        <p:nvSpPr>
          <p:cNvPr id="17" name="">
            <a:extLst xmlns:a="http://schemas.openxmlformats.org/drawingml/2006/main">
              <a:ext uri="{FF2B5EF4-FFF2-40B4-BE49-F238E27FC236}">
                <a16:creationId xmlns:a16="http://schemas.microsoft.com/office/drawing/2014/main" id="{ED7DC34F-8178-4694-BCD5-CD1A746B1CF0}"/>
              </a:ext>
            </a:extLst>
          </p:cNvPr>
          <p:cNvSpPr>
            <a:spLocks xmlns:a="http://schemas.openxmlformats.org/drawingml/2006/main" noGrp="1"/>
          </p:cNvSpPr>
          <p:nvPr/>
        </p:nvSpPr>
        <p:spPr>
          <a:xfrm xmlns:a="http://schemas.openxmlformats.org/drawingml/2006/main">
            <a:off x="6334125" y="5048250"/>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C04 · C06 · C07 / 검수 설계</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권한 없는 실행·필수값 누락·중복 호출·부분 실패의 보류 및 </a:t>
            </a:r>
          </a:p>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처리 결과 대사</a:t>
            </a:r>
          </a:p>
        </p:txBody>
      </p:sp>
    </p:spTree>
    <p:extLst>
      <p:ext uri="{BB962C8B-B14F-4D97-AF65-F5344CB8AC3E}">
        <p14:creationId xmlns:p14="http://schemas.microsoft.com/office/powerpoint/2010/main" val="45293038"/>
      </p:ext>
    </p:extLst>
  </p:cSld>
</p:sld>
</file>

<file path=ppt/slides/slide8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21C3EA-32F4-454D-ACF4-84FC5F218C1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CCK 분석 재구성 · 원문 도면 아님</a:t>
            </a:r>
          </a:p>
        </p:txBody>
      </p:sp>
      <p:sp>
        <p:nvSpPr>
          <p:cNvPr id="2" name="">
            <a:extLst xmlns:a="http://schemas.openxmlformats.org/drawingml/2006/main">
              <a:ext uri="{FF2B5EF4-FFF2-40B4-BE49-F238E27FC236}">
                <a16:creationId xmlns:a16="http://schemas.microsoft.com/office/drawing/2014/main" id="{ABE487CE-1FDB-4650-85F3-4DE26E883A9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대내 생성형 AI · 권한 검색과 업무 실행 재구성</a:t>
            </a:r>
          </a:p>
        </p:txBody>
      </p:sp>
      <p:sp>
        <p:nvSpPr>
          <p:cNvPr id="3" name="">
            <a:extLst xmlns:a="http://schemas.openxmlformats.org/drawingml/2006/main">
              <a:ext uri="{FF2B5EF4-FFF2-40B4-BE49-F238E27FC236}">
                <a16:creationId xmlns:a16="http://schemas.microsoft.com/office/drawing/2014/main" id="{4C42A16F-85BC-45FF-A1F1-C89E23B9575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F288F67-A4F6-44D3-9B83-A79532E7E9D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81289EB-0AE6-4A10-A86D-578DC097DDA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86</a:t>
            </a:r>
          </a:p>
        </p:txBody>
      </p:sp>
      <p:pic>
        <p:nvPicPr>
          <p:cNvPr id="6" name="">
            <a:extLst xmlns:a="http://schemas.openxmlformats.org/drawingml/2006/main">
              <a:ext uri="{FF2B5EF4-FFF2-40B4-BE49-F238E27FC236}">
                <a16:creationId xmlns:a16="http://schemas.microsoft.com/office/drawing/2014/main" id="{42133E7F-01E8-494C-A49A-6E578E447FE7}"/>
              </a:ext>
            </a:extLst>
          </p:cNvPr>
          <p:cNvPicPr>
            <a:picLocks xmlns:a="http://schemas.openxmlformats.org/drawingml/2006/main" noChangeAspect="1"/>
          </p:cNvPicPr>
          <p:nvPr/>
        </p:nvPicPr>
        <p:blipFill>
          <a:blip xmlns:r="http://schemas.openxmlformats.org/officeDocument/2006/relationships" xmlns:a="http://schemas.openxmlformats.org/drawingml/2006/main" r:embed="R0fb40d83ab604e05"/>
          <a:stretch xmlns:a="http://schemas.openxmlformats.org/drawingml/2006/main"/>
        </p:blipFill>
        <p:spPr>
          <a:xfrm xmlns:a="http://schemas.openxmlformats.org/drawingml/2006/main">
            <a:off x="2372646" y="1657350"/>
            <a:ext cx="7446708"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F29B7A4-3005-4617-9553-DEC147971A2A}"/>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공식 사전규격 RFP Ⅰ.3·권한 메타데이터·API 에이전트 / 원문 서비스 도면 미확인</a:t>
            </a:r>
          </a:p>
        </p:txBody>
      </p:sp>
    </p:spTree>
    <p:extLst>
      <p:ext uri="{BB962C8B-B14F-4D97-AF65-F5344CB8AC3E}">
        <p14:creationId xmlns:p14="http://schemas.microsoft.com/office/powerpoint/2010/main" val="1632261318"/>
      </p:ext>
    </p:extLst>
  </p:cSld>
</p:sld>
</file>

<file path=ppt/slides/slide8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98E86F4-AB9F-4FDB-8ED1-FAF2CE4E47CF}"/>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42CDE706-2E6E-45F4-9FC4-D30A615E3823}"/>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4D54FE1-E266-424D-895B-29A48D456B1A}"/>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DFFC7A89-A3F8-40CE-8E6C-A19B244172FF}"/>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3E8C920C-59AE-4F87-8D13-04D8B0DDE483}"/>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94B86E6-D0E6-4A96-B9DE-0DB534E69357}"/>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9D6A6A2F-1B4B-4DF7-8CEC-48519357DBD4}"/>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96DC04D7-AC5F-4630-BF96-3C842060875C}"/>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34E36D24-CCB9-461A-B08B-419F81C194F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43E85E30-7F8B-4B2A-86D5-19BA3AFEDE4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지식 갱신·검색·근거 응답</a:t>
            </a:r>
          </a:p>
        </p:txBody>
      </p:sp>
      <p:sp>
        <p:nvSpPr>
          <p:cNvPr id="2" name="">
            <a:extLst xmlns:a="http://schemas.openxmlformats.org/drawingml/2006/main">
              <a:ext uri="{FF2B5EF4-FFF2-40B4-BE49-F238E27FC236}">
                <a16:creationId xmlns:a16="http://schemas.microsoft.com/office/drawing/2014/main" id="{2D5F63CF-3180-4635-89C3-395290A5E4C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세부 서비스 구조</a:t>
            </a:r>
          </a:p>
        </p:txBody>
      </p:sp>
      <p:sp>
        <p:nvSpPr>
          <p:cNvPr id="3" name="">
            <a:extLst xmlns:a="http://schemas.openxmlformats.org/drawingml/2006/main">
              <a:ext uri="{FF2B5EF4-FFF2-40B4-BE49-F238E27FC236}">
                <a16:creationId xmlns:a16="http://schemas.microsoft.com/office/drawing/2014/main" id="{6B46D85B-EF23-4E17-BB58-152154E12A5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7C2112-2B57-4239-B78A-B5A48C8E989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9385278-ECDF-47AB-ABC1-5B3D837BE89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87</a:t>
            </a:r>
          </a:p>
        </p:txBody>
      </p:sp>
      <p:sp>
        <p:nvSpPr>
          <p:cNvPr id="6" name="">
            <a:extLst xmlns:a="http://schemas.openxmlformats.org/drawingml/2006/main">
              <a:ext uri="{FF2B5EF4-FFF2-40B4-BE49-F238E27FC236}">
                <a16:creationId xmlns:a16="http://schemas.microsoft.com/office/drawing/2014/main" id="{766FC1C7-0628-4C16-A97A-061991DAD98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권한별 자료 → RAG·지식 갱신 → 업무 에이전트 → 현업 검토</a:t>
            </a:r>
          </a:p>
        </p:txBody>
      </p:sp>
      <p:sp>
        <p:nvSpPr>
          <p:cNvPr id="7" name="">
            <a:extLst xmlns:a="http://schemas.openxmlformats.org/drawingml/2006/main">
              <a:ext uri="{FF2B5EF4-FFF2-40B4-BE49-F238E27FC236}">
                <a16:creationId xmlns:a16="http://schemas.microsoft.com/office/drawing/2014/main" id="{FA1E03C4-53A5-4995-91CA-03CB59777620}"/>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2AEF1F7-75CC-4A4B-9297-01543AD9388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C3B3087-C733-4F3F-9228-337077FC0C6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사업 산출물</a:t>
            </a:r>
          </a:p>
        </p:txBody>
      </p:sp>
      <p:sp>
        <p:nvSpPr>
          <p:cNvPr id="10" name="">
            <a:extLst xmlns:a="http://schemas.openxmlformats.org/drawingml/2006/main">
              <a:ext uri="{FF2B5EF4-FFF2-40B4-BE49-F238E27FC236}">
                <a16:creationId xmlns:a16="http://schemas.microsoft.com/office/drawing/2014/main" id="{40B8C53E-88A3-4070-9E90-325275F5FA5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7D68532-7420-4535-8BB3-B19E0AA90DF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FCBD7E38-E837-451A-8697-825A835A107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청킹·메타데이터</a:t>
            </a:r>
          </a:p>
        </p:txBody>
      </p:sp>
      <p:sp>
        <p:nvSpPr>
          <p:cNvPr id="13" name="">
            <a:extLst xmlns:a="http://schemas.openxmlformats.org/drawingml/2006/main">
              <a:ext uri="{FF2B5EF4-FFF2-40B4-BE49-F238E27FC236}">
                <a16:creationId xmlns:a16="http://schemas.microsoft.com/office/drawing/2014/main" id="{8E955CE9-5B77-4D91-8C02-309C0B951903}"/>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594A0E4-AF6A-413C-A488-391A6ACD6203}"/>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6777A01F-6B06-4665-8D9B-97E9505A84B9}"/>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하이브리드 색인</a:t>
            </a:r>
          </a:p>
        </p:txBody>
      </p:sp>
      <p:sp>
        <p:nvSpPr>
          <p:cNvPr id="16" name="">
            <a:extLst xmlns:a="http://schemas.openxmlformats.org/drawingml/2006/main">
              <a:ext uri="{FF2B5EF4-FFF2-40B4-BE49-F238E27FC236}">
                <a16:creationId xmlns:a16="http://schemas.microsoft.com/office/drawing/2014/main" id="{A1159A74-A2C7-4F1C-BBAF-ECA121F97EF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1D2AD9A-6F59-4E35-8A71-ACD07F814C0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D335BF93-E475-4AFA-91F4-9D272552104D}"/>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동적 권한 검색</a:t>
            </a:r>
          </a:p>
        </p:txBody>
      </p:sp>
      <p:sp>
        <p:nvSpPr>
          <p:cNvPr id="19" name="">
            <a:extLst xmlns:a="http://schemas.openxmlformats.org/drawingml/2006/main">
              <a:ext uri="{FF2B5EF4-FFF2-40B4-BE49-F238E27FC236}">
                <a16:creationId xmlns:a16="http://schemas.microsoft.com/office/drawing/2014/main" id="{4D9B12A3-0FE6-48C3-B35C-992CEC2DF32A}"/>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B012867-D51B-4031-8B14-8473CBA2869B}"/>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A6EFAABF-04E8-491F-AC96-4359CAFC397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사용자 접점</a:t>
            </a:r>
          </a:p>
        </p:txBody>
      </p:sp>
      <p:sp>
        <p:nvSpPr>
          <p:cNvPr id="22" name="">
            <a:extLst xmlns:a="http://schemas.openxmlformats.org/drawingml/2006/main">
              <a:ext uri="{FF2B5EF4-FFF2-40B4-BE49-F238E27FC236}">
                <a16:creationId xmlns:a16="http://schemas.microsoft.com/office/drawing/2014/main" id="{069350BA-DA59-4B8D-97E2-8F1872ED761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EE800D95-F48B-49E9-A43F-F25DDE47295A}"/>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4FAF1A96-6598-4091-AC58-369DA1EFD41C}"/>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SSO·부서·문서</a:t>
            </a:r>
          </a:p>
        </p:txBody>
      </p:sp>
      <p:sp>
        <p:nvSpPr>
          <p:cNvPr id="25" name="">
            <a:extLst xmlns:a="http://schemas.openxmlformats.org/drawingml/2006/main">
              <a:ext uri="{FF2B5EF4-FFF2-40B4-BE49-F238E27FC236}">
                <a16:creationId xmlns:a16="http://schemas.microsoft.com/office/drawing/2014/main" id="{D9011EE8-20AC-4F44-851F-68D0805CE48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F088034-7DDB-4B4B-A5CD-4EEC0F7568A9}"/>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3BD9C1C8-0A8C-4DAA-9971-04E3A47BECD4}"/>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RAG·API 에이전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트</a:t>
            </a:r>
          </a:p>
        </p:txBody>
      </p:sp>
      <p:sp>
        <p:nvSpPr>
          <p:cNvPr id="28" name="">
            <a:extLst xmlns:a="http://schemas.openxmlformats.org/drawingml/2006/main">
              <a:ext uri="{FF2B5EF4-FFF2-40B4-BE49-F238E27FC236}">
                <a16:creationId xmlns:a16="http://schemas.microsoft.com/office/drawing/2014/main" id="{8E490CD4-F4C0-4375-BD59-5F801B43C40C}"/>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428574A7-7455-4E94-9FE8-529465002622}"/>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A461E7CB-4DD9-4DB7-A07D-9BC7B268AD10}"/>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원문·도구 결과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대조</a:t>
            </a:r>
          </a:p>
        </p:txBody>
      </p:sp>
      <p:sp>
        <p:nvSpPr>
          <p:cNvPr id="31" name="">
            <a:extLst xmlns:a="http://schemas.openxmlformats.org/drawingml/2006/main">
              <a:ext uri="{FF2B5EF4-FFF2-40B4-BE49-F238E27FC236}">
                <a16:creationId xmlns:a16="http://schemas.microsoft.com/office/drawing/2014/main" id="{CE68E80C-FBA5-44C0-A2B3-F3F351C1FD8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043445C-A7B9-49B0-8DDC-22714E1E4D7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DC457A20-9171-43B7-A907-7779CB3DAD59}"/>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사업부서 검토</a:t>
            </a:r>
          </a:p>
        </p:txBody>
      </p:sp>
      <p:sp>
        <p:nvSpPr>
          <p:cNvPr id="34" name="">
            <a:extLst xmlns:a="http://schemas.openxmlformats.org/drawingml/2006/main">
              <a:ext uri="{FF2B5EF4-FFF2-40B4-BE49-F238E27FC236}">
                <a16:creationId xmlns:a16="http://schemas.microsoft.com/office/drawing/2014/main" id="{466C4898-E7EB-47D4-BE48-204FFF2B8049}"/>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AE419AB0-4333-473A-BEFC-B08FCD5C8BB9}"/>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8970ABF6-A677-44C2-95E3-DD8A9C1631F4}"/>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해외사업 업무 초</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a:t>
            </a:r>
          </a:p>
        </p:txBody>
      </p:sp>
      <p:sp>
        <p:nvSpPr>
          <p:cNvPr id="46" name="">
            <a:extLst xmlns:a="http://schemas.openxmlformats.org/drawingml/2006/main">
              <a:ext uri="{FF2B5EF4-FFF2-40B4-BE49-F238E27FC236}">
                <a16:creationId xmlns:a16="http://schemas.microsoft.com/office/drawing/2014/main" id="{AEF5E921-61AA-47C3-A1C2-D8C39E3F387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93346121"/>
      </p:ext>
    </p:extLst>
  </p:cSld>
</p:sld>
</file>

<file path=ppt/slides/slide8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54C4C0B-9A43-45AE-9F62-1858BE047D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논리 인터페이스·복구 설계</a:t>
            </a:r>
          </a:p>
        </p:txBody>
      </p:sp>
      <p:sp>
        <p:nvSpPr>
          <p:cNvPr id="2" name="">
            <a:extLst xmlns:a="http://schemas.openxmlformats.org/drawingml/2006/main">
              <a:ext uri="{FF2B5EF4-FFF2-40B4-BE49-F238E27FC236}">
                <a16:creationId xmlns:a16="http://schemas.microsoft.com/office/drawing/2014/main" id="{AE5F9B26-CFEB-4C3F-BB3F-CF7B389B26C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데이터와 예외 처리</a:t>
            </a:r>
          </a:p>
        </p:txBody>
      </p:sp>
      <p:sp>
        <p:nvSpPr>
          <p:cNvPr id="3" name="">
            <a:extLst xmlns:a="http://schemas.openxmlformats.org/drawingml/2006/main">
              <a:ext uri="{FF2B5EF4-FFF2-40B4-BE49-F238E27FC236}">
                <a16:creationId xmlns:a16="http://schemas.microsoft.com/office/drawing/2014/main" id="{4433B4D1-108E-45E1-B411-EAFB1FEAAF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6AC6EC-C7AD-4924-9127-B6A0931D07B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281F0A6-2E54-402B-81BD-3C772D56483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88</a:t>
            </a:r>
          </a:p>
        </p:txBody>
      </p:sp>
      <p:sp>
        <p:nvSpPr>
          <p:cNvPr id="6" name="">
            <a:extLst xmlns:a="http://schemas.openxmlformats.org/drawingml/2006/main">
              <a:ext uri="{FF2B5EF4-FFF2-40B4-BE49-F238E27FC236}">
                <a16:creationId xmlns:a16="http://schemas.microsoft.com/office/drawing/2014/main" id="{D7BEB23B-107C-4B7E-827A-93FD272E496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BCC6688-09F1-4E92-88E4-AE034C516A95}"/>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E5ACF3B5-247B-422E-A469-89AB7541D0E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1511D695-0E99-4057-850B-17ED3E70ECAC}"/>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문서</a:t>
            </a:r>
          </a:p>
        </p:txBody>
      </p:sp>
      <p:sp>
        <p:nvSpPr>
          <p:cNvPr id="10" name="">
            <a:extLst xmlns:a="http://schemas.openxmlformats.org/drawingml/2006/main">
              <a:ext uri="{FF2B5EF4-FFF2-40B4-BE49-F238E27FC236}">
                <a16:creationId xmlns:a16="http://schemas.microsoft.com/office/drawing/2014/main" id="{9B740348-F935-43F5-BE3D-1B002674A67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F29FC80-20E2-4E71-98DC-05F39D747DC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F6B73396-6FF5-4B3D-BD41-44D92A10A40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BD4DD6E-C9F1-4030-88DD-B4DAE9E333B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31B1BA5-82CA-4707-8666-DF9D4D79B64F}"/>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D0345E9A-3DEF-4847-A3F9-FE93222E85F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SSO와 부서·암호문서 접근조건 연결</a:t>
            </a:r>
          </a:p>
        </p:txBody>
      </p:sp>
      <p:sp>
        <p:nvSpPr>
          <p:cNvPr id="16" name="">
            <a:extLst xmlns:a="http://schemas.openxmlformats.org/drawingml/2006/main">
              <a:ext uri="{FF2B5EF4-FFF2-40B4-BE49-F238E27FC236}">
                <a16:creationId xmlns:a16="http://schemas.microsoft.com/office/drawing/2014/main" id="{F4513E27-603C-4320-ABA0-AA41FAAB89AD}"/>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1602D45-72BC-47FC-B0EB-4D4248B8F212}"/>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6ADD2A1C-CBD6-4234-9FA3-A1B3BD523A7E}"/>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문서·청크별 접근시험과 근거·갱신 이력</a:t>
            </a:r>
          </a:p>
        </p:txBody>
      </p:sp>
      <p:sp>
        <p:nvSpPr>
          <p:cNvPr id="19" name="">
            <a:extLst xmlns:a="http://schemas.openxmlformats.org/drawingml/2006/main">
              <a:ext uri="{FF2B5EF4-FFF2-40B4-BE49-F238E27FC236}">
                <a16:creationId xmlns:a16="http://schemas.microsoft.com/office/drawing/2014/main" id="{BDD91D64-1B7C-460A-BCAB-694EC8EAD153}"/>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E287C58-19C0-46A9-A0E5-C1CE90D25F5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7C8CB1BD-D8A9-41C3-AA87-01F2E578766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근거</a:t>
            </a:r>
          </a:p>
        </p:txBody>
      </p:sp>
      <p:sp>
        <p:nvSpPr>
          <p:cNvPr id="22" name="">
            <a:extLst xmlns:a="http://schemas.openxmlformats.org/drawingml/2006/main">
              <a:ext uri="{FF2B5EF4-FFF2-40B4-BE49-F238E27FC236}">
                <a16:creationId xmlns:a16="http://schemas.microsoft.com/office/drawing/2014/main" id="{AC938095-31F1-49B6-81BA-9016E121937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068D7A2-6A60-40C0-8E7C-3FCF93D4F0A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189BC188-DD9E-4CD2-B243-B213800AA79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초안</a:t>
            </a:r>
          </a:p>
        </p:txBody>
      </p:sp>
      <p:sp>
        <p:nvSpPr>
          <p:cNvPr id="25" name="">
            <a:extLst xmlns:a="http://schemas.openxmlformats.org/drawingml/2006/main">
              <a:ext uri="{FF2B5EF4-FFF2-40B4-BE49-F238E27FC236}">
                <a16:creationId xmlns:a16="http://schemas.microsoft.com/office/drawing/2014/main" id="{F2E246AD-1063-43CB-8FC9-88DC3B62B29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B84733C-0858-46A0-A59A-287AD682999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암호문서·다른 부서 자료·메타데이터 누락</a:t>
            </a:r>
          </a:p>
        </p:txBody>
      </p:sp>
      <p:sp>
        <p:nvSpPr>
          <p:cNvPr id="27" name="">
            <a:extLst xmlns:a="http://schemas.openxmlformats.org/drawingml/2006/main">
              <a:ext uri="{FF2B5EF4-FFF2-40B4-BE49-F238E27FC236}">
                <a16:creationId xmlns:a16="http://schemas.microsoft.com/office/drawing/2014/main" id="{0089D8DD-6FDF-46A6-BE5E-D17B15B1946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4A3EBA0-0954-4BBB-8342-4C17E47A542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사업·문서별 권한과 최신 판본 검증</a:t>
            </a:r>
          </a:p>
        </p:txBody>
      </p:sp>
      <p:sp>
        <p:nvSpPr>
          <p:cNvPr id="29" name="">
            <a:extLst xmlns:a="http://schemas.openxmlformats.org/drawingml/2006/main">
              <a:ext uri="{FF2B5EF4-FFF2-40B4-BE49-F238E27FC236}">
                <a16:creationId xmlns:a16="http://schemas.microsoft.com/office/drawing/2014/main" id="{6DE358EE-80E0-4511-8CCE-8A9C4C5F0AD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8B356F7-8C9A-45C5-8C8C-8AC960C01B9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지식 갱신·응답 정확도·질의 유형의 지속 관측</a:t>
            </a:r>
          </a:p>
        </p:txBody>
      </p:sp>
      <p:sp>
        <p:nvSpPr>
          <p:cNvPr id="31" name="">
            <a:extLst xmlns:a="http://schemas.openxmlformats.org/drawingml/2006/main">
              <a:ext uri="{FF2B5EF4-FFF2-40B4-BE49-F238E27FC236}">
                <a16:creationId xmlns:a16="http://schemas.microsoft.com/office/drawing/2014/main" id="{DC20A8D8-7E96-46B9-83C1-F57F51C73A4E}"/>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3A55566-D0FA-4627-BAAB-38EA59D57DB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문서·청크별 접근시험과 근거·갱신 이력</a:t>
            </a:r>
          </a:p>
        </p:txBody>
      </p:sp>
    </p:spTree>
    <p:extLst>
      <p:ext uri="{BB962C8B-B14F-4D97-AF65-F5344CB8AC3E}">
        <p14:creationId xmlns:p14="http://schemas.microsoft.com/office/powerpoint/2010/main" val="1606175218"/>
      </p:ext>
    </p:extLst>
  </p:cSld>
</p:sld>
</file>

<file path=ppt/slides/slide8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D242B72-9E6B-4F1C-90F8-291A5DA66F2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PF-A03 / CCK 비교·재현 시험 설계</a:t>
            </a:r>
          </a:p>
        </p:txBody>
      </p:sp>
      <p:sp>
        <p:nvSpPr>
          <p:cNvPr id="2" name="">
            <a:extLst xmlns:a="http://schemas.openxmlformats.org/drawingml/2006/main">
              <a:ext uri="{FF2B5EF4-FFF2-40B4-BE49-F238E27FC236}">
                <a16:creationId xmlns:a16="http://schemas.microsoft.com/office/drawing/2014/main" id="{2528B860-508C-46E9-89BD-41CBFFB8C74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KIND 생성형 AI · 벤치마킹</a:t>
            </a:r>
          </a:p>
        </p:txBody>
      </p:sp>
      <p:sp>
        <p:nvSpPr>
          <p:cNvPr id="3" name="">
            <a:extLst xmlns:a="http://schemas.openxmlformats.org/drawingml/2006/main">
              <a:ext uri="{FF2B5EF4-FFF2-40B4-BE49-F238E27FC236}">
                <a16:creationId xmlns:a16="http://schemas.microsoft.com/office/drawing/2014/main" id="{CC00FABA-E848-4AA7-9314-B94751F7278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4B799D-D8B2-4F7C-B268-CAC70C4E583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90B0F2C-E210-4688-8FA3-163E93E5E1B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89</a:t>
            </a:r>
          </a:p>
        </p:txBody>
      </p:sp>
      <p:sp>
        <p:nvSpPr>
          <p:cNvPr id="6" name="">
            <a:extLst xmlns:a="http://schemas.openxmlformats.org/drawingml/2006/main">
              <a:ext uri="{FF2B5EF4-FFF2-40B4-BE49-F238E27FC236}">
                <a16:creationId xmlns:a16="http://schemas.microsoft.com/office/drawing/2014/main" id="{D57F72BC-F4F0-4A10-A0A7-6340DFA31303}"/>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52E962F3-2479-467F-BC47-45AC99A4FC8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자료와 공통 검색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에이전트의 현업 검토</a:t>
            </a:r>
          </a:p>
        </p:txBody>
      </p:sp>
      <p:sp>
        <p:nvSpPr>
          <p:cNvPr id="8" name="">
            <a:extLst xmlns:a="http://schemas.openxmlformats.org/drawingml/2006/main">
              <a:ext uri="{FF2B5EF4-FFF2-40B4-BE49-F238E27FC236}">
                <a16:creationId xmlns:a16="http://schemas.microsoft.com/office/drawing/2014/main" id="{6602A710-E436-467C-B1A2-FCAA46F403F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E7A95FE-A4D8-4AD0-B1BC-D2B8317375A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해외사업 문서별 접근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RFP와 운영 완료의 혼동</a:t>
            </a:r>
          </a:p>
        </p:txBody>
      </p:sp>
      <p:sp>
        <p:nvSpPr>
          <p:cNvPr id="10" name="">
            <a:extLst xmlns:a="http://schemas.openxmlformats.org/drawingml/2006/main">
              <a:ext uri="{FF2B5EF4-FFF2-40B4-BE49-F238E27FC236}">
                <a16:creationId xmlns:a16="http://schemas.microsoft.com/office/drawing/2014/main" id="{0205CF68-F22F-4DF1-A9AC-E87FC6A3A4F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7B4C183-9C5D-411E-8D47-4C3A722D239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사업·문서별 권한과 최신 판본 검증</a:t>
            </a:r>
          </a:p>
        </p:txBody>
      </p:sp>
      <p:sp>
        <p:nvSpPr>
          <p:cNvPr id="12" name="">
            <a:extLst xmlns:a="http://schemas.openxmlformats.org/drawingml/2006/main">
              <a:ext uri="{FF2B5EF4-FFF2-40B4-BE49-F238E27FC236}">
                <a16:creationId xmlns:a16="http://schemas.microsoft.com/office/drawing/2014/main" id="{37F2FD09-2531-4BD3-9D5F-58F0CE841BA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3D0DB2F-2755-44EF-A52C-BA15A40E30C2}"/>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 문서 질의에서 권한 내 근거를 찾고 업무 초안</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생성</a:t>
            </a:r>
          </a:p>
        </p:txBody>
      </p:sp>
      <p:sp>
        <p:nvSpPr>
          <p:cNvPr id="14" name="">
            <a:extLst xmlns:a="http://schemas.openxmlformats.org/drawingml/2006/main">
              <a:ext uri="{FF2B5EF4-FFF2-40B4-BE49-F238E27FC236}">
                <a16:creationId xmlns:a16="http://schemas.microsoft.com/office/drawing/2014/main" id="{E1A7B25E-2754-4B2E-AAAC-702AF376B50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F92F01A-42EC-4131-8DD0-C985B941DCB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암호문서·다른 부서 자료·메타데이터 누락</a:t>
            </a:r>
          </a:p>
        </p:txBody>
      </p:sp>
      <p:sp>
        <p:nvSpPr>
          <p:cNvPr id="16" name="">
            <a:extLst xmlns:a="http://schemas.openxmlformats.org/drawingml/2006/main">
              <a:ext uri="{FF2B5EF4-FFF2-40B4-BE49-F238E27FC236}">
                <a16:creationId xmlns:a16="http://schemas.microsoft.com/office/drawing/2014/main" id="{79D80B84-8B09-4FE4-AB3C-1A64ED9B756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C37811F-BB39-42A6-B4AF-9BFF824CDC0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문서·청크별 접근시험과 근거·갱신 이력</a:t>
            </a:r>
          </a:p>
        </p:txBody>
      </p:sp>
    </p:spTree>
    <p:extLst>
      <p:ext uri="{BB962C8B-B14F-4D97-AF65-F5344CB8AC3E}">
        <p14:creationId xmlns:p14="http://schemas.microsoft.com/office/powerpoint/2010/main" val="1928529619"/>
      </p:ext>
    </p:extLst>
  </p:cSld>
</p:sld>
</file>

<file path=ppt/slides/slide9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697E11E-64A6-4344-8F02-09276290E4B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공개 데이터 연계 서비스 / 국내</a:t>
            </a:r>
          </a:p>
        </p:txBody>
      </p:sp>
      <p:sp>
        <p:nvSpPr>
          <p:cNvPr id="2" name="">
            <a:extLst xmlns:a="http://schemas.openxmlformats.org/drawingml/2006/main">
              <a:ext uri="{FF2B5EF4-FFF2-40B4-BE49-F238E27FC236}">
                <a16:creationId xmlns:a16="http://schemas.microsoft.com/office/drawing/2014/main" id="{47D6A623-FA7D-4CC1-A5BF-3301405ACC1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a:t>
            </a:r>
          </a:p>
        </p:txBody>
      </p:sp>
      <p:sp>
        <p:nvSpPr>
          <p:cNvPr id="3" name="">
            <a:extLst xmlns:a="http://schemas.openxmlformats.org/drawingml/2006/main">
              <a:ext uri="{FF2B5EF4-FFF2-40B4-BE49-F238E27FC236}">
                <a16:creationId xmlns:a16="http://schemas.microsoft.com/office/drawing/2014/main" id="{84AF0A64-8B77-4E94-B9D2-23100DF634E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2A4067-47C2-4DB0-91A1-056E5744560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4480E45-9A9D-4CB4-8E9B-D6FA24DB811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90</a:t>
            </a:r>
          </a:p>
        </p:txBody>
      </p:sp>
      <p:sp>
        <p:nvSpPr>
          <p:cNvPr id="6" name="">
            <a:extLst xmlns:a="http://schemas.openxmlformats.org/drawingml/2006/main">
              <a:ext uri="{FF2B5EF4-FFF2-40B4-BE49-F238E27FC236}">
                <a16:creationId xmlns:a16="http://schemas.microsoft.com/office/drawing/2014/main" id="{0219884B-86A3-4C4E-A3BE-441D3263A65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5220D38-8AC1-4DCF-8CF3-415AFECFAAF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한국산업인력공단의 공공 API를 MCP 도구로 제공하는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외부 AI가 추정한 답을 생성하기 전에 기관의 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 데이터를 조회할 수 있도록 접근 수단을 제공하는 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a:t>
            </a:r>
          </a:p>
        </p:txBody>
      </p:sp>
      <p:sp>
        <p:nvSpPr>
          <p:cNvPr id="8" name="">
            <a:extLst xmlns:a="http://schemas.openxmlformats.org/drawingml/2006/main">
              <a:ext uri="{FF2B5EF4-FFF2-40B4-BE49-F238E27FC236}">
                <a16:creationId xmlns:a16="http://schemas.microsoft.com/office/drawing/2014/main" id="{E5250D58-AB44-422B-B8BB-D85D83E5D40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23C7C15-5D1C-44E6-844F-D66EC65F2AC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AI 클라이언트의 도구 요청을 MCP 서버에서 공식 API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호출로 변환하고 결과를 구조화해 반환하는 흐름. 도구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이름·입력 스키마·오류 형식·데이터 시점을 명확히 정의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것이 서비스 연결의 핵심.</a:t>
            </a:r>
          </a:p>
        </p:txBody>
      </p:sp>
      <p:sp>
        <p:nvSpPr>
          <p:cNvPr id="10" name="">
            <a:extLst xmlns:a="http://schemas.openxmlformats.org/drawingml/2006/main">
              <a:ext uri="{FF2B5EF4-FFF2-40B4-BE49-F238E27FC236}">
                <a16:creationId xmlns:a16="http://schemas.microsoft.com/office/drawing/2014/main" id="{27622E16-C6D1-40BF-ABB5-4FAE9E2608F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79716A9-83E3-43CA-9111-A331E94DF5A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공공데이터·자격·검사 안내에서도 공식 조회와 자연어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설명을 분리하는 참고. 잘못된 인자, 결과 없음, API 장애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오래된 데이터의 처리와 읽기 전용 권한을 검수하고 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 AI의 최종 설명에서 출처를 확인할 수 있도록 제공.</a:t>
            </a:r>
          </a:p>
        </p:txBody>
      </p:sp>
      <p:sp>
        <p:nvSpPr>
          <p:cNvPr id="12" name="">
            <a:extLst xmlns:a="http://schemas.openxmlformats.org/drawingml/2006/main">
              <a:ext uri="{FF2B5EF4-FFF2-40B4-BE49-F238E27FC236}">
                <a16:creationId xmlns:a16="http://schemas.microsoft.com/office/drawing/2014/main" id="{C35A63DF-9921-4AD4-8D10-DDD962D9E8D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71C2C46-B0C3-4FA3-8C6D-D501521221B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기관·직무별 도구 권한 / 요청키 / 오류·중복 처리</a:t>
            </a:r>
          </a:p>
        </p:txBody>
      </p:sp>
      <p:sp>
        <p:nvSpPr>
          <p:cNvPr id="14" name="">
            <a:extLst xmlns:a="http://schemas.openxmlformats.org/drawingml/2006/main">
              <a:ext uri="{FF2B5EF4-FFF2-40B4-BE49-F238E27FC236}">
                <a16:creationId xmlns:a16="http://schemas.microsoft.com/office/drawing/2014/main" id="{48354922-C4FD-4160-A8BC-1CA8A1F2DF2B}"/>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45D1D86-C06F-4684-B46F-A55C2C837C4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도구별 입력·응답·인증·오류 처리 계약 및 쓰기 요청 차단</a:t>
            </a:r>
          </a:p>
        </p:txBody>
      </p:sp>
      <p:sp>
        <p:nvSpPr>
          <p:cNvPr id="16" name="">
            <a:extLst xmlns:a="http://schemas.openxmlformats.org/drawingml/2006/main">
              <a:ext uri="{FF2B5EF4-FFF2-40B4-BE49-F238E27FC236}">
                <a16:creationId xmlns:a16="http://schemas.microsoft.com/office/drawing/2014/main" id="{4806ACB9-B097-4AB0-9C20-95003D91636C}"/>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2D279AA-DC29-47C1-A20C-1A887D7EDE1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A543A88C-356A-445A-B734-F19873C91C0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공개 조회의 구축 사례 · 내부 결재·수정 실행의 검증과 별개</a:t>
            </a:r>
          </a:p>
        </p:txBody>
      </p:sp>
    </p:spTree>
    <p:extLst>
      <p:ext uri="{BB962C8B-B14F-4D97-AF65-F5344CB8AC3E}">
        <p14:creationId xmlns:p14="http://schemas.microsoft.com/office/powerpoint/2010/main" val="894194479"/>
      </p:ext>
    </p:extLst>
  </p:cSld>
</p:sld>
</file>

<file path=ppt/slides/slide9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675F4224-F3F1-4287-A7AB-69916C9F636D}"/>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089C360-CDD3-411B-B329-17BA3E41504E}"/>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180BC8C2-11E1-4362-B841-D7C3116723F1}"/>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279D149-6307-4CDB-8204-2B39C2C6A9B2}"/>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576BEFE-BCA2-4985-8079-708F24C83C9F}"/>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60D40CE-BECF-48A4-B5F7-968821AB6FBE}"/>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89A285D-6FE8-4D3E-8C77-2D0424828D64}"/>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2C589E6-577D-4CE4-87C6-F41D36BC930E}"/>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4755B69D-F331-4E28-B466-F9E459C67A80}"/>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5C8202F6-0B73-425D-B9AF-D8B71C03137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입력 구조화·확인·업무시스템 처리</a:t>
            </a:r>
          </a:p>
        </p:txBody>
      </p:sp>
      <p:sp>
        <p:nvSpPr>
          <p:cNvPr id="2" name="">
            <a:extLst xmlns:a="http://schemas.openxmlformats.org/drawingml/2006/main">
              <a:ext uri="{FF2B5EF4-FFF2-40B4-BE49-F238E27FC236}">
                <a16:creationId xmlns:a16="http://schemas.microsoft.com/office/drawing/2014/main" id="{7E5217AC-49DA-4307-A2C6-498EF3A87AB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세부 서비스 구조</a:t>
            </a:r>
          </a:p>
        </p:txBody>
      </p:sp>
      <p:sp>
        <p:nvSpPr>
          <p:cNvPr id="3" name="">
            <a:extLst xmlns:a="http://schemas.openxmlformats.org/drawingml/2006/main">
              <a:ext uri="{FF2B5EF4-FFF2-40B4-BE49-F238E27FC236}">
                <a16:creationId xmlns:a16="http://schemas.microsoft.com/office/drawing/2014/main" id="{65FB34F9-3E08-4438-9EAF-3CAF460841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2AC66F-B0CE-4960-ABA1-D51CFCEF2A5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75026AB-7961-4030-95E8-BD7C0400330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91</a:t>
            </a:r>
          </a:p>
        </p:txBody>
      </p:sp>
      <p:sp>
        <p:nvSpPr>
          <p:cNvPr id="6" name="">
            <a:extLst xmlns:a="http://schemas.openxmlformats.org/drawingml/2006/main">
              <a:ext uri="{FF2B5EF4-FFF2-40B4-BE49-F238E27FC236}">
                <a16:creationId xmlns:a16="http://schemas.microsoft.com/office/drawing/2014/main" id="{50DE72A8-20FC-4CAF-9034-B4700CA181B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외부 AI 요청 → MCP 도구 선택 → 기존 공식 API → 최신 데이터 안내</a:t>
            </a:r>
          </a:p>
        </p:txBody>
      </p:sp>
      <p:sp>
        <p:nvSpPr>
          <p:cNvPr id="7" name="">
            <a:extLst xmlns:a="http://schemas.openxmlformats.org/drawingml/2006/main">
              <a:ext uri="{FF2B5EF4-FFF2-40B4-BE49-F238E27FC236}">
                <a16:creationId xmlns:a16="http://schemas.microsoft.com/office/drawing/2014/main" id="{858FB107-A84C-4C7B-A333-8A965F5624C3}"/>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4B2C7F5-E7D3-41A2-89AF-C9C198A648D6}"/>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CE6E49B7-548D-44DF-B18F-C7EBDABECF3E}"/>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외부 AI 질의</a:t>
            </a:r>
          </a:p>
        </p:txBody>
      </p:sp>
      <p:sp>
        <p:nvSpPr>
          <p:cNvPr id="10" name="">
            <a:extLst xmlns:a="http://schemas.openxmlformats.org/drawingml/2006/main">
              <a:ext uri="{FF2B5EF4-FFF2-40B4-BE49-F238E27FC236}">
                <a16:creationId xmlns:a16="http://schemas.microsoft.com/office/drawing/2014/main" id="{585D00D7-E8FB-49AD-A54E-FF19BF7E474A}"/>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C11543C-D051-471F-B465-5BC1D855A515}"/>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8FF02F53-A8AB-4B9E-969E-2E043A0AA7E2}"/>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도구·인자 정의</a:t>
            </a:r>
          </a:p>
        </p:txBody>
      </p:sp>
      <p:sp>
        <p:nvSpPr>
          <p:cNvPr id="13" name="">
            <a:extLst xmlns:a="http://schemas.openxmlformats.org/drawingml/2006/main">
              <a:ext uri="{FF2B5EF4-FFF2-40B4-BE49-F238E27FC236}">
                <a16:creationId xmlns:a16="http://schemas.microsoft.com/office/drawing/2014/main" id="{EA57E4BB-C3D7-4B47-8A37-A409ED22F39B}"/>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258C0F9-5330-4DA5-ABED-275728658243}"/>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7E27F989-A7DF-478B-BAFC-03BF1D323CD9}"/>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MCP 호출 조정</a:t>
            </a:r>
          </a:p>
        </p:txBody>
      </p:sp>
      <p:sp>
        <p:nvSpPr>
          <p:cNvPr id="16" name="">
            <a:extLst xmlns:a="http://schemas.openxmlformats.org/drawingml/2006/main">
              <a:ext uri="{FF2B5EF4-FFF2-40B4-BE49-F238E27FC236}">
                <a16:creationId xmlns:a16="http://schemas.microsoft.com/office/drawing/2014/main" id="{0D2955D9-833C-43C1-BE44-AFC31EEDA7D2}"/>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B3EE911-FB2A-4F0B-BF50-439D1613B941}"/>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83966EBC-E16B-47FA-A24E-BB397C02D986}"/>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스키마·상태 검사</a:t>
            </a:r>
          </a:p>
        </p:txBody>
      </p:sp>
      <p:sp>
        <p:nvSpPr>
          <p:cNvPr id="19" name="">
            <a:extLst xmlns:a="http://schemas.openxmlformats.org/drawingml/2006/main">
              <a:ext uri="{FF2B5EF4-FFF2-40B4-BE49-F238E27FC236}">
                <a16:creationId xmlns:a16="http://schemas.microsoft.com/office/drawing/2014/main" id="{7E713458-3B8E-4E47-8230-C825EF43C42C}"/>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0B10A97A-2C1F-403E-9FF2-089C4CEEFB34}"/>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3465D448-A7B0-4154-9144-40093B9AFA86}"/>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확인</a:t>
            </a:r>
          </a:p>
        </p:txBody>
      </p:sp>
      <p:sp>
        <p:nvSpPr>
          <p:cNvPr id="22" name="">
            <a:extLst xmlns:a="http://schemas.openxmlformats.org/drawingml/2006/main">
              <a:ext uri="{FF2B5EF4-FFF2-40B4-BE49-F238E27FC236}">
                <a16:creationId xmlns:a16="http://schemas.microsoft.com/office/drawing/2014/main" id="{27D9416D-8F68-438F-B20E-B6C854013BA0}"/>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C686E10-ADCD-42D8-8626-B5AD568C0110}"/>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FA0B2B98-6EC6-439C-98AF-CBF2745F13ED}"/>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 조회 결과</a:t>
            </a:r>
          </a:p>
        </p:txBody>
      </p:sp>
      <p:sp>
        <p:nvSpPr>
          <p:cNvPr id="25" name="">
            <a:extLst xmlns:a="http://schemas.openxmlformats.org/drawingml/2006/main">
              <a:ext uri="{FF2B5EF4-FFF2-40B4-BE49-F238E27FC236}">
                <a16:creationId xmlns:a16="http://schemas.microsoft.com/office/drawing/2014/main" id="{02537967-2366-49F3-8D68-9355E0DE903F}"/>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0D19282-CE65-45B7-BE97-085F3A63AB4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F6914F52-6259-4A15-9AE4-C9EFC015BDF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공공 API·코드</a:t>
            </a:r>
          </a:p>
        </p:txBody>
      </p:sp>
      <p:sp>
        <p:nvSpPr>
          <p:cNvPr id="28" name="">
            <a:extLst xmlns:a="http://schemas.openxmlformats.org/drawingml/2006/main">
              <a:ext uri="{FF2B5EF4-FFF2-40B4-BE49-F238E27FC236}">
                <a16:creationId xmlns:a16="http://schemas.microsoft.com/office/drawing/2014/main" id="{BE7C7089-5998-4BAD-A93B-88E7FFD99650}"/>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A6633EB-6F95-4C6D-B950-613BEC309599}"/>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78665D1E-CB6F-4DC3-9504-D727F0630BEA}"/>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API 선택</a:t>
            </a:r>
          </a:p>
        </p:txBody>
      </p:sp>
      <p:sp>
        <p:nvSpPr>
          <p:cNvPr id="31" name="">
            <a:extLst xmlns:a="http://schemas.openxmlformats.org/drawingml/2006/main">
              <a:ext uri="{FF2B5EF4-FFF2-40B4-BE49-F238E27FC236}">
                <a16:creationId xmlns:a16="http://schemas.microsoft.com/office/drawing/2014/main" id="{C729C71A-C3A4-4949-99A3-5A8221D5984B}"/>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080AF0A-C87A-43DA-BD66-428C0D639C73}"/>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FDA017C5-207E-48EC-96DA-DC8BC5D749B3}"/>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도구·호출 기록</a:t>
            </a:r>
          </a:p>
        </p:txBody>
      </p:sp>
      <p:sp>
        <p:nvSpPr>
          <p:cNvPr id="34" name="">
            <a:extLst xmlns:a="http://schemas.openxmlformats.org/drawingml/2006/main">
              <a:ext uri="{FF2B5EF4-FFF2-40B4-BE49-F238E27FC236}">
                <a16:creationId xmlns:a16="http://schemas.microsoft.com/office/drawing/2014/main" id="{6C1B49C1-DBE6-44B8-A042-97FB8654B467}"/>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C39CC11-832B-41D4-9828-8B57BE459EC2}"/>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001CBC5B-7215-477D-A78E-90375BC683F9}"/>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호출·변경 검사</a:t>
            </a:r>
          </a:p>
        </p:txBody>
      </p:sp>
      <p:sp>
        <p:nvSpPr>
          <p:cNvPr id="46" name="">
            <a:extLst xmlns:a="http://schemas.openxmlformats.org/drawingml/2006/main">
              <a:ext uri="{FF2B5EF4-FFF2-40B4-BE49-F238E27FC236}">
                <a16:creationId xmlns:a16="http://schemas.microsoft.com/office/drawing/2014/main" id="{F01BA826-FF75-455E-ABED-7400D86DE27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77745222"/>
      </p:ext>
    </p:extLst>
  </p:cSld>
</p:sld>
</file>

<file path=ppt/slides/slide9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09B596D-3263-4395-8635-BDD20A8FE5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논리 인터페이스·복구 설계</a:t>
            </a:r>
          </a:p>
        </p:txBody>
      </p:sp>
      <p:sp>
        <p:nvSpPr>
          <p:cNvPr id="2" name="">
            <a:extLst xmlns:a="http://schemas.openxmlformats.org/drawingml/2006/main">
              <a:ext uri="{FF2B5EF4-FFF2-40B4-BE49-F238E27FC236}">
                <a16:creationId xmlns:a16="http://schemas.microsoft.com/office/drawing/2014/main" id="{84A362D2-3E3E-440D-AC8A-C4BD0AC40B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데이터와 예외 처리</a:t>
            </a:r>
          </a:p>
        </p:txBody>
      </p:sp>
      <p:sp>
        <p:nvSpPr>
          <p:cNvPr id="3" name="">
            <a:extLst xmlns:a="http://schemas.openxmlformats.org/drawingml/2006/main">
              <a:ext uri="{FF2B5EF4-FFF2-40B4-BE49-F238E27FC236}">
                <a16:creationId xmlns:a16="http://schemas.microsoft.com/office/drawing/2014/main" id="{40292F74-1312-444D-B1D6-9D97C4C506E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29947B-EBA0-4AE7-98FD-EF3BCB6A79A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2FA1C30-14CB-48A5-A6BC-A7B1814CE0A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92</a:t>
            </a:r>
          </a:p>
        </p:txBody>
      </p:sp>
      <p:sp>
        <p:nvSpPr>
          <p:cNvPr id="6" name="">
            <a:extLst xmlns:a="http://schemas.openxmlformats.org/drawingml/2006/main">
              <a:ext uri="{FF2B5EF4-FFF2-40B4-BE49-F238E27FC236}">
                <a16:creationId xmlns:a16="http://schemas.microsoft.com/office/drawing/2014/main" id="{F52332DD-0C0F-4C21-BC11-AE0A18283996}"/>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EAB4E05-21D7-47E4-AC39-A9297411A06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0A65033-5C0E-4547-A005-635DC5838B70}"/>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8A0C9102-8EEB-4594-A40F-B3CAC2B0C59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자연어 질의를 조회 도구와 인자로 변환</a:t>
            </a:r>
          </a:p>
        </p:txBody>
      </p:sp>
      <p:sp>
        <p:nvSpPr>
          <p:cNvPr id="10" name="">
            <a:extLst xmlns:a="http://schemas.openxmlformats.org/drawingml/2006/main">
              <a:ext uri="{FF2B5EF4-FFF2-40B4-BE49-F238E27FC236}">
                <a16:creationId xmlns:a16="http://schemas.microsoft.com/office/drawing/2014/main" id="{8F1265AB-10D6-4621-863C-D7096455300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E7123A-995D-4D2A-8896-F4FB55871B3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9E21131E-6235-44B7-8569-82DE9066545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조회 의도</a:t>
            </a:r>
          </a:p>
        </p:txBody>
      </p:sp>
      <p:sp>
        <p:nvSpPr>
          <p:cNvPr id="13" name="">
            <a:extLst xmlns:a="http://schemas.openxmlformats.org/drawingml/2006/main">
              <a:ext uri="{FF2B5EF4-FFF2-40B4-BE49-F238E27FC236}">
                <a16:creationId xmlns:a16="http://schemas.microsoft.com/office/drawing/2014/main" id="{26442E6D-D441-4217-B062-50A0CEF24BC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B681441-2392-4F61-AA8C-73C53C294BEE}"/>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47ECD701-915E-40A3-AAAE-FD6AD54254C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기존 공공 API</a:t>
            </a:r>
          </a:p>
        </p:txBody>
      </p:sp>
      <p:sp>
        <p:nvSpPr>
          <p:cNvPr id="16" name="">
            <a:extLst xmlns:a="http://schemas.openxmlformats.org/drawingml/2006/main">
              <a:ext uri="{FF2B5EF4-FFF2-40B4-BE49-F238E27FC236}">
                <a16:creationId xmlns:a16="http://schemas.microsoft.com/office/drawing/2014/main" id="{228D6B1A-4B0A-4E1F-A8B2-0CD57E34E78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66E0C89-E689-4AB9-B85E-E3284C2E7F19}"/>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AEB3F7E1-B7BC-400B-B353-0939F0E9684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API 결과</a:t>
            </a:r>
          </a:p>
        </p:txBody>
      </p:sp>
      <p:sp>
        <p:nvSpPr>
          <p:cNvPr id="19" name="">
            <a:extLst xmlns:a="http://schemas.openxmlformats.org/drawingml/2006/main">
              <a:ext uri="{FF2B5EF4-FFF2-40B4-BE49-F238E27FC236}">
                <a16:creationId xmlns:a16="http://schemas.microsoft.com/office/drawing/2014/main" id="{1B589D22-2377-4C15-B1EB-CB71C5F84E6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6A50E8F-5DC7-45E1-B93D-8C1468B466D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0A87D957-8FB3-43AB-A6D0-3E7CFC0E124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안내</a:t>
            </a:r>
          </a:p>
        </p:txBody>
      </p:sp>
      <p:sp>
        <p:nvSpPr>
          <p:cNvPr id="22" name="">
            <a:extLst xmlns:a="http://schemas.openxmlformats.org/drawingml/2006/main">
              <a:ext uri="{FF2B5EF4-FFF2-40B4-BE49-F238E27FC236}">
                <a16:creationId xmlns:a16="http://schemas.microsoft.com/office/drawing/2014/main" id="{AFDA0AE9-C73D-405A-9EAC-0A33074D93A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1A129A5-C7D6-40D5-B03C-4DE725DA94E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8FE7264B-2CEF-4E5F-8664-A915246DA77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안내</a:t>
            </a:r>
          </a:p>
        </p:txBody>
      </p:sp>
      <p:sp>
        <p:nvSpPr>
          <p:cNvPr id="25" name="">
            <a:extLst xmlns:a="http://schemas.openxmlformats.org/drawingml/2006/main">
              <a:ext uri="{FF2B5EF4-FFF2-40B4-BE49-F238E27FC236}">
                <a16:creationId xmlns:a16="http://schemas.microsoft.com/office/drawing/2014/main" id="{6BA20EEF-368A-4257-884F-B8AD250582A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141136C-C652-4DF9-95C3-B4382039F67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인자 누락·스키마 변경·API 지연·빈 결과</a:t>
            </a:r>
          </a:p>
        </p:txBody>
      </p:sp>
      <p:sp>
        <p:nvSpPr>
          <p:cNvPr id="27" name="">
            <a:extLst xmlns:a="http://schemas.openxmlformats.org/drawingml/2006/main">
              <a:ext uri="{FF2B5EF4-FFF2-40B4-BE49-F238E27FC236}">
                <a16:creationId xmlns:a16="http://schemas.microsoft.com/office/drawing/2014/main" id="{B8AEB33F-D5DA-4D32-93A3-ABA8C12D61E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8741D8D-CD54-46E9-B567-17D4F2794327}"/>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인자·스키마·오류·최신성 대사</a:t>
            </a:r>
          </a:p>
        </p:txBody>
      </p:sp>
      <p:sp>
        <p:nvSpPr>
          <p:cNvPr id="29" name="">
            <a:extLst xmlns:a="http://schemas.openxmlformats.org/drawingml/2006/main">
              <a:ext uri="{FF2B5EF4-FFF2-40B4-BE49-F238E27FC236}">
                <a16:creationId xmlns:a16="http://schemas.microsoft.com/office/drawing/2014/main" id="{8DCF01BD-BE14-4DE6-AA98-82B7E50F9D6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3C3E474-2665-462E-8C9D-496B825CE11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실패 응답·스키마 변경·호출량의 검사</a:t>
            </a:r>
          </a:p>
        </p:txBody>
      </p:sp>
      <p:sp>
        <p:nvSpPr>
          <p:cNvPr id="31" name="">
            <a:extLst xmlns:a="http://schemas.openxmlformats.org/drawingml/2006/main">
              <a:ext uri="{FF2B5EF4-FFF2-40B4-BE49-F238E27FC236}">
                <a16:creationId xmlns:a16="http://schemas.microsoft.com/office/drawing/2014/main" id="{0A79FB44-F350-4EE6-8844-8F4CA9F2C1D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8F9C14E-190E-43F8-9758-5D54CBF7498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도구 인자·원천 응답·사용자 안내의 일치 기록</a:t>
            </a:r>
          </a:p>
        </p:txBody>
      </p:sp>
    </p:spTree>
    <p:extLst>
      <p:ext uri="{BB962C8B-B14F-4D97-AF65-F5344CB8AC3E}">
        <p14:creationId xmlns:p14="http://schemas.microsoft.com/office/powerpoint/2010/main" val="317488775"/>
      </p:ext>
    </p:extLst>
  </p:cSld>
</p:sld>
</file>

<file path=ppt/slides/slide9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B0A293-5B2E-4A99-AE94-E7B829F1780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PF03 / CCK 비교·재현 시험 설계</a:t>
            </a:r>
          </a:p>
        </p:txBody>
      </p:sp>
      <p:sp>
        <p:nvSpPr>
          <p:cNvPr id="2" name="">
            <a:extLst xmlns:a="http://schemas.openxmlformats.org/drawingml/2006/main">
              <a:ext uri="{FF2B5EF4-FFF2-40B4-BE49-F238E27FC236}">
                <a16:creationId xmlns:a16="http://schemas.microsoft.com/office/drawing/2014/main" id="{9F9607ED-A4D5-4615-BE1C-C15CD56252E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HRDKorea MCP · 벤치마킹</a:t>
            </a:r>
          </a:p>
        </p:txBody>
      </p:sp>
      <p:sp>
        <p:nvSpPr>
          <p:cNvPr id="3" name="">
            <a:extLst xmlns:a="http://schemas.openxmlformats.org/drawingml/2006/main">
              <a:ext uri="{FF2B5EF4-FFF2-40B4-BE49-F238E27FC236}">
                <a16:creationId xmlns:a16="http://schemas.microsoft.com/office/drawing/2014/main" id="{F14AF957-4D69-4AC9-B184-8031E8C53CF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10B2A4-7FB9-4777-9B11-B792FE7E806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62E2B81-F805-4348-B89B-58A10B28A71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93</a:t>
            </a:r>
          </a:p>
        </p:txBody>
      </p:sp>
      <p:sp>
        <p:nvSpPr>
          <p:cNvPr id="6" name="">
            <a:extLst xmlns:a="http://schemas.openxmlformats.org/drawingml/2006/main">
              <a:ext uri="{FF2B5EF4-FFF2-40B4-BE49-F238E27FC236}">
                <a16:creationId xmlns:a16="http://schemas.microsoft.com/office/drawing/2014/main" id="{08888666-C678-4597-897B-156E3A7E400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DC02468-5897-4F91-8B34-E1AE1B97478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공식 API의 재사용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AI 도구의 공식 데이터 조회 연결</a:t>
            </a:r>
          </a:p>
        </p:txBody>
      </p:sp>
      <p:sp>
        <p:nvSpPr>
          <p:cNvPr id="8" name="">
            <a:extLst xmlns:a="http://schemas.openxmlformats.org/drawingml/2006/main">
              <a:ext uri="{FF2B5EF4-FFF2-40B4-BE49-F238E27FC236}">
                <a16:creationId xmlns:a16="http://schemas.microsoft.com/office/drawing/2014/main" id="{F58CCAB1-E1E4-469B-B6EA-FF6315B9BC5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7C86B64B-5FEC-4BC3-8FB0-CEC9DBF8B77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도구 응답 지연·스키마 변경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조회 성공을 신청 완료로 오인</a:t>
            </a:r>
          </a:p>
        </p:txBody>
      </p:sp>
      <p:sp>
        <p:nvSpPr>
          <p:cNvPr id="10" name="">
            <a:extLst xmlns:a="http://schemas.openxmlformats.org/drawingml/2006/main">
              <a:ext uri="{FF2B5EF4-FFF2-40B4-BE49-F238E27FC236}">
                <a16:creationId xmlns:a16="http://schemas.microsoft.com/office/drawing/2014/main" id="{D145D282-AB49-4585-87D6-53D34CBD9CAC}"/>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9E172CC7-3950-4D81-873B-E0A12A8230D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인자·스키마·오류·최신성 대사</a:t>
            </a:r>
          </a:p>
        </p:txBody>
      </p:sp>
      <p:sp>
        <p:nvSpPr>
          <p:cNvPr id="12" name="">
            <a:extLst xmlns:a="http://schemas.openxmlformats.org/drawingml/2006/main">
              <a:ext uri="{FF2B5EF4-FFF2-40B4-BE49-F238E27FC236}">
                <a16:creationId xmlns:a16="http://schemas.microsoft.com/office/drawing/2014/main" id="{E8FEE16C-DBD4-4C58-AB90-43CAD46BD0F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FDD56FC8-9354-4BE6-A8CA-8E957855901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자연어 요청을 공식 API 인자로 변환해 조회</a:t>
            </a:r>
          </a:p>
        </p:txBody>
      </p:sp>
      <p:sp>
        <p:nvSpPr>
          <p:cNvPr id="14" name="">
            <a:extLst xmlns:a="http://schemas.openxmlformats.org/drawingml/2006/main">
              <a:ext uri="{FF2B5EF4-FFF2-40B4-BE49-F238E27FC236}">
                <a16:creationId xmlns:a16="http://schemas.microsoft.com/office/drawing/2014/main" id="{ED5F9347-F2AA-4055-84C0-01DDFBDC173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07D1B4C-A024-4519-8CFC-998E04E787C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인자 누락·스키마 변경·API 지연·빈 결과</a:t>
            </a:r>
          </a:p>
        </p:txBody>
      </p:sp>
      <p:sp>
        <p:nvSpPr>
          <p:cNvPr id="16" name="">
            <a:extLst xmlns:a="http://schemas.openxmlformats.org/drawingml/2006/main">
              <a:ext uri="{FF2B5EF4-FFF2-40B4-BE49-F238E27FC236}">
                <a16:creationId xmlns:a16="http://schemas.microsoft.com/office/drawing/2014/main" id="{8DB2CD0D-AE75-4FFD-B89A-FB269AEF338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DD62A50-EE5E-42A1-A168-2F0B99F36FD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도구 인자·원천 응답·사용자 안내의 일치 기록</a:t>
            </a:r>
          </a:p>
        </p:txBody>
      </p:sp>
    </p:spTree>
    <p:extLst>
      <p:ext uri="{BB962C8B-B14F-4D97-AF65-F5344CB8AC3E}">
        <p14:creationId xmlns:p14="http://schemas.microsoft.com/office/powerpoint/2010/main" val="164325886"/>
      </p:ext>
    </p:extLst>
  </p:cSld>
</p:sld>
</file>

<file path=ppt/slides/slide9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28A93BE-2E77-476F-87A9-854417A994E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사내 운영 · 자사 발표 / 국내</a:t>
            </a:r>
          </a:p>
        </p:txBody>
      </p:sp>
      <p:sp>
        <p:nvSpPr>
          <p:cNvPr id="2" name="">
            <a:extLst xmlns:a="http://schemas.openxmlformats.org/drawingml/2006/main">
              <a:ext uri="{FF2B5EF4-FFF2-40B4-BE49-F238E27FC236}">
                <a16:creationId xmlns:a16="http://schemas.microsoft.com/office/drawing/2014/main" id="{4C87875A-6282-4DA4-B521-6674836EB28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a:t>
            </a:r>
          </a:p>
        </p:txBody>
      </p:sp>
      <p:sp>
        <p:nvSpPr>
          <p:cNvPr id="3" name="">
            <a:extLst xmlns:a="http://schemas.openxmlformats.org/drawingml/2006/main">
              <a:ext uri="{FF2B5EF4-FFF2-40B4-BE49-F238E27FC236}">
                <a16:creationId xmlns:a16="http://schemas.microsoft.com/office/drawing/2014/main" id="{7F0E870A-5ECD-452F-B4CD-243A0D992F2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1EABAC5-53BF-4465-A302-D77747B0C46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7042930-F39D-4BC3-B66F-03886F3554F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94</a:t>
            </a:r>
          </a:p>
        </p:txBody>
      </p:sp>
      <p:sp>
        <p:nvSpPr>
          <p:cNvPr id="6" name="">
            <a:extLst xmlns:a="http://schemas.openxmlformats.org/drawingml/2006/main">
              <a:ext uri="{FF2B5EF4-FFF2-40B4-BE49-F238E27FC236}">
                <a16:creationId xmlns:a16="http://schemas.microsoft.com/office/drawing/2014/main" id="{9B44FF3F-921C-4F6B-8B9B-CA38BB6D090E}"/>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3C6D6F9-61BD-4364-BEEA-CE96C39B4CA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삼성SDS의 FabriX 공통 AI와 사내 시스템·협업·개발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도구의 연계 사례. 공통 대화 접점에서 API 기반 업무 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용, 협업 도구, 개발 플러그인으로 활용 경로를 확대하는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a:t>
            </a:r>
          </a:p>
        </p:txBody>
      </p:sp>
      <p:sp>
        <p:nvSpPr>
          <p:cNvPr id="8" name="">
            <a:extLst xmlns:a="http://schemas.openxmlformats.org/drawingml/2006/main">
              <a:ext uri="{FF2B5EF4-FFF2-40B4-BE49-F238E27FC236}">
                <a16:creationId xmlns:a16="http://schemas.microsoft.com/office/drawing/2014/main" id="{D7EDE16C-44D3-4DC8-A63F-4635C056978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77AA8BF-6837-4BDB-AAA8-367DF68C0F7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도입 설명은 업무 문서 정비와 공통 플랫폼 제공,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시스템 API 연계, 현장 담당자·전담 조직의 운영을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함께 제시. MCP·권한 연계는 후속 고도화 방향으로 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명된 범위이며 모든 단계의 완료 성과로 묶지 않는 해석.</a:t>
            </a:r>
          </a:p>
        </p:txBody>
      </p:sp>
      <p:sp>
        <p:nvSpPr>
          <p:cNvPr id="10" name="">
            <a:extLst xmlns:a="http://schemas.openxmlformats.org/drawingml/2006/main">
              <a:ext uri="{FF2B5EF4-FFF2-40B4-BE49-F238E27FC236}">
                <a16:creationId xmlns:a16="http://schemas.microsoft.com/office/drawing/2014/main" id="{47E11D88-D02D-4E8D-9E83-961A6F03190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B6A66D1-4B19-4A11-BF61-9890220D038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데이터 표준·업무 소유자·운영 책임을 플랫폼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 함께 구축하는 참고. AI혁신처의 공통 기반과 부서별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API·검수 책임을 분리해 확장비용과 업무 완료 품질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비교할 필요.</a:t>
            </a:r>
          </a:p>
        </p:txBody>
      </p:sp>
      <p:sp>
        <p:nvSpPr>
          <p:cNvPr id="12" name="">
            <a:extLst xmlns:a="http://schemas.openxmlformats.org/drawingml/2006/main">
              <a:ext uri="{FF2B5EF4-FFF2-40B4-BE49-F238E27FC236}">
                <a16:creationId xmlns:a16="http://schemas.microsoft.com/office/drawing/2014/main" id="{AE09E236-EB88-49FB-88DF-3687C4FE2BD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819D4A3-1543-4864-8B25-06F2DD012693}"/>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업무단위 연계 모듈 / 현업 교육 / 품질·비용 관측</a:t>
            </a:r>
          </a:p>
        </p:txBody>
      </p:sp>
      <p:sp>
        <p:nvSpPr>
          <p:cNvPr id="14" name="">
            <a:extLst xmlns:a="http://schemas.openxmlformats.org/drawingml/2006/main">
              <a:ext uri="{FF2B5EF4-FFF2-40B4-BE49-F238E27FC236}">
                <a16:creationId xmlns:a16="http://schemas.microsoft.com/office/drawing/2014/main" id="{3BB54A22-413B-4220-BDBB-95A3DAFBCFC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CB5831B-0977-4110-B1D3-652B159E871C}"/>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 완료율·오실행·재작업·총소요시간 동시 평가</a:t>
            </a:r>
          </a:p>
        </p:txBody>
      </p:sp>
      <p:sp>
        <p:nvSpPr>
          <p:cNvPr id="16" name="">
            <a:extLst xmlns:a="http://schemas.openxmlformats.org/drawingml/2006/main">
              <a:ext uri="{FF2B5EF4-FFF2-40B4-BE49-F238E27FC236}">
                <a16:creationId xmlns:a16="http://schemas.microsoft.com/office/drawing/2014/main" id="{1A9089B0-BD8A-4830-B0C1-0263E380F6B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AA91A17-F830-422B-98F5-7A689206BCD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618A796D-15A0-4A62-B7FA-D15738CB274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자사 발표 · 특정 직무 성과를 전사 생산성으로 일반화 불가</a:t>
            </a:r>
          </a:p>
        </p:txBody>
      </p:sp>
    </p:spTree>
    <p:extLst>
      <p:ext uri="{BB962C8B-B14F-4D97-AF65-F5344CB8AC3E}">
        <p14:creationId xmlns:p14="http://schemas.microsoft.com/office/powerpoint/2010/main" val="1869800679"/>
      </p:ext>
    </p:extLst>
  </p:cSld>
</p:sld>
</file>

<file path=ppt/slides/slide9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53624485-566E-424A-A85C-FB0A869DE0AA}"/>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70EC6B7-6C36-44C4-AB0B-D1FA17A45BA5}"/>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87E70EF-DF6B-4AD1-86D7-98900C899561}"/>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DD2E9F8-6808-43EB-A2C8-2063B26D03DA}"/>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2A1D34FD-3074-4843-8562-47A73C804FD1}"/>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8E152545-7EE0-4BBE-AB62-008097AD4A28}"/>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8E582D09-D039-43FF-934A-50BCCAEA8F8A}"/>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A874FB8C-0F68-4A47-BA6B-3E3F9537010F}"/>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014267F9-CE47-4FD1-BF94-4362DFD4B130}"/>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BE3F7E3F-F2EC-4769-A376-0CEF998807C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입력 구조화·확인·업무시스템 처리</a:t>
            </a:r>
          </a:p>
        </p:txBody>
      </p:sp>
      <p:sp>
        <p:nvSpPr>
          <p:cNvPr id="2" name="">
            <a:extLst xmlns:a="http://schemas.openxmlformats.org/drawingml/2006/main">
              <a:ext uri="{FF2B5EF4-FFF2-40B4-BE49-F238E27FC236}">
                <a16:creationId xmlns:a16="http://schemas.microsoft.com/office/drawing/2014/main" id="{D02F396A-B205-4567-8391-17A4977DEC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세부 서비스 구조</a:t>
            </a:r>
          </a:p>
        </p:txBody>
      </p:sp>
      <p:sp>
        <p:nvSpPr>
          <p:cNvPr id="3" name="">
            <a:extLst xmlns:a="http://schemas.openxmlformats.org/drawingml/2006/main">
              <a:ext uri="{FF2B5EF4-FFF2-40B4-BE49-F238E27FC236}">
                <a16:creationId xmlns:a16="http://schemas.microsoft.com/office/drawing/2014/main" id="{7D01A83D-9A04-44B4-959E-1F30B27D32F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C20A75-A463-40F2-A3BB-CA5FFC5948B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9DBE384-F4BA-44D0-BED0-304CF1629DD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95</a:t>
            </a:r>
          </a:p>
        </p:txBody>
      </p:sp>
      <p:sp>
        <p:nvSpPr>
          <p:cNvPr id="6" name="">
            <a:extLst xmlns:a="http://schemas.openxmlformats.org/drawingml/2006/main">
              <a:ext uri="{FF2B5EF4-FFF2-40B4-BE49-F238E27FC236}">
                <a16:creationId xmlns:a16="http://schemas.microsoft.com/office/drawing/2014/main" id="{82153188-8915-4311-A5C7-5AF50147574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공통 AI 접점 → FabriX·검색 → 사내 시스템 API → 직무 도구·현업 피드백</a:t>
            </a:r>
          </a:p>
        </p:txBody>
      </p:sp>
      <p:sp>
        <p:nvSpPr>
          <p:cNvPr id="7" name="">
            <a:extLst xmlns:a="http://schemas.openxmlformats.org/drawingml/2006/main">
              <a:ext uri="{FF2B5EF4-FFF2-40B4-BE49-F238E27FC236}">
                <a16:creationId xmlns:a16="http://schemas.microsoft.com/office/drawing/2014/main" id="{391C65FC-31D4-46F0-A384-9449349FF97B}"/>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0F09F24-BC69-41E9-A6C0-72D4A022C36E}"/>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9714A8E5-FCE3-4B75-80AB-1FD82BF65DB1}"/>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직무용 AI 접점</a:t>
            </a:r>
          </a:p>
        </p:txBody>
      </p:sp>
      <p:sp>
        <p:nvSpPr>
          <p:cNvPr id="10" name="">
            <a:extLst xmlns:a="http://schemas.openxmlformats.org/drawingml/2006/main">
              <a:ext uri="{FF2B5EF4-FFF2-40B4-BE49-F238E27FC236}">
                <a16:creationId xmlns:a16="http://schemas.microsoft.com/office/drawing/2014/main" id="{E4ACBB47-1D67-4A28-8F2A-84D5BD525D10}"/>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03E2FB2F-9D94-4E45-8FFC-65929C492AE4}"/>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E2CC140D-7E80-4194-9D9B-328D3E9F12D5}"/>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직원·목적·도구</a:t>
            </a:r>
          </a:p>
        </p:txBody>
      </p:sp>
      <p:sp>
        <p:nvSpPr>
          <p:cNvPr id="13" name="">
            <a:extLst xmlns:a="http://schemas.openxmlformats.org/drawingml/2006/main">
              <a:ext uri="{FF2B5EF4-FFF2-40B4-BE49-F238E27FC236}">
                <a16:creationId xmlns:a16="http://schemas.microsoft.com/office/drawing/2014/main" id="{C21BEA9B-0852-46E0-BCF1-41269929A511}"/>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C6FC9AE-3B90-4019-9729-79ECD437A82C}"/>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2DA3C4D5-99D8-4E14-97C0-59BFE2A426F5}"/>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FabriX·API 조</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a:t>
            </a:r>
          </a:p>
        </p:txBody>
      </p:sp>
      <p:sp>
        <p:nvSpPr>
          <p:cNvPr id="16" name="">
            <a:extLst xmlns:a="http://schemas.openxmlformats.org/drawingml/2006/main">
              <a:ext uri="{FF2B5EF4-FFF2-40B4-BE49-F238E27FC236}">
                <a16:creationId xmlns:a16="http://schemas.microsoft.com/office/drawing/2014/main" id="{F5475C8B-5ADF-4B59-804B-F2FD0A4F0CC3}"/>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504C9FF-9114-4C9B-87DD-271196F1EF12}"/>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CA24E614-93A5-4EB7-9E9D-37B6571CC2D1}"/>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실행·결과 검사</a:t>
            </a:r>
          </a:p>
        </p:txBody>
      </p:sp>
      <p:sp>
        <p:nvSpPr>
          <p:cNvPr id="19" name="">
            <a:extLst xmlns:a="http://schemas.openxmlformats.org/drawingml/2006/main">
              <a:ext uri="{FF2B5EF4-FFF2-40B4-BE49-F238E27FC236}">
                <a16:creationId xmlns:a16="http://schemas.microsoft.com/office/drawing/2014/main" id="{5A871832-E997-49A7-AC6D-2F90359D0714}"/>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B91576D-0235-4E8E-8AB2-50F3C825FEDC}"/>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25BA4643-B561-4EE2-9D07-314DC35B1396}"/>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확인</a:t>
            </a:r>
          </a:p>
        </p:txBody>
      </p:sp>
      <p:sp>
        <p:nvSpPr>
          <p:cNvPr id="22" name="">
            <a:extLst xmlns:a="http://schemas.openxmlformats.org/drawingml/2006/main">
              <a:ext uri="{FF2B5EF4-FFF2-40B4-BE49-F238E27FC236}">
                <a16:creationId xmlns:a16="http://schemas.microsoft.com/office/drawing/2014/main" id="{5AB688CE-473A-43D3-9544-0EDE47FA347D}"/>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A71E1BE-A9F3-4668-9A9B-A39C9EFD3098}"/>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1648F660-9708-45EC-9807-BA4FCFA5CFBC}"/>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 시스템 연결</a:t>
            </a:r>
          </a:p>
        </p:txBody>
      </p:sp>
      <p:sp>
        <p:nvSpPr>
          <p:cNvPr id="25" name="">
            <a:extLst xmlns:a="http://schemas.openxmlformats.org/drawingml/2006/main">
              <a:ext uri="{FF2B5EF4-FFF2-40B4-BE49-F238E27FC236}">
                <a16:creationId xmlns:a16="http://schemas.microsoft.com/office/drawing/2014/main" id="{2B2F5BF6-E237-420F-96C7-F736083FE201}"/>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DFF5FAE-1888-432B-B3BA-052848C09857}"/>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68F0EAAD-B020-4823-96F2-4B907C0F3397}"/>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지식·API</a:t>
            </a:r>
          </a:p>
        </p:txBody>
      </p:sp>
      <p:sp>
        <p:nvSpPr>
          <p:cNvPr id="28" name="">
            <a:extLst xmlns:a="http://schemas.openxmlformats.org/drawingml/2006/main">
              <a:ext uri="{FF2B5EF4-FFF2-40B4-BE49-F238E27FC236}">
                <a16:creationId xmlns:a16="http://schemas.microsoft.com/office/drawing/2014/main" id="{3794E935-AC7D-44C2-B5A6-DE720CFB4ADE}"/>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ACECA17-6D8B-4B86-980B-911599D7A674}"/>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C46F4D0A-7909-45F5-8768-323EE4DBD107}"/>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사내 지식 검색</a:t>
            </a:r>
          </a:p>
        </p:txBody>
      </p:sp>
      <p:sp>
        <p:nvSpPr>
          <p:cNvPr id="31" name="">
            <a:extLst xmlns:a="http://schemas.openxmlformats.org/drawingml/2006/main">
              <a:ext uri="{FF2B5EF4-FFF2-40B4-BE49-F238E27FC236}">
                <a16:creationId xmlns:a16="http://schemas.microsoft.com/office/drawing/2014/main" id="{7B735C3C-D484-4D6E-97AC-8A8A49178258}"/>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9DBD8A8-B52E-421F-917D-298720876608}"/>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350450D3-F2A2-46B2-96C9-7A32390FEA42}"/>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지식·처리 상태</a:t>
            </a:r>
          </a:p>
        </p:txBody>
      </p:sp>
      <p:sp>
        <p:nvSpPr>
          <p:cNvPr id="34" name="">
            <a:extLst xmlns:a="http://schemas.openxmlformats.org/drawingml/2006/main">
              <a:ext uri="{FF2B5EF4-FFF2-40B4-BE49-F238E27FC236}">
                <a16:creationId xmlns:a16="http://schemas.microsoft.com/office/drawing/2014/main" id="{35012C2E-16DD-4A6F-A610-3B2672E01D36}"/>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849C384-B1B6-47D0-B11E-4D367BC3DC7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6902117E-E0A1-443B-B2F3-0787803796B0}"/>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실패·피드백 분석</a:t>
            </a:r>
          </a:p>
        </p:txBody>
      </p:sp>
      <p:sp>
        <p:nvSpPr>
          <p:cNvPr id="46" name="">
            <a:extLst xmlns:a="http://schemas.openxmlformats.org/drawingml/2006/main">
              <a:ext uri="{FF2B5EF4-FFF2-40B4-BE49-F238E27FC236}">
                <a16:creationId xmlns:a16="http://schemas.microsoft.com/office/drawing/2014/main" id="{77DFC779-E61B-4FE5-9687-B792E3AE981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42439929"/>
      </p:ext>
    </p:extLst>
  </p:cSld>
</p:sld>
</file>

<file path=ppt/slides/slide9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2FD63B2-B7EE-4D1C-952E-4AB4ED7EBD6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논리 인터페이스·복구 설계</a:t>
            </a:r>
          </a:p>
        </p:txBody>
      </p:sp>
      <p:sp>
        <p:nvSpPr>
          <p:cNvPr id="2" name="">
            <a:extLst xmlns:a="http://schemas.openxmlformats.org/drawingml/2006/main">
              <a:ext uri="{FF2B5EF4-FFF2-40B4-BE49-F238E27FC236}">
                <a16:creationId xmlns:a16="http://schemas.microsoft.com/office/drawing/2014/main" id="{908FEF47-C210-413F-ACE5-782324868B6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데이터와 예외 처리</a:t>
            </a:r>
          </a:p>
        </p:txBody>
      </p:sp>
      <p:sp>
        <p:nvSpPr>
          <p:cNvPr id="3" name="">
            <a:extLst xmlns:a="http://schemas.openxmlformats.org/drawingml/2006/main">
              <a:ext uri="{FF2B5EF4-FFF2-40B4-BE49-F238E27FC236}">
                <a16:creationId xmlns:a16="http://schemas.microsoft.com/office/drawing/2014/main" id="{43E439D7-A380-4AB9-9CAB-FCF00B920F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1AF6E9E-25AF-4401-B865-E57CEF4ACB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E7353C3-38A8-4915-AEDA-13EA067F5F0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96</a:t>
            </a:r>
          </a:p>
        </p:txBody>
      </p:sp>
      <p:sp>
        <p:nvSpPr>
          <p:cNvPr id="6" name="">
            <a:extLst xmlns:a="http://schemas.openxmlformats.org/drawingml/2006/main">
              <a:ext uri="{FF2B5EF4-FFF2-40B4-BE49-F238E27FC236}">
                <a16:creationId xmlns:a16="http://schemas.microsoft.com/office/drawing/2014/main" id="{045DFBEF-4686-446E-82B2-6D3DFE91876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A2C02D60-8965-4012-9948-05E7BF2F805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5771721-90A5-4D27-A403-634C9146073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A772EE20-81B5-4BAC-A6E2-8081773F678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계정·업무 목적·도구 권한 확인</a:t>
            </a:r>
          </a:p>
        </p:txBody>
      </p:sp>
      <p:sp>
        <p:nvSpPr>
          <p:cNvPr id="10" name="">
            <a:extLst xmlns:a="http://schemas.openxmlformats.org/drawingml/2006/main">
              <a:ext uri="{FF2B5EF4-FFF2-40B4-BE49-F238E27FC236}">
                <a16:creationId xmlns:a16="http://schemas.microsoft.com/office/drawing/2014/main" id="{13303B4A-CE04-49A0-9415-C6ED2702BD6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67EE30-745F-497D-AD95-C6648F62849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37B1D661-A85B-4C97-BD0F-70961A3C25E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6B805F1F-6D2F-4AC0-BC8A-F9CC238272D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5BF047-4D8F-462D-85E4-8A7596214F7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CFE894AC-5B9E-458E-8F3D-4D215E6A66C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 지식·API</a:t>
            </a:r>
          </a:p>
        </p:txBody>
      </p:sp>
      <p:sp>
        <p:nvSpPr>
          <p:cNvPr id="16" name="">
            <a:extLst xmlns:a="http://schemas.openxmlformats.org/drawingml/2006/main">
              <a:ext uri="{FF2B5EF4-FFF2-40B4-BE49-F238E27FC236}">
                <a16:creationId xmlns:a16="http://schemas.microsoft.com/office/drawing/2014/main" id="{F137F90C-EBCD-45D4-83BF-789BE0AB8A2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F60B72A-578D-48A4-BB55-A15674DF5F92}"/>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21DFB9DD-4C3D-49E1-A98F-3D0A5C7F3F2D}"/>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시스템 결과</a:t>
            </a:r>
          </a:p>
        </p:txBody>
      </p:sp>
      <p:sp>
        <p:nvSpPr>
          <p:cNvPr id="19" name="">
            <a:extLst xmlns:a="http://schemas.openxmlformats.org/drawingml/2006/main">
              <a:ext uri="{FF2B5EF4-FFF2-40B4-BE49-F238E27FC236}">
                <a16:creationId xmlns:a16="http://schemas.microsoft.com/office/drawing/2014/main" id="{696B6DD9-3316-49EF-ACA4-CFF152B331C7}"/>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A814271-03AB-4027-9879-AA519D456CD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2B6B20A9-C41C-47C6-87DB-C4A17625C9B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검토·후속조치</a:t>
            </a:r>
          </a:p>
        </p:txBody>
      </p:sp>
      <p:sp>
        <p:nvSpPr>
          <p:cNvPr id="22" name="">
            <a:extLst xmlns:a="http://schemas.openxmlformats.org/drawingml/2006/main">
              <a:ext uri="{FF2B5EF4-FFF2-40B4-BE49-F238E27FC236}">
                <a16:creationId xmlns:a16="http://schemas.microsoft.com/office/drawing/2014/main" id="{5B20D734-D810-4CDA-A534-94725193591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9DDFA37-1668-4046-9061-C38298EAC60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C9A2EFB6-5AD6-4B3C-B44E-5F44CAE85DAC}"/>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검토·후속조치</a:t>
            </a:r>
          </a:p>
        </p:txBody>
      </p:sp>
      <p:sp>
        <p:nvSpPr>
          <p:cNvPr id="25" name="">
            <a:extLst xmlns:a="http://schemas.openxmlformats.org/drawingml/2006/main">
              <a:ext uri="{FF2B5EF4-FFF2-40B4-BE49-F238E27FC236}">
                <a16:creationId xmlns:a16="http://schemas.microsoft.com/office/drawing/2014/main" id="{056C400F-E5DE-45D1-B879-801F777F4F0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29DD9E7-1820-460B-8EF0-605F7C80700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부족·API 부분 실패·같은 요청 재전송</a:t>
            </a:r>
          </a:p>
        </p:txBody>
      </p:sp>
      <p:sp>
        <p:nvSpPr>
          <p:cNvPr id="27" name="">
            <a:extLst xmlns:a="http://schemas.openxmlformats.org/drawingml/2006/main">
              <a:ext uri="{FF2B5EF4-FFF2-40B4-BE49-F238E27FC236}">
                <a16:creationId xmlns:a16="http://schemas.microsoft.com/office/drawing/2014/main" id="{34D7790B-9688-4BFB-82CB-8DCDAA833B3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8A80B4FB-113B-4116-966E-A1AFBE8BCA2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실행 권한·중복 호출·실패 복구</a:t>
            </a:r>
          </a:p>
        </p:txBody>
      </p:sp>
      <p:sp>
        <p:nvSpPr>
          <p:cNvPr id="29" name="">
            <a:extLst xmlns:a="http://schemas.openxmlformats.org/drawingml/2006/main">
              <a:ext uri="{FF2B5EF4-FFF2-40B4-BE49-F238E27FC236}">
                <a16:creationId xmlns:a16="http://schemas.microsoft.com/office/drawing/2014/main" id="{54927903-BFAA-48A0-835F-DD8B061B009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376424C-9F27-48B7-8CFD-C9DE3F1E8DD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사용자 피드백·업무별 품질·실행 오류 분석</a:t>
            </a:r>
          </a:p>
        </p:txBody>
      </p:sp>
      <p:sp>
        <p:nvSpPr>
          <p:cNvPr id="31" name="">
            <a:extLst xmlns:a="http://schemas.openxmlformats.org/drawingml/2006/main">
              <a:ext uri="{FF2B5EF4-FFF2-40B4-BE49-F238E27FC236}">
                <a16:creationId xmlns:a16="http://schemas.microsoft.com/office/drawing/2014/main" id="{0991D1ED-6275-4ECE-A07B-5D81BF6B921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43A2A20-15BF-447F-AAAD-A4B4A86ACDE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도구 선택·실행 결과·복구 로그</a:t>
            </a:r>
          </a:p>
        </p:txBody>
      </p:sp>
    </p:spTree>
    <p:extLst>
      <p:ext uri="{BB962C8B-B14F-4D97-AF65-F5344CB8AC3E}">
        <p14:creationId xmlns:p14="http://schemas.microsoft.com/office/powerpoint/2010/main" val="1279663474"/>
      </p:ext>
    </p:extLst>
  </p:cSld>
</p:sld>
</file>

<file path=ppt/slides/slide9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00FAC93-835A-4253-8165-79D8F4759DF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PF04 / CCK 비교·재현 시험 설계</a:t>
            </a:r>
          </a:p>
        </p:txBody>
      </p:sp>
      <p:sp>
        <p:nvSpPr>
          <p:cNvPr id="2" name="">
            <a:extLst xmlns:a="http://schemas.openxmlformats.org/drawingml/2006/main">
              <a:ext uri="{FF2B5EF4-FFF2-40B4-BE49-F238E27FC236}">
                <a16:creationId xmlns:a16="http://schemas.microsoft.com/office/drawing/2014/main" id="{90C78739-F994-4DE3-9A63-415CEE208A6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삼성SDS FabriX 업무 플랫폼 · 벤치마킹</a:t>
            </a:r>
          </a:p>
        </p:txBody>
      </p:sp>
      <p:sp>
        <p:nvSpPr>
          <p:cNvPr id="3" name="">
            <a:extLst xmlns:a="http://schemas.openxmlformats.org/drawingml/2006/main">
              <a:ext uri="{FF2B5EF4-FFF2-40B4-BE49-F238E27FC236}">
                <a16:creationId xmlns:a16="http://schemas.microsoft.com/office/drawing/2014/main" id="{1F33854C-E1BF-48D2-BB48-B67F5856F98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3064C7-906E-4BE8-9E33-C8E6D8F2CD4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13AB568-1D65-4B23-BE09-64F0B426E66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97</a:t>
            </a:r>
          </a:p>
        </p:txBody>
      </p:sp>
      <p:sp>
        <p:nvSpPr>
          <p:cNvPr id="6" name="">
            <a:extLst xmlns:a="http://schemas.openxmlformats.org/drawingml/2006/main">
              <a:ext uri="{FF2B5EF4-FFF2-40B4-BE49-F238E27FC236}">
                <a16:creationId xmlns:a16="http://schemas.microsoft.com/office/drawing/2014/main" id="{538D1A3B-1ACF-4535-A734-D93A063C1BB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F8F35A67-E111-4D7C-AB80-72F5296F7C2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AI와 사내 시스템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직무 도구·피드백을 통한 확산</a:t>
            </a:r>
          </a:p>
        </p:txBody>
      </p:sp>
      <p:sp>
        <p:nvSpPr>
          <p:cNvPr id="8" name="">
            <a:extLst xmlns:a="http://schemas.openxmlformats.org/drawingml/2006/main">
              <a:ext uri="{FF2B5EF4-FFF2-40B4-BE49-F238E27FC236}">
                <a16:creationId xmlns:a16="http://schemas.microsoft.com/office/drawing/2014/main" id="{641C4880-808D-406E-89E6-D494C4739D0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2D4EFA6-637B-4263-A441-08C3FE625B6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API별 권한·실패 상태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도입과 모든 업무의 효과 혼동</a:t>
            </a:r>
          </a:p>
        </p:txBody>
      </p:sp>
      <p:sp>
        <p:nvSpPr>
          <p:cNvPr id="10" name="">
            <a:extLst xmlns:a="http://schemas.openxmlformats.org/drawingml/2006/main">
              <a:ext uri="{FF2B5EF4-FFF2-40B4-BE49-F238E27FC236}">
                <a16:creationId xmlns:a16="http://schemas.microsoft.com/office/drawing/2014/main" id="{6E5D7652-2F25-4C93-945B-FC41402355E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0450271A-BB1D-47DE-B230-F088B37307BE}"/>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실행 권한·중복 호출·실패 복구</a:t>
            </a:r>
          </a:p>
        </p:txBody>
      </p:sp>
      <p:sp>
        <p:nvSpPr>
          <p:cNvPr id="12" name="">
            <a:extLst xmlns:a="http://schemas.openxmlformats.org/drawingml/2006/main">
              <a:ext uri="{FF2B5EF4-FFF2-40B4-BE49-F238E27FC236}">
                <a16:creationId xmlns:a16="http://schemas.microsoft.com/office/drawing/2014/main" id="{71646CBB-FAD7-458E-9783-C7D3CFFCDB75}"/>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D59DB0F-3B13-4F80-936B-83B0C73075C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사내 업무 목적을 검색·도구 호출에 연결</a:t>
            </a:r>
          </a:p>
        </p:txBody>
      </p:sp>
      <p:sp>
        <p:nvSpPr>
          <p:cNvPr id="14" name="">
            <a:extLst xmlns:a="http://schemas.openxmlformats.org/drawingml/2006/main">
              <a:ext uri="{FF2B5EF4-FFF2-40B4-BE49-F238E27FC236}">
                <a16:creationId xmlns:a16="http://schemas.microsoft.com/office/drawing/2014/main" id="{230FE758-3A8B-4004-9158-E943B44243F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C393970D-11C6-4BE1-B23F-99124EFDA89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 부족·API 부분 실패·같은 요청 재전송</a:t>
            </a:r>
          </a:p>
        </p:txBody>
      </p:sp>
      <p:sp>
        <p:nvSpPr>
          <p:cNvPr id="16" name="">
            <a:extLst xmlns:a="http://schemas.openxmlformats.org/drawingml/2006/main">
              <a:ext uri="{FF2B5EF4-FFF2-40B4-BE49-F238E27FC236}">
                <a16:creationId xmlns:a16="http://schemas.microsoft.com/office/drawing/2014/main" id="{14EC1180-C66E-461D-A41D-A322ED67CF9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E4922D8-DD12-4557-B013-01C6AF0593A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도구 선택·실행 결과·복구 로그</a:t>
            </a:r>
          </a:p>
        </p:txBody>
      </p:sp>
    </p:spTree>
    <p:extLst>
      <p:ext uri="{BB962C8B-B14F-4D97-AF65-F5344CB8AC3E}">
        <p14:creationId xmlns:p14="http://schemas.microsoft.com/office/powerpoint/2010/main" val="1963693381"/>
      </p:ext>
    </p:extLst>
  </p:cSld>
</p:sld>
</file>

<file path=ppt/slides/slide9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7098C2C-7AE9-49CF-AE64-AB49D49FF8F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사내 운영(2024-11 발표) / 국내</a:t>
            </a:r>
          </a:p>
        </p:txBody>
      </p:sp>
      <p:sp>
        <p:nvSpPr>
          <p:cNvPr id="2" name="">
            <a:extLst xmlns:a="http://schemas.openxmlformats.org/drawingml/2006/main">
              <a:ext uri="{FF2B5EF4-FFF2-40B4-BE49-F238E27FC236}">
                <a16:creationId xmlns:a16="http://schemas.microsoft.com/office/drawing/2014/main" id="{45BCADC4-E8D1-4047-BF98-E74ACD2BDE4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a:t>
            </a:r>
          </a:p>
        </p:txBody>
      </p:sp>
      <p:sp>
        <p:nvSpPr>
          <p:cNvPr id="3" name="">
            <a:extLst xmlns:a="http://schemas.openxmlformats.org/drawingml/2006/main">
              <a:ext uri="{FF2B5EF4-FFF2-40B4-BE49-F238E27FC236}">
                <a16:creationId xmlns:a16="http://schemas.microsoft.com/office/drawing/2014/main" id="{3E3A34D6-620E-4A49-A774-DF38652D739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DA7B0B-0454-44DF-B598-1AC1AF4BE14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4DD6C3C-5E92-43D0-BAF9-BA1609F0E53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98</a:t>
            </a:r>
          </a:p>
        </p:txBody>
      </p:sp>
      <p:sp>
        <p:nvSpPr>
          <p:cNvPr id="6" name="">
            <a:extLst xmlns:a="http://schemas.openxmlformats.org/drawingml/2006/main">
              <a:ext uri="{FF2B5EF4-FFF2-40B4-BE49-F238E27FC236}">
                <a16:creationId xmlns:a16="http://schemas.microsoft.com/office/drawing/2014/main" id="{A08A2D8B-6C59-4684-A9E6-A984A7DECB9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09AF217-0F98-4912-B046-783883D4B89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삼성 Gauss Portal과 code.i의 기업 공통 AI·개발 지원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전 직원의 문서 업무와 개발자의 코드 작업을 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른 접점으로 지원하는 도입 방식.</a:t>
            </a:r>
          </a:p>
        </p:txBody>
      </p:sp>
      <p:sp>
        <p:nvSpPr>
          <p:cNvPr id="8" name="">
            <a:extLst xmlns:a="http://schemas.openxmlformats.org/drawingml/2006/main">
              <a:ext uri="{FF2B5EF4-FFF2-40B4-BE49-F238E27FC236}">
                <a16:creationId xmlns:a16="http://schemas.microsoft.com/office/drawing/2014/main" id="{D56D96D1-8D46-477F-970E-79A814DFF6B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DD4C3DE-5DC6-4698-A170-FAD088383BE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제품 발표의 업무 지원 범위를 기준으로 직원 포털,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개발 도구 접점, AI 처리, 업무 자료·코드 문맥, 결과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 계층으로 재구성. 문서 작성과 코드 생성은 입력 데이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터와 오류 판정 기준이 다른 서비스로 설계.</a:t>
            </a:r>
          </a:p>
        </p:txBody>
      </p:sp>
      <p:sp>
        <p:nvSpPr>
          <p:cNvPr id="10" name="">
            <a:extLst xmlns:a="http://schemas.openxmlformats.org/drawingml/2006/main">
              <a:ext uri="{FF2B5EF4-FFF2-40B4-BE49-F238E27FC236}">
                <a16:creationId xmlns:a16="http://schemas.microsoft.com/office/drawing/2014/main" id="{823F339D-28FB-43DA-A0C9-D33D488B8F1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C64582E8-D964-4217-8F50-FBEFBAF8431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동일 모델의 이용률보다 직무별 결과물의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증 가능성을 비교할 필요. 문서의 근거·서식 점검과 코드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 빌드·시험·보안 검토를 각각 수행하고 데이터 반출·소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스코드 접근 범위를 공통 정책과 연결.</a:t>
            </a:r>
          </a:p>
        </p:txBody>
      </p:sp>
      <p:sp>
        <p:nvSpPr>
          <p:cNvPr id="12" name="">
            <a:extLst xmlns:a="http://schemas.openxmlformats.org/drawingml/2006/main">
              <a:ext uri="{FF2B5EF4-FFF2-40B4-BE49-F238E27FC236}">
                <a16:creationId xmlns:a16="http://schemas.microsoft.com/office/drawing/2014/main" id="{BF5F80A8-0EC6-4ADF-980E-E2CF962A01D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8E96C44-25B8-485B-95F6-0AD0C55E4DB9}"/>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AE6773DF-13CD-4252-A588-3386D7B4C3D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125BCB7-2394-46ED-87CA-DD5DA7A2E45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11A2110B-82F0-4103-AA9D-51F9754DBCA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E8F72D9-D9AB-4947-88E6-D4AA0B23A7A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90ACA5A6-E65E-4AD9-973A-73E26D9B9CB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사용량은 시간·비용 절감이 아님. 2026 현재 사용률로 제시하지 않음</a:t>
            </a:r>
          </a:p>
        </p:txBody>
      </p:sp>
    </p:spTree>
    <p:extLst>
      <p:ext uri="{BB962C8B-B14F-4D97-AF65-F5344CB8AC3E}">
        <p14:creationId xmlns:p14="http://schemas.microsoft.com/office/powerpoint/2010/main" val="1432405463"/>
      </p:ext>
    </p:extLst>
  </p:cSld>
</p:sld>
</file>

<file path=ppt/slides/slide9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513E3289-BA5F-41CA-B014-0670031B9CE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C931D90-8407-402D-B1CF-24BBAB81FC0E}"/>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5154CAA-5A7C-4568-85D1-65047F8EBFD2}"/>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A7C4F4F-0B83-47BC-ABC8-1B77D00AAC6E}"/>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4CD54FB7-D209-4356-97FE-564EE2A24FB4}"/>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19282E4-3CE0-4B89-9973-DD9F7F923CD6}"/>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65229BE6-EAA1-453C-9F85-B639A07348C1}"/>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F8B10175-CE58-41ED-AFB0-7A191D830F58}"/>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2435307A-886F-41D9-98E9-6E1966E5BA13}"/>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E7B1CBDD-2AD1-4293-8EE3-A84517EB239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권한·목적 판정 후 허용·차단 분기</a:t>
            </a:r>
          </a:p>
        </p:txBody>
      </p:sp>
      <p:sp>
        <p:nvSpPr>
          <p:cNvPr id="2" name="">
            <a:extLst xmlns:a="http://schemas.openxmlformats.org/drawingml/2006/main">
              <a:ext uri="{FF2B5EF4-FFF2-40B4-BE49-F238E27FC236}">
                <a16:creationId xmlns:a16="http://schemas.microsoft.com/office/drawing/2014/main" id="{3547031B-1454-4403-8955-761500D993E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세부 서비스 구조</a:t>
            </a:r>
          </a:p>
        </p:txBody>
      </p:sp>
      <p:sp>
        <p:nvSpPr>
          <p:cNvPr id="3" name="">
            <a:extLst xmlns:a="http://schemas.openxmlformats.org/drawingml/2006/main">
              <a:ext uri="{FF2B5EF4-FFF2-40B4-BE49-F238E27FC236}">
                <a16:creationId xmlns:a16="http://schemas.microsoft.com/office/drawing/2014/main" id="{55A9E219-629A-432E-9DC5-1A77BF70052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A3CA95-4788-4C58-944A-4243166F1B9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7D4C6C2-2749-4C21-9C2A-910786227B0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99</a:t>
            </a:r>
          </a:p>
        </p:txBody>
      </p:sp>
      <p:sp>
        <p:nvSpPr>
          <p:cNvPr id="6" name="">
            <a:extLst xmlns:a="http://schemas.openxmlformats.org/drawingml/2006/main">
              <a:ext uri="{FF2B5EF4-FFF2-40B4-BE49-F238E27FC236}">
                <a16:creationId xmlns:a16="http://schemas.microsoft.com/office/drawing/2014/main" id="{CF6B3979-3D92-4CD0-ACAD-53CBEEE63AB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사내 사용자 → Gauss 모델군 → 일반·개발 도구 → 업무 결과 검토</a:t>
            </a:r>
          </a:p>
        </p:txBody>
      </p:sp>
      <p:sp>
        <p:nvSpPr>
          <p:cNvPr id="7" name="">
            <a:extLst xmlns:a="http://schemas.openxmlformats.org/drawingml/2006/main">
              <a:ext uri="{FF2B5EF4-FFF2-40B4-BE49-F238E27FC236}">
                <a16:creationId xmlns:a16="http://schemas.microsoft.com/office/drawing/2014/main" id="{35CEE752-C33E-425A-B602-280C00A7388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8B5800C-73D4-41A4-85B0-239E484D38C8}"/>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213573FF-3BB0-4C95-B32C-665BBAC6732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포털·개발 도구</a:t>
            </a:r>
          </a:p>
        </p:txBody>
      </p:sp>
      <p:sp>
        <p:nvSpPr>
          <p:cNvPr id="10" name="">
            <a:extLst xmlns:a="http://schemas.openxmlformats.org/drawingml/2006/main">
              <a:ext uri="{FF2B5EF4-FFF2-40B4-BE49-F238E27FC236}">
                <a16:creationId xmlns:a16="http://schemas.microsoft.com/office/drawing/2014/main" id="{040FE201-D261-4A5A-9DD5-3CFEE114BB6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671A41D-CCDF-4DBC-8015-1549A09131A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90D58E10-B28B-4C05-9DBD-A90FAA0968C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문서·코드 문맥</a:t>
            </a:r>
          </a:p>
        </p:txBody>
      </p:sp>
      <p:sp>
        <p:nvSpPr>
          <p:cNvPr id="13" name="">
            <a:extLst xmlns:a="http://schemas.openxmlformats.org/drawingml/2006/main">
              <a:ext uri="{FF2B5EF4-FFF2-40B4-BE49-F238E27FC236}">
                <a16:creationId xmlns:a16="http://schemas.microsoft.com/office/drawing/2014/main" id="{60BED346-DFD0-41C8-B9FD-DB0937A4FA5B}"/>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1D04B9E-569B-4969-B3F3-67BE8B27095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85FA1F93-2964-441C-94F9-7F62B598610E}"/>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업무별 이용정책</a:t>
            </a:r>
          </a:p>
        </p:txBody>
      </p:sp>
      <p:sp>
        <p:nvSpPr>
          <p:cNvPr id="16" name="">
            <a:extLst xmlns:a="http://schemas.openxmlformats.org/drawingml/2006/main">
              <a:ext uri="{FF2B5EF4-FFF2-40B4-BE49-F238E27FC236}">
                <a16:creationId xmlns:a16="http://schemas.microsoft.com/office/drawing/2014/main" id="{DC6E358E-02EE-486B-B6AC-42ED3769580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B1FB7A7-9B2C-41BB-BE8A-ACD441EF913F}"/>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1DA1DD3F-B193-4AFF-9A80-B1A2B8A4978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코드·보안 검사</a:t>
            </a:r>
          </a:p>
        </p:txBody>
      </p:sp>
      <p:sp>
        <p:nvSpPr>
          <p:cNvPr id="19" name="">
            <a:extLst xmlns:a="http://schemas.openxmlformats.org/drawingml/2006/main">
              <a:ext uri="{FF2B5EF4-FFF2-40B4-BE49-F238E27FC236}">
                <a16:creationId xmlns:a16="http://schemas.microsoft.com/office/drawing/2014/main" id="{66289426-2A96-4EE8-9FFE-545200E7E6A8}"/>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ABD91FF-393C-4BBA-80F7-0EE8BDC2AFD0}"/>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B3590FA9-F8C8-4F27-B24B-3FA919FA4DFA}"/>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업무문서·코드</a:t>
            </a:r>
          </a:p>
        </p:txBody>
      </p:sp>
      <p:sp>
        <p:nvSpPr>
          <p:cNvPr id="22" name="">
            <a:extLst xmlns:a="http://schemas.openxmlformats.org/drawingml/2006/main">
              <a:ext uri="{FF2B5EF4-FFF2-40B4-BE49-F238E27FC236}">
                <a16:creationId xmlns:a16="http://schemas.microsoft.com/office/drawing/2014/main" id="{630E7B33-D389-409A-941F-6052DD7FBD5D}"/>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380DD18-8274-4E35-ABBF-3C0FFBF31391}"/>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5EDE44FA-7E13-44AC-9F22-776ED7395A15}"/>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Gauss 모델군</a:t>
            </a:r>
          </a:p>
        </p:txBody>
      </p:sp>
      <p:sp>
        <p:nvSpPr>
          <p:cNvPr id="25" name="">
            <a:extLst xmlns:a="http://schemas.openxmlformats.org/drawingml/2006/main">
              <a:ext uri="{FF2B5EF4-FFF2-40B4-BE49-F238E27FC236}">
                <a16:creationId xmlns:a16="http://schemas.microsoft.com/office/drawing/2014/main" id="{4B08662F-2E6E-49CB-982E-D0781C36C277}"/>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C86FBD04-A9F8-41CA-9EEF-E865866BD07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9713E1FA-44EA-470F-A734-FF13A66E022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직원·개발자 검토</a:t>
            </a:r>
          </a:p>
        </p:txBody>
      </p:sp>
      <p:sp>
        <p:nvSpPr>
          <p:cNvPr id="28" name="">
            <a:extLst xmlns:a="http://schemas.openxmlformats.org/drawingml/2006/main">
              <a:ext uri="{FF2B5EF4-FFF2-40B4-BE49-F238E27FC236}">
                <a16:creationId xmlns:a16="http://schemas.microsoft.com/office/drawing/2014/main" id="{F4DA0B31-76F9-4E89-8C21-5669F50AB442}"/>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767E2E4-9CFB-49BA-B652-B23B8D8BE915}"/>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D018CA90-C6B7-4C15-ADEC-1FEF97CEDBF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업무·코드 초안</a:t>
            </a:r>
          </a:p>
        </p:txBody>
      </p:sp>
      <p:sp>
        <p:nvSpPr>
          <p:cNvPr id="31" name="">
            <a:extLst xmlns:a="http://schemas.openxmlformats.org/drawingml/2006/main">
              <a:ext uri="{FF2B5EF4-FFF2-40B4-BE49-F238E27FC236}">
                <a16:creationId xmlns:a16="http://schemas.microsoft.com/office/drawing/2014/main" id="{1DE37962-1D38-4A1A-93F7-093D0C276F7B}"/>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78118AF-F589-4654-85D8-1808A3FAAC58}"/>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192FBF65-A2A7-40CB-97F4-83F885E6E81E}"/>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회귀시험 환류</a:t>
            </a:r>
          </a:p>
        </p:txBody>
      </p:sp>
      <p:sp>
        <p:nvSpPr>
          <p:cNvPr id="34" name="">
            <a:extLst xmlns:a="http://schemas.openxmlformats.org/drawingml/2006/main">
              <a:ext uri="{FF2B5EF4-FFF2-40B4-BE49-F238E27FC236}">
                <a16:creationId xmlns:a16="http://schemas.microsoft.com/office/drawing/2014/main" id="{9C87092A-D863-46B7-A498-52F5194241FD}"/>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4783595C-1A39-4048-A63C-0565E432A019}"/>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DE2C7C63-A2E5-4930-9F1C-A121C334B85E}"/>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초안·시험 기록</a:t>
            </a:r>
          </a:p>
        </p:txBody>
      </p:sp>
      <p:sp>
        <p:nvSpPr>
          <p:cNvPr id="46" name="">
            <a:extLst xmlns:a="http://schemas.openxmlformats.org/drawingml/2006/main">
              <a:ext uri="{FF2B5EF4-FFF2-40B4-BE49-F238E27FC236}">
                <a16:creationId xmlns:a16="http://schemas.microsoft.com/office/drawing/2014/main" id="{EACEE88F-EED4-41CF-8AF3-D13800A3089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15176993"/>
      </p:ext>
    </p:extLst>
  </p:cSld>
</p:sld>
</file>

<file path=ppt/slides/slide10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7FB8136-9CB3-482F-B99E-E4C550E8659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논리 인터페이스·복구 설계</a:t>
            </a:r>
          </a:p>
        </p:txBody>
      </p:sp>
      <p:sp>
        <p:nvSpPr>
          <p:cNvPr id="2" name="">
            <a:extLst xmlns:a="http://schemas.openxmlformats.org/drawingml/2006/main">
              <a:ext uri="{FF2B5EF4-FFF2-40B4-BE49-F238E27FC236}">
                <a16:creationId xmlns:a16="http://schemas.microsoft.com/office/drawing/2014/main" id="{A4775F92-B9F4-4968-8B87-7DA474904A8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데이터와 예외 처리</a:t>
            </a:r>
          </a:p>
        </p:txBody>
      </p:sp>
      <p:sp>
        <p:nvSpPr>
          <p:cNvPr id="3" name="">
            <a:extLst xmlns:a="http://schemas.openxmlformats.org/drawingml/2006/main">
              <a:ext uri="{FF2B5EF4-FFF2-40B4-BE49-F238E27FC236}">
                <a16:creationId xmlns:a16="http://schemas.microsoft.com/office/drawing/2014/main" id="{97FB4E1C-728F-4E5B-AE0D-B9C7792CA25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CCC964-EB81-4012-9628-434ED833574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AF68CFB-05FE-4635-AE5A-71952984FE6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100</a:t>
            </a:r>
          </a:p>
        </p:txBody>
      </p:sp>
      <p:sp>
        <p:nvSpPr>
          <p:cNvPr id="6" name="">
            <a:extLst xmlns:a="http://schemas.openxmlformats.org/drawingml/2006/main">
              <a:ext uri="{FF2B5EF4-FFF2-40B4-BE49-F238E27FC236}">
                <a16:creationId xmlns:a16="http://schemas.microsoft.com/office/drawing/2014/main" id="{E062026A-1B09-47E2-B20B-40D3BC76CA6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711DE88-E32C-4870-A416-20D24CAB849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8CE1A60-324E-4EDA-8B68-7876BA82A4D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3AFF61D4-2C5E-4D06-88A3-A8B17D6ABB44}"/>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포털 요청 또는 개발 도구의 코드 문맥</a:t>
            </a:r>
          </a:p>
        </p:txBody>
      </p:sp>
      <p:sp>
        <p:nvSpPr>
          <p:cNvPr id="10" name="">
            <a:extLst xmlns:a="http://schemas.openxmlformats.org/drawingml/2006/main">
              <a:ext uri="{FF2B5EF4-FFF2-40B4-BE49-F238E27FC236}">
                <a16:creationId xmlns:a16="http://schemas.microsoft.com/office/drawing/2014/main" id="{9490C958-C652-4448-8C08-613FBBCD13B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905C5A-394D-4CF9-8A97-93F599BB479B}"/>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A7798C7A-AE5C-4EAB-9087-0A84011A23D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요청·코드 문맥</a:t>
            </a:r>
          </a:p>
        </p:txBody>
      </p:sp>
      <p:sp>
        <p:nvSpPr>
          <p:cNvPr id="13" name="">
            <a:extLst xmlns:a="http://schemas.openxmlformats.org/drawingml/2006/main">
              <a:ext uri="{FF2B5EF4-FFF2-40B4-BE49-F238E27FC236}">
                <a16:creationId xmlns:a16="http://schemas.microsoft.com/office/drawing/2014/main" id="{C5469941-2711-4137-9250-FE5E5EE9D8FB}"/>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66670F6-2622-4242-A64B-F257B39DC12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96FD8AD9-528A-405B-89B2-78D535936ED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업무별 이용정책</a:t>
            </a:r>
          </a:p>
        </p:txBody>
      </p:sp>
      <p:sp>
        <p:nvSpPr>
          <p:cNvPr id="16" name="">
            <a:extLst xmlns:a="http://schemas.openxmlformats.org/drawingml/2006/main">
              <a:ext uri="{FF2B5EF4-FFF2-40B4-BE49-F238E27FC236}">
                <a16:creationId xmlns:a16="http://schemas.microsoft.com/office/drawing/2014/main" id="{C4B827EF-3E85-47BF-9E03-8EBC42118B6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E6BE4CB-B49F-4805-A132-741949954AF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3F4E3E0A-226B-43B5-BE19-9CCA2C42B10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결과</a:t>
            </a:r>
          </a:p>
        </p:txBody>
      </p:sp>
      <p:sp>
        <p:nvSpPr>
          <p:cNvPr id="19" name="">
            <a:extLst xmlns:a="http://schemas.openxmlformats.org/drawingml/2006/main">
              <a:ext uri="{FF2B5EF4-FFF2-40B4-BE49-F238E27FC236}">
                <a16:creationId xmlns:a16="http://schemas.microsoft.com/office/drawing/2014/main" id="{5ECA563E-5228-4749-AF01-C596AF9F0A27}"/>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5BA5A7E-BDB2-4111-AADA-C6E76514F37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474D3638-D131-4ACE-A625-4C837F2AEE1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결과</a:t>
            </a:r>
          </a:p>
        </p:txBody>
      </p:sp>
      <p:sp>
        <p:nvSpPr>
          <p:cNvPr id="22" name="">
            <a:extLst xmlns:a="http://schemas.openxmlformats.org/drawingml/2006/main">
              <a:ext uri="{FF2B5EF4-FFF2-40B4-BE49-F238E27FC236}">
                <a16:creationId xmlns:a16="http://schemas.microsoft.com/office/drawing/2014/main" id="{37293906-B77F-4C45-A4B0-917FB2F08F0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F7368FC-4726-4AF4-804C-9DE1BC8A3AC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6265E631-9110-450F-854F-D05812A27AB1}"/>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검토·시험</a:t>
            </a:r>
          </a:p>
        </p:txBody>
      </p:sp>
      <p:sp>
        <p:nvSpPr>
          <p:cNvPr id="25" name="">
            <a:extLst xmlns:a="http://schemas.openxmlformats.org/drawingml/2006/main">
              <a:ext uri="{FF2B5EF4-FFF2-40B4-BE49-F238E27FC236}">
                <a16:creationId xmlns:a16="http://schemas.microsoft.com/office/drawing/2014/main" id="{A021C815-F036-414D-9BD4-701EA5F5E8B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DE877679-AC1E-4783-9ED7-AC88C3846B4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민감 코드 입력·취약 코드 생성·시험 실패</a:t>
            </a:r>
          </a:p>
        </p:txBody>
      </p:sp>
      <p:sp>
        <p:nvSpPr>
          <p:cNvPr id="27" name="">
            <a:extLst xmlns:a="http://schemas.openxmlformats.org/drawingml/2006/main">
              <a:ext uri="{FF2B5EF4-FFF2-40B4-BE49-F238E27FC236}">
                <a16:creationId xmlns:a16="http://schemas.microsoft.com/office/drawing/2014/main" id="{9FB94546-4F2D-49F5-A3AE-ACD188AB651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2E1545E-2118-4E9D-8C93-11E10FFA80B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보안 검사·회귀 시험·현업 검토</a:t>
            </a:r>
          </a:p>
        </p:txBody>
      </p:sp>
      <p:sp>
        <p:nvSpPr>
          <p:cNvPr id="29" name="">
            <a:extLst xmlns:a="http://schemas.openxmlformats.org/drawingml/2006/main">
              <a:ext uri="{FF2B5EF4-FFF2-40B4-BE49-F238E27FC236}">
                <a16:creationId xmlns:a16="http://schemas.microsoft.com/office/drawing/2014/main" id="{B1B91384-B7F7-4AC1-AA16-4552ADE2C34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E1680EC-4474-4BC7-A3EC-539BD18A31E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생성 코드 검토·보안·회귀시험 결과 환류</a:t>
            </a:r>
          </a:p>
        </p:txBody>
      </p:sp>
      <p:sp>
        <p:nvSpPr>
          <p:cNvPr id="31" name="">
            <a:extLst xmlns:a="http://schemas.openxmlformats.org/drawingml/2006/main">
              <a:ext uri="{FF2B5EF4-FFF2-40B4-BE49-F238E27FC236}">
                <a16:creationId xmlns:a16="http://schemas.microsoft.com/office/drawing/2014/main" id="{6FAE1C13-4633-4B89-A303-D1ED8C10B4A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7FB52D2-D8D8-4EF7-83F3-69BCEA2386B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입력 경계·코드 검토·보안·회귀시험 결과</a:t>
            </a:r>
          </a:p>
        </p:txBody>
      </p:sp>
    </p:spTree>
    <p:extLst>
      <p:ext uri="{BB962C8B-B14F-4D97-AF65-F5344CB8AC3E}">
        <p14:creationId xmlns:p14="http://schemas.microsoft.com/office/powerpoint/2010/main" val="44586702"/>
      </p:ext>
    </p:extLst>
  </p:cSld>
</p:sld>
</file>

<file path=ppt/slides/slide10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A0DCA6-C59A-449E-81CC-B67281D9D49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PF-A06 / CCK 비교·재현 시험 설계</a:t>
            </a:r>
          </a:p>
        </p:txBody>
      </p:sp>
      <p:sp>
        <p:nvSpPr>
          <p:cNvPr id="2" name="">
            <a:extLst xmlns:a="http://schemas.openxmlformats.org/drawingml/2006/main">
              <a:ext uri="{FF2B5EF4-FFF2-40B4-BE49-F238E27FC236}">
                <a16:creationId xmlns:a16="http://schemas.microsoft.com/office/drawing/2014/main" id="{D8C7FF40-8953-4475-9327-6E3490BFBD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삼성 Gauss Portal·code.i · 벤치마킹</a:t>
            </a:r>
          </a:p>
        </p:txBody>
      </p:sp>
      <p:sp>
        <p:nvSpPr>
          <p:cNvPr id="3" name="">
            <a:extLst xmlns:a="http://schemas.openxmlformats.org/drawingml/2006/main">
              <a:ext uri="{FF2B5EF4-FFF2-40B4-BE49-F238E27FC236}">
                <a16:creationId xmlns:a16="http://schemas.microsoft.com/office/drawing/2014/main" id="{01252F82-12C8-4B0E-B5F5-65CCD6DD7FA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043371-EE3D-48C2-B0E2-CA7D3C87EA6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6A354DE-6834-4A7F-B796-A7BD7021A2E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101</a:t>
            </a:r>
          </a:p>
        </p:txBody>
      </p:sp>
      <p:sp>
        <p:nvSpPr>
          <p:cNvPr id="6" name="">
            <a:extLst xmlns:a="http://schemas.openxmlformats.org/drawingml/2006/main">
              <a:ext uri="{FF2B5EF4-FFF2-40B4-BE49-F238E27FC236}">
                <a16:creationId xmlns:a16="http://schemas.microsoft.com/office/drawing/2014/main" id="{861BBB1B-EB1C-49B2-9C00-BE3236B89C9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8A80744A-5028-4231-9F27-B878264F96F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지원과 개발 지원의 구분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모델군의 업무 도구 적용</a:t>
            </a:r>
          </a:p>
        </p:txBody>
      </p:sp>
      <p:sp>
        <p:nvSpPr>
          <p:cNvPr id="8" name="">
            <a:extLst xmlns:a="http://schemas.openxmlformats.org/drawingml/2006/main">
              <a:ext uri="{FF2B5EF4-FFF2-40B4-BE49-F238E27FC236}">
                <a16:creationId xmlns:a16="http://schemas.microsoft.com/office/drawing/2014/main" id="{B6675EF2-1F91-4078-B782-984CE3D91FA0}"/>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9C02F8D-EAB4-4F56-8B02-2E42E3118650}"/>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코드 보안·품질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생성 코드의 무검토 반영</a:t>
            </a:r>
          </a:p>
        </p:txBody>
      </p:sp>
      <p:sp>
        <p:nvSpPr>
          <p:cNvPr id="10" name="">
            <a:extLst xmlns:a="http://schemas.openxmlformats.org/drawingml/2006/main">
              <a:ext uri="{FF2B5EF4-FFF2-40B4-BE49-F238E27FC236}">
                <a16:creationId xmlns:a16="http://schemas.microsoft.com/office/drawing/2014/main" id="{59978AD8-BB91-4A4A-987B-40FB5480008B}"/>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6929209-423A-4212-88DE-EAC031748F3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보안 검사·회귀 시험·현업 검토</a:t>
            </a:r>
          </a:p>
        </p:txBody>
      </p:sp>
      <p:sp>
        <p:nvSpPr>
          <p:cNvPr id="12" name="">
            <a:extLst xmlns:a="http://schemas.openxmlformats.org/drawingml/2006/main">
              <a:ext uri="{FF2B5EF4-FFF2-40B4-BE49-F238E27FC236}">
                <a16:creationId xmlns:a16="http://schemas.microsoft.com/office/drawing/2014/main" id="{0A844499-91FE-4ABF-8265-B68AF87CFF0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0AEA8C5-C65A-4AA9-851E-40A243A29E6A}"/>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일반 문서와 개발 코드를 각 업무 도구에서 작성</a:t>
            </a:r>
          </a:p>
        </p:txBody>
      </p:sp>
      <p:sp>
        <p:nvSpPr>
          <p:cNvPr id="14" name="">
            <a:extLst xmlns:a="http://schemas.openxmlformats.org/drawingml/2006/main">
              <a:ext uri="{FF2B5EF4-FFF2-40B4-BE49-F238E27FC236}">
                <a16:creationId xmlns:a16="http://schemas.microsoft.com/office/drawing/2014/main" id="{21251E0D-9F73-4D48-965E-C8D291FB0BB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167BAEE-37C8-4F3A-8BC2-82063EDF175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민감 코드 입력·취약 코드 생성·시험 실패</a:t>
            </a:r>
          </a:p>
        </p:txBody>
      </p:sp>
      <p:sp>
        <p:nvSpPr>
          <p:cNvPr id="16" name="">
            <a:extLst xmlns:a="http://schemas.openxmlformats.org/drawingml/2006/main">
              <a:ext uri="{FF2B5EF4-FFF2-40B4-BE49-F238E27FC236}">
                <a16:creationId xmlns:a16="http://schemas.microsoft.com/office/drawing/2014/main" id="{2E45F408-953C-4AA4-958D-F7BD1EBBC7B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BE5EB15-D24F-4B02-B4B0-375966D88E53}"/>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입력 경계·코드 검토·보안·회귀시험 결과</a:t>
            </a:r>
          </a:p>
        </p:txBody>
      </p:sp>
    </p:spTree>
    <p:extLst>
      <p:ext uri="{BB962C8B-B14F-4D97-AF65-F5344CB8AC3E}">
        <p14:creationId xmlns:p14="http://schemas.microsoft.com/office/powerpoint/2010/main" val="431637846"/>
      </p:ext>
    </p:extLst>
  </p:cSld>
</p:sld>
</file>

<file path=ppt/slides/slide10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A38ADE-C83F-4681-A471-ABB76853B68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청내 운영 / 범정부 실증 / 해외</a:t>
            </a:r>
          </a:p>
        </p:txBody>
      </p:sp>
      <p:sp>
        <p:nvSpPr>
          <p:cNvPr id="2" name="">
            <a:extLst xmlns:a="http://schemas.openxmlformats.org/drawingml/2006/main">
              <a:ext uri="{FF2B5EF4-FFF2-40B4-BE49-F238E27FC236}">
                <a16:creationId xmlns:a16="http://schemas.microsoft.com/office/drawing/2014/main" id="{0C83BBE1-C84B-4C4B-9407-F0E1E27F874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a:t>
            </a:r>
          </a:p>
        </p:txBody>
      </p:sp>
      <p:sp>
        <p:nvSpPr>
          <p:cNvPr id="3" name="">
            <a:extLst xmlns:a="http://schemas.openxmlformats.org/drawingml/2006/main">
              <a:ext uri="{FF2B5EF4-FFF2-40B4-BE49-F238E27FC236}">
                <a16:creationId xmlns:a16="http://schemas.microsoft.com/office/drawing/2014/main" id="{D26CAC78-E9A6-41C0-AF25-F650E9C934A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E6FC7E-6479-4489-838D-60497CBE8C3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ED64AE4-7AEE-4D20-BE8D-A34E2A0276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102</a:t>
            </a:r>
          </a:p>
        </p:txBody>
      </p:sp>
      <p:sp>
        <p:nvSpPr>
          <p:cNvPr id="6" name="">
            <a:extLst xmlns:a="http://schemas.openxmlformats.org/drawingml/2006/main">
              <a:ext uri="{FF2B5EF4-FFF2-40B4-BE49-F238E27FC236}">
                <a16:creationId xmlns:a16="http://schemas.microsoft.com/office/drawing/2014/main" id="{C86818C4-B1D4-4972-B0A0-7670A64A227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8506B5B-88F5-4B52-8E59-4C23721A523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일본 정부 AI 源内의 공통 AI 도구와 업무 앱 확산 사례.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범용 도구 제공과 특정 업무를 수행하는 앱 개발을 함께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운영해 직원의 활용 진입점과 기관별 확장 경로를 마련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접근.</a:t>
            </a:r>
          </a:p>
        </p:txBody>
      </p:sp>
      <p:sp>
        <p:nvSpPr>
          <p:cNvPr id="8" name="">
            <a:extLst xmlns:a="http://schemas.openxmlformats.org/drawingml/2006/main">
              <a:ext uri="{FF2B5EF4-FFF2-40B4-BE49-F238E27FC236}">
                <a16:creationId xmlns:a16="http://schemas.microsoft.com/office/drawing/2014/main" id="{50203D9F-0096-4A8C-860B-E038664D1E8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DCF70920-B3BF-44B6-B181-6DFEFF3AC31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공통 계정·모델 접근 계층 위에 업무 앱·지식·템플릿을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연결하는 논리 구성. 앱별 소유자, 사용 가능한 자료, 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력 형식, 출력 검토 절차를 정의하고 공통 운영에서 이용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·오류·비용을 관찰하는 구조.</a:t>
            </a:r>
          </a:p>
        </p:txBody>
      </p:sp>
      <p:sp>
        <p:nvSpPr>
          <p:cNvPr id="10" name="">
            <a:extLst xmlns:a="http://schemas.openxmlformats.org/drawingml/2006/main">
              <a:ext uri="{FF2B5EF4-FFF2-40B4-BE49-F238E27FC236}">
                <a16:creationId xmlns:a16="http://schemas.microsoft.com/office/drawing/2014/main" id="{339D7C86-5F59-4566-82B6-87D782511DE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C8A5E85-BE5C-487B-A04B-E073DB6E23B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TS의 AI혁신처는 공통 접속·권한·관측 기반을 담당하고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각 부서는 업무 지식과 결과물의 책임을 담당하는 운영 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 공통 기반 검수와 업무 앱 검수를 분리해 부서 확장 때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구축을 줄이는 방식의 적용.</a:t>
            </a:r>
          </a:p>
        </p:txBody>
      </p:sp>
      <p:sp>
        <p:nvSpPr>
          <p:cNvPr id="12" name="">
            <a:extLst xmlns:a="http://schemas.openxmlformats.org/drawingml/2006/main">
              <a:ext uri="{FF2B5EF4-FFF2-40B4-BE49-F238E27FC236}">
                <a16:creationId xmlns:a16="http://schemas.microsoft.com/office/drawing/2014/main" id="{5C6222AD-4CD3-418F-8763-31D4AE5A7F6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E3D36B5-0942-4FF6-8E3E-984E898000C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설정·조직 사전·업무 스킬·배포판본 관리</a:t>
            </a:r>
          </a:p>
        </p:txBody>
      </p:sp>
      <p:sp>
        <p:nvSpPr>
          <p:cNvPr id="14" name="">
            <a:extLst xmlns:a="http://schemas.openxmlformats.org/drawingml/2006/main">
              <a:ext uri="{FF2B5EF4-FFF2-40B4-BE49-F238E27FC236}">
                <a16:creationId xmlns:a16="http://schemas.microsoft.com/office/drawing/2014/main" id="{616599B4-7C50-43D5-8771-8BA627377AD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05907E0-D389-4F88-B304-97C61AE7D4F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두 번째 부서 적용의 수정 범위·추가 공수·격리 평가</a:t>
            </a:r>
          </a:p>
        </p:txBody>
      </p:sp>
      <p:sp>
        <p:nvSpPr>
          <p:cNvPr id="16" name="">
            <a:extLst xmlns:a="http://schemas.openxmlformats.org/drawingml/2006/main">
              <a:ext uri="{FF2B5EF4-FFF2-40B4-BE49-F238E27FC236}">
                <a16:creationId xmlns:a16="http://schemas.microsoft.com/office/drawing/2014/main" id="{CBF3754D-7B23-463F-8B08-B6B0DC9085F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1FD3C46C-1477-4FFC-9161-AF73B06F764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9685FAD9-0B3E-4FB5-8DB4-E5E9DEF05EF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청내 운영 실적과 범정부 실증 대상 규모의 분리 · 도입 인원과 생산성 구분</a:t>
            </a:r>
          </a:p>
        </p:txBody>
      </p:sp>
    </p:spTree>
    <p:extLst>
      <p:ext uri="{BB962C8B-B14F-4D97-AF65-F5344CB8AC3E}">
        <p14:creationId xmlns:p14="http://schemas.microsoft.com/office/powerpoint/2010/main" val="743528558"/>
      </p:ext>
    </p:extLst>
  </p:cSld>
</p:sld>
</file>

<file path=ppt/slides/slide10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9BC7221C-5DCF-46F9-B2D1-CC3D3DCAFBA5}"/>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B04463F-AF22-4740-9F0E-55EF89AACB6F}"/>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FE88615-2DC7-41C0-BFB0-4A3D09A778ED}"/>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7A4B252-91E4-46D1-A9E5-20ABCCA0E988}"/>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A989ACA9-CDE1-4CB1-A9A4-0C6CC03F9613}"/>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712FA9C8-71E4-4F04-8DCB-3B94DBD266B7}"/>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5C457A30-2CE1-403F-A337-88FC59B451D9}"/>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117EB494-636F-4386-9564-29E5087F48B1}"/>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0CF91B1-100E-4310-897B-254236BE700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8E7003AE-BB41-44D1-8DCB-C52A6B92772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지식 갱신·검색·근거 응답</a:t>
            </a:r>
          </a:p>
        </p:txBody>
      </p:sp>
      <p:sp>
        <p:nvSpPr>
          <p:cNvPr id="2" name="">
            <a:extLst xmlns:a="http://schemas.openxmlformats.org/drawingml/2006/main">
              <a:ext uri="{FF2B5EF4-FFF2-40B4-BE49-F238E27FC236}">
                <a16:creationId xmlns:a16="http://schemas.microsoft.com/office/drawing/2014/main" id="{F44EA23B-5366-4CAC-9E94-DE8C2BC810E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세부 서비스 구조</a:t>
            </a:r>
          </a:p>
        </p:txBody>
      </p:sp>
      <p:sp>
        <p:nvSpPr>
          <p:cNvPr id="3" name="">
            <a:extLst xmlns:a="http://schemas.openxmlformats.org/drawingml/2006/main">
              <a:ext uri="{FF2B5EF4-FFF2-40B4-BE49-F238E27FC236}">
                <a16:creationId xmlns:a16="http://schemas.microsoft.com/office/drawing/2014/main" id="{44296B3B-6994-4938-AF03-5C33F50A750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E7B6692-AC49-4EE9-B27A-5EF10B2D002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A26C2E7-2916-4AE4-A7A6-9EBD557F50B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103</a:t>
            </a:r>
          </a:p>
        </p:txBody>
      </p:sp>
      <p:sp>
        <p:nvSpPr>
          <p:cNvPr id="6" name="">
            <a:extLst xmlns:a="http://schemas.openxmlformats.org/drawingml/2006/main">
              <a:ext uri="{FF2B5EF4-FFF2-40B4-BE49-F238E27FC236}">
                <a16:creationId xmlns:a16="http://schemas.microsoft.com/office/drawing/2014/main" id="{D76E5384-A9A5-4137-ACF3-25CF57B4378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인증·접점 → 공통 AI 환경 → 법제·답변 업무 앱 → 이용 관측·현업 개선</a:t>
            </a:r>
          </a:p>
        </p:txBody>
      </p:sp>
      <p:sp>
        <p:nvSpPr>
          <p:cNvPr id="7" name="">
            <a:extLst xmlns:a="http://schemas.openxmlformats.org/drawingml/2006/main">
              <a:ext uri="{FF2B5EF4-FFF2-40B4-BE49-F238E27FC236}">
                <a16:creationId xmlns:a16="http://schemas.microsoft.com/office/drawing/2014/main" id="{CC0A3B35-14F5-448A-B7A1-D8189C8521F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B9CCA74-D9D0-406A-A127-07C3A045B70B}"/>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D5E25E4E-899F-41FF-AC0D-28F4D9E28CF3}"/>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문서·템플릿</a:t>
            </a:r>
          </a:p>
        </p:txBody>
      </p:sp>
      <p:sp>
        <p:nvSpPr>
          <p:cNvPr id="10" name="">
            <a:extLst xmlns:a="http://schemas.openxmlformats.org/drawingml/2006/main">
              <a:ext uri="{FF2B5EF4-FFF2-40B4-BE49-F238E27FC236}">
                <a16:creationId xmlns:a16="http://schemas.microsoft.com/office/drawing/2014/main" id="{A024C2FD-997B-4EAF-A042-05D84CE2F66F}"/>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361ECA8-BABD-45C4-9C53-F4D553B2CC5D}"/>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5316B42-FF37-4143-B1CA-EAE22ADED98E}"/>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판본·소유부서 정리</a:t>
            </a:r>
          </a:p>
        </p:txBody>
      </p:sp>
      <p:sp>
        <p:nvSpPr>
          <p:cNvPr id="13" name="">
            <a:extLst xmlns:a="http://schemas.openxmlformats.org/drawingml/2006/main">
              <a:ext uri="{FF2B5EF4-FFF2-40B4-BE49-F238E27FC236}">
                <a16:creationId xmlns:a16="http://schemas.microsoft.com/office/drawing/2014/main" id="{299A9807-238B-49EF-85FA-BDC0DE67C698}"/>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8E0353A9-D444-4950-AFEA-E3C826510EB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98F1066C-A814-4555-9DD0-8362C46C1725}"/>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앱별 지식</a:t>
            </a:r>
          </a:p>
        </p:txBody>
      </p:sp>
      <p:sp>
        <p:nvSpPr>
          <p:cNvPr id="16" name="">
            <a:extLst xmlns:a="http://schemas.openxmlformats.org/drawingml/2006/main">
              <a:ext uri="{FF2B5EF4-FFF2-40B4-BE49-F238E27FC236}">
                <a16:creationId xmlns:a16="http://schemas.microsoft.com/office/drawing/2014/main" id="{F9D01936-A7E1-4CAE-9FDD-5D20490E93F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45E7DD1-0174-4B6F-8233-83A78346CD66}"/>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F8F06178-A2E9-4E73-B18E-1D3F0452100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 지식 검색</a:t>
            </a:r>
          </a:p>
        </p:txBody>
      </p:sp>
      <p:sp>
        <p:nvSpPr>
          <p:cNvPr id="19" name="">
            <a:extLst xmlns:a="http://schemas.openxmlformats.org/drawingml/2006/main">
              <a:ext uri="{FF2B5EF4-FFF2-40B4-BE49-F238E27FC236}">
                <a16:creationId xmlns:a16="http://schemas.microsoft.com/office/drawing/2014/main" id="{0ADE34FD-B954-4A81-AF85-8233CAE13B6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A9CF2B4-010F-4A17-87EE-755963806AAE}"/>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B086D858-88A5-46BC-8925-0A7122A5F095}"/>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업무 접점</a:t>
            </a:r>
          </a:p>
        </p:txBody>
      </p:sp>
      <p:sp>
        <p:nvSpPr>
          <p:cNvPr id="22" name="">
            <a:extLst xmlns:a="http://schemas.openxmlformats.org/drawingml/2006/main">
              <a:ext uri="{FF2B5EF4-FFF2-40B4-BE49-F238E27FC236}">
                <a16:creationId xmlns:a16="http://schemas.microsoft.com/office/drawing/2014/main" id="{0D1D2CAB-D7D1-46EE-9913-36D26C84F651}"/>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674843D-1453-47C6-A753-265869F63CF4}"/>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3E6CC5F-2BD9-42E6-942A-CFCC2682C9B6}"/>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앱·업무 목적</a:t>
            </a:r>
          </a:p>
        </p:txBody>
      </p:sp>
      <p:sp>
        <p:nvSpPr>
          <p:cNvPr id="25" name="">
            <a:extLst xmlns:a="http://schemas.openxmlformats.org/drawingml/2006/main">
              <a:ext uri="{FF2B5EF4-FFF2-40B4-BE49-F238E27FC236}">
                <a16:creationId xmlns:a16="http://schemas.microsoft.com/office/drawing/2014/main" id="{F436BB8F-CFA5-4E97-ABC2-403961CAF724}"/>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A07E05FA-6CEC-448F-8866-6B8A55B0F84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A5372B3B-88BA-4D84-8238-A02E1FB2862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源内 공통 AI</a:t>
            </a:r>
          </a:p>
        </p:txBody>
      </p:sp>
      <p:sp>
        <p:nvSpPr>
          <p:cNvPr id="28" name="">
            <a:extLst xmlns:a="http://schemas.openxmlformats.org/drawingml/2006/main">
              <a:ext uri="{FF2B5EF4-FFF2-40B4-BE49-F238E27FC236}">
                <a16:creationId xmlns:a16="http://schemas.microsoft.com/office/drawing/2014/main" id="{54AF00B6-2F61-4674-A689-852E1179423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307EAB38-D27C-42A8-8D1F-17314FF2270F}"/>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07A1B8C6-1A6B-4CA9-A730-82E1C15FFBEB}"/>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근거·용도 검사</a:t>
            </a:r>
          </a:p>
        </p:txBody>
      </p:sp>
      <p:sp>
        <p:nvSpPr>
          <p:cNvPr id="31" name="">
            <a:extLst xmlns:a="http://schemas.openxmlformats.org/drawingml/2006/main">
              <a:ext uri="{FF2B5EF4-FFF2-40B4-BE49-F238E27FC236}">
                <a16:creationId xmlns:a16="http://schemas.microsoft.com/office/drawing/2014/main" id="{C98FC0FA-11DA-4731-89B9-ECD1A3CBFB8A}"/>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0459C335-D43F-41CC-AE93-604FC4270015}"/>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DEEE7816-DEBD-4CD4-A2C2-F2BD9E628ADC}"/>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공무원 확인</a:t>
            </a:r>
          </a:p>
        </p:txBody>
      </p:sp>
      <p:sp>
        <p:nvSpPr>
          <p:cNvPr id="34" name="">
            <a:extLst xmlns:a="http://schemas.openxmlformats.org/drawingml/2006/main">
              <a:ext uri="{FF2B5EF4-FFF2-40B4-BE49-F238E27FC236}">
                <a16:creationId xmlns:a16="http://schemas.microsoft.com/office/drawing/2014/main" id="{BA1629B5-AAB9-4C0B-8EF8-CC9D50BA054C}"/>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14C7DCF-02BE-4E71-9AB3-DA1724D417BF}"/>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70342AB2-AD0B-40CB-AF82-75F1A1E196F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앱 결과</a:t>
            </a:r>
          </a:p>
        </p:txBody>
      </p:sp>
      <p:sp>
        <p:nvSpPr>
          <p:cNvPr id="46" name="">
            <a:extLst xmlns:a="http://schemas.openxmlformats.org/drawingml/2006/main">
              <a:ext uri="{FF2B5EF4-FFF2-40B4-BE49-F238E27FC236}">
                <a16:creationId xmlns:a16="http://schemas.microsoft.com/office/drawing/2014/main" id="{0306FCD6-0493-4D02-AE60-58C4E9EB130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549946066"/>
      </p:ext>
    </p:extLst>
  </p:cSld>
</p:sld>
</file>

<file path=ppt/slides/slide10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0409A63-0CD4-496C-8C5A-751F28CE930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논리 인터페이스·복구 설계</a:t>
            </a:r>
          </a:p>
        </p:txBody>
      </p:sp>
      <p:sp>
        <p:nvSpPr>
          <p:cNvPr id="2" name="">
            <a:extLst xmlns:a="http://schemas.openxmlformats.org/drawingml/2006/main">
              <a:ext uri="{FF2B5EF4-FFF2-40B4-BE49-F238E27FC236}">
                <a16:creationId xmlns:a16="http://schemas.microsoft.com/office/drawing/2014/main" id="{5997095B-251F-4BD3-819C-FD4010E1352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데이터와 예외 처리</a:t>
            </a:r>
          </a:p>
        </p:txBody>
      </p:sp>
      <p:sp>
        <p:nvSpPr>
          <p:cNvPr id="3" name="">
            <a:extLst xmlns:a="http://schemas.openxmlformats.org/drawingml/2006/main">
              <a:ext uri="{FF2B5EF4-FFF2-40B4-BE49-F238E27FC236}">
                <a16:creationId xmlns:a16="http://schemas.microsoft.com/office/drawing/2014/main" id="{576A71FE-2ACE-44B6-A798-0B96B00EECD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0B1905-646B-494D-B24C-0F64C356D03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4556E6B-5FC2-4673-B8A1-C5CAFE59CF1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104</a:t>
            </a:r>
          </a:p>
        </p:txBody>
      </p:sp>
      <p:sp>
        <p:nvSpPr>
          <p:cNvPr id="6" name="">
            <a:extLst xmlns:a="http://schemas.openxmlformats.org/drawingml/2006/main">
              <a:ext uri="{FF2B5EF4-FFF2-40B4-BE49-F238E27FC236}">
                <a16:creationId xmlns:a16="http://schemas.microsoft.com/office/drawing/2014/main" id="{4ED4BAE2-D61A-4042-AF9E-DD44F76BDDE7}"/>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C09630E-CC0E-47B3-926D-8B2DC5BD09D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FB4F1C4-C90A-4355-AADE-F53D2AE4E0FF}"/>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2E8B6C05-CD1B-4D76-BA2A-44CEB656469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문서·템플릿</a:t>
            </a:r>
          </a:p>
        </p:txBody>
      </p:sp>
      <p:sp>
        <p:nvSpPr>
          <p:cNvPr id="10" name="">
            <a:extLst xmlns:a="http://schemas.openxmlformats.org/drawingml/2006/main">
              <a:ext uri="{FF2B5EF4-FFF2-40B4-BE49-F238E27FC236}">
                <a16:creationId xmlns:a16="http://schemas.microsoft.com/office/drawing/2014/main" id="{7E4F0A46-21FA-436A-B328-C11CE98181A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7CE718-84C5-48C7-A24A-8F37B2F663A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615D712E-1AF7-4D10-8A7B-77049853052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7D732D7B-9676-43C8-96C6-DFDD81B5D04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D9F33F6-7DFE-4FA4-B64B-950F44BF00F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61E49F15-E42D-4D1B-BCA4-8B67EDCC5C1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이용자·앱·업무 목적의 문맥 구성</a:t>
            </a:r>
          </a:p>
        </p:txBody>
      </p:sp>
      <p:sp>
        <p:nvSpPr>
          <p:cNvPr id="16" name="">
            <a:extLst xmlns:a="http://schemas.openxmlformats.org/drawingml/2006/main">
              <a:ext uri="{FF2B5EF4-FFF2-40B4-BE49-F238E27FC236}">
                <a16:creationId xmlns:a16="http://schemas.microsoft.com/office/drawing/2014/main" id="{556C4755-65F4-4B1B-884A-00C0BB3450C5}"/>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FB4DAD3-A4F1-4249-A4C6-1EA8A636955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C4C9C8E8-F99D-45DF-AFF7-CD1EB84053E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앱·판본·소관별 결과와 갱신·승인 기록</a:t>
            </a:r>
          </a:p>
        </p:txBody>
      </p:sp>
      <p:sp>
        <p:nvSpPr>
          <p:cNvPr id="19" name="">
            <a:extLst xmlns:a="http://schemas.openxmlformats.org/drawingml/2006/main">
              <a:ext uri="{FF2B5EF4-FFF2-40B4-BE49-F238E27FC236}">
                <a16:creationId xmlns:a16="http://schemas.microsoft.com/office/drawing/2014/main" id="{C449CC8B-D39F-4C1B-85B8-A47AB058928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995E802-BBB3-4255-A0C7-3740C7F5417B}"/>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D33F4787-E083-4401-B256-F23ED41BB00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앱별 맥락</a:t>
            </a:r>
          </a:p>
        </p:txBody>
      </p:sp>
      <p:sp>
        <p:nvSpPr>
          <p:cNvPr id="22" name="">
            <a:extLst xmlns:a="http://schemas.openxmlformats.org/drawingml/2006/main">
              <a:ext uri="{FF2B5EF4-FFF2-40B4-BE49-F238E27FC236}">
                <a16:creationId xmlns:a16="http://schemas.microsoft.com/office/drawing/2014/main" id="{7088A0D8-3C27-485E-8D2B-9FADABF5183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B75D7B0-F307-49B9-BF65-E5312BB9FCA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6D66AA0C-E6D1-477C-A59D-BCFE75699A2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답변·초안</a:t>
            </a:r>
          </a:p>
        </p:txBody>
      </p:sp>
      <p:sp>
        <p:nvSpPr>
          <p:cNvPr id="25" name="">
            <a:extLst xmlns:a="http://schemas.openxmlformats.org/drawingml/2006/main">
              <a:ext uri="{FF2B5EF4-FFF2-40B4-BE49-F238E27FC236}">
                <a16:creationId xmlns:a16="http://schemas.microsoft.com/office/drawing/2014/main" id="{E82AF39A-A6BA-442F-927E-3374E4FEA768}"/>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9B0966D-6079-4CEA-A9E1-D8EDF200E5A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 간 문서 혼입·구판 템플릿·담당자 변경</a:t>
            </a:r>
          </a:p>
        </p:txBody>
      </p:sp>
      <p:sp>
        <p:nvSpPr>
          <p:cNvPr id="27" name="">
            <a:extLst xmlns:a="http://schemas.openxmlformats.org/drawingml/2006/main">
              <a:ext uri="{FF2B5EF4-FFF2-40B4-BE49-F238E27FC236}">
                <a16:creationId xmlns:a16="http://schemas.microsoft.com/office/drawing/2014/main" id="{73B26364-E597-4FB5-BE08-FC718646973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842AF82F-B9F3-47D0-8420-EA1F7516369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평가·기관별 데이터 경계</a:t>
            </a:r>
          </a:p>
        </p:txBody>
      </p:sp>
      <p:sp>
        <p:nvSpPr>
          <p:cNvPr id="29" name="">
            <a:extLst xmlns:a="http://schemas.openxmlformats.org/drawingml/2006/main">
              <a:ext uri="{FF2B5EF4-FFF2-40B4-BE49-F238E27FC236}">
                <a16:creationId xmlns:a16="http://schemas.microsoft.com/office/drawing/2014/main" id="{2C1527AE-5830-4352-9AEA-31E41F47E3FC}"/>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42B823DB-57FF-49FC-A9B7-5BA6EE07F807}"/>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 이용·품질·개선 요청의 공통 운영</a:t>
            </a:r>
          </a:p>
        </p:txBody>
      </p:sp>
      <p:sp>
        <p:nvSpPr>
          <p:cNvPr id="31" name="">
            <a:extLst xmlns:a="http://schemas.openxmlformats.org/drawingml/2006/main">
              <a:ext uri="{FF2B5EF4-FFF2-40B4-BE49-F238E27FC236}">
                <a16:creationId xmlns:a16="http://schemas.microsoft.com/office/drawing/2014/main" id="{546709C8-06D1-4A7B-B08C-A7D128A1D7E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D871969-E580-433E-8CE9-E7811C12E70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앱·판본·소관별 결과와 갱신·승인 기록</a:t>
            </a:r>
          </a:p>
        </p:txBody>
      </p:sp>
    </p:spTree>
    <p:extLst>
      <p:ext uri="{BB962C8B-B14F-4D97-AF65-F5344CB8AC3E}">
        <p14:creationId xmlns:p14="http://schemas.microsoft.com/office/powerpoint/2010/main" val="838403203"/>
      </p:ext>
    </p:extLst>
  </p:cSld>
</p:sld>
</file>

<file path=ppt/slides/slide10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CE4EF32-2942-46B5-BA5E-CED07B2B59A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PF05 / CCK 비교·재현 시험 설계</a:t>
            </a:r>
          </a:p>
        </p:txBody>
      </p:sp>
      <p:sp>
        <p:nvSpPr>
          <p:cNvPr id="2" name="">
            <a:extLst xmlns:a="http://schemas.openxmlformats.org/drawingml/2006/main">
              <a:ext uri="{FF2B5EF4-FFF2-40B4-BE49-F238E27FC236}">
                <a16:creationId xmlns:a16="http://schemas.microsoft.com/office/drawing/2014/main" id="{41EE823D-2F7C-44DB-AAA8-EDEACFF917B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일본 정부 AI 源内 · 벤치마킹</a:t>
            </a:r>
          </a:p>
        </p:txBody>
      </p:sp>
      <p:sp>
        <p:nvSpPr>
          <p:cNvPr id="3" name="">
            <a:extLst xmlns:a="http://schemas.openxmlformats.org/drawingml/2006/main">
              <a:ext uri="{FF2B5EF4-FFF2-40B4-BE49-F238E27FC236}">
                <a16:creationId xmlns:a16="http://schemas.microsoft.com/office/drawing/2014/main" id="{9EC9235E-D0AD-404E-B11F-1971042CFA7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63657C-AA90-4C84-826D-E5F26B8A695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AF2E1F1-B5FD-45A2-859D-341661B768A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105</a:t>
            </a:r>
          </a:p>
        </p:txBody>
      </p:sp>
      <p:sp>
        <p:nvSpPr>
          <p:cNvPr id="6" name="">
            <a:extLst xmlns:a="http://schemas.openxmlformats.org/drawingml/2006/main">
              <a:ext uri="{FF2B5EF4-FFF2-40B4-BE49-F238E27FC236}">
                <a16:creationId xmlns:a16="http://schemas.microsoft.com/office/drawing/2014/main" id="{2FEE7298-4AAB-4656-8065-82BF954C80E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AAC50740-7754-47E7-8116-E3163F05DB9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정부 공통 환경과 업무 앱의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템플릿·이용 관측을 통한 개선</a:t>
            </a:r>
          </a:p>
        </p:txBody>
      </p:sp>
      <p:sp>
        <p:nvSpPr>
          <p:cNvPr id="8" name="">
            <a:extLst xmlns:a="http://schemas.openxmlformats.org/drawingml/2006/main">
              <a:ext uri="{FF2B5EF4-FFF2-40B4-BE49-F238E27FC236}">
                <a16:creationId xmlns:a16="http://schemas.microsoft.com/office/drawing/2014/main" id="{9382C2A5-93C6-4DF7-A66D-B47E44A968BC}"/>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1FE3977-236A-4AB2-89B4-6942D9EB26C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기관별 규정·문서 경계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청내 운영 결과의 범정부 일반화</a:t>
            </a:r>
          </a:p>
        </p:txBody>
      </p:sp>
      <p:sp>
        <p:nvSpPr>
          <p:cNvPr id="10" name="">
            <a:extLst xmlns:a="http://schemas.openxmlformats.org/drawingml/2006/main">
              <a:ext uri="{FF2B5EF4-FFF2-40B4-BE49-F238E27FC236}">
                <a16:creationId xmlns:a16="http://schemas.microsoft.com/office/drawing/2014/main" id="{C1A4DE3E-B4F6-4CEB-AAD2-27199815C86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748EB0F-59CC-4A24-ABC1-2404AE97966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업무별 평가·기관별 데이터 경계</a:t>
            </a:r>
          </a:p>
        </p:txBody>
      </p:sp>
      <p:sp>
        <p:nvSpPr>
          <p:cNvPr id="12" name="">
            <a:extLst xmlns:a="http://schemas.openxmlformats.org/drawingml/2006/main">
              <a:ext uri="{FF2B5EF4-FFF2-40B4-BE49-F238E27FC236}">
                <a16:creationId xmlns:a16="http://schemas.microsoft.com/office/drawing/2014/main" id="{32995E37-2595-4A33-A670-51E58A3D125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E3CF6D7A-F5C2-4040-820E-DAC27B4ECD85}"/>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앱에서 승인된 지식과 템플릿으로 초안 작성</a:t>
            </a:r>
          </a:p>
        </p:txBody>
      </p:sp>
      <p:sp>
        <p:nvSpPr>
          <p:cNvPr id="14" name="">
            <a:extLst xmlns:a="http://schemas.openxmlformats.org/drawingml/2006/main">
              <a:ext uri="{FF2B5EF4-FFF2-40B4-BE49-F238E27FC236}">
                <a16:creationId xmlns:a16="http://schemas.microsoft.com/office/drawing/2014/main" id="{6E21EEDD-3FD5-4F63-97D4-05512261CAC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12C3927-6C12-4A09-9D2A-798EB5AFD0F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앱 간 문서 혼입·구판 템플릿·담당자 변경</a:t>
            </a:r>
          </a:p>
        </p:txBody>
      </p:sp>
      <p:sp>
        <p:nvSpPr>
          <p:cNvPr id="16" name="">
            <a:extLst xmlns:a="http://schemas.openxmlformats.org/drawingml/2006/main">
              <a:ext uri="{FF2B5EF4-FFF2-40B4-BE49-F238E27FC236}">
                <a16:creationId xmlns:a16="http://schemas.microsoft.com/office/drawing/2014/main" id="{7A11E716-0FAC-42F3-AC1D-04ABCC25CE3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307ABC7F-1577-4C2B-BCBE-7617377522C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앱·판본·소관별 결과와 갱신·승인 기록</a:t>
            </a:r>
          </a:p>
        </p:txBody>
      </p:sp>
    </p:spTree>
    <p:extLst>
      <p:ext uri="{BB962C8B-B14F-4D97-AF65-F5344CB8AC3E}">
        <p14:creationId xmlns:p14="http://schemas.microsoft.com/office/powerpoint/2010/main" val="1471822195"/>
      </p:ext>
    </p:extLst>
  </p:cSld>
</p:sld>
</file>

<file path=ppt/slides/slide10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2615B90-779B-4161-8CF2-AAF6B883A0A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AIBots 사용 실적 / 현재 카탈로그 Desk 통합·POV / 해외</a:t>
            </a:r>
          </a:p>
        </p:txBody>
      </p:sp>
      <p:sp>
        <p:nvSpPr>
          <p:cNvPr id="2" name="">
            <a:extLst xmlns:a="http://schemas.openxmlformats.org/drawingml/2006/main">
              <a:ext uri="{FF2B5EF4-FFF2-40B4-BE49-F238E27FC236}">
                <a16:creationId xmlns:a16="http://schemas.microsoft.com/office/drawing/2014/main" id="{32FBF716-1EEA-4AD5-858E-56BC11E268C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a:t>
            </a:r>
          </a:p>
        </p:txBody>
      </p:sp>
      <p:sp>
        <p:nvSpPr>
          <p:cNvPr id="3" name="">
            <a:extLst xmlns:a="http://schemas.openxmlformats.org/drawingml/2006/main">
              <a:ext uri="{FF2B5EF4-FFF2-40B4-BE49-F238E27FC236}">
                <a16:creationId xmlns:a16="http://schemas.microsoft.com/office/drawing/2014/main" id="{5458CB75-7AB5-499A-B8F0-F47BD419626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765848-FFE3-465E-96B7-3D3FF49F44C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7CE0FD9-A27A-4CEE-82B4-D274631FA29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106</a:t>
            </a:r>
          </a:p>
        </p:txBody>
      </p:sp>
      <p:sp>
        <p:nvSpPr>
          <p:cNvPr id="6" name="">
            <a:extLst xmlns:a="http://schemas.openxmlformats.org/drawingml/2006/main">
              <a:ext uri="{FF2B5EF4-FFF2-40B4-BE49-F238E27FC236}">
                <a16:creationId xmlns:a16="http://schemas.microsoft.com/office/drawing/2014/main" id="{C4B36EAC-4BE5-416A-9D8E-37FCCD5A9B8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015B194-F1F4-4B78-8AA0-1294A94D594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싱가포르 AIBots의 문서 기반 봇 제작·공유 사례. 전문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개발자 외의 직원이 지시와 문서를 설정해 팀의 반복 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문에 대응하는 봇을 구성하는 접근.</a:t>
            </a:r>
          </a:p>
        </p:txBody>
      </p:sp>
      <p:sp>
        <p:nvSpPr>
          <p:cNvPr id="8" name="">
            <a:extLst xmlns:a="http://schemas.openxmlformats.org/drawingml/2006/main">
              <a:ext uri="{FF2B5EF4-FFF2-40B4-BE49-F238E27FC236}">
                <a16:creationId xmlns:a16="http://schemas.microsoft.com/office/drawing/2014/main" id="{0FA8979D-5C38-43AE-8DBE-8A3AEE19F815}"/>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4E944548-4D0F-4C34-9DBC-F0042C1CE85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업로드·색인, 봇 지시 설정, 팀 공유, 질의 검색, 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 응답의 흐름으로 재구성. 봇 소유자와 문서 소유자가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다를 수 있으므로 공유 권한 변경과 문서 삭제를 검색 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과에 함께 반영하는 통제 설계.</a:t>
            </a:r>
          </a:p>
        </p:txBody>
      </p:sp>
      <p:sp>
        <p:nvSpPr>
          <p:cNvPr id="10" name="">
            <a:extLst xmlns:a="http://schemas.openxmlformats.org/drawingml/2006/main">
              <a:ext uri="{FF2B5EF4-FFF2-40B4-BE49-F238E27FC236}">
                <a16:creationId xmlns:a16="http://schemas.microsoft.com/office/drawing/2014/main" id="{DC1ACAC0-2D00-4BC4-9EE0-64329A551B25}"/>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E3C0888-B758-42D4-9BAC-816D3DCD080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부서 봇을 개인 계정의 지식 저장소로 방치하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운영이 중요. 소유자 전보·퇴직, 공유 해제, 규정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이후 검색 결과를 비교하고 봇의 인수인계와 자료 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 이력을 공통 관리 대상으로 설정.</a:t>
            </a:r>
          </a:p>
        </p:txBody>
      </p:sp>
      <p:sp>
        <p:nvSpPr>
          <p:cNvPr id="12" name="">
            <a:extLst xmlns:a="http://schemas.openxmlformats.org/drawingml/2006/main">
              <a:ext uri="{FF2B5EF4-FFF2-40B4-BE49-F238E27FC236}">
                <a16:creationId xmlns:a16="http://schemas.microsoft.com/office/drawing/2014/main" id="{F96DEFCA-AE7B-4162-9A3A-40C897E8996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3E708D7-FC5C-444E-9E26-9B4B707BB60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담당·승인판본·배포·폐기 조건</a:t>
            </a:r>
          </a:p>
        </p:txBody>
      </p:sp>
      <p:sp>
        <p:nvSpPr>
          <p:cNvPr id="14" name="">
            <a:extLst xmlns:a="http://schemas.openxmlformats.org/drawingml/2006/main">
              <a:ext uri="{FF2B5EF4-FFF2-40B4-BE49-F238E27FC236}">
                <a16:creationId xmlns:a16="http://schemas.microsoft.com/office/drawing/2014/main" id="{5295FBB6-91DC-4B22-A572-186B0150494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9B49F15-E191-40D6-B646-BBA2028355D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도구·갱신 공수의 기준선·비교 평가</a:t>
            </a:r>
          </a:p>
        </p:txBody>
      </p:sp>
      <p:sp>
        <p:nvSpPr>
          <p:cNvPr id="16" name="">
            <a:extLst xmlns:a="http://schemas.openxmlformats.org/drawingml/2006/main">
              <a:ext uri="{FF2B5EF4-FFF2-40B4-BE49-F238E27FC236}">
                <a16:creationId xmlns:a16="http://schemas.microsoft.com/office/drawing/2014/main" id="{A5AEAE89-28B1-4945-A31C-C3AFCBE318FE}"/>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C6FEFF2-5A27-4696-995A-43EA5270921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중복 도구·갱신 공수</a:t>
            </a:r>
          </a:p>
        </p:txBody>
      </p:sp>
      <p:sp>
        <p:nvSpPr>
          <p:cNvPr id="18" name="">
            <a:extLst xmlns:a="http://schemas.openxmlformats.org/drawingml/2006/main">
              <a:ext uri="{FF2B5EF4-FFF2-40B4-BE49-F238E27FC236}">
                <a16:creationId xmlns:a16="http://schemas.microsoft.com/office/drawing/2014/main" id="{5DE6EE16-B7B0-49E3-8CE7-FD2D95FCE2C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봇 개수·사용량이 업무성과는 아님. 2025 AIBots와 2026 Desk를 독립 실적으로 합산하지 않음</a:t>
            </a:r>
          </a:p>
        </p:txBody>
      </p:sp>
    </p:spTree>
    <p:extLst>
      <p:ext uri="{BB962C8B-B14F-4D97-AF65-F5344CB8AC3E}">
        <p14:creationId xmlns:p14="http://schemas.microsoft.com/office/powerpoint/2010/main" val="234575575"/>
      </p:ext>
    </p:extLst>
  </p:cSld>
</p:sld>
</file>

<file path=ppt/slides/slide10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762EE80-862C-40AD-9E0B-D31E78F9738E}"/>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A6DAA51E-F761-492E-B7E4-6E9FE0655939}"/>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9DD0ADB-E6C0-43EF-9999-6BFE7129F2D7}"/>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C3F951E4-3724-4205-B141-BE8C09EC317B}"/>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E8787B6-A5C7-484E-95A9-376BD7BF3541}"/>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B866EF1-B7A5-4FCE-9849-7C28A92FD09E}"/>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85FB0463-8EFE-48F4-B174-4F389C3FBB30}"/>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1502F9B-A131-4D12-9D63-B5BEF34C2E8C}"/>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A9280D2-6183-46B0-AF96-004C883BB85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D49B9C04-5CD5-426D-B62A-BD6CA1797D7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지식 갱신·검색·근거 응답</a:t>
            </a:r>
          </a:p>
        </p:txBody>
      </p:sp>
      <p:sp>
        <p:nvSpPr>
          <p:cNvPr id="2" name="">
            <a:extLst xmlns:a="http://schemas.openxmlformats.org/drawingml/2006/main">
              <a:ext uri="{FF2B5EF4-FFF2-40B4-BE49-F238E27FC236}">
                <a16:creationId xmlns:a16="http://schemas.microsoft.com/office/drawing/2014/main" id="{1D1A897F-77D6-4684-B94D-84D22A39D52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세부 서비스 구조</a:t>
            </a:r>
          </a:p>
        </p:txBody>
      </p:sp>
      <p:sp>
        <p:nvSpPr>
          <p:cNvPr id="3" name="">
            <a:extLst xmlns:a="http://schemas.openxmlformats.org/drawingml/2006/main">
              <a:ext uri="{FF2B5EF4-FFF2-40B4-BE49-F238E27FC236}">
                <a16:creationId xmlns:a16="http://schemas.microsoft.com/office/drawing/2014/main" id="{340E980F-39DC-415D-B5CC-F5E6306055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D37B6B-A3B1-4BA7-8740-AA5EE5FA077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D5A4D30-3D91-4F14-ACCB-74593E5BB0D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107</a:t>
            </a:r>
          </a:p>
        </p:txBody>
      </p:sp>
      <p:sp>
        <p:nvSpPr>
          <p:cNvPr id="6" name="">
            <a:extLst xmlns:a="http://schemas.openxmlformats.org/drawingml/2006/main">
              <a:ext uri="{FF2B5EF4-FFF2-40B4-BE49-F238E27FC236}">
                <a16:creationId xmlns:a16="http://schemas.microsoft.com/office/drawing/2014/main" id="{9BA1B176-F056-4975-83DB-1118FFCD218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부서 문서 → RAG·업무 봇 → 공유·이용 통제 → 업무 접점</a:t>
            </a:r>
          </a:p>
        </p:txBody>
      </p:sp>
      <p:sp>
        <p:nvSpPr>
          <p:cNvPr id="7" name="">
            <a:extLst xmlns:a="http://schemas.openxmlformats.org/drawingml/2006/main">
              <a:ext uri="{FF2B5EF4-FFF2-40B4-BE49-F238E27FC236}">
                <a16:creationId xmlns:a16="http://schemas.microsoft.com/office/drawing/2014/main" id="{0DCFA23B-0BE2-4718-A7D9-B6CDF315228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FAB1E990-6A01-4C00-A20C-85E2605DC3A4}"/>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EE94C003-F5AC-48CB-B197-CEDE82DE3D6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업로드 문서</a:t>
            </a:r>
          </a:p>
        </p:txBody>
      </p:sp>
      <p:sp>
        <p:nvSpPr>
          <p:cNvPr id="10" name="">
            <a:extLst xmlns:a="http://schemas.openxmlformats.org/drawingml/2006/main">
              <a:ext uri="{FF2B5EF4-FFF2-40B4-BE49-F238E27FC236}">
                <a16:creationId xmlns:a16="http://schemas.microsoft.com/office/drawing/2014/main" id="{43F4BE7C-577F-463C-A5D1-558B6A7B9C4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11A9BF3-3E90-4244-B48A-4F3C5E46D110}"/>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3C54D1C2-3BED-4BBB-A8C6-9AB0CB2462E1}"/>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청킹·소유팀 매핑</a:t>
            </a:r>
          </a:p>
        </p:txBody>
      </p:sp>
      <p:sp>
        <p:nvSpPr>
          <p:cNvPr id="13" name="">
            <a:extLst xmlns:a="http://schemas.openxmlformats.org/drawingml/2006/main">
              <a:ext uri="{FF2B5EF4-FFF2-40B4-BE49-F238E27FC236}">
                <a16:creationId xmlns:a16="http://schemas.microsoft.com/office/drawing/2014/main" id="{F9781D9E-A5BB-47D1-B5A1-2C02CEA85C0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2451397-E869-4563-9868-86B6F3015335}"/>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1CC6BCFC-5C30-4CEA-A03E-F9BD574A4216}"/>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지식·설정</a:t>
            </a:r>
          </a:p>
        </p:txBody>
      </p:sp>
      <p:sp>
        <p:nvSpPr>
          <p:cNvPr id="16" name="">
            <a:extLst xmlns:a="http://schemas.openxmlformats.org/drawingml/2006/main">
              <a:ext uri="{FF2B5EF4-FFF2-40B4-BE49-F238E27FC236}">
                <a16:creationId xmlns:a16="http://schemas.microsoft.com/office/drawing/2014/main" id="{1C9ED840-5836-4145-A638-E38467BB372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55398C08-4D9C-4CE7-8EAF-9D2244EE12B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3435BBA3-D32C-4422-A39A-44DEB271B9A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문서 검색</a:t>
            </a:r>
          </a:p>
        </p:txBody>
      </p:sp>
      <p:sp>
        <p:nvSpPr>
          <p:cNvPr id="19" name="">
            <a:extLst xmlns:a="http://schemas.openxmlformats.org/drawingml/2006/main">
              <a:ext uri="{FF2B5EF4-FFF2-40B4-BE49-F238E27FC236}">
                <a16:creationId xmlns:a16="http://schemas.microsoft.com/office/drawing/2014/main" id="{A3D04C0C-092D-4C14-8317-DAF82874382C}"/>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C0A4CABA-ED32-4C9A-B501-BF793FB67FA2}"/>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AB396844-D6F3-4387-A84F-F3F3C8C3C64F}"/>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제작·대화</a:t>
            </a:r>
          </a:p>
        </p:txBody>
      </p:sp>
      <p:sp>
        <p:nvSpPr>
          <p:cNvPr id="22" name="">
            <a:extLst xmlns:a="http://schemas.openxmlformats.org/drawingml/2006/main">
              <a:ext uri="{FF2B5EF4-FFF2-40B4-BE49-F238E27FC236}">
                <a16:creationId xmlns:a16="http://schemas.microsoft.com/office/drawing/2014/main" id="{E98E4918-AE08-4EA3-9DD6-42635B7FE4F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D631451-989C-4619-8FAA-7B745EA036E3}"/>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2DED1981-E154-4CC8-A627-969BE353140B}"/>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계정·봇·공유범위</a:t>
            </a:r>
          </a:p>
        </p:txBody>
      </p:sp>
      <p:sp>
        <p:nvSpPr>
          <p:cNvPr id="25" name="">
            <a:extLst xmlns:a="http://schemas.openxmlformats.org/drawingml/2006/main">
              <a:ext uri="{FF2B5EF4-FFF2-40B4-BE49-F238E27FC236}">
                <a16:creationId xmlns:a16="http://schemas.microsoft.com/office/drawing/2014/main" id="{CBE7E9D4-7A81-4706-A029-CDD0198F20B2}"/>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A6FD726-35AF-4C2A-B251-E9217A146CC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A1E7F76D-240F-4CB8-BB39-F65B08A2B09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AIBots 지시 처</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리</a:t>
            </a:r>
          </a:p>
        </p:txBody>
      </p:sp>
      <p:sp>
        <p:nvSpPr>
          <p:cNvPr id="28" name="">
            <a:extLst xmlns:a="http://schemas.openxmlformats.org/drawingml/2006/main">
              <a:ext uri="{FF2B5EF4-FFF2-40B4-BE49-F238E27FC236}">
                <a16:creationId xmlns:a16="http://schemas.microsoft.com/office/drawing/2014/main" id="{18DC3C85-E275-4086-84C9-FCAE616AAF1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C96001F-628D-44CB-A116-D9DF99BDEDE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AA106911-69C6-451D-82D1-7504A20FF0CD}"/>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출처·정보등급 검</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a:t>
            </a:r>
          </a:p>
        </p:txBody>
      </p:sp>
      <p:sp>
        <p:nvSpPr>
          <p:cNvPr id="31" name="">
            <a:extLst xmlns:a="http://schemas.openxmlformats.org/drawingml/2006/main">
              <a:ext uri="{FF2B5EF4-FFF2-40B4-BE49-F238E27FC236}">
                <a16:creationId xmlns:a16="http://schemas.microsoft.com/office/drawing/2014/main" id="{4659AF5E-FB0F-40CA-8208-04938130795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DFBDFE5-8978-4929-8797-B8C6CB8D198D}"/>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75C97F32-377E-477C-B860-48620B2FE9BC}"/>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팀 검토</a:t>
            </a:r>
          </a:p>
        </p:txBody>
      </p:sp>
      <p:sp>
        <p:nvSpPr>
          <p:cNvPr id="34" name="">
            <a:extLst xmlns:a="http://schemas.openxmlformats.org/drawingml/2006/main">
              <a:ext uri="{FF2B5EF4-FFF2-40B4-BE49-F238E27FC236}">
                <a16:creationId xmlns:a16="http://schemas.microsoft.com/office/drawing/2014/main" id="{AFC53522-C648-4EB1-972B-33E9E6954EBE}"/>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D0763E7-38F5-427D-B23A-1531C5C5F03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D6C30DBB-B64C-4071-AFCF-B2396DB57C55}"/>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봇 공유·응답</a:t>
            </a:r>
          </a:p>
        </p:txBody>
      </p:sp>
      <p:sp>
        <p:nvSpPr>
          <p:cNvPr id="46" name="">
            <a:extLst xmlns:a="http://schemas.openxmlformats.org/drawingml/2006/main">
              <a:ext uri="{FF2B5EF4-FFF2-40B4-BE49-F238E27FC236}">
                <a16:creationId xmlns:a16="http://schemas.microsoft.com/office/drawing/2014/main" id="{4D80F830-82E9-4C35-9242-31A97E95F38B}"/>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03085456"/>
      </p:ext>
    </p:extLst>
  </p:cSld>
</p:sld>
</file>

<file path=ppt/slides/slide10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1C23BF2-8614-4EFA-A91C-69E3742485B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논리 인터페이스·복구 설계</a:t>
            </a:r>
          </a:p>
        </p:txBody>
      </p:sp>
      <p:sp>
        <p:nvSpPr>
          <p:cNvPr id="2" name="">
            <a:extLst xmlns:a="http://schemas.openxmlformats.org/drawingml/2006/main">
              <a:ext uri="{FF2B5EF4-FFF2-40B4-BE49-F238E27FC236}">
                <a16:creationId xmlns:a16="http://schemas.microsoft.com/office/drawing/2014/main" id="{B48AC4B9-C492-41F0-B042-65CBFBF5240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데이터와 예외 처리</a:t>
            </a:r>
          </a:p>
        </p:txBody>
      </p:sp>
      <p:sp>
        <p:nvSpPr>
          <p:cNvPr id="3" name="">
            <a:extLst xmlns:a="http://schemas.openxmlformats.org/drawingml/2006/main">
              <a:ext uri="{FF2B5EF4-FFF2-40B4-BE49-F238E27FC236}">
                <a16:creationId xmlns:a16="http://schemas.microsoft.com/office/drawing/2014/main" id="{CDC7F123-2D27-4962-92B2-7A59ADF1B4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264BA4-620A-4743-B3A9-EE830241BA1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878844D-5A05-44CD-A9EB-DBB91EA5227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108</a:t>
            </a:r>
          </a:p>
        </p:txBody>
      </p:sp>
      <p:sp>
        <p:nvSpPr>
          <p:cNvPr id="6" name="">
            <a:extLst xmlns:a="http://schemas.openxmlformats.org/drawingml/2006/main">
              <a:ext uri="{FF2B5EF4-FFF2-40B4-BE49-F238E27FC236}">
                <a16:creationId xmlns:a16="http://schemas.microsoft.com/office/drawing/2014/main" id="{5AAF2022-2515-45F2-AA58-414D574FD48A}"/>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8253D2F3-05DF-4856-8EC6-11B6DCD5EDB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3DD6FBA-A63E-4815-8784-5B61734E88B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B2533765-8734-4A67-9811-BA036237691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부서 문서</a:t>
            </a:r>
          </a:p>
        </p:txBody>
      </p:sp>
      <p:sp>
        <p:nvSpPr>
          <p:cNvPr id="10" name="">
            <a:extLst xmlns:a="http://schemas.openxmlformats.org/drawingml/2006/main">
              <a:ext uri="{FF2B5EF4-FFF2-40B4-BE49-F238E27FC236}">
                <a16:creationId xmlns:a16="http://schemas.microsoft.com/office/drawing/2014/main" id="{69A5EB7B-4A6B-49D3-99E0-45B7A547756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3EC253-C88D-49BD-9E24-CD4C3E584A96}"/>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D6EBC7DA-0F7E-4616-BDFE-1063A4DED04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A540E8FE-5EA3-45B0-B416-0D9692DC3A1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9C0D9B1-2F1E-43F9-A4EF-40A6673D1B4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8BCE1C3-0A15-40F7-8F2E-9634DE35466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계정·봇 접근범위·입력정보 등급 확인</a:t>
            </a:r>
          </a:p>
        </p:txBody>
      </p:sp>
      <p:sp>
        <p:nvSpPr>
          <p:cNvPr id="16" name="">
            <a:extLst xmlns:a="http://schemas.openxmlformats.org/drawingml/2006/main">
              <a:ext uri="{FF2B5EF4-FFF2-40B4-BE49-F238E27FC236}">
                <a16:creationId xmlns:a16="http://schemas.microsoft.com/office/drawing/2014/main" id="{7C293D92-D863-4D35-A760-BE594AF3599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883000C-7339-4232-93E9-CAB0CA47CBF0}"/>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08C16666-696B-4C45-B9A6-3CFFE2271AE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등급·봇 권한·심사·답변 출처 확인표</a:t>
            </a:r>
          </a:p>
        </p:txBody>
      </p:sp>
      <p:sp>
        <p:nvSpPr>
          <p:cNvPr id="19" name="">
            <a:extLst xmlns:a="http://schemas.openxmlformats.org/drawingml/2006/main">
              <a:ext uri="{FF2B5EF4-FFF2-40B4-BE49-F238E27FC236}">
                <a16:creationId xmlns:a16="http://schemas.microsoft.com/office/drawing/2014/main" id="{760E151E-F5C1-4CC8-8D4C-CD20F4BB9B8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3168772-2D2E-4862-AF67-0AC8989E4EF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6820FEB-372E-46F5-A035-CEEC0E188971}"/>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지식</a:t>
            </a:r>
          </a:p>
        </p:txBody>
      </p:sp>
      <p:sp>
        <p:nvSpPr>
          <p:cNvPr id="22" name="">
            <a:extLst xmlns:a="http://schemas.openxmlformats.org/drawingml/2006/main">
              <a:ext uri="{FF2B5EF4-FFF2-40B4-BE49-F238E27FC236}">
                <a16:creationId xmlns:a16="http://schemas.microsoft.com/office/drawing/2014/main" id="{68495B46-E41F-4181-84C7-FFDBEC77AEE4}"/>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50286F9-72C2-45E3-B8FC-E5F0C260C45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42C6D28C-D891-4834-8443-94B2E2E39EB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봇 응답</a:t>
            </a:r>
          </a:p>
        </p:txBody>
      </p:sp>
      <p:sp>
        <p:nvSpPr>
          <p:cNvPr id="25" name="">
            <a:extLst xmlns:a="http://schemas.openxmlformats.org/drawingml/2006/main">
              <a:ext uri="{FF2B5EF4-FFF2-40B4-BE49-F238E27FC236}">
                <a16:creationId xmlns:a16="http://schemas.microsoft.com/office/drawing/2014/main" id="{A787A18E-88AA-49FD-AF08-3ACA5991E0E9}"/>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7E4432C4-A83A-4EB2-95B0-149FEA32AE87}"/>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허용 등급 초과·공유 대상 오류·고위험 용도</a:t>
            </a:r>
          </a:p>
        </p:txBody>
      </p:sp>
      <p:sp>
        <p:nvSpPr>
          <p:cNvPr id="27" name="">
            <a:extLst xmlns:a="http://schemas.openxmlformats.org/drawingml/2006/main">
              <a:ext uri="{FF2B5EF4-FFF2-40B4-BE49-F238E27FC236}">
                <a16:creationId xmlns:a16="http://schemas.microsoft.com/office/drawing/2014/main" id="{3805AC2B-D057-469D-A362-87C702B853AE}"/>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3661954-B593-43A6-A9E9-C045079181E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 회수·봇 공유 범위 검증</a:t>
            </a:r>
          </a:p>
        </p:txBody>
      </p:sp>
      <p:sp>
        <p:nvSpPr>
          <p:cNvPr id="29" name="">
            <a:extLst xmlns:a="http://schemas.openxmlformats.org/drawingml/2006/main">
              <a:ext uri="{FF2B5EF4-FFF2-40B4-BE49-F238E27FC236}">
                <a16:creationId xmlns:a16="http://schemas.microsoft.com/office/drawing/2014/main" id="{2239DE96-EA4A-4C74-8DE1-2B017C95C77D}"/>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2CBDD5A-6B2E-4684-BBC5-B9533AD30B7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봇 갱신·공유 범위·오답 피드백 관리</a:t>
            </a:r>
          </a:p>
        </p:txBody>
      </p:sp>
      <p:sp>
        <p:nvSpPr>
          <p:cNvPr id="31" name="">
            <a:extLst xmlns:a="http://schemas.openxmlformats.org/drawingml/2006/main">
              <a:ext uri="{FF2B5EF4-FFF2-40B4-BE49-F238E27FC236}">
                <a16:creationId xmlns:a16="http://schemas.microsoft.com/office/drawing/2014/main" id="{97C4A2A1-6AF0-4FE2-8906-D55C9ECE9B3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32258445-3D66-4048-A431-EC7DBECE072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등급·봇 권한·심사·답변 출처 확인표</a:t>
            </a:r>
          </a:p>
        </p:txBody>
      </p:sp>
    </p:spTree>
    <p:extLst>
      <p:ext uri="{BB962C8B-B14F-4D97-AF65-F5344CB8AC3E}">
        <p14:creationId xmlns:p14="http://schemas.microsoft.com/office/powerpoint/2010/main" val="1811200231"/>
      </p:ext>
    </p:extLst>
  </p:cSld>
</p:sld>
</file>

<file path=ppt/slides/slide10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5B3305A-433C-45B7-A87F-43FFD77A3B5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PF-A08 / CCK 비교·재현 시험 설계</a:t>
            </a:r>
          </a:p>
        </p:txBody>
      </p:sp>
      <p:sp>
        <p:nvSpPr>
          <p:cNvPr id="2" name="">
            <a:extLst xmlns:a="http://schemas.openxmlformats.org/drawingml/2006/main">
              <a:ext uri="{FF2B5EF4-FFF2-40B4-BE49-F238E27FC236}">
                <a16:creationId xmlns:a16="http://schemas.microsoft.com/office/drawing/2014/main" id="{C9E45511-419F-4FB9-82F9-7B5BF3D5FDC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AIBots·Desk · 벤치마킹</a:t>
            </a:r>
          </a:p>
        </p:txBody>
      </p:sp>
      <p:sp>
        <p:nvSpPr>
          <p:cNvPr id="3" name="">
            <a:extLst xmlns:a="http://schemas.openxmlformats.org/drawingml/2006/main">
              <a:ext uri="{FF2B5EF4-FFF2-40B4-BE49-F238E27FC236}">
                <a16:creationId xmlns:a16="http://schemas.microsoft.com/office/drawing/2014/main" id="{25575A8D-BFD9-476F-BA0D-45A8074E5A5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C7B269-F9EF-4061-B955-0E046CE9DF0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8979255-2C14-4E9D-9303-96C00ED2E49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109</a:t>
            </a:r>
          </a:p>
        </p:txBody>
      </p:sp>
      <p:sp>
        <p:nvSpPr>
          <p:cNvPr id="6" name="">
            <a:extLst xmlns:a="http://schemas.openxmlformats.org/drawingml/2006/main">
              <a:ext uri="{FF2B5EF4-FFF2-40B4-BE49-F238E27FC236}">
                <a16:creationId xmlns:a16="http://schemas.microsoft.com/office/drawing/2014/main" id="{ECE192E5-7C35-4D46-9DF2-2BB849A35E70}"/>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39D63439-733E-45EB-A1B3-37BD56ED6F8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 문서로 업무 봇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공유·이용 범위의 관리</a:t>
            </a:r>
          </a:p>
        </p:txBody>
      </p:sp>
      <p:sp>
        <p:nvSpPr>
          <p:cNvPr id="8" name="">
            <a:extLst xmlns:a="http://schemas.openxmlformats.org/drawingml/2006/main">
              <a:ext uri="{FF2B5EF4-FFF2-40B4-BE49-F238E27FC236}">
                <a16:creationId xmlns:a16="http://schemas.microsoft.com/office/drawing/2014/main" id="{D62DB509-36CD-4005-AA8F-1EF2839C27A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4526FD7-BB75-4DB0-B611-9B13DDEE3226}"/>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 문서 갱신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봇 공유 시 권한 확대</a:t>
            </a:r>
          </a:p>
        </p:txBody>
      </p:sp>
      <p:sp>
        <p:nvSpPr>
          <p:cNvPr id="10" name="">
            <a:extLst xmlns:a="http://schemas.openxmlformats.org/drawingml/2006/main">
              <a:ext uri="{FF2B5EF4-FFF2-40B4-BE49-F238E27FC236}">
                <a16:creationId xmlns:a16="http://schemas.microsoft.com/office/drawing/2014/main" id="{6BFE47D5-2827-4A5F-B722-9F7E29D509D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42C5131-8ABF-4E49-9635-1C469818384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회수·봇 공유 범위 검증</a:t>
            </a:r>
          </a:p>
        </p:txBody>
      </p:sp>
      <p:sp>
        <p:nvSpPr>
          <p:cNvPr id="12" name="">
            <a:extLst xmlns:a="http://schemas.openxmlformats.org/drawingml/2006/main">
              <a:ext uri="{FF2B5EF4-FFF2-40B4-BE49-F238E27FC236}">
                <a16:creationId xmlns:a16="http://schemas.microsoft.com/office/drawing/2014/main" id="{1B1A4811-38C1-4B6A-BE8B-5C342266770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F47C889-6A5B-44A3-85FC-3689D11FC5F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팀이 지식 봇을 만들고 팀원에게 공유</a:t>
            </a:r>
          </a:p>
        </p:txBody>
      </p:sp>
      <p:sp>
        <p:nvSpPr>
          <p:cNvPr id="14" name="">
            <a:extLst xmlns:a="http://schemas.openxmlformats.org/drawingml/2006/main">
              <a:ext uri="{FF2B5EF4-FFF2-40B4-BE49-F238E27FC236}">
                <a16:creationId xmlns:a16="http://schemas.microsoft.com/office/drawing/2014/main" id="{EE0FB32D-BAFD-4D79-8A37-3791AA845CA1}"/>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8D3D12CE-4D52-4166-BCF4-8F04BF21B43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허용 등급 초과·공유 대상 오류·고위험 용도</a:t>
            </a:r>
          </a:p>
        </p:txBody>
      </p:sp>
      <p:sp>
        <p:nvSpPr>
          <p:cNvPr id="16" name="">
            <a:extLst xmlns:a="http://schemas.openxmlformats.org/drawingml/2006/main">
              <a:ext uri="{FF2B5EF4-FFF2-40B4-BE49-F238E27FC236}">
                <a16:creationId xmlns:a16="http://schemas.microsoft.com/office/drawing/2014/main" id="{9ADB7ABE-3CD7-4C54-A17C-E1A1817108F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2C1C6C1-6B0D-4577-8F5A-D0DE15576BB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 등급·봇 권한·심사·답변 출처 확인표</a:t>
            </a:r>
          </a:p>
        </p:txBody>
      </p:sp>
    </p:spTree>
    <p:extLst>
      <p:ext uri="{BB962C8B-B14F-4D97-AF65-F5344CB8AC3E}">
        <p14:creationId xmlns:p14="http://schemas.microsoft.com/office/powerpoint/2010/main" val="386360285"/>
      </p:ext>
    </p:extLst>
  </p:cSld>
</p:sld>
</file>

<file path=ppt/slides/slide1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F92AC62-A3E6-4AC7-BE28-C9C24CA326C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2023년 이후 운영 / 공식 제품 목록 Active / 해외</a:t>
            </a:r>
          </a:p>
        </p:txBody>
      </p:sp>
      <p:sp>
        <p:nvSpPr>
          <p:cNvPr id="2" name="">
            <a:extLst xmlns:a="http://schemas.openxmlformats.org/drawingml/2006/main">
              <a:ext uri="{FF2B5EF4-FFF2-40B4-BE49-F238E27FC236}">
                <a16:creationId xmlns:a16="http://schemas.microsoft.com/office/drawing/2014/main" id="{36B91D6E-0353-4DB4-8D52-81845350723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a:t>
            </a:r>
          </a:p>
        </p:txBody>
      </p:sp>
      <p:sp>
        <p:nvSpPr>
          <p:cNvPr id="3" name="">
            <a:extLst xmlns:a="http://schemas.openxmlformats.org/drawingml/2006/main">
              <a:ext uri="{FF2B5EF4-FFF2-40B4-BE49-F238E27FC236}">
                <a16:creationId xmlns:a16="http://schemas.microsoft.com/office/drawing/2014/main" id="{C9CC1D43-0730-49E9-B833-2D130C811F6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F033304-9F04-46CA-96CB-C13D50FF52C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48C7548-7A7F-427B-ACBD-695529788C7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110</a:t>
            </a:r>
          </a:p>
        </p:txBody>
      </p:sp>
      <p:sp>
        <p:nvSpPr>
          <p:cNvPr id="6" name="">
            <a:extLst xmlns:a="http://schemas.openxmlformats.org/drawingml/2006/main">
              <a:ext uri="{FF2B5EF4-FFF2-40B4-BE49-F238E27FC236}">
                <a16:creationId xmlns:a16="http://schemas.microsoft.com/office/drawing/2014/main" id="{143289BA-264B-4073-960E-514717A52E3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DDE7CF4-11C8-479C-8815-4DF5F7DE71D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싱가포르 Pair의 공공부문 업무 지원 사례. 직원의 조사·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작성·분석을 지원하면서 정부 사용 조건과 업무 자료 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급 기준을 적용하는 도입 방식.</a:t>
            </a:r>
          </a:p>
        </p:txBody>
      </p:sp>
      <p:sp>
        <p:nvSpPr>
          <p:cNvPr id="8" name="">
            <a:extLst xmlns:a="http://schemas.openxmlformats.org/drawingml/2006/main">
              <a:ext uri="{FF2B5EF4-FFF2-40B4-BE49-F238E27FC236}">
                <a16:creationId xmlns:a16="http://schemas.microsoft.com/office/drawing/2014/main" id="{710A4CB5-BA6C-4E35-A903-0F96B7E0532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E83F7CD-4E1F-4E73-8932-2A3B84563D3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사용자 접근, 허용된 업무 입력, 모델 처리, 결과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토·활용으로 재구성. 공급사의 일반 제품 기능과 정부 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 조건, 실제 이용 범위를 구분하고 기관 내부 시스템과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자동 연계 여부를 별도 확인하는 구조.</a:t>
            </a:r>
          </a:p>
        </p:txBody>
      </p:sp>
      <p:sp>
        <p:nvSpPr>
          <p:cNvPr id="10" name="">
            <a:extLst xmlns:a="http://schemas.openxmlformats.org/drawingml/2006/main">
              <a:ext uri="{FF2B5EF4-FFF2-40B4-BE49-F238E27FC236}">
                <a16:creationId xmlns:a16="http://schemas.microsoft.com/office/drawing/2014/main" id="{1F572194-8370-49C6-B148-8D06554A91C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A445E176-5129-4F70-916B-8444D52F195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서비스 구매 자체를 조직 네이티브 기능 구현으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로 보지 않는 것이 비교의 출발점. 공식 직원 ID·부서·업무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책임·자료 권한과 모델의 이용 문맥을 연결하는 추가 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발·운영 책임의 별도 정의.</a:t>
            </a:r>
          </a:p>
        </p:txBody>
      </p:sp>
      <p:sp>
        <p:nvSpPr>
          <p:cNvPr id="12" name="">
            <a:extLst xmlns:a="http://schemas.openxmlformats.org/drawingml/2006/main">
              <a:ext uri="{FF2B5EF4-FFF2-40B4-BE49-F238E27FC236}">
                <a16:creationId xmlns:a16="http://schemas.microsoft.com/office/drawing/2014/main" id="{9232182E-13EB-4AF2-A762-8B10727D223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91AC06A-C764-411A-A323-C87E38D0EDA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기관·직무별 설정과 품질 기준</a:t>
            </a:r>
          </a:p>
        </p:txBody>
      </p:sp>
      <p:sp>
        <p:nvSpPr>
          <p:cNvPr id="14" name="">
            <a:extLst xmlns:a="http://schemas.openxmlformats.org/drawingml/2006/main">
              <a:ext uri="{FF2B5EF4-FFF2-40B4-BE49-F238E27FC236}">
                <a16:creationId xmlns:a16="http://schemas.microsoft.com/office/drawing/2014/main" id="{2D291367-E415-41B5-BA81-2B1509063C35}"/>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8B245AE-554D-4231-AA61-1273B87AE0B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신규 연결 공수·요청당 비용의 기준선·비교 평가</a:t>
            </a:r>
          </a:p>
        </p:txBody>
      </p:sp>
      <p:sp>
        <p:nvSpPr>
          <p:cNvPr id="16" name="">
            <a:extLst xmlns:a="http://schemas.openxmlformats.org/drawingml/2006/main">
              <a:ext uri="{FF2B5EF4-FFF2-40B4-BE49-F238E27FC236}">
                <a16:creationId xmlns:a16="http://schemas.microsoft.com/office/drawing/2014/main" id="{437C757D-AC74-4710-8EE5-156FA73D448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771CE47-B7A4-4779-8767-F52A559AE16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신규 연결 공수·요청당 비용</a:t>
            </a:r>
          </a:p>
        </p:txBody>
      </p:sp>
      <p:sp>
        <p:nvSpPr>
          <p:cNvPr id="18" name="">
            <a:extLst xmlns:a="http://schemas.openxmlformats.org/drawingml/2006/main">
              <a:ext uri="{FF2B5EF4-FFF2-40B4-BE49-F238E27FC236}">
                <a16:creationId xmlns:a16="http://schemas.microsoft.com/office/drawing/2014/main" id="{C6ACDFD0-8EFE-44E7-8BD8-9EBB83FC176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오래된 소개 지표로 현재 규모를 추정하지 않음. 독립 정량 업무효과 미확인</a:t>
            </a:r>
          </a:p>
        </p:txBody>
      </p:sp>
    </p:spTree>
    <p:extLst>
      <p:ext uri="{BB962C8B-B14F-4D97-AF65-F5344CB8AC3E}">
        <p14:creationId xmlns:p14="http://schemas.microsoft.com/office/powerpoint/2010/main" val="1429536082"/>
      </p:ext>
    </p:extLst>
  </p:cSld>
</p:sld>
</file>

<file path=ppt/slides/slide1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DE90117-85F8-4BCB-9A16-079BB590C123}"/>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64B4568-FE20-4DAC-B202-F963F0EB42D8}"/>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06D80C1C-635A-4C17-8F20-4B1B513210C4}"/>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6209CC6-F1C4-4F83-B33B-3B407D59FC8F}"/>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99916D53-88D4-4E9E-B755-8C445DCDA741}"/>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4AA7608-EC85-4739-9280-827987D425BD}"/>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289A2F4F-4C0C-45BF-B111-7E59A9401E11}"/>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C6594CC-7264-48CA-BFA8-D96BE574CD65}"/>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29DC1A93-1DB0-46E9-A2BF-E629DCE15530}"/>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D3885C3F-4510-4967-BA86-7F90603DCB8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지식 갱신·검색·근거 응답</a:t>
            </a:r>
          </a:p>
        </p:txBody>
      </p:sp>
      <p:sp>
        <p:nvSpPr>
          <p:cNvPr id="2" name="">
            <a:extLst xmlns:a="http://schemas.openxmlformats.org/drawingml/2006/main">
              <a:ext uri="{FF2B5EF4-FFF2-40B4-BE49-F238E27FC236}">
                <a16:creationId xmlns:a16="http://schemas.microsoft.com/office/drawing/2014/main" id="{6A0ABF7F-8138-4AE3-AAAF-BBAC183674A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세부 서비스 구조</a:t>
            </a:r>
          </a:p>
        </p:txBody>
      </p:sp>
      <p:sp>
        <p:nvSpPr>
          <p:cNvPr id="3" name="">
            <a:extLst xmlns:a="http://schemas.openxmlformats.org/drawingml/2006/main">
              <a:ext uri="{FF2B5EF4-FFF2-40B4-BE49-F238E27FC236}">
                <a16:creationId xmlns:a16="http://schemas.microsoft.com/office/drawing/2014/main" id="{508B3572-2F08-4BC1-906F-663CFDE3C0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89AB8B-16AE-47B5-9BBF-073CC2D391B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FE7934D-35CB-4D02-B83A-76C2FE83427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111</a:t>
            </a:r>
          </a:p>
        </p:txBody>
      </p:sp>
      <p:sp>
        <p:nvSpPr>
          <p:cNvPr id="6" name="">
            <a:extLst xmlns:a="http://schemas.openxmlformats.org/drawingml/2006/main">
              <a:ext uri="{FF2B5EF4-FFF2-40B4-BE49-F238E27FC236}">
                <a16:creationId xmlns:a16="http://schemas.microsoft.com/office/drawing/2014/main" id="{C11C507F-603A-4944-8763-61FB2269995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정부 사용자 → 공통 LLM 도구 → 작성·조사 지원 → 공무원 검토</a:t>
            </a:r>
          </a:p>
        </p:txBody>
      </p:sp>
      <p:sp>
        <p:nvSpPr>
          <p:cNvPr id="7" name="">
            <a:extLst xmlns:a="http://schemas.openxmlformats.org/drawingml/2006/main">
              <a:ext uri="{FF2B5EF4-FFF2-40B4-BE49-F238E27FC236}">
                <a16:creationId xmlns:a16="http://schemas.microsoft.com/office/drawing/2014/main" id="{2FE25384-8E36-4609-AD26-0AF665121CE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68C7F1B-5890-4A3D-92C5-1C4A0D62FC5F}"/>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E942E1A-B62C-405B-9ECA-4552AEB2A605}"/>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업무 입력</a:t>
            </a:r>
          </a:p>
        </p:txBody>
      </p:sp>
      <p:sp>
        <p:nvSpPr>
          <p:cNvPr id="10" name="">
            <a:extLst xmlns:a="http://schemas.openxmlformats.org/drawingml/2006/main">
              <a:ext uri="{FF2B5EF4-FFF2-40B4-BE49-F238E27FC236}">
                <a16:creationId xmlns:a16="http://schemas.microsoft.com/office/drawing/2014/main" id="{D2E07696-8BBC-4EA7-91F6-CCF098681B35}"/>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BEF5AF7-1C10-48C3-A66C-F254B97ECC43}"/>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988C19AF-6547-4AA7-9CA0-5A3430192FB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보관조건 정리</a:t>
            </a:r>
          </a:p>
        </p:txBody>
      </p:sp>
      <p:sp>
        <p:nvSpPr>
          <p:cNvPr id="13" name="">
            <a:extLst xmlns:a="http://schemas.openxmlformats.org/drawingml/2006/main">
              <a:ext uri="{FF2B5EF4-FFF2-40B4-BE49-F238E27FC236}">
                <a16:creationId xmlns:a16="http://schemas.microsoft.com/office/drawing/2014/main" id="{51C5BC59-FFA2-46AD-A95F-37E18963F623}"/>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55CFB11-D951-4B24-B794-19D93DD43A4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7D31B856-51C0-4600-B725-6E7D73592F1C}"/>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과업·평가 기록</a:t>
            </a:r>
          </a:p>
        </p:txBody>
      </p:sp>
      <p:sp>
        <p:nvSpPr>
          <p:cNvPr id="16" name="">
            <a:extLst xmlns:a="http://schemas.openxmlformats.org/drawingml/2006/main">
              <a:ext uri="{FF2B5EF4-FFF2-40B4-BE49-F238E27FC236}">
                <a16:creationId xmlns:a16="http://schemas.microsoft.com/office/drawing/2014/main" id="{AF8C34A7-C721-42C7-AF37-39E634D2F17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CB9810D-0A83-4552-80E7-7441D326189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C43F9A60-5CB9-422C-8061-F905232A14FF}"/>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문맥 구성</a:t>
            </a:r>
          </a:p>
        </p:txBody>
      </p:sp>
      <p:sp>
        <p:nvSpPr>
          <p:cNvPr id="19" name="">
            <a:extLst xmlns:a="http://schemas.openxmlformats.org/drawingml/2006/main">
              <a:ext uri="{FF2B5EF4-FFF2-40B4-BE49-F238E27FC236}">
                <a16:creationId xmlns:a16="http://schemas.microsoft.com/office/drawing/2014/main" id="{30004098-59C3-4FA3-9BA8-DA5D7D2F5E65}"/>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692390C4-604F-4B62-86A6-719DC5D1DD29}"/>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D770173B-1F55-4721-8909-E85227574316}"/>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정부 직원 접점</a:t>
            </a:r>
          </a:p>
        </p:txBody>
      </p:sp>
      <p:sp>
        <p:nvSpPr>
          <p:cNvPr id="22" name="">
            <a:extLst xmlns:a="http://schemas.openxmlformats.org/drawingml/2006/main">
              <a:ext uri="{FF2B5EF4-FFF2-40B4-BE49-F238E27FC236}">
                <a16:creationId xmlns:a16="http://schemas.microsoft.com/office/drawing/2014/main" id="{E39851E2-1622-48D8-8086-FFCF6FAA5D3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41AA124-08BA-493D-8A0E-8AE0C01128D5}"/>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9C33C6F7-6FAA-475E-A860-60E12880781B}"/>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업무·입력등급</a:t>
            </a:r>
          </a:p>
        </p:txBody>
      </p:sp>
      <p:sp>
        <p:nvSpPr>
          <p:cNvPr id="25" name="">
            <a:extLst xmlns:a="http://schemas.openxmlformats.org/drawingml/2006/main">
              <a:ext uri="{FF2B5EF4-FFF2-40B4-BE49-F238E27FC236}">
                <a16:creationId xmlns:a16="http://schemas.microsoft.com/office/drawing/2014/main" id="{753CF876-D27E-4680-B726-20F24752F9B1}"/>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02BCEE0-F55E-41E4-8C2B-01E17A9F813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DEC8ADD4-6403-4C33-8567-6868E21FEF6C}"/>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Pair 공통 LLM</a:t>
            </a:r>
          </a:p>
        </p:txBody>
      </p:sp>
      <p:sp>
        <p:nvSpPr>
          <p:cNvPr id="28" name="">
            <a:extLst xmlns:a="http://schemas.openxmlformats.org/drawingml/2006/main">
              <a:ext uri="{FF2B5EF4-FFF2-40B4-BE49-F238E27FC236}">
                <a16:creationId xmlns:a16="http://schemas.microsoft.com/office/drawing/2014/main" id="{6C72086A-59B9-4819-A14C-4748B9EF415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B72D79B-46A2-49EB-9994-086BBC86001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FE499A5B-737D-4864-BE02-460A845A590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근거·민감정보 검</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a:t>
            </a:r>
          </a:p>
        </p:txBody>
      </p:sp>
      <p:sp>
        <p:nvSpPr>
          <p:cNvPr id="31" name="">
            <a:extLst xmlns:a="http://schemas.openxmlformats.org/drawingml/2006/main">
              <a:ext uri="{FF2B5EF4-FFF2-40B4-BE49-F238E27FC236}">
                <a16:creationId xmlns:a16="http://schemas.microsoft.com/office/drawing/2014/main" id="{F98CA386-DAD7-4627-9B17-E9C131B2987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380D6BD-5054-4F4B-843E-E2F8E06089B7}"/>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22397F8C-451F-4EF2-AC5F-3FB4BAF0F0F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검토</a:t>
            </a:r>
          </a:p>
        </p:txBody>
      </p:sp>
      <p:sp>
        <p:nvSpPr>
          <p:cNvPr id="34" name="">
            <a:extLst xmlns:a="http://schemas.openxmlformats.org/drawingml/2006/main">
              <a:ext uri="{FF2B5EF4-FFF2-40B4-BE49-F238E27FC236}">
                <a16:creationId xmlns:a16="http://schemas.microsoft.com/office/drawing/2014/main" id="{D55E3C8C-0B48-42C6-881A-BB3671FE883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2DB34FF-CAD4-4D0B-B062-EE395A60063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E3D6BC2D-A99F-4881-91B9-3D6991BD2E91}"/>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작성·조사 초안</a:t>
            </a:r>
          </a:p>
        </p:txBody>
      </p:sp>
      <p:sp>
        <p:nvSpPr>
          <p:cNvPr id="46" name="">
            <a:extLst xmlns:a="http://schemas.openxmlformats.org/drawingml/2006/main">
              <a:ext uri="{FF2B5EF4-FFF2-40B4-BE49-F238E27FC236}">
                <a16:creationId xmlns:a16="http://schemas.microsoft.com/office/drawing/2014/main" id="{0B5A572B-229B-4324-921B-3BDBB52F8F3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651593929"/>
      </p:ext>
    </p:extLst>
  </p:cSld>
</p:sld>
</file>

<file path=ppt/slides/slide1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26A0EB4-0C8F-44FB-A1C7-4BF7264365C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논리 인터페이스·복구 설계</a:t>
            </a:r>
          </a:p>
        </p:txBody>
      </p:sp>
      <p:sp>
        <p:nvSpPr>
          <p:cNvPr id="2" name="">
            <a:extLst xmlns:a="http://schemas.openxmlformats.org/drawingml/2006/main">
              <a:ext uri="{FF2B5EF4-FFF2-40B4-BE49-F238E27FC236}">
                <a16:creationId xmlns:a16="http://schemas.microsoft.com/office/drawing/2014/main" id="{658E9FAD-211A-4CBB-9110-D8F7417282A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데이터와 예외 처리</a:t>
            </a:r>
          </a:p>
        </p:txBody>
      </p:sp>
      <p:sp>
        <p:nvSpPr>
          <p:cNvPr id="3" name="">
            <a:extLst xmlns:a="http://schemas.openxmlformats.org/drawingml/2006/main">
              <a:ext uri="{FF2B5EF4-FFF2-40B4-BE49-F238E27FC236}">
                <a16:creationId xmlns:a16="http://schemas.microsoft.com/office/drawing/2014/main" id="{48F2F944-8EEF-43C5-9F9E-FF1D6E09A82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697FE59-9A63-413C-961D-29A45A8CD22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D830144-67B1-434E-92FD-63B9F0DDDD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112</a:t>
            </a:r>
          </a:p>
        </p:txBody>
      </p:sp>
      <p:sp>
        <p:nvSpPr>
          <p:cNvPr id="6" name="">
            <a:extLst xmlns:a="http://schemas.openxmlformats.org/drawingml/2006/main">
              <a:ext uri="{FF2B5EF4-FFF2-40B4-BE49-F238E27FC236}">
                <a16:creationId xmlns:a16="http://schemas.microsoft.com/office/drawing/2014/main" id="{E8455E0A-74FA-416F-BF2D-83FB950AEF2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1C95E99-456A-4FB2-A5D9-1AE4566A3E8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ED70451-EE21-4E35-8838-776610224F9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83EF05C3-5A3E-4055-B287-6767B718E9F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문맥</a:t>
            </a:r>
          </a:p>
        </p:txBody>
      </p:sp>
      <p:sp>
        <p:nvSpPr>
          <p:cNvPr id="10" name="">
            <a:extLst xmlns:a="http://schemas.openxmlformats.org/drawingml/2006/main">
              <a:ext uri="{FF2B5EF4-FFF2-40B4-BE49-F238E27FC236}">
                <a16:creationId xmlns:a16="http://schemas.microsoft.com/office/drawing/2014/main" id="{44FFE37F-2287-4481-9DAD-08562B44A47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D2387B-3CE5-4472-9B41-28E1565FE41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FA029A92-FA46-41B0-A130-A82509485B0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0E9D7802-1150-4BDA-9B02-E04B54F41A4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E5DBFA8-96A6-4E9C-A024-549F066B764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E2B6279E-34E4-4998-9F81-7FF625A568F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정부 기기·사용자 문맥·업무 입력 구분</a:t>
            </a:r>
          </a:p>
        </p:txBody>
      </p:sp>
      <p:sp>
        <p:nvSpPr>
          <p:cNvPr id="16" name="">
            <a:extLst xmlns:a="http://schemas.openxmlformats.org/drawingml/2006/main">
              <a:ext uri="{FF2B5EF4-FFF2-40B4-BE49-F238E27FC236}">
                <a16:creationId xmlns:a16="http://schemas.microsoft.com/office/drawing/2014/main" id="{040BA78A-99FD-48BD-A904-1DBD86AFC7B1}"/>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E8FD263-3596-4C5D-A2B9-6CBD9E41232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637B756F-D59E-4329-9CFC-01647711FD6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입력 정책·답변 품질·서비스 실패 대응 기록</a:t>
            </a:r>
          </a:p>
        </p:txBody>
      </p:sp>
      <p:sp>
        <p:nvSpPr>
          <p:cNvPr id="19" name="">
            <a:extLst xmlns:a="http://schemas.openxmlformats.org/drawingml/2006/main">
              <a:ext uri="{FF2B5EF4-FFF2-40B4-BE49-F238E27FC236}">
                <a16:creationId xmlns:a16="http://schemas.microsoft.com/office/drawing/2014/main" id="{D13D4CE4-06DB-42EA-A4B0-000DA439C52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2325397-7193-40F6-B0DE-0511EC21876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D926BEFD-6B28-46E9-8B8C-DA502357B10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도구 입력</a:t>
            </a:r>
          </a:p>
        </p:txBody>
      </p:sp>
      <p:sp>
        <p:nvSpPr>
          <p:cNvPr id="22" name="">
            <a:extLst xmlns:a="http://schemas.openxmlformats.org/drawingml/2006/main">
              <a:ext uri="{FF2B5EF4-FFF2-40B4-BE49-F238E27FC236}">
                <a16:creationId xmlns:a16="http://schemas.microsoft.com/office/drawing/2014/main" id="{67D60480-3AFE-491D-A263-AA165A0D1C8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C67CACB-F459-4C9E-B902-97DF2421B95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9E300C5D-264A-4A41-8EF8-2FCD895F7CD6}"/>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작성·조사 초안</a:t>
            </a:r>
          </a:p>
        </p:txBody>
      </p:sp>
      <p:sp>
        <p:nvSpPr>
          <p:cNvPr id="25" name="">
            <a:extLst xmlns:a="http://schemas.openxmlformats.org/drawingml/2006/main">
              <a:ext uri="{FF2B5EF4-FFF2-40B4-BE49-F238E27FC236}">
                <a16:creationId xmlns:a16="http://schemas.microsoft.com/office/drawing/2014/main" id="{20650F53-5345-4795-862B-3D707624D01E}"/>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4D80585-FFBE-430A-8177-C96C0D6C6CC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금지 입력·근거 없는 질문·장시간 응답</a:t>
            </a:r>
          </a:p>
        </p:txBody>
      </p:sp>
      <p:sp>
        <p:nvSpPr>
          <p:cNvPr id="27" name="">
            <a:extLst xmlns:a="http://schemas.openxmlformats.org/drawingml/2006/main">
              <a:ext uri="{FF2B5EF4-FFF2-40B4-BE49-F238E27FC236}">
                <a16:creationId xmlns:a16="http://schemas.microsoft.com/office/drawing/2014/main" id="{53860956-DF98-46B0-8C94-297932A68423}"/>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0CF6980-F6E9-450E-B709-86A67880FCD0}"/>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공개 범위·근거·내용 대조</a:t>
            </a:r>
          </a:p>
        </p:txBody>
      </p:sp>
      <p:sp>
        <p:nvSpPr>
          <p:cNvPr id="29" name="">
            <a:extLst xmlns:a="http://schemas.openxmlformats.org/drawingml/2006/main">
              <a:ext uri="{FF2B5EF4-FFF2-40B4-BE49-F238E27FC236}">
                <a16:creationId xmlns:a16="http://schemas.microsoft.com/office/drawing/2014/main" id="{17C21F6A-076F-4D0C-B436-AEC0ECF29C9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9D96DB4-FB17-4708-A4F2-DE395F74480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오류·사용성·정책 준수의 운영 점검</a:t>
            </a:r>
          </a:p>
        </p:txBody>
      </p:sp>
      <p:sp>
        <p:nvSpPr>
          <p:cNvPr id="31" name="">
            <a:extLst xmlns:a="http://schemas.openxmlformats.org/drawingml/2006/main">
              <a:ext uri="{FF2B5EF4-FFF2-40B4-BE49-F238E27FC236}">
                <a16:creationId xmlns:a16="http://schemas.microsoft.com/office/drawing/2014/main" id="{135248C4-CD78-48C9-AC54-C4FE7825C4C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07C3D77-1EFE-4165-85BC-BCAA14AFE70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입력 정책·답변 품질·서비스 실패 대응 기록</a:t>
            </a:r>
          </a:p>
        </p:txBody>
      </p:sp>
    </p:spTree>
    <p:extLst>
      <p:ext uri="{BB962C8B-B14F-4D97-AF65-F5344CB8AC3E}">
        <p14:creationId xmlns:p14="http://schemas.microsoft.com/office/powerpoint/2010/main" val="1011223198"/>
      </p:ext>
    </p:extLst>
  </p:cSld>
</p:sld>
</file>

<file path=ppt/slides/slide1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273EDAB-9A61-4246-9ACE-2681CF53531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PF-A09 / CCK 비교·재현 시험 설계</a:t>
            </a:r>
          </a:p>
        </p:txBody>
      </p:sp>
      <p:sp>
        <p:nvSpPr>
          <p:cNvPr id="2" name="">
            <a:extLst xmlns:a="http://schemas.openxmlformats.org/drawingml/2006/main">
              <a:ext uri="{FF2B5EF4-FFF2-40B4-BE49-F238E27FC236}">
                <a16:creationId xmlns:a16="http://schemas.microsoft.com/office/drawing/2014/main" id="{4FD8E1A8-55B8-4862-896D-8B5B062465B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Pair · 벤치마킹</a:t>
            </a:r>
          </a:p>
        </p:txBody>
      </p:sp>
      <p:sp>
        <p:nvSpPr>
          <p:cNvPr id="3" name="">
            <a:extLst xmlns:a="http://schemas.openxmlformats.org/drawingml/2006/main">
              <a:ext uri="{FF2B5EF4-FFF2-40B4-BE49-F238E27FC236}">
                <a16:creationId xmlns:a16="http://schemas.microsoft.com/office/drawing/2014/main" id="{6BEFBFD9-AA85-4FF3-A6C2-F6695C605D2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4E14F56-27C4-4730-8CB2-3B612790D92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E100AD5-CB35-4482-B172-DB5D3FC3F05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113</a:t>
            </a:r>
          </a:p>
        </p:txBody>
      </p:sp>
      <p:sp>
        <p:nvSpPr>
          <p:cNvPr id="6" name="">
            <a:extLst xmlns:a="http://schemas.openxmlformats.org/drawingml/2006/main">
              <a:ext uri="{FF2B5EF4-FFF2-40B4-BE49-F238E27FC236}">
                <a16:creationId xmlns:a16="http://schemas.microsoft.com/office/drawing/2014/main" id="{77F8C473-DA37-4BF5-81BE-BF1B2DAD5BC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6EECE13C-7B26-45DB-BCF0-EE2680D31B3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작성·조사 도구 접근</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공무원의 결과 검토</a:t>
            </a:r>
          </a:p>
        </p:txBody>
      </p:sp>
      <p:sp>
        <p:nvSpPr>
          <p:cNvPr id="8" name="">
            <a:extLst xmlns:a="http://schemas.openxmlformats.org/drawingml/2006/main">
              <a:ext uri="{FF2B5EF4-FFF2-40B4-BE49-F238E27FC236}">
                <a16:creationId xmlns:a16="http://schemas.microsoft.com/office/drawing/2014/main" id="{86341FE3-8F26-4F36-B32D-97E09EBAD88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308F48B-7355-484C-8746-EEF162063819}"/>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범용 도구의 전문 규정 한계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민감 정보 입력·검증 없는 재사용</a:t>
            </a:r>
          </a:p>
        </p:txBody>
      </p:sp>
      <p:sp>
        <p:nvSpPr>
          <p:cNvPr id="10" name="">
            <a:extLst xmlns:a="http://schemas.openxmlformats.org/drawingml/2006/main">
              <a:ext uri="{FF2B5EF4-FFF2-40B4-BE49-F238E27FC236}">
                <a16:creationId xmlns:a16="http://schemas.microsoft.com/office/drawing/2014/main" id="{706FBB43-10EE-4653-974C-A02CAA53E1C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A5AA651-4EF1-46D8-A146-75CCC164B90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범위·근거·내용 대조</a:t>
            </a:r>
          </a:p>
        </p:txBody>
      </p:sp>
      <p:sp>
        <p:nvSpPr>
          <p:cNvPr id="12" name="">
            <a:extLst xmlns:a="http://schemas.openxmlformats.org/drawingml/2006/main">
              <a:ext uri="{FF2B5EF4-FFF2-40B4-BE49-F238E27FC236}">
                <a16:creationId xmlns:a16="http://schemas.microsoft.com/office/drawing/2014/main" id="{BEFDB90B-218A-4133-AA1C-DCEFB5FC0B09}"/>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9EAD38C7-E7CB-4163-B80E-5BD9EA6AFCD6}"/>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정부 업무자료를 허용 범위에서 요약·작성</a:t>
            </a:r>
          </a:p>
        </p:txBody>
      </p:sp>
      <p:sp>
        <p:nvSpPr>
          <p:cNvPr id="14" name="">
            <a:extLst xmlns:a="http://schemas.openxmlformats.org/drawingml/2006/main">
              <a:ext uri="{FF2B5EF4-FFF2-40B4-BE49-F238E27FC236}">
                <a16:creationId xmlns:a16="http://schemas.microsoft.com/office/drawing/2014/main" id="{FCDAAB31-572E-4867-822C-01DEE63598D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6A4AAAE-DCD5-4971-92B7-2300F91515B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금지 입력·근거 없는 질문·장시간 응답</a:t>
            </a:r>
          </a:p>
        </p:txBody>
      </p:sp>
      <p:sp>
        <p:nvSpPr>
          <p:cNvPr id="16" name="">
            <a:extLst xmlns:a="http://schemas.openxmlformats.org/drawingml/2006/main">
              <a:ext uri="{FF2B5EF4-FFF2-40B4-BE49-F238E27FC236}">
                <a16:creationId xmlns:a16="http://schemas.microsoft.com/office/drawing/2014/main" id="{686642AB-7D10-47CB-B84F-CED1EBF3628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BBA77B2-9D8B-46E3-94CC-1C65383F77FE}"/>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입력 정책·답변 품질·서비스 실패 대응 기록</a:t>
            </a:r>
          </a:p>
        </p:txBody>
      </p:sp>
    </p:spTree>
    <p:extLst>
      <p:ext uri="{BB962C8B-B14F-4D97-AF65-F5344CB8AC3E}">
        <p14:creationId xmlns:p14="http://schemas.microsoft.com/office/powerpoint/2010/main" val="1515518848"/>
      </p:ext>
    </p:extLst>
  </p:cSld>
</p:sld>
</file>

<file path=ppt/slides/slide1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6291D0D-D77C-49CE-A0DC-CA36FF21D1C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공통 API 운영 / 해외</a:t>
            </a:r>
          </a:p>
        </p:txBody>
      </p:sp>
      <p:sp>
        <p:nvSpPr>
          <p:cNvPr id="2" name="">
            <a:extLst xmlns:a="http://schemas.openxmlformats.org/drawingml/2006/main">
              <a:ext uri="{FF2B5EF4-FFF2-40B4-BE49-F238E27FC236}">
                <a16:creationId xmlns:a16="http://schemas.microsoft.com/office/drawing/2014/main" id="{7775E459-FD79-45BF-BDB9-E32CE5F8FF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a:t>
            </a:r>
          </a:p>
        </p:txBody>
      </p:sp>
      <p:sp>
        <p:nvSpPr>
          <p:cNvPr id="3" name="">
            <a:extLst xmlns:a="http://schemas.openxmlformats.org/drawingml/2006/main">
              <a:ext uri="{FF2B5EF4-FFF2-40B4-BE49-F238E27FC236}">
                <a16:creationId xmlns:a16="http://schemas.microsoft.com/office/drawing/2014/main" id="{C08C8412-9A57-4ABB-99B3-B9DE22CA993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8D0FB8-D1B4-4776-A2CC-3F2C80BE108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E14BFA9-7BB8-4D05-97D5-37CA09E826B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114</a:t>
            </a:r>
          </a:p>
        </p:txBody>
      </p:sp>
      <p:sp>
        <p:nvSpPr>
          <p:cNvPr id="6" name="">
            <a:extLst xmlns:a="http://schemas.openxmlformats.org/drawingml/2006/main">
              <a:ext uri="{FF2B5EF4-FFF2-40B4-BE49-F238E27FC236}">
                <a16:creationId xmlns:a16="http://schemas.microsoft.com/office/drawing/2014/main" id="{98BC5FAC-8C40-4FCA-9769-2D134EE3CA0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601DA09-EC7B-4D9A-97AA-EDF8D58D3AD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프랑스 Albert API는 공공기관이 자체 업무 서비스에 A</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I 기능을 붙일 수 있도록 공통 API를 제공하는 사례. 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성형 챗봇뿐 아니라 문서·음성 처리와 모델 기능을 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앱에서 선택해 활용하는 구조.</a:t>
            </a:r>
          </a:p>
        </p:txBody>
      </p:sp>
      <p:sp>
        <p:nvSpPr>
          <p:cNvPr id="8" name="">
            <a:extLst xmlns:a="http://schemas.openxmlformats.org/drawingml/2006/main">
              <a:ext uri="{FF2B5EF4-FFF2-40B4-BE49-F238E27FC236}">
                <a16:creationId xmlns:a16="http://schemas.microsoft.com/office/drawing/2014/main" id="{C1248FB2-0A5C-40D6-AE2B-63D7BE9CCFE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0B17A10-7782-425C-B592-74F7A38E0960}"/>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API 명세의 Bearer 인증, 모델 조회, OCR, 음성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전사, 사용량 관측 기능을 기준으로 요청·변환·추론·결과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반환 계층을 구성. 업무 서비스는 인증·입력 제약·오류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처리·출력 활용을 담당하고 공통 API는 호출 가능한 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능을 제공하는 책임 분리.</a:t>
            </a:r>
          </a:p>
        </p:txBody>
      </p:sp>
      <p:sp>
        <p:nvSpPr>
          <p:cNvPr id="10" name="">
            <a:extLst xmlns:a="http://schemas.openxmlformats.org/drawingml/2006/main">
              <a:ext uri="{FF2B5EF4-FFF2-40B4-BE49-F238E27FC236}">
                <a16:creationId xmlns:a16="http://schemas.microsoft.com/office/drawing/2014/main" id="{16FF5C95-80D6-4DF5-B241-9AF5526EA54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7FF57D8-4F17-4E21-AD7E-0E7A4D9FA0E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기능 재사용 단위를 화면보다 API 계약으로 정의하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는 참고. 요청 크기·형식 오류·인증 실패·타임아웃·재시도·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호출에 대한 시험과 부서별 호출 이력·비용·개인정보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처리 기준의 연결 필요.</a:t>
            </a:r>
          </a:p>
        </p:txBody>
      </p:sp>
      <p:sp>
        <p:nvSpPr>
          <p:cNvPr id="12" name="">
            <a:extLst xmlns:a="http://schemas.openxmlformats.org/drawingml/2006/main">
              <a:ext uri="{FF2B5EF4-FFF2-40B4-BE49-F238E27FC236}">
                <a16:creationId xmlns:a16="http://schemas.microsoft.com/office/drawing/2014/main" id="{E19460AF-93A2-4B47-9C91-0DE738445EA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516324D-67EC-497D-8E63-39F4782BF20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API 계약·사용 정책·부서별 사용량·장애 격리</a:t>
            </a:r>
          </a:p>
        </p:txBody>
      </p:sp>
      <p:sp>
        <p:nvSpPr>
          <p:cNvPr id="14" name="">
            <a:extLst xmlns:a="http://schemas.openxmlformats.org/drawingml/2006/main">
              <a:ext uri="{FF2B5EF4-FFF2-40B4-BE49-F238E27FC236}">
                <a16:creationId xmlns:a16="http://schemas.microsoft.com/office/drawing/2014/main" id="{5736CE33-A6F7-48C6-B8A6-5E0DC160291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C566CC2-5E07-4F22-B24C-2CB3E5EE91CC}"/>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공통 기능 계약 시험 / 지연·실패·비용의 업무별 분리</a:t>
            </a:r>
          </a:p>
        </p:txBody>
      </p:sp>
      <p:sp>
        <p:nvSpPr>
          <p:cNvPr id="16" name="">
            <a:extLst xmlns:a="http://schemas.openxmlformats.org/drawingml/2006/main">
              <a:ext uri="{FF2B5EF4-FFF2-40B4-BE49-F238E27FC236}">
                <a16:creationId xmlns:a16="http://schemas.microsoft.com/office/drawing/2014/main" id="{5EF080F0-F448-4E6B-B51B-7F2F7654B44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689D2160-F51D-440F-8252-B2DC871BB84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AF5887D2-0148-4BA4-BFA3-5068B07BBC4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서비스 기능 확인 · 공개 이용 통계와 업무성과의 별도 평가</a:t>
            </a:r>
          </a:p>
        </p:txBody>
      </p:sp>
    </p:spTree>
    <p:extLst>
      <p:ext uri="{BB962C8B-B14F-4D97-AF65-F5344CB8AC3E}">
        <p14:creationId xmlns:p14="http://schemas.microsoft.com/office/powerpoint/2010/main" val="1325043537"/>
      </p:ext>
    </p:extLst>
  </p:cSld>
</p:sld>
</file>

<file path=ppt/slides/slide1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4F2785F5-B663-46D3-A4F0-531DC3393505}"/>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C0088C7-4CB8-43B1-876B-5188066CD9AC}"/>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3E9E0DF9-7155-42F8-A5F2-3FA69BF85A8A}"/>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B3434F9B-E380-4BBD-8E54-01EAC058A356}"/>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7E139C1-5B9C-4C19-93EA-EB641A1CE3D3}"/>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6CDD017-8D29-43FD-B9A9-59F852A11A49}"/>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79B0818-6ABA-48A5-867D-10419EE99603}"/>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CAFEE30-E6A4-4C49-8A95-BB6D5C2553BE}"/>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328ED9E7-C359-4691-A111-1F1F4BF77527}"/>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F4750C63-2822-46A9-93B6-382BF533E01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입력 구조화·확인·업무시스템 처리</a:t>
            </a:r>
          </a:p>
        </p:txBody>
      </p:sp>
      <p:sp>
        <p:nvSpPr>
          <p:cNvPr id="2" name="">
            <a:extLst xmlns:a="http://schemas.openxmlformats.org/drawingml/2006/main">
              <a:ext uri="{FF2B5EF4-FFF2-40B4-BE49-F238E27FC236}">
                <a16:creationId xmlns:a16="http://schemas.microsoft.com/office/drawing/2014/main" id="{EA660520-15CD-41DC-9A07-8E3EC1EBF6F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세부 서비스 구조</a:t>
            </a:r>
          </a:p>
        </p:txBody>
      </p:sp>
      <p:sp>
        <p:nvSpPr>
          <p:cNvPr id="3" name="">
            <a:extLst xmlns:a="http://schemas.openxmlformats.org/drawingml/2006/main">
              <a:ext uri="{FF2B5EF4-FFF2-40B4-BE49-F238E27FC236}">
                <a16:creationId xmlns:a16="http://schemas.microsoft.com/office/drawing/2014/main" id="{53C828E0-D260-4B87-843E-A52BB28BAAD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79DB98-D9D8-4E45-8592-DA0F3DD97CE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A0063D72-3C20-4955-9DA3-98AD661C7C9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115</a:t>
            </a:r>
          </a:p>
        </p:txBody>
      </p:sp>
      <p:sp>
        <p:nvSpPr>
          <p:cNvPr id="6" name="">
            <a:extLst xmlns:a="http://schemas.openxmlformats.org/drawingml/2006/main">
              <a:ext uri="{FF2B5EF4-FFF2-40B4-BE49-F238E27FC236}">
                <a16:creationId xmlns:a16="http://schemas.microsoft.com/office/drawing/2014/main" id="{CB5F2CB9-BA67-47DD-B3ED-5D598E97581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업무 앱 → 공통 API·접근관리 → 모델·검색·문서·음성 → 프로젝트·사용량 관리</a:t>
            </a:r>
          </a:p>
        </p:txBody>
      </p:sp>
      <p:sp>
        <p:nvSpPr>
          <p:cNvPr id="7" name="">
            <a:extLst xmlns:a="http://schemas.openxmlformats.org/drawingml/2006/main">
              <a:ext uri="{FF2B5EF4-FFF2-40B4-BE49-F238E27FC236}">
                <a16:creationId xmlns:a16="http://schemas.microsoft.com/office/drawing/2014/main" id="{639CA155-ECB1-4A4B-B2AB-CC89FA61FBC8}"/>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F5F2EE9-99CE-4E8F-93B7-B81960D264B6}"/>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33DB8112-B0A5-478C-8DDF-5142CDFEEB2B}"/>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앱 API</a:t>
            </a:r>
          </a:p>
        </p:txBody>
      </p:sp>
      <p:sp>
        <p:nvSpPr>
          <p:cNvPr id="10" name="">
            <a:extLst xmlns:a="http://schemas.openxmlformats.org/drawingml/2006/main">
              <a:ext uri="{FF2B5EF4-FFF2-40B4-BE49-F238E27FC236}">
                <a16:creationId xmlns:a16="http://schemas.microsoft.com/office/drawing/2014/main" id="{13E83872-9056-4E46-BE20-9D363848A66A}"/>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71DFB2F-50F8-45EA-A25F-E8E3CDA39E39}"/>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53C94B1B-AB2B-472D-A8C2-66E876E3A092}"/>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Bearer 인증</a:t>
            </a:r>
          </a:p>
        </p:txBody>
      </p:sp>
      <p:sp>
        <p:nvSpPr>
          <p:cNvPr id="13" name="">
            <a:extLst xmlns:a="http://schemas.openxmlformats.org/drawingml/2006/main">
              <a:ext uri="{FF2B5EF4-FFF2-40B4-BE49-F238E27FC236}">
                <a16:creationId xmlns:a16="http://schemas.microsoft.com/office/drawing/2014/main" id="{BC3E54C4-4AC5-4294-942F-23562CDF81EE}"/>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6E7416A3-B5AB-4725-8651-42DCC41FD11D}"/>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77D553F6-DC1C-4EC5-BB51-B944DAF553AB}"/>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검색·OCR·전사</a:t>
            </a:r>
          </a:p>
        </p:txBody>
      </p:sp>
      <p:sp>
        <p:nvSpPr>
          <p:cNvPr id="16" name="">
            <a:extLst xmlns:a="http://schemas.openxmlformats.org/drawingml/2006/main">
              <a:ext uri="{FF2B5EF4-FFF2-40B4-BE49-F238E27FC236}">
                <a16:creationId xmlns:a16="http://schemas.microsoft.com/office/drawing/2014/main" id="{58906143-CA64-4427-9921-90B6E1FCE633}"/>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2FE4F25-15DD-4CCC-BB72-9ACDE87B1E8A}"/>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21754C6B-1B80-4F49-A8F8-5867B6199C11}"/>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응답·오류 검사</a:t>
            </a:r>
          </a:p>
        </p:txBody>
      </p:sp>
      <p:sp>
        <p:nvSpPr>
          <p:cNvPr id="19" name="">
            <a:extLst xmlns:a="http://schemas.openxmlformats.org/drawingml/2006/main">
              <a:ext uri="{FF2B5EF4-FFF2-40B4-BE49-F238E27FC236}">
                <a16:creationId xmlns:a16="http://schemas.microsoft.com/office/drawing/2014/main" id="{C36B31C8-1B8E-421B-9A64-877738AC8113}"/>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03B4CCE-F5C9-4769-9751-C0C94F2BB8A2}"/>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E692BC52-3322-43AE-8F31-F402DA5FD1F2}"/>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앱 후처리</a:t>
            </a:r>
          </a:p>
        </p:txBody>
      </p:sp>
      <p:sp>
        <p:nvSpPr>
          <p:cNvPr id="22" name="">
            <a:extLst xmlns:a="http://schemas.openxmlformats.org/drawingml/2006/main">
              <a:ext uri="{FF2B5EF4-FFF2-40B4-BE49-F238E27FC236}">
                <a16:creationId xmlns:a16="http://schemas.microsoft.com/office/drawing/2014/main" id="{F3DCDD79-D591-42D6-BC6F-D9D927A283A7}"/>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3B2409A-A2F1-4141-BB4C-410A85E14998}"/>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FE918CAD-92D8-4FBF-AEDE-388D2771200B}"/>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구조화 API 결과</a:t>
            </a:r>
          </a:p>
        </p:txBody>
      </p:sp>
      <p:sp>
        <p:nvSpPr>
          <p:cNvPr id="25" name="">
            <a:extLst xmlns:a="http://schemas.openxmlformats.org/drawingml/2006/main">
              <a:ext uri="{FF2B5EF4-FFF2-40B4-BE49-F238E27FC236}">
                <a16:creationId xmlns:a16="http://schemas.microsoft.com/office/drawing/2014/main" id="{B7E53F8A-65D4-4513-833D-7F583049AA15}"/>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F1A886C-C545-4795-AB06-92DC1F614607}"/>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982DFF8F-4088-47DB-832F-2EB54DA2428E}"/>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문서·음성·질의</a:t>
            </a:r>
          </a:p>
        </p:txBody>
      </p:sp>
      <p:sp>
        <p:nvSpPr>
          <p:cNvPr id="28" name="">
            <a:extLst xmlns:a="http://schemas.openxmlformats.org/drawingml/2006/main">
              <a:ext uri="{FF2B5EF4-FFF2-40B4-BE49-F238E27FC236}">
                <a16:creationId xmlns:a16="http://schemas.microsoft.com/office/drawing/2014/main" id="{922E5FF7-1525-4072-B2FA-92DF4FC3A31E}"/>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B9FF02E-4686-4031-9339-08ED5518AA83}"/>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A6C81D39-8984-47DB-A169-82864BFC2DFD}"/>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모델·기능 선택</a:t>
            </a:r>
          </a:p>
        </p:txBody>
      </p:sp>
      <p:sp>
        <p:nvSpPr>
          <p:cNvPr id="31" name="">
            <a:extLst xmlns:a="http://schemas.openxmlformats.org/drawingml/2006/main">
              <a:ext uri="{FF2B5EF4-FFF2-40B4-BE49-F238E27FC236}">
                <a16:creationId xmlns:a16="http://schemas.microsoft.com/office/drawing/2014/main" id="{1CBD806C-8D70-4376-B4AD-0CB09BD52DA1}"/>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17B51E3-2EC1-4BC4-9401-C95227107EFF}"/>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CAAE5E94-4E1D-4EE7-ACEE-61A737082986}"/>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처리·사용 기록</a:t>
            </a:r>
          </a:p>
        </p:txBody>
      </p:sp>
      <p:sp>
        <p:nvSpPr>
          <p:cNvPr id="34" name="">
            <a:extLst xmlns:a="http://schemas.openxmlformats.org/drawingml/2006/main">
              <a:ext uri="{FF2B5EF4-FFF2-40B4-BE49-F238E27FC236}">
                <a16:creationId xmlns:a16="http://schemas.microsoft.com/office/drawing/2014/main" id="{3AB1A936-20A9-418B-BD85-FE1F67ADA1C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0C722D4-6BD0-4A63-99AC-78F35ECCEDE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403A14A4-CBD9-4BD9-8094-51B261B39A3E}"/>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상태·지표 수집</a:t>
            </a:r>
          </a:p>
        </p:txBody>
      </p:sp>
      <p:sp>
        <p:nvSpPr>
          <p:cNvPr id="46" name="">
            <a:extLst xmlns:a="http://schemas.openxmlformats.org/drawingml/2006/main">
              <a:ext uri="{FF2B5EF4-FFF2-40B4-BE49-F238E27FC236}">
                <a16:creationId xmlns:a16="http://schemas.microsoft.com/office/drawing/2014/main" id="{D88912CC-A1FF-4A62-A090-2244892EEFD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353749383"/>
      </p:ext>
    </p:extLst>
  </p:cSld>
</p:sld>
</file>

<file path=ppt/slides/slide1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37077E1-DCD5-43FD-B83F-45038F60D58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논리 인터페이스·복구 설계</a:t>
            </a:r>
          </a:p>
        </p:txBody>
      </p:sp>
      <p:sp>
        <p:nvSpPr>
          <p:cNvPr id="2" name="">
            <a:extLst xmlns:a="http://schemas.openxmlformats.org/drawingml/2006/main">
              <a:ext uri="{FF2B5EF4-FFF2-40B4-BE49-F238E27FC236}">
                <a16:creationId xmlns:a16="http://schemas.microsoft.com/office/drawing/2014/main" id="{CA4BEF95-CB80-4B0B-86DD-B3788D9A04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데이터와 예외 처리</a:t>
            </a:r>
          </a:p>
        </p:txBody>
      </p:sp>
      <p:sp>
        <p:nvSpPr>
          <p:cNvPr id="3" name="">
            <a:extLst xmlns:a="http://schemas.openxmlformats.org/drawingml/2006/main">
              <a:ext uri="{FF2B5EF4-FFF2-40B4-BE49-F238E27FC236}">
                <a16:creationId xmlns:a16="http://schemas.microsoft.com/office/drawing/2014/main" id="{7C7E1A2E-3B95-456B-B52F-E2E73A7569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D19377-8ACB-4E7F-B828-11269936CF3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B89C42A-FBDB-492B-A1B5-7F0DDF5DAD6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116</a:t>
            </a:r>
          </a:p>
        </p:txBody>
      </p:sp>
      <p:sp>
        <p:nvSpPr>
          <p:cNvPr id="6" name="">
            <a:extLst xmlns:a="http://schemas.openxmlformats.org/drawingml/2006/main">
              <a:ext uri="{FF2B5EF4-FFF2-40B4-BE49-F238E27FC236}">
                <a16:creationId xmlns:a16="http://schemas.microsoft.com/office/drawing/2014/main" id="{7492C9BB-E385-4C3F-A12E-75D8FFE7FF1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1BB2444-2EF2-47C1-AFA3-3BE7B386F7A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793C750-A682-4E74-9B80-7CDEAC08A5C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DDBB4518-E962-4B8E-89A5-C3BDD39F52E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앱별 인증과 요청 종류·용량 확인</a:t>
            </a:r>
          </a:p>
        </p:txBody>
      </p:sp>
      <p:sp>
        <p:nvSpPr>
          <p:cNvPr id="10" name="">
            <a:extLst xmlns:a="http://schemas.openxmlformats.org/drawingml/2006/main">
              <a:ext uri="{FF2B5EF4-FFF2-40B4-BE49-F238E27FC236}">
                <a16:creationId xmlns:a16="http://schemas.microsoft.com/office/drawing/2014/main" id="{F3779B0C-3972-4CA4-A9B4-96AAC416715B}"/>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2DCEB3-B8E0-4B09-9BC0-A1A50276DE3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0A9BB698-CEB5-4B6A-9F73-D40A4D768452}"/>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API 요청</a:t>
            </a:r>
          </a:p>
        </p:txBody>
      </p:sp>
      <p:sp>
        <p:nvSpPr>
          <p:cNvPr id="13" name="">
            <a:extLst xmlns:a="http://schemas.openxmlformats.org/drawingml/2006/main">
              <a:ext uri="{FF2B5EF4-FFF2-40B4-BE49-F238E27FC236}">
                <a16:creationId xmlns:a16="http://schemas.microsoft.com/office/drawing/2014/main" id="{D46A3653-57DA-4AE6-B4B1-EF69F38D11B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F6CFD6-53E8-47F1-BFAD-616646FD6FD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B304EE4C-3F29-4DA5-94A0-665C6592203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문서·검색·모델 서비스</a:t>
            </a:r>
          </a:p>
        </p:txBody>
      </p:sp>
      <p:sp>
        <p:nvSpPr>
          <p:cNvPr id="16" name="">
            <a:extLst xmlns:a="http://schemas.openxmlformats.org/drawingml/2006/main">
              <a:ext uri="{FF2B5EF4-FFF2-40B4-BE49-F238E27FC236}">
                <a16:creationId xmlns:a16="http://schemas.microsoft.com/office/drawing/2014/main" id="{0CFC4476-15E4-467F-B579-B6705464157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A192E99-007B-45CB-AD7F-E2757BF219E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293BB143-31E0-44DE-AE80-1296240AFAA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공통 처리 결과</a:t>
            </a:r>
          </a:p>
        </p:txBody>
      </p:sp>
      <p:sp>
        <p:nvSpPr>
          <p:cNvPr id="19" name="">
            <a:extLst xmlns:a="http://schemas.openxmlformats.org/drawingml/2006/main">
              <a:ext uri="{FF2B5EF4-FFF2-40B4-BE49-F238E27FC236}">
                <a16:creationId xmlns:a16="http://schemas.microsoft.com/office/drawing/2014/main" id="{EEE6A1B0-4D1F-472E-8018-681176029F8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5C51DE0-3FEB-4CD8-B0C1-D4FD0DC34E8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0BCEF314-F03F-48C2-9E06-482A4BA4736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사용량·업무 결과</a:t>
            </a:r>
          </a:p>
        </p:txBody>
      </p:sp>
      <p:sp>
        <p:nvSpPr>
          <p:cNvPr id="22" name="">
            <a:extLst xmlns:a="http://schemas.openxmlformats.org/drawingml/2006/main">
              <a:ext uri="{FF2B5EF4-FFF2-40B4-BE49-F238E27FC236}">
                <a16:creationId xmlns:a16="http://schemas.microsoft.com/office/drawing/2014/main" id="{711894F1-269C-4200-8BA4-FD709B45A7C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A45DEB2-3656-4047-A408-57F4DDA617F5}"/>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3DF6DEC2-6DF3-487F-A540-D46197C3A14A}"/>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사용량·업무 결과</a:t>
            </a:r>
          </a:p>
        </p:txBody>
      </p:sp>
      <p:sp>
        <p:nvSpPr>
          <p:cNvPr id="25" name="">
            <a:extLst xmlns:a="http://schemas.openxmlformats.org/drawingml/2006/main">
              <a:ext uri="{FF2B5EF4-FFF2-40B4-BE49-F238E27FC236}">
                <a16:creationId xmlns:a16="http://schemas.microsoft.com/office/drawing/2014/main" id="{226CC6ED-C9C7-4B3F-ACB1-FE8EEFE3D5F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949EDB2-A1D9-4364-9306-66B2E101132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잘못된 파일·과도한 요청·일부 단계 실패</a:t>
            </a:r>
          </a:p>
        </p:txBody>
      </p:sp>
      <p:sp>
        <p:nvSpPr>
          <p:cNvPr id="27" name="">
            <a:extLst xmlns:a="http://schemas.openxmlformats.org/drawingml/2006/main">
              <a:ext uri="{FF2B5EF4-FFF2-40B4-BE49-F238E27FC236}">
                <a16:creationId xmlns:a16="http://schemas.microsoft.com/office/drawing/2014/main" id="{B3740C1D-655E-471E-A115-ECB3BBA8D24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1195410-8BD4-4DFB-A5A9-644BF51F5B2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호출 계약·오류·단가·대체 경로</a:t>
            </a:r>
          </a:p>
        </p:txBody>
      </p:sp>
      <p:sp>
        <p:nvSpPr>
          <p:cNvPr id="29" name="">
            <a:extLst xmlns:a="http://schemas.openxmlformats.org/drawingml/2006/main">
              <a:ext uri="{FF2B5EF4-FFF2-40B4-BE49-F238E27FC236}">
                <a16:creationId xmlns:a16="http://schemas.microsoft.com/office/drawing/2014/main" id="{DD91C2F2-819D-443E-B23A-864AC1A855B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9030A0C-DCA2-46B5-8097-A33BB2B87E52}"/>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호출 실패·처리시간·사용량·품질 관측</a:t>
            </a:r>
          </a:p>
        </p:txBody>
      </p:sp>
      <p:sp>
        <p:nvSpPr>
          <p:cNvPr id="31" name="">
            <a:extLst xmlns:a="http://schemas.openxmlformats.org/drawingml/2006/main">
              <a:ext uri="{FF2B5EF4-FFF2-40B4-BE49-F238E27FC236}">
                <a16:creationId xmlns:a16="http://schemas.microsoft.com/office/drawing/2014/main" id="{70557362-A6D0-4935-A895-7F6EA571659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FC70F33-7788-4761-BC75-1B41B57B30D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요청 ID별 API 입력·결과·오류·재시도 대사</a:t>
            </a:r>
          </a:p>
        </p:txBody>
      </p:sp>
    </p:spTree>
    <p:extLst>
      <p:ext uri="{BB962C8B-B14F-4D97-AF65-F5344CB8AC3E}">
        <p14:creationId xmlns:p14="http://schemas.microsoft.com/office/powerpoint/2010/main" val="1841290215"/>
      </p:ext>
    </p:extLst>
  </p:cSld>
</p:sld>
</file>

<file path=ppt/slides/slide1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C5201FF-50BA-43A0-BADC-ADFBE547E60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PF06 / CCK 비교·재현 시험 설계</a:t>
            </a:r>
          </a:p>
        </p:txBody>
      </p:sp>
      <p:sp>
        <p:nvSpPr>
          <p:cNvPr id="2" name="">
            <a:extLst xmlns:a="http://schemas.openxmlformats.org/drawingml/2006/main">
              <a:ext uri="{FF2B5EF4-FFF2-40B4-BE49-F238E27FC236}">
                <a16:creationId xmlns:a16="http://schemas.microsoft.com/office/drawing/2014/main" id="{A8558B2F-2448-4C6B-B6AD-ACF649DD92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프랑스 Albert API · 벤치마킹</a:t>
            </a:r>
          </a:p>
        </p:txBody>
      </p:sp>
      <p:sp>
        <p:nvSpPr>
          <p:cNvPr id="3" name="">
            <a:extLst xmlns:a="http://schemas.openxmlformats.org/drawingml/2006/main">
              <a:ext uri="{FF2B5EF4-FFF2-40B4-BE49-F238E27FC236}">
                <a16:creationId xmlns:a16="http://schemas.microsoft.com/office/drawing/2014/main" id="{5E7AB520-CC65-47B2-B32C-B30B44941B3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D9D967-F576-4660-B305-1EDD47FB5EC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BDFDE01-C8BE-4C7E-BD79-456E180CC83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117</a:t>
            </a:r>
          </a:p>
        </p:txBody>
      </p:sp>
      <p:sp>
        <p:nvSpPr>
          <p:cNvPr id="6" name="">
            <a:extLst xmlns:a="http://schemas.openxmlformats.org/drawingml/2006/main">
              <a:ext uri="{FF2B5EF4-FFF2-40B4-BE49-F238E27FC236}">
                <a16:creationId xmlns:a16="http://schemas.microsoft.com/office/drawing/2014/main" id="{E88A2F27-BF16-4EEB-9B83-F31EBB63128D}"/>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7313F960-FEF4-462F-823C-2C22FED1D6D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모델·검색·문서·음성 기능의 API화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프로젝트별 사용량 관리</a:t>
            </a:r>
          </a:p>
        </p:txBody>
      </p:sp>
      <p:sp>
        <p:nvSpPr>
          <p:cNvPr id="8" name="">
            <a:extLst xmlns:a="http://schemas.openxmlformats.org/drawingml/2006/main">
              <a:ext uri="{FF2B5EF4-FFF2-40B4-BE49-F238E27FC236}">
                <a16:creationId xmlns:a16="http://schemas.microsoft.com/office/drawing/2014/main" id="{8F69A901-4FC2-430F-95F6-4617BE7CB77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C36648D-033C-4DA1-94EB-1EECFEF346A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API 의존·장애 영향</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기관별 정책을 공통 기능으로 대체</a:t>
            </a:r>
          </a:p>
        </p:txBody>
      </p:sp>
      <p:sp>
        <p:nvSpPr>
          <p:cNvPr id="10" name="">
            <a:extLst xmlns:a="http://schemas.openxmlformats.org/drawingml/2006/main">
              <a:ext uri="{FF2B5EF4-FFF2-40B4-BE49-F238E27FC236}">
                <a16:creationId xmlns:a16="http://schemas.microsoft.com/office/drawing/2014/main" id="{F9DAA43A-CDBB-4230-B687-9E6AFD2F8E6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BAD412C-3F79-4DAA-A10F-87CBDE37B18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호출 계약·오류·단가·대체 경로</a:t>
            </a:r>
          </a:p>
        </p:txBody>
      </p:sp>
      <p:sp>
        <p:nvSpPr>
          <p:cNvPr id="12" name="">
            <a:extLst xmlns:a="http://schemas.openxmlformats.org/drawingml/2006/main">
              <a:ext uri="{FF2B5EF4-FFF2-40B4-BE49-F238E27FC236}">
                <a16:creationId xmlns:a16="http://schemas.microsoft.com/office/drawing/2014/main" id="{178CE132-2E09-4A29-8AC5-305F3B3E13D0}"/>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E03EB35-DA24-4BB5-8AF3-D30FDD0C78A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앱이 문서 OCR 후 검색·요약 API를 호출</a:t>
            </a:r>
          </a:p>
        </p:txBody>
      </p:sp>
      <p:sp>
        <p:nvSpPr>
          <p:cNvPr id="14" name="">
            <a:extLst xmlns:a="http://schemas.openxmlformats.org/drawingml/2006/main">
              <a:ext uri="{FF2B5EF4-FFF2-40B4-BE49-F238E27FC236}">
                <a16:creationId xmlns:a16="http://schemas.microsoft.com/office/drawing/2014/main" id="{E2F48203-CAC3-4C0C-84DF-83F4C29E7BC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9960F88-2C0F-4068-AFF6-1EF3CF8CA26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파일·과도한 요청·일부 단계 실패</a:t>
            </a:r>
          </a:p>
        </p:txBody>
      </p:sp>
      <p:sp>
        <p:nvSpPr>
          <p:cNvPr id="16" name="">
            <a:extLst xmlns:a="http://schemas.openxmlformats.org/drawingml/2006/main">
              <a:ext uri="{FF2B5EF4-FFF2-40B4-BE49-F238E27FC236}">
                <a16:creationId xmlns:a16="http://schemas.microsoft.com/office/drawing/2014/main" id="{EB3D23C4-842B-4A03-A92C-2E691DC1129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4666FC0-6D2C-461E-ACCC-ED3CB4FB653C}"/>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요청 ID별 API 입력·결과·오류·재시도 대사</a:t>
            </a:r>
          </a:p>
        </p:txBody>
      </p:sp>
    </p:spTree>
    <p:extLst>
      <p:ext uri="{BB962C8B-B14F-4D97-AF65-F5344CB8AC3E}">
        <p14:creationId xmlns:p14="http://schemas.microsoft.com/office/powerpoint/2010/main" val="289641560"/>
      </p:ext>
    </p:extLst>
  </p:cSld>
</p:sld>
</file>

<file path=ppt/slides/slide1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0476A16-40AD-4400-868B-27EA58DDED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다기관 안내 운영 / 해외</a:t>
            </a:r>
          </a:p>
        </p:txBody>
      </p:sp>
      <p:sp>
        <p:nvSpPr>
          <p:cNvPr id="2" name="">
            <a:extLst xmlns:a="http://schemas.openxmlformats.org/drawingml/2006/main">
              <a:ext uri="{FF2B5EF4-FFF2-40B4-BE49-F238E27FC236}">
                <a16:creationId xmlns:a16="http://schemas.microsoft.com/office/drawing/2014/main" id="{97E14CEA-7F8A-4086-A7F9-7F29A4EBCF4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a:t>
            </a:r>
          </a:p>
        </p:txBody>
      </p:sp>
      <p:sp>
        <p:nvSpPr>
          <p:cNvPr id="3" name="">
            <a:extLst xmlns:a="http://schemas.openxmlformats.org/drawingml/2006/main">
              <a:ext uri="{FF2B5EF4-FFF2-40B4-BE49-F238E27FC236}">
                <a16:creationId xmlns:a16="http://schemas.microsoft.com/office/drawing/2014/main" id="{390B1B6D-4F1D-43F2-A093-7A717DC7406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818F98-CA38-47A1-891A-4D1BD26A7C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1D66D2A-3AFD-4113-B198-0B0CED6C0A4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118</a:t>
            </a:r>
          </a:p>
        </p:txBody>
      </p:sp>
      <p:sp>
        <p:nvSpPr>
          <p:cNvPr id="6" name="">
            <a:extLst xmlns:a="http://schemas.openxmlformats.org/drawingml/2006/main">
              <a:ext uri="{FF2B5EF4-FFF2-40B4-BE49-F238E27FC236}">
                <a16:creationId xmlns:a16="http://schemas.microsoft.com/office/drawing/2014/main" id="{D3A13F25-3C3B-40F0-9AFB-E30967B72B9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50A8555-BB26-45F0-8583-B1503EA6B4D0}"/>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에스토니아 Bürokratt의 기관 간 대화형 안내·상담 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계 사례. 질문이 한 기관 안에서 해결되지 않는 경우 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 기관과 상담 경로를 연결하는 서비스 목표.</a:t>
            </a:r>
          </a:p>
        </p:txBody>
      </p:sp>
      <p:sp>
        <p:nvSpPr>
          <p:cNvPr id="8" name="">
            <a:extLst xmlns:a="http://schemas.openxmlformats.org/drawingml/2006/main">
              <a:ext uri="{FF2B5EF4-FFF2-40B4-BE49-F238E27FC236}">
                <a16:creationId xmlns:a16="http://schemas.microsoft.com/office/drawing/2014/main" id="{032EA198-4EC4-43B9-A958-2AF91A28352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44E766C-136C-4CA8-BB77-2EEBDBB9217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Common Knowledge 구성은 수집·정제·파일 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리·스케줄러·내보내기와 Ruuter·Resql·저장소로 구성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된 지식 기반 영역. 수집 설정에서 원시 자료·메타데이터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저장, 텍스트 정제와 처리 상태 관리로 이어지는 흐름이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며 전체 상담 엔진과는 별도 범위.</a:t>
            </a:r>
          </a:p>
        </p:txBody>
      </p:sp>
      <p:sp>
        <p:nvSpPr>
          <p:cNvPr id="10" name="">
            <a:extLst xmlns:a="http://schemas.openxmlformats.org/drawingml/2006/main">
              <a:ext uri="{FF2B5EF4-FFF2-40B4-BE49-F238E27FC236}">
                <a16:creationId xmlns:a16="http://schemas.microsoft.com/office/drawing/2014/main" id="{A78BD0E0-E8CB-42D6-B113-D4861FBEF1E6}"/>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89375C6-21AE-4540-8519-DB8F73954AB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대국민 업무에서는 답변 생성보다 관할 부서 인계와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접수 완료까지의 책임 연결이 중요. 기관 지식 갱신 주기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상담 수신 여부를 관리하고 이관 실패·담당 부서 변경·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접수의 복구 경로를 검수 대상으로 설정.</a:t>
            </a:r>
          </a:p>
        </p:txBody>
      </p:sp>
      <p:sp>
        <p:nvSpPr>
          <p:cNvPr id="12" name="">
            <a:extLst xmlns:a="http://schemas.openxmlformats.org/drawingml/2006/main">
              <a:ext uri="{FF2B5EF4-FFF2-40B4-BE49-F238E27FC236}">
                <a16:creationId xmlns:a16="http://schemas.microsoft.com/office/drawing/2014/main" id="{6902A5E5-2686-4099-ACF5-9581C31E509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4D524ACF-F85B-49AF-9432-F7C67338D0E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관할·복수부서·개인정보 경계 및 인계 수락 상태</a:t>
            </a:r>
          </a:p>
        </p:txBody>
      </p:sp>
      <p:sp>
        <p:nvSpPr>
          <p:cNvPr id="14" name="">
            <a:extLst xmlns:a="http://schemas.openxmlformats.org/drawingml/2006/main">
              <a:ext uri="{FF2B5EF4-FFF2-40B4-BE49-F238E27FC236}">
                <a16:creationId xmlns:a16="http://schemas.microsoft.com/office/drawing/2014/main" id="{6F356A25-C474-4B55-A8FD-ABE3B26104E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350DC4E4-6AEF-443D-A41D-44B6FCCA028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미해결·관할외·복수부서 문의의 상담 전환 완료 검증</a:t>
            </a:r>
          </a:p>
        </p:txBody>
      </p:sp>
      <p:sp>
        <p:nvSpPr>
          <p:cNvPr id="16" name="">
            <a:extLst xmlns:a="http://schemas.openxmlformats.org/drawingml/2006/main">
              <a:ext uri="{FF2B5EF4-FFF2-40B4-BE49-F238E27FC236}">
                <a16:creationId xmlns:a16="http://schemas.microsoft.com/office/drawing/2014/main" id="{E4F0F51F-467A-4888-9961-D34C8A3B96F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F3A9862-7DC0-4C6F-87A8-85116B1BA4A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8C63D799-75A2-4016-9956-0C57DD8E4BC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목록 확인 · 자율 행정 처리나 최신 LLM 스택의 근거와 구분</a:t>
            </a:r>
          </a:p>
        </p:txBody>
      </p:sp>
    </p:spTree>
    <p:extLst>
      <p:ext uri="{BB962C8B-B14F-4D97-AF65-F5344CB8AC3E}">
        <p14:creationId xmlns:p14="http://schemas.microsoft.com/office/powerpoint/2010/main" val="720279723"/>
      </p:ext>
    </p:extLst>
  </p:cSld>
</p:sld>
</file>

<file path=ppt/slides/slide1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523E4F-D899-4682-BCB7-276C5A25627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구성도 렌더 / 공식 Mermaid 렌더</a:t>
            </a:r>
          </a:p>
        </p:txBody>
      </p:sp>
      <p:sp>
        <p:nvSpPr>
          <p:cNvPr id="2" name="">
            <a:extLst xmlns:a="http://schemas.openxmlformats.org/drawingml/2006/main">
              <a:ext uri="{FF2B5EF4-FFF2-40B4-BE49-F238E27FC236}">
                <a16:creationId xmlns:a16="http://schemas.microsoft.com/office/drawing/2014/main" id="{9A3EE66A-A6FF-4365-9693-D7C62FCDBAD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지식 기반 전체 구조</a:t>
            </a:r>
          </a:p>
        </p:txBody>
      </p:sp>
      <p:sp>
        <p:nvSpPr>
          <p:cNvPr id="3" name="">
            <a:extLst xmlns:a="http://schemas.openxmlformats.org/drawingml/2006/main">
              <a:ext uri="{FF2B5EF4-FFF2-40B4-BE49-F238E27FC236}">
                <a16:creationId xmlns:a16="http://schemas.microsoft.com/office/drawing/2014/main" id="{3270E37A-7956-47F7-B50A-07E4857DD8F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9CF4C6-A532-4E1D-BCFB-38053C48F2B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C9C1111-E502-4425-A7D7-06BFA9C1C4A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119</a:t>
            </a:r>
          </a:p>
        </p:txBody>
      </p:sp>
      <p:pic>
        <p:nvPicPr>
          <p:cNvPr id="6" name="">
            <a:extLst xmlns:a="http://schemas.openxmlformats.org/drawingml/2006/main">
              <a:ext uri="{FF2B5EF4-FFF2-40B4-BE49-F238E27FC236}">
                <a16:creationId xmlns:a16="http://schemas.microsoft.com/office/drawing/2014/main" id="{F81BD656-6BB1-4351-8242-445178EDB8A0}"/>
              </a:ext>
            </a:extLst>
          </p:cNvPr>
          <p:cNvPicPr>
            <a:picLocks xmlns:a="http://schemas.openxmlformats.org/drawingml/2006/main" noChangeAspect="1"/>
          </p:cNvPicPr>
          <p:nvPr/>
        </p:nvPicPr>
        <p:blipFill>
          <a:blip xmlns:r="http://schemas.openxmlformats.org/officeDocument/2006/relationships" xmlns:a="http://schemas.openxmlformats.org/drawingml/2006/main" r:embed="Rbf723efbd019406d"/>
          <a:stretch xmlns:a="http://schemas.openxmlformats.org/drawingml/2006/main"/>
        </p:blipFill>
        <p:spPr>
          <a:xfrm xmlns:a="http://schemas.openxmlformats.org/drawingml/2006/main">
            <a:off x="1432424" y="1657350"/>
            <a:ext cx="9327151"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E22D0FF-879D-48DA-9984-E6EF25B89E8C}"/>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Ruuter·Resql·수집/정제/파일처리·PostgreSQL·S3 계층</a:t>
            </a:r>
          </a:p>
        </p:txBody>
      </p:sp>
    </p:spTree>
    <p:extLst>
      <p:ext uri="{BB962C8B-B14F-4D97-AF65-F5344CB8AC3E}">
        <p14:creationId xmlns:p14="http://schemas.microsoft.com/office/powerpoint/2010/main" val="1436419035"/>
      </p:ext>
    </p:extLst>
  </p:cSld>
</p:sld>
</file>

<file path=ppt/slides/slide1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C6C1FD-51FD-40BB-A512-3FB7028C2EF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E0F87495-9A23-450F-A901-ABABD06B3F6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정형 질의 흐름</a:t>
            </a:r>
          </a:p>
        </p:txBody>
      </p:sp>
      <p:sp>
        <p:nvSpPr>
          <p:cNvPr id="3" name="">
            <a:extLst xmlns:a="http://schemas.openxmlformats.org/drawingml/2006/main">
              <a:ext uri="{FF2B5EF4-FFF2-40B4-BE49-F238E27FC236}">
                <a16:creationId xmlns:a16="http://schemas.microsoft.com/office/drawing/2014/main" id="{E117D580-FE87-406F-A907-EAB883BF212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A0216E-2E81-4381-AA18-C14C255AD2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A0B8E20-09EF-4171-A39F-4BFCB2B7E54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120</a:t>
            </a:r>
          </a:p>
        </p:txBody>
      </p:sp>
      <p:pic>
        <p:nvPicPr>
          <p:cNvPr id="6" name="">
            <a:extLst xmlns:a="http://schemas.openxmlformats.org/drawingml/2006/main">
              <a:ext uri="{FF2B5EF4-FFF2-40B4-BE49-F238E27FC236}">
                <a16:creationId xmlns:a16="http://schemas.microsoft.com/office/drawing/2014/main" id="{8CC1047F-DDCE-4E4D-9641-E03C1E23E404}"/>
              </a:ext>
            </a:extLst>
          </p:cNvPr>
          <p:cNvPicPr>
            <a:picLocks xmlns:a="http://schemas.openxmlformats.org/drawingml/2006/main" noChangeAspect="1"/>
          </p:cNvPicPr>
          <p:nvPr/>
        </p:nvPicPr>
        <p:blipFill>
          <a:blip xmlns:r="http://schemas.openxmlformats.org/officeDocument/2006/relationships" xmlns:a="http://schemas.openxmlformats.org/drawingml/2006/main" r:embed="R1406eb1f04e04d7f"/>
          <a:stretch xmlns:a="http://schemas.openxmlformats.org/drawingml/2006/main"/>
        </p:blipFill>
        <p:spPr>
          <a:xfrm xmlns:a="http://schemas.openxmlformats.org/drawingml/2006/main">
            <a:off x="1949232" y="1657350"/>
            <a:ext cx="829353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354BE57-A8E8-4AC1-BB76-8E5891583B08}"/>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Ruuter → Resql의 매개변수 검증·바인딩 → PostgreSQL</a:t>
            </a:r>
          </a:p>
        </p:txBody>
      </p:sp>
    </p:spTree>
    <p:extLst>
      <p:ext uri="{BB962C8B-B14F-4D97-AF65-F5344CB8AC3E}">
        <p14:creationId xmlns:p14="http://schemas.microsoft.com/office/powerpoint/2010/main" val="1277536358"/>
      </p:ext>
    </p:extLst>
  </p:cSld>
</p:sld>
</file>

<file path=ppt/slides/slide1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E75D91-BE53-443A-B094-1A647D82D16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553CF06C-6541-49C5-B187-618B84172CC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공식 콘텐츠 수집 흐름</a:t>
            </a:r>
          </a:p>
        </p:txBody>
      </p:sp>
      <p:sp>
        <p:nvSpPr>
          <p:cNvPr id="3" name="">
            <a:extLst xmlns:a="http://schemas.openxmlformats.org/drawingml/2006/main">
              <a:ext uri="{FF2B5EF4-FFF2-40B4-BE49-F238E27FC236}">
                <a16:creationId xmlns:a16="http://schemas.microsoft.com/office/drawing/2014/main" id="{87868693-3D32-4840-8B78-74AB1FDBC95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F69303E-7E93-42DE-A5B8-DC78F6DA440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B9A491B-A5B2-49A8-B75B-7BFC63D13AC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121</a:t>
            </a:r>
          </a:p>
        </p:txBody>
      </p:sp>
      <p:pic>
        <p:nvPicPr>
          <p:cNvPr id="6" name="">
            <a:extLst xmlns:a="http://schemas.openxmlformats.org/drawingml/2006/main">
              <a:ext uri="{FF2B5EF4-FFF2-40B4-BE49-F238E27FC236}">
                <a16:creationId xmlns:a16="http://schemas.microsoft.com/office/drawing/2014/main" id="{33A04641-EF1B-4B63-893F-116D90D6DA3D}"/>
              </a:ext>
            </a:extLst>
          </p:cNvPr>
          <p:cNvPicPr>
            <a:picLocks xmlns:a="http://schemas.openxmlformats.org/drawingml/2006/main" noChangeAspect="1"/>
          </p:cNvPicPr>
          <p:nvPr/>
        </p:nvPicPr>
        <p:blipFill>
          <a:blip xmlns:r="http://schemas.openxmlformats.org/officeDocument/2006/relationships" xmlns:a="http://schemas.openxmlformats.org/drawingml/2006/main" r:embed="R52d51ced5531411b"/>
          <a:stretch xmlns:a="http://schemas.openxmlformats.org/drawingml/2006/main"/>
        </p:blipFill>
        <p:spPr>
          <a:xfrm xmlns:a="http://schemas.openxmlformats.org/drawingml/2006/main">
            <a:off x="2024433" y="1657350"/>
            <a:ext cx="8143135"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E6BB975-35C7-4EDB-AEF4-4268801B9F42}"/>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출처 설정 → 수집 → 원본 저장·메타데이터 → 정제·상태 갱신</a:t>
            </a:r>
          </a:p>
        </p:txBody>
      </p:sp>
    </p:spTree>
    <p:extLst>
      <p:ext uri="{BB962C8B-B14F-4D97-AF65-F5344CB8AC3E}">
        <p14:creationId xmlns:p14="http://schemas.microsoft.com/office/powerpoint/2010/main" val="10309938"/>
      </p:ext>
    </p:extLst>
  </p:cSld>
</p:sld>
</file>

<file path=ppt/slides/slide1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49EC4A-2D61-496C-BC3B-5ADFE539280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공식 저장소 Mermaid 시퀀스 렌더 / 공식 Mermaid 렌더</a:t>
            </a:r>
          </a:p>
        </p:txBody>
      </p:sp>
      <p:sp>
        <p:nvSpPr>
          <p:cNvPr id="2" name="">
            <a:extLst xmlns:a="http://schemas.openxmlformats.org/drawingml/2006/main">
              <a:ext uri="{FF2B5EF4-FFF2-40B4-BE49-F238E27FC236}">
                <a16:creationId xmlns:a16="http://schemas.microsoft.com/office/drawing/2014/main" id="{857E6562-AB68-4C89-B2B0-08DE08AC679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Bürokratt 파일 업로드 흐름</a:t>
            </a:r>
          </a:p>
        </p:txBody>
      </p:sp>
      <p:sp>
        <p:nvSpPr>
          <p:cNvPr id="3" name="">
            <a:extLst xmlns:a="http://schemas.openxmlformats.org/drawingml/2006/main">
              <a:ext uri="{FF2B5EF4-FFF2-40B4-BE49-F238E27FC236}">
                <a16:creationId xmlns:a16="http://schemas.microsoft.com/office/drawing/2014/main" id="{1AA9E298-9741-4104-8764-A8C48475AAB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19A241C-569F-4F85-B273-EA0A950F557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1AC2368-4729-4547-A79D-3D6776EE81D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122</a:t>
            </a:r>
          </a:p>
        </p:txBody>
      </p:sp>
      <p:pic>
        <p:nvPicPr>
          <p:cNvPr id="6" name="">
            <a:extLst xmlns:a="http://schemas.openxmlformats.org/drawingml/2006/main">
              <a:ext uri="{FF2B5EF4-FFF2-40B4-BE49-F238E27FC236}">
                <a16:creationId xmlns:a16="http://schemas.microsoft.com/office/drawing/2014/main" id="{F167CD80-4E09-4955-BE9E-10017E22CB7A}"/>
              </a:ext>
            </a:extLst>
          </p:cNvPr>
          <p:cNvPicPr>
            <a:picLocks xmlns:a="http://schemas.openxmlformats.org/drawingml/2006/main" noChangeAspect="1"/>
          </p:cNvPicPr>
          <p:nvPr/>
        </p:nvPicPr>
        <p:blipFill>
          <a:blip xmlns:r="http://schemas.openxmlformats.org/officeDocument/2006/relationships" xmlns:a="http://schemas.openxmlformats.org/drawingml/2006/main" r:embed="Rbe9ab2f1c07847dd"/>
          <a:stretch xmlns:a="http://schemas.openxmlformats.org/drawingml/2006/main"/>
        </p:blipFill>
        <p:spPr>
          <a:xfrm xmlns:a="http://schemas.openxmlformats.org/drawingml/2006/main">
            <a:off x="732092" y="1657350"/>
            <a:ext cx="10727816"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6F58D7B-FE5F-4DC7-A33B-DB603795BF61}"/>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업로드 URL 발급 → 저장 → 파일 처리·메타데이터 등록</a:t>
            </a:r>
          </a:p>
        </p:txBody>
      </p:sp>
    </p:spTree>
    <p:extLst>
      <p:ext uri="{BB962C8B-B14F-4D97-AF65-F5344CB8AC3E}">
        <p14:creationId xmlns:p14="http://schemas.microsoft.com/office/powerpoint/2010/main" val="820817400"/>
      </p:ext>
    </p:extLst>
  </p:cSld>
</p:sld>
</file>

<file path=ppt/slides/slide1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D755488-9C6E-4D36-ACB2-FA362E613418}"/>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1356CDA1-F1FE-4DD0-88E5-D16CF366CEDA}"/>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53C0EE1-8D94-4633-864C-322198ADA512}"/>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C4B18CA1-0019-4D1F-A88A-15ED1169C8F2}"/>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8C630412-259B-4C38-A05E-1E7A423CCF45}"/>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777616D7-3126-4FF5-882C-07A8ABA270A0}"/>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1242A0F-53B4-4577-A874-802557973DBD}"/>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60A2FB7-6B6E-4008-8648-A0D58F142D3A}"/>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B4A43643-5EF5-4EDE-A4F3-845679406484}"/>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A64922DB-7270-47DA-BB76-B5844B6241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입력 구조화·확인·업무시스템 처리</a:t>
            </a:r>
          </a:p>
        </p:txBody>
      </p:sp>
      <p:sp>
        <p:nvSpPr>
          <p:cNvPr id="2" name="">
            <a:extLst xmlns:a="http://schemas.openxmlformats.org/drawingml/2006/main">
              <a:ext uri="{FF2B5EF4-FFF2-40B4-BE49-F238E27FC236}">
                <a16:creationId xmlns:a16="http://schemas.microsoft.com/office/drawing/2014/main" id="{883C8ABC-779E-452A-8C41-438C8EA6B33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세부 서비스 구조</a:t>
            </a:r>
          </a:p>
        </p:txBody>
      </p:sp>
      <p:sp>
        <p:nvSpPr>
          <p:cNvPr id="3" name="">
            <a:extLst xmlns:a="http://schemas.openxmlformats.org/drawingml/2006/main">
              <a:ext uri="{FF2B5EF4-FFF2-40B4-BE49-F238E27FC236}">
                <a16:creationId xmlns:a16="http://schemas.microsoft.com/office/drawing/2014/main" id="{BA78504B-305B-4899-99AC-5FA3F20F2D4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1FAE29-A5D4-4A96-8E24-6170A450A90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AFB7875-7906-4D82-A071-EE3A0F3DFB5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123</a:t>
            </a:r>
          </a:p>
        </p:txBody>
      </p:sp>
      <p:sp>
        <p:nvSpPr>
          <p:cNvPr id="6" name="">
            <a:extLst xmlns:a="http://schemas.openxmlformats.org/drawingml/2006/main">
              <a:ext uri="{FF2B5EF4-FFF2-40B4-BE49-F238E27FC236}">
                <a16:creationId xmlns:a16="http://schemas.microsoft.com/office/drawing/2014/main" id="{917D061A-6764-43A1-B424-1F909EF28CCC}"/>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자연어 질문 → 기관별 안내 지식 → 공통 대화 서비스 → 해결·상담원 연결</a:t>
            </a:r>
          </a:p>
        </p:txBody>
      </p:sp>
      <p:sp>
        <p:nvSpPr>
          <p:cNvPr id="7" name="">
            <a:extLst xmlns:a="http://schemas.openxmlformats.org/drawingml/2006/main">
              <a:ext uri="{FF2B5EF4-FFF2-40B4-BE49-F238E27FC236}">
                <a16:creationId xmlns:a16="http://schemas.microsoft.com/office/drawing/2014/main" id="{4F6F80A2-476F-4990-ADDF-B0EA03A5864A}"/>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E0AD285-547F-4696-9DAE-0CD3E20E1810}"/>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202CE4AD-A411-45EB-A0E9-1627FFF1BFFE}"/>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국민 대화 접점</a:t>
            </a:r>
          </a:p>
        </p:txBody>
      </p:sp>
      <p:sp>
        <p:nvSpPr>
          <p:cNvPr id="10" name="">
            <a:extLst xmlns:a="http://schemas.openxmlformats.org/drawingml/2006/main">
              <a:ext uri="{FF2B5EF4-FFF2-40B4-BE49-F238E27FC236}">
                <a16:creationId xmlns:a16="http://schemas.microsoft.com/office/drawing/2014/main" id="{A6494BEF-3E6C-414F-9CF6-55147BEB64CC}"/>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91153E2-90A5-49A8-B14F-53B35426F5C1}"/>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B76963CE-B8AE-4925-B310-95688139BD4F}"/>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의도·소관기관</a:t>
            </a:r>
          </a:p>
        </p:txBody>
      </p:sp>
      <p:sp>
        <p:nvSpPr>
          <p:cNvPr id="13" name="">
            <a:extLst xmlns:a="http://schemas.openxmlformats.org/drawingml/2006/main">
              <a:ext uri="{FF2B5EF4-FFF2-40B4-BE49-F238E27FC236}">
                <a16:creationId xmlns:a16="http://schemas.microsoft.com/office/drawing/2014/main" id="{131EEFAA-101F-49D9-90CF-2FEC7091EB0E}"/>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159EA4B1-D47B-4412-90AB-5BF953680118}"/>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D420761A-B48B-4E5E-B366-6774B4D1DC48}"/>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Ruuter 대화 라</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우팅</a:t>
            </a:r>
          </a:p>
        </p:txBody>
      </p:sp>
      <p:sp>
        <p:nvSpPr>
          <p:cNvPr id="16" name="">
            <a:extLst xmlns:a="http://schemas.openxmlformats.org/drawingml/2006/main">
              <a:ext uri="{FF2B5EF4-FFF2-40B4-BE49-F238E27FC236}">
                <a16:creationId xmlns:a16="http://schemas.microsoft.com/office/drawing/2014/main" id="{6A60ADDE-DB21-4A2F-9608-3CC140BEB50D}"/>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B4E3382-02C7-4C42-8F58-8FC8BFD97DE6}"/>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AC3E2E87-A7AA-4E4C-9EE6-2C840E05BF9D}"/>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미해결·소관 검사</a:t>
            </a:r>
          </a:p>
        </p:txBody>
      </p:sp>
      <p:sp>
        <p:nvSpPr>
          <p:cNvPr id="19" name="">
            <a:extLst xmlns:a="http://schemas.openxmlformats.org/drawingml/2006/main">
              <a:ext uri="{FF2B5EF4-FFF2-40B4-BE49-F238E27FC236}">
                <a16:creationId xmlns:a16="http://schemas.microsoft.com/office/drawing/2014/main" id="{AAE49AF3-2B2C-4F8D-BC3C-555EAA7C5D64}"/>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4F60CB3-FFE1-4BB6-BE7E-454BB5E797E8}"/>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11818B13-67E3-49EC-B88F-79AD3B7440DC}"/>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상담원 확인</a:t>
            </a:r>
          </a:p>
        </p:txBody>
      </p:sp>
      <p:sp>
        <p:nvSpPr>
          <p:cNvPr id="22" name="">
            <a:extLst xmlns:a="http://schemas.openxmlformats.org/drawingml/2006/main">
              <a:ext uri="{FF2B5EF4-FFF2-40B4-BE49-F238E27FC236}">
                <a16:creationId xmlns:a16="http://schemas.microsoft.com/office/drawing/2014/main" id="{43FAA727-BFF1-4BFB-9830-7EEED8AEB97C}"/>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C0D6E90-48F6-45F2-9D1A-0DDAE2E1428C}"/>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E06FEA9D-2495-424C-A98E-AC36F38A0CAD}"/>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맥락 포함 인계</a:t>
            </a:r>
          </a:p>
        </p:txBody>
      </p:sp>
      <p:sp>
        <p:nvSpPr>
          <p:cNvPr id="25" name="">
            <a:extLst xmlns:a="http://schemas.openxmlformats.org/drawingml/2006/main">
              <a:ext uri="{FF2B5EF4-FFF2-40B4-BE49-F238E27FC236}">
                <a16:creationId xmlns:a16="http://schemas.microsoft.com/office/drawing/2014/main" id="{ECD4A9FE-1279-424E-AA1D-E4EB875D160B}"/>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4AA7D50-5AEB-4D01-88A3-510BB89FF7BF}"/>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54149C9E-F11D-4697-9080-8A8045B17613}"/>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웹·API</a:t>
            </a:r>
          </a:p>
        </p:txBody>
      </p:sp>
      <p:sp>
        <p:nvSpPr>
          <p:cNvPr id="28" name="">
            <a:extLst xmlns:a="http://schemas.openxmlformats.org/drawingml/2006/main">
              <a:ext uri="{FF2B5EF4-FFF2-40B4-BE49-F238E27FC236}">
                <a16:creationId xmlns:a16="http://schemas.microsoft.com/office/drawing/2014/main" id="{9EAD3E81-4BA2-4F3F-9CA1-AFCE6D7FB099}"/>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F2608EE-7F6E-48A6-9A05-B1FC0D6B29BD}"/>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5FE761E2-C170-470C-AF20-1B8EAC84AB21}"/>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Resql·지식 조회</a:t>
            </a:r>
          </a:p>
        </p:txBody>
      </p:sp>
      <p:sp>
        <p:nvSpPr>
          <p:cNvPr id="31" name="">
            <a:extLst xmlns:a="http://schemas.openxmlformats.org/drawingml/2006/main">
              <a:ext uri="{FF2B5EF4-FFF2-40B4-BE49-F238E27FC236}">
                <a16:creationId xmlns:a16="http://schemas.microsoft.com/office/drawing/2014/main" id="{28FD86E5-9A36-4A80-9723-2BC5EE279812}"/>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0B75AF21-C680-497A-9FCF-B6DD60D12F9D}"/>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D4B5B2D-6103-4E2E-A74F-6FFC025FC8EA}"/>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PostgreSQL·S3 이</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력</a:t>
            </a:r>
          </a:p>
        </p:txBody>
      </p:sp>
      <p:sp>
        <p:nvSpPr>
          <p:cNvPr id="34" name="">
            <a:extLst xmlns:a="http://schemas.openxmlformats.org/drawingml/2006/main">
              <a:ext uri="{FF2B5EF4-FFF2-40B4-BE49-F238E27FC236}">
                <a16:creationId xmlns:a16="http://schemas.microsoft.com/office/drawing/2014/main" id="{1EA02C33-E210-4ECD-B8E2-02F35B9EAFA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D14E92D8-27B8-4505-8B22-39A255EEF18B}"/>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A9194FA7-9F44-433E-B7E7-075B510F921D}"/>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수신·해결 추적</a:t>
            </a:r>
          </a:p>
        </p:txBody>
      </p:sp>
      <p:sp>
        <p:nvSpPr>
          <p:cNvPr id="46" name="">
            <a:extLst xmlns:a="http://schemas.openxmlformats.org/drawingml/2006/main">
              <a:ext uri="{FF2B5EF4-FFF2-40B4-BE49-F238E27FC236}">
                <a16:creationId xmlns:a16="http://schemas.microsoft.com/office/drawing/2014/main" id="{4C718A1B-EEC2-439F-8E44-3C91679317B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39635068"/>
      </p:ext>
    </p:extLst>
  </p:cSld>
</p:sld>
</file>

<file path=ppt/slides/slide1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C58EF9A-362A-4CA3-BAAC-B55C883C533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논리 인터페이스·복구 설계</a:t>
            </a:r>
          </a:p>
        </p:txBody>
      </p:sp>
      <p:sp>
        <p:nvSpPr>
          <p:cNvPr id="2" name="">
            <a:extLst xmlns:a="http://schemas.openxmlformats.org/drawingml/2006/main">
              <a:ext uri="{FF2B5EF4-FFF2-40B4-BE49-F238E27FC236}">
                <a16:creationId xmlns:a16="http://schemas.microsoft.com/office/drawing/2014/main" id="{01652B5A-2CC7-4732-88F9-B01DC8F0732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데이터와 예외 처리</a:t>
            </a:r>
          </a:p>
        </p:txBody>
      </p:sp>
      <p:sp>
        <p:nvSpPr>
          <p:cNvPr id="3" name="">
            <a:extLst xmlns:a="http://schemas.openxmlformats.org/drawingml/2006/main">
              <a:ext uri="{FF2B5EF4-FFF2-40B4-BE49-F238E27FC236}">
                <a16:creationId xmlns:a16="http://schemas.microsoft.com/office/drawing/2014/main" id="{36C340E4-0F46-469E-ABC4-4BAB3E9C352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3AB3E8-18A1-4A07-A9CB-B9B90E9EB16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AC06502-AA0F-4BDC-8EAE-84EAB851025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124</a:t>
            </a:r>
          </a:p>
        </p:txBody>
      </p:sp>
      <p:sp>
        <p:nvSpPr>
          <p:cNvPr id="6" name="">
            <a:extLst xmlns:a="http://schemas.openxmlformats.org/drawingml/2006/main">
              <a:ext uri="{FF2B5EF4-FFF2-40B4-BE49-F238E27FC236}">
                <a16:creationId xmlns:a16="http://schemas.microsoft.com/office/drawing/2014/main" id="{0BF4B5C8-0C53-42CD-9A48-9B02F565457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20F58F3-97E1-4E47-9906-1556BADD3ED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DBD20F6-D18C-4893-BB0E-A0025DF045E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86AA9FF0-8E6F-4387-90DF-A8C76F1C490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문의 의도·소관기관·대화 맥락 확인</a:t>
            </a:r>
          </a:p>
        </p:txBody>
      </p:sp>
      <p:sp>
        <p:nvSpPr>
          <p:cNvPr id="10" name="">
            <a:extLst xmlns:a="http://schemas.openxmlformats.org/drawingml/2006/main">
              <a:ext uri="{FF2B5EF4-FFF2-40B4-BE49-F238E27FC236}">
                <a16:creationId xmlns:a16="http://schemas.microsoft.com/office/drawing/2014/main" id="{CBB63D66-4D5C-4293-A51B-08B37F8C9EF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3C28A0-5F89-436C-9528-A208051EA17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23CCED93-459B-48DC-9EC9-461E11ABBBF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자연어 질문</a:t>
            </a:r>
          </a:p>
        </p:txBody>
      </p:sp>
      <p:sp>
        <p:nvSpPr>
          <p:cNvPr id="13" name="">
            <a:extLst xmlns:a="http://schemas.openxmlformats.org/drawingml/2006/main">
              <a:ext uri="{FF2B5EF4-FFF2-40B4-BE49-F238E27FC236}">
                <a16:creationId xmlns:a16="http://schemas.microsoft.com/office/drawing/2014/main" id="{1D6889F3-36ED-4927-86F4-D08F2B7BFA2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396C37-59CC-40AA-99FF-5BF091B5B6B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75E9B0F0-CBA7-44A5-B66B-3C16CA23A80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기관 안내 지식</a:t>
            </a:r>
          </a:p>
        </p:txBody>
      </p:sp>
      <p:sp>
        <p:nvSpPr>
          <p:cNvPr id="16" name="">
            <a:extLst xmlns:a="http://schemas.openxmlformats.org/drawingml/2006/main">
              <a:ext uri="{FF2B5EF4-FFF2-40B4-BE49-F238E27FC236}">
                <a16:creationId xmlns:a16="http://schemas.microsoft.com/office/drawing/2014/main" id="{2A9F6677-00B1-4317-B08D-1C0F7C53C47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D1289DF-643F-410C-B2D0-B7FA44A863C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8793B0B0-C4F2-438B-B39D-798625FD389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 응답</a:t>
            </a:r>
          </a:p>
        </p:txBody>
      </p:sp>
      <p:sp>
        <p:nvSpPr>
          <p:cNvPr id="19" name="">
            <a:extLst xmlns:a="http://schemas.openxmlformats.org/drawingml/2006/main">
              <a:ext uri="{FF2B5EF4-FFF2-40B4-BE49-F238E27FC236}">
                <a16:creationId xmlns:a16="http://schemas.microsoft.com/office/drawing/2014/main" id="{9284C208-0987-473C-BC03-66E6E7DDB44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F36A998-32F9-4249-B8DD-315271FBEB7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50318AF0-0847-48C1-9B23-BEF33B60BA77}"/>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인계</a:t>
            </a:r>
          </a:p>
        </p:txBody>
      </p:sp>
      <p:sp>
        <p:nvSpPr>
          <p:cNvPr id="22" name="">
            <a:extLst xmlns:a="http://schemas.openxmlformats.org/drawingml/2006/main">
              <a:ext uri="{FF2B5EF4-FFF2-40B4-BE49-F238E27FC236}">
                <a16:creationId xmlns:a16="http://schemas.microsoft.com/office/drawing/2014/main" id="{7286FA93-3A90-4186-B75C-68B9026D8FB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1863721-B4AB-45E9-9C2E-D0D3C838B5E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EB90FEB0-4BCE-4372-99A2-A69B55258D5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인계</a:t>
            </a:r>
          </a:p>
        </p:txBody>
      </p:sp>
      <p:sp>
        <p:nvSpPr>
          <p:cNvPr id="25" name="">
            <a:extLst xmlns:a="http://schemas.openxmlformats.org/drawingml/2006/main">
              <a:ext uri="{FF2B5EF4-FFF2-40B4-BE49-F238E27FC236}">
                <a16:creationId xmlns:a16="http://schemas.microsoft.com/office/drawing/2014/main" id="{4EF7C258-DBCA-4C6E-B818-8AAF632AA73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58A94BA-FF4A-47B5-9E2C-D6F8803C61C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소관 불명확·상담원 부재·대화 맥락 누락</a:t>
            </a:r>
          </a:p>
        </p:txBody>
      </p:sp>
      <p:sp>
        <p:nvSpPr>
          <p:cNvPr id="27" name="">
            <a:extLst xmlns:a="http://schemas.openxmlformats.org/drawingml/2006/main">
              <a:ext uri="{FF2B5EF4-FFF2-40B4-BE49-F238E27FC236}">
                <a16:creationId xmlns:a16="http://schemas.microsoft.com/office/drawing/2014/main" id="{05A804FD-4294-4E06-BE40-9E0AB014DDD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F3502EB4-BDAA-4F3F-9EF8-3244AEC6B830}"/>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인계 대상·대화 맥락·수신 확인</a:t>
            </a:r>
          </a:p>
        </p:txBody>
      </p:sp>
      <p:sp>
        <p:nvSpPr>
          <p:cNvPr id="29" name="">
            <a:extLst xmlns:a="http://schemas.openxmlformats.org/drawingml/2006/main">
              <a:ext uri="{FF2B5EF4-FFF2-40B4-BE49-F238E27FC236}">
                <a16:creationId xmlns:a16="http://schemas.microsoft.com/office/drawing/2014/main" id="{52F4F90A-21A4-4D4E-9BB1-A08F6B7F5583}"/>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209D959-F8A6-4762-8416-F7F8F24DC762}"/>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이관 수신·미해결 질의·지식 갱신 확인</a:t>
            </a:r>
          </a:p>
        </p:txBody>
      </p:sp>
      <p:sp>
        <p:nvSpPr>
          <p:cNvPr id="31" name="">
            <a:extLst xmlns:a="http://schemas.openxmlformats.org/drawingml/2006/main">
              <a:ext uri="{FF2B5EF4-FFF2-40B4-BE49-F238E27FC236}">
                <a16:creationId xmlns:a16="http://schemas.microsoft.com/office/drawing/2014/main" id="{A416780F-9743-4297-B071-0ED98B5A03B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9C8B887-6948-4D58-9A72-D990C58541D0}"/>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선택·인계 내용·수신·해결 여부 기록</a:t>
            </a:r>
          </a:p>
        </p:txBody>
      </p:sp>
    </p:spTree>
    <p:extLst>
      <p:ext uri="{BB962C8B-B14F-4D97-AF65-F5344CB8AC3E}">
        <p14:creationId xmlns:p14="http://schemas.microsoft.com/office/powerpoint/2010/main" val="1617658044"/>
      </p:ext>
    </p:extLst>
  </p:cSld>
</p:sld>
</file>

<file path=ppt/slides/slide1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C6A1F9-5065-4575-B4C0-3C1FE60A73A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PF07 / CCK 비교·재현 시험 설계</a:t>
            </a:r>
          </a:p>
        </p:txBody>
      </p:sp>
      <p:sp>
        <p:nvSpPr>
          <p:cNvPr id="2" name="">
            <a:extLst xmlns:a="http://schemas.openxmlformats.org/drawingml/2006/main">
              <a:ext uri="{FF2B5EF4-FFF2-40B4-BE49-F238E27FC236}">
                <a16:creationId xmlns:a16="http://schemas.microsoft.com/office/drawing/2014/main" id="{0A83D5DD-8435-4A0A-9A98-2C9F61C656D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에스토니아 Bürokratt · 벤치마킹</a:t>
            </a:r>
          </a:p>
        </p:txBody>
      </p:sp>
      <p:sp>
        <p:nvSpPr>
          <p:cNvPr id="3" name="">
            <a:extLst xmlns:a="http://schemas.openxmlformats.org/drawingml/2006/main">
              <a:ext uri="{FF2B5EF4-FFF2-40B4-BE49-F238E27FC236}">
                <a16:creationId xmlns:a16="http://schemas.microsoft.com/office/drawing/2014/main" id="{14665819-D6CD-44DD-8455-86A38DCABA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0DD06F3-9067-42D2-A1D1-2C4652C2AC8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525095A-9F77-4EDD-B230-FFA970D4D5F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125</a:t>
            </a:r>
          </a:p>
        </p:txBody>
      </p:sp>
      <p:sp>
        <p:nvSpPr>
          <p:cNvPr id="6" name="">
            <a:extLst xmlns:a="http://schemas.openxmlformats.org/drawingml/2006/main">
              <a:ext uri="{FF2B5EF4-FFF2-40B4-BE49-F238E27FC236}">
                <a16:creationId xmlns:a16="http://schemas.microsoft.com/office/drawing/2014/main" id="{2CCA5633-63D1-4296-8018-8A7D4B075CE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B547F9E5-E6B3-4243-AB91-BE17E598399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안내 지식의 공동 기반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해결 불가 시 상담원 연결</a:t>
            </a:r>
          </a:p>
        </p:txBody>
      </p:sp>
      <p:sp>
        <p:nvSpPr>
          <p:cNvPr id="8" name="">
            <a:extLst xmlns:a="http://schemas.openxmlformats.org/drawingml/2006/main">
              <a:ext uri="{FF2B5EF4-FFF2-40B4-BE49-F238E27FC236}">
                <a16:creationId xmlns:a16="http://schemas.microsoft.com/office/drawing/2014/main" id="{7CE59582-A86F-41F5-9879-FB2FE33066E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C8FCB3CE-3C52-478D-AC0C-23315157E2A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간 지식·소관 불일치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안내와 접수·처리 완료의 혼동</a:t>
            </a:r>
          </a:p>
        </p:txBody>
      </p:sp>
      <p:sp>
        <p:nvSpPr>
          <p:cNvPr id="10" name="">
            <a:extLst xmlns:a="http://schemas.openxmlformats.org/drawingml/2006/main">
              <a:ext uri="{FF2B5EF4-FFF2-40B4-BE49-F238E27FC236}">
                <a16:creationId xmlns:a16="http://schemas.microsoft.com/office/drawing/2014/main" id="{BF6063BB-9CA4-4169-846C-8779630FC6E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85487E4-B6FB-484A-AB11-202C7F04480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대상·대화 맥락·수신 확인</a:t>
            </a:r>
          </a:p>
        </p:txBody>
      </p:sp>
      <p:sp>
        <p:nvSpPr>
          <p:cNvPr id="12" name="">
            <a:extLst xmlns:a="http://schemas.openxmlformats.org/drawingml/2006/main">
              <a:ext uri="{FF2B5EF4-FFF2-40B4-BE49-F238E27FC236}">
                <a16:creationId xmlns:a16="http://schemas.microsoft.com/office/drawing/2014/main" id="{4A90672B-5EE0-4FF6-A11D-6B0027E59F5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56BC3B0-A349-45CD-B4DA-9289AC06F87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안내 후 해결이 어려운 문의를 상담원에게 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a:t>
            </a:r>
          </a:p>
        </p:txBody>
      </p:sp>
      <p:sp>
        <p:nvSpPr>
          <p:cNvPr id="14" name="">
            <a:extLst xmlns:a="http://schemas.openxmlformats.org/drawingml/2006/main">
              <a:ext uri="{FF2B5EF4-FFF2-40B4-BE49-F238E27FC236}">
                <a16:creationId xmlns:a16="http://schemas.microsoft.com/office/drawing/2014/main" id="{166F48BF-C1D3-4BD2-93FD-99CD14E0BF65}"/>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BF10CC5-7F8E-4F82-B44A-278A19045DF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소관 불명확·상담원 부재·대화 맥락 누락</a:t>
            </a:r>
          </a:p>
        </p:txBody>
      </p:sp>
      <p:sp>
        <p:nvSpPr>
          <p:cNvPr id="16" name="">
            <a:extLst xmlns:a="http://schemas.openxmlformats.org/drawingml/2006/main">
              <a:ext uri="{FF2B5EF4-FFF2-40B4-BE49-F238E27FC236}">
                <a16:creationId xmlns:a16="http://schemas.microsoft.com/office/drawing/2014/main" id="{18EAAE30-41E8-4A71-B372-16E1DCA3F221}"/>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3C6419C-8F15-4876-8656-DA4F8284534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 선택·인계 내용·수신·해결 여부 기록</a:t>
            </a:r>
          </a:p>
        </p:txBody>
      </p:sp>
    </p:spTree>
    <p:extLst>
      <p:ext uri="{BB962C8B-B14F-4D97-AF65-F5344CB8AC3E}">
        <p14:creationId xmlns:p14="http://schemas.microsoft.com/office/powerpoint/2010/main" val="2041702702"/>
      </p:ext>
    </p:extLst>
  </p:cSld>
</p:sld>
</file>

<file path=ppt/slides/slide1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444800-E2EF-4D83-B6A8-17F7A239C3E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웹·앱 실증 평가 공개(2026-03) / 해외</a:t>
            </a:r>
          </a:p>
        </p:txBody>
      </p:sp>
      <p:sp>
        <p:nvSpPr>
          <p:cNvPr id="2" name="">
            <a:extLst xmlns:a="http://schemas.openxmlformats.org/drawingml/2006/main">
              <a:ext uri="{FF2B5EF4-FFF2-40B4-BE49-F238E27FC236}">
                <a16:creationId xmlns:a16="http://schemas.microsoft.com/office/drawing/2014/main" id="{26629B54-C8A2-4DAE-AF5D-6C655743BD6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a:t>
            </a:r>
          </a:p>
        </p:txBody>
      </p:sp>
      <p:sp>
        <p:nvSpPr>
          <p:cNvPr id="3" name="">
            <a:extLst xmlns:a="http://schemas.openxmlformats.org/drawingml/2006/main">
              <a:ext uri="{FF2B5EF4-FFF2-40B4-BE49-F238E27FC236}">
                <a16:creationId xmlns:a16="http://schemas.microsoft.com/office/drawing/2014/main" id="{19EE74A4-AE06-49E6-BD97-1AE7010EF38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894A04-97B9-4977-A46C-30AF6FBB578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73BE8B5-FB1A-4620-B136-6C6C0BFB09B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126</a:t>
            </a:r>
          </a:p>
        </p:txBody>
      </p:sp>
      <p:sp>
        <p:nvSpPr>
          <p:cNvPr id="6" name="">
            <a:extLst xmlns:a="http://schemas.openxmlformats.org/drawingml/2006/main">
              <a:ext uri="{FF2B5EF4-FFF2-40B4-BE49-F238E27FC236}">
                <a16:creationId xmlns:a16="http://schemas.microsoft.com/office/drawing/2014/main" id="{D01CE8B1-6121-4E0E-8552-923C4D75AED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025C6C1-95D4-4EDB-8B99-6F1B3C21A00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안내 페이지를 이용자가 직접 탐색하는 과정에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연어 질의 접점을 추가한 사례. 질문에 대한 설명과 실제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공공서비스 신청은 별도 단계이며 원문·공식 서비스로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이동이 중요한 완료조건.</a:t>
            </a:r>
          </a:p>
        </p:txBody>
      </p:sp>
      <p:sp>
        <p:nvSpPr>
          <p:cNvPr id="8" name="">
            <a:extLst xmlns:a="http://schemas.openxmlformats.org/drawingml/2006/main">
              <a:ext uri="{FF2B5EF4-FFF2-40B4-BE49-F238E27FC236}">
                <a16:creationId xmlns:a16="http://schemas.microsoft.com/office/drawing/2014/main" id="{B84EA3CC-31F6-4B01-B645-D3B91DD471F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A3F247C-E895-4F01-B651-09623D7BBB7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기술기록의 Rails·Claude/Bedrock·OpenSearc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h·BigQuery를 기준으로 콘텐츠 준비, 질의 검색, 응답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품질 관측을 구분. 2023년 파일럿 설계와 2025</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년 공개 기술기록은 판본이 다른 자료로 취급.</a:t>
            </a:r>
          </a:p>
        </p:txBody>
      </p:sp>
      <p:sp>
        <p:nvSpPr>
          <p:cNvPr id="10" name="">
            <a:extLst xmlns:a="http://schemas.openxmlformats.org/drawingml/2006/main">
              <a:ext uri="{FF2B5EF4-FFF2-40B4-BE49-F238E27FC236}">
                <a16:creationId xmlns:a16="http://schemas.microsoft.com/office/drawing/2014/main" id="{B9E3870A-CDC0-4C81-BBCD-80F75BCD154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BC0B0F7B-78B9-4E29-8800-627B7018E77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TS 메뉴를 없애기보다 질문의 소관·지역·자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격을 정리하고 검증된 메뉴에 연결하는 방식으로 현지화.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 없음·범위 밖 질의·느린 응답·틀린 신청 경로를 별도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과업으로 시험할 필요.</a:t>
            </a:r>
          </a:p>
        </p:txBody>
      </p:sp>
      <p:sp>
        <p:nvSpPr>
          <p:cNvPr id="12" name="">
            <a:extLst xmlns:a="http://schemas.openxmlformats.org/drawingml/2006/main">
              <a:ext uri="{FF2B5EF4-FFF2-40B4-BE49-F238E27FC236}">
                <a16:creationId xmlns:a16="http://schemas.microsoft.com/office/drawing/2014/main" id="{1521BA5D-39C3-4EB3-B0DC-D58748E91F6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C15F45E-1783-4524-B7A7-77D0FF02D37A}"/>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확인·준비서류·공식 메뉴·상담 연결</a:t>
            </a:r>
          </a:p>
        </p:txBody>
      </p:sp>
      <p:sp>
        <p:nvSpPr>
          <p:cNvPr id="14" name="">
            <a:extLst xmlns:a="http://schemas.openxmlformats.org/drawingml/2006/main">
              <a:ext uri="{FF2B5EF4-FFF2-40B4-BE49-F238E27FC236}">
                <a16:creationId xmlns:a16="http://schemas.microsoft.com/office/drawing/2014/main" id="{A3B8A1F4-F943-4843-BFE5-1EBE4DB340E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FDD18EF-334E-45DA-AB2A-A5F7792C4A33}"/>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서비스 도달률·포기율의 기준선·비교 평가</a:t>
            </a:r>
          </a:p>
        </p:txBody>
      </p:sp>
      <p:sp>
        <p:nvSpPr>
          <p:cNvPr id="16" name="">
            <a:extLst xmlns:a="http://schemas.openxmlformats.org/drawingml/2006/main">
              <a:ext uri="{FF2B5EF4-FFF2-40B4-BE49-F238E27FC236}">
                <a16:creationId xmlns:a16="http://schemas.microsoft.com/office/drawing/2014/main" id="{2C91676D-2F84-4ABE-9BA0-A4CAEB58842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D5F43C9-3C83-4069-81D9-36F1D0422E4F}"/>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 도달률·포기율</a:t>
            </a:r>
          </a:p>
        </p:txBody>
      </p:sp>
      <p:sp>
        <p:nvSpPr>
          <p:cNvPr id="18" name="">
            <a:extLst xmlns:a="http://schemas.openxmlformats.org/drawingml/2006/main">
              <a:ext uri="{FF2B5EF4-FFF2-40B4-BE49-F238E27FC236}">
                <a16:creationId xmlns:a16="http://schemas.microsoft.com/office/drawing/2014/main" id="{1E6EA9E4-014B-4ACA-9C9E-9591792CAA85}"/>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2026-03 시험: 모호한 질문은 추가 확인으로 개선, 개인자료 상담 연결 미지원. 범위 내 답변률88%, 평균응답10.7초. 정확도·답변률·앱 설문을 구분.</a:t>
            </a:r>
          </a:p>
        </p:txBody>
      </p:sp>
    </p:spTree>
    <p:extLst>
      <p:ext uri="{BB962C8B-B14F-4D97-AF65-F5344CB8AC3E}">
        <p14:creationId xmlns:p14="http://schemas.microsoft.com/office/powerpoint/2010/main" val="1083952306"/>
      </p:ext>
    </p:extLst>
  </p:cSld>
</p:sld>
</file>

<file path=ppt/slides/slide1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6E0A69-F0CB-4840-95BA-B3380FC8F98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영국 정부 ATRS 공식 C4 아키텍처 / 공식 웹 원본</a:t>
            </a:r>
          </a:p>
        </p:txBody>
      </p:sp>
      <p:sp>
        <p:nvSpPr>
          <p:cNvPr id="2" name="">
            <a:extLst xmlns:a="http://schemas.openxmlformats.org/drawingml/2006/main">
              <a:ext uri="{FF2B5EF4-FFF2-40B4-BE49-F238E27FC236}">
                <a16:creationId xmlns:a16="http://schemas.microsoft.com/office/drawing/2014/main" id="{271B941C-1A0C-4AD6-925A-28066EAE84E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2025년 공개 베타 구성</a:t>
            </a:r>
          </a:p>
        </p:txBody>
      </p:sp>
      <p:sp>
        <p:nvSpPr>
          <p:cNvPr id="3" name="">
            <a:extLst xmlns:a="http://schemas.openxmlformats.org/drawingml/2006/main">
              <a:ext uri="{FF2B5EF4-FFF2-40B4-BE49-F238E27FC236}">
                <a16:creationId xmlns:a16="http://schemas.microsoft.com/office/drawing/2014/main" id="{6E2D5168-1068-48A2-8EC2-72E731B345C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4F19B0B-F25A-43C4-8948-23ABC1A644A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0E40CBB-B93A-4D88-8821-18E09E3E38D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127</a:t>
            </a:r>
          </a:p>
        </p:txBody>
      </p:sp>
      <p:pic>
        <p:nvPicPr>
          <p:cNvPr id="6" name="">
            <a:extLst xmlns:a="http://schemas.openxmlformats.org/drawingml/2006/main">
              <a:ext uri="{FF2B5EF4-FFF2-40B4-BE49-F238E27FC236}">
                <a16:creationId xmlns:a16="http://schemas.microsoft.com/office/drawing/2014/main" id="{0C0F8993-A7EB-439D-9A70-EE51A9F6D373}"/>
              </a:ext>
            </a:extLst>
          </p:cNvPr>
          <p:cNvPicPr>
            <a:picLocks xmlns:a="http://schemas.openxmlformats.org/drawingml/2006/main" noChangeAspect="1"/>
          </p:cNvPicPr>
          <p:nvPr/>
        </p:nvPicPr>
        <p:blipFill>
          <a:blip xmlns:r="http://schemas.openxmlformats.org/officeDocument/2006/relationships" xmlns:a="http://schemas.openxmlformats.org/drawingml/2006/main" r:embed="Rda40d3e0e1764f58"/>
          <a:stretch xmlns:a="http://schemas.openxmlformats.org/drawingml/2006/main"/>
        </p:blipFill>
        <p:spPr>
          <a:xfrm xmlns:a="http://schemas.openxmlformats.org/drawingml/2006/main">
            <a:off x="2379270" y="1657350"/>
            <a:ext cx="74334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6F9FC17-2FC4-4BA4-9092-7E10216872F0}"/>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앱·인증·Rails·Bedrock·OpenSearch·PostgreSQL·BigQuery의 운영 경계</a:t>
            </a:r>
          </a:p>
        </p:txBody>
      </p:sp>
    </p:spTree>
    <p:extLst>
      <p:ext uri="{BB962C8B-B14F-4D97-AF65-F5344CB8AC3E}">
        <p14:creationId xmlns:p14="http://schemas.microsoft.com/office/powerpoint/2010/main" val="2009684892"/>
      </p:ext>
    </p:extLst>
  </p:cSld>
</p:sld>
</file>

<file path=ppt/slides/slide1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BCB5CE-D9C4-4519-9BC5-8664023CEF2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영국 정부 개발문서 초기 설계도 / 공식 웹 원본</a:t>
            </a:r>
          </a:p>
        </p:txBody>
      </p:sp>
      <p:sp>
        <p:nvSpPr>
          <p:cNvPr id="2" name="">
            <a:extLst xmlns:a="http://schemas.openxmlformats.org/drawingml/2006/main">
              <a:ext uri="{FF2B5EF4-FFF2-40B4-BE49-F238E27FC236}">
                <a16:creationId xmlns:a16="http://schemas.microsoft.com/office/drawing/2014/main" id="{0D43B6D7-9698-4BA1-8CEE-F60C1E435BA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초기 파일럿 구성</a:t>
            </a:r>
          </a:p>
        </p:txBody>
      </p:sp>
      <p:sp>
        <p:nvSpPr>
          <p:cNvPr id="3" name="">
            <a:extLst xmlns:a="http://schemas.openxmlformats.org/drawingml/2006/main">
              <a:ext uri="{FF2B5EF4-FFF2-40B4-BE49-F238E27FC236}">
                <a16:creationId xmlns:a16="http://schemas.microsoft.com/office/drawing/2014/main" id="{7777DA1F-20A9-42B6-B4E4-092E811A453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EADD3C-00CE-481F-B45A-57372BF002B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F205B7D-1EAC-43D5-A098-A78556C4A8C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128</a:t>
            </a:r>
          </a:p>
        </p:txBody>
      </p:sp>
      <p:pic>
        <p:nvPicPr>
          <p:cNvPr id="6" name="">
            <a:extLst xmlns:a="http://schemas.openxmlformats.org/drawingml/2006/main">
              <a:ext uri="{FF2B5EF4-FFF2-40B4-BE49-F238E27FC236}">
                <a16:creationId xmlns:a16="http://schemas.microsoft.com/office/drawing/2014/main" id="{8848679A-7218-4BD4-8E10-38F9E0794415}"/>
              </a:ext>
            </a:extLst>
          </p:cNvPr>
          <p:cNvPicPr>
            <a:picLocks xmlns:a="http://schemas.openxmlformats.org/drawingml/2006/main" noChangeAspect="1"/>
          </p:cNvPicPr>
          <p:nvPr/>
        </p:nvPicPr>
        <p:blipFill>
          <a:blip xmlns:r="http://schemas.openxmlformats.org/officeDocument/2006/relationships" xmlns:a="http://schemas.openxmlformats.org/drawingml/2006/main" r:embed="Rb2e2c29725a645d1"/>
          <a:stretch xmlns:a="http://schemas.openxmlformats.org/drawingml/2006/main"/>
        </p:blipFill>
        <p:spPr>
          <a:xfrm xmlns:a="http://schemas.openxmlformats.org/drawingml/2006/main">
            <a:off x="3902427" y="1657350"/>
            <a:ext cx="438714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D9186E4-2F58-4FE3-8E28-622BE005D803}"/>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2023년 파일럿의 Rails·Redis·PostgreSQL·OpenAI·OpenSearch 계획. 2025년 운영 구성과 구분</a:t>
            </a:r>
          </a:p>
        </p:txBody>
      </p:sp>
    </p:spTree>
    <p:extLst>
      <p:ext uri="{BB962C8B-B14F-4D97-AF65-F5344CB8AC3E}">
        <p14:creationId xmlns:p14="http://schemas.microsoft.com/office/powerpoint/2010/main" val="374934081"/>
      </p:ext>
    </p:extLst>
  </p:cSld>
</p:sld>
</file>

<file path=ppt/slides/slide1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9" name="">
            <a:extLst xmlns:a="http://schemas.openxmlformats.org/drawingml/2006/main">
              <a:ext uri="{FF2B5EF4-FFF2-40B4-BE49-F238E27FC236}">
                <a16:creationId xmlns:a16="http://schemas.microsoft.com/office/drawing/2014/main" id="{B75CF8E2-C6A4-46BD-856A-132862787FFB}"/>
              </a:ext>
            </a:extLst>
          </p:cNvPr>
          <p:cNvCxnSpPr>
            <a:stCxn xmlns:a="http://schemas.openxmlformats.org/drawingml/2006/main" id="37" idx="0"/>
            <a:endCxn xmlns:a="http://schemas.openxmlformats.org/drawingml/2006/main" id="19" idx="2"/>
          </p:cNvCxnSpPr>
          <p:nvPr/>
        </p:nvCxnSpPr>
        <p:spPr>
          <a:xfrm xmlns:a="http://schemas.openxmlformats.org/drawingml/2006/main" flipH="1" flipV="1">
            <a:off x="10620375" y="2905125"/>
            <a:ext cx="161925"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8" name="">
            <a:extLst xmlns:a="http://schemas.openxmlformats.org/drawingml/2006/main">
              <a:ext uri="{FF2B5EF4-FFF2-40B4-BE49-F238E27FC236}">
                <a16:creationId xmlns:a16="http://schemas.microsoft.com/office/drawing/2014/main" id="{0F287511-C9B4-4837-9484-BC4DE141F9B6}"/>
              </a:ext>
            </a:extLst>
          </p:cNvPr>
          <p:cNvCxnSpPr>
            <a:stCxn xmlns:a="http://schemas.openxmlformats.org/drawingml/2006/main" id="34" idx="3"/>
            <a:endCxn xmlns:a="http://schemas.openxmlformats.org/drawingml/2006/main" id="37"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7" name="">
            <a:extLst xmlns:a="http://schemas.openxmlformats.org/drawingml/2006/main">
              <a:ext uri="{FF2B5EF4-FFF2-40B4-BE49-F238E27FC236}">
                <a16:creationId xmlns:a16="http://schemas.microsoft.com/office/drawing/2014/main" id="{B69344FB-B6D3-4BFC-BBC8-5CBC72A23238}"/>
              </a:ext>
            </a:extLst>
          </p:cNvPr>
          <p:cNvCxnSpPr>
            <a:stCxn xmlns:a="http://schemas.openxmlformats.org/drawingml/2006/main" id="31" idx="3"/>
            <a:endCxn xmlns:a="http://schemas.openxmlformats.org/drawingml/2006/main" id="34"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6" name="">
            <a:extLst xmlns:a="http://schemas.openxmlformats.org/drawingml/2006/main">
              <a:ext uri="{FF2B5EF4-FFF2-40B4-BE49-F238E27FC236}">
                <a16:creationId xmlns:a16="http://schemas.microsoft.com/office/drawing/2014/main" id="{5DA1BE83-9A6F-4235-B7CD-631F5CEE5355}"/>
              </a:ext>
            </a:extLst>
          </p:cNvPr>
          <p:cNvCxnSpPr>
            <a:stCxn xmlns:a="http://schemas.openxmlformats.org/drawingml/2006/main" id="28" idx="3"/>
            <a:endCxn xmlns:a="http://schemas.openxmlformats.org/drawingml/2006/main" id="31"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5" name="">
            <a:extLst xmlns:a="http://schemas.openxmlformats.org/drawingml/2006/main">
              <a:ext uri="{FF2B5EF4-FFF2-40B4-BE49-F238E27FC236}">
                <a16:creationId xmlns:a16="http://schemas.microsoft.com/office/drawing/2014/main" id="{9AC1AABB-C8D2-43B7-A144-701B3C605354}"/>
              </a:ext>
            </a:extLst>
          </p:cNvPr>
          <p:cNvCxnSpPr>
            <a:stCxn xmlns:a="http://schemas.openxmlformats.org/drawingml/2006/main" id="16" idx="1"/>
            <a:endCxn xmlns:a="http://schemas.openxmlformats.org/drawingml/2006/main" id="28" idx="3"/>
          </p:cNvCxnSpPr>
          <p:nvPr/>
        </p:nvCxnSpPr>
        <p:spPr>
          <a:xfrm xmlns:a="http://schemas.openxmlformats.org/drawingml/2006/main" flipH="1">
            <a:off x="5996940" y="2352675"/>
            <a:ext cx="136112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152A30B-BF62-4600-9577-CBC1C343EA43}"/>
              </a:ext>
            </a:extLst>
          </p:cNvPr>
          <p:cNvCxnSpPr>
            <a:stCxn xmlns:a="http://schemas.openxmlformats.org/drawingml/2006/main" id="25" idx="3"/>
            <a:endCxn xmlns:a="http://schemas.openxmlformats.org/drawingml/2006/main" id="16" idx="1"/>
          </p:cNvCxnSpPr>
          <p:nvPr/>
        </p:nvCxnSpPr>
        <p:spPr>
          <a:xfrm xmlns:a="http://schemas.openxmlformats.org/drawingml/2006/main" flipV="1">
            <a:off x="4122420" y="2352675"/>
            <a:ext cx="323564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4483545-1922-4F67-82C3-7B44D9C46B48}"/>
              </a:ext>
            </a:extLst>
          </p:cNvPr>
          <p:cNvCxnSpPr>
            <a:stCxn xmlns:a="http://schemas.openxmlformats.org/drawingml/2006/main" id="22" idx="3"/>
            <a:endCxn xmlns:a="http://schemas.openxmlformats.org/drawingml/2006/main" id="25"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0F9580F-77FF-4C90-A17B-2EDA57367E7B}"/>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1" name="">
            <a:extLst xmlns:a="http://schemas.openxmlformats.org/drawingml/2006/main">
              <a:ext uri="{FF2B5EF4-FFF2-40B4-BE49-F238E27FC236}">
                <a16:creationId xmlns:a16="http://schemas.microsoft.com/office/drawing/2014/main" id="{D86A9895-E3E1-49B0-A88E-B36812B249BC}"/>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0" name="">
            <a:extLst xmlns:a="http://schemas.openxmlformats.org/drawingml/2006/main">
              <a:ext uri="{FF2B5EF4-FFF2-40B4-BE49-F238E27FC236}">
                <a16:creationId xmlns:a16="http://schemas.microsoft.com/office/drawing/2014/main" id="{691C527E-9568-4F7C-964B-4BCB9144422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51" name="">
            <a:extLst xmlns:a="http://schemas.openxmlformats.org/drawingml/2006/main">
              <a:ext uri="{FF2B5EF4-FFF2-40B4-BE49-F238E27FC236}">
                <a16:creationId xmlns:a16="http://schemas.microsoft.com/office/drawing/2014/main" id="{7D3734BE-1E4D-42E2-928E-46F02FD8549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지식 갱신·검색·근거 응답</a:t>
            </a:r>
          </a:p>
        </p:txBody>
      </p:sp>
      <p:sp>
        <p:nvSpPr>
          <p:cNvPr id="2" name="">
            <a:extLst xmlns:a="http://schemas.openxmlformats.org/drawingml/2006/main">
              <a:ext uri="{FF2B5EF4-FFF2-40B4-BE49-F238E27FC236}">
                <a16:creationId xmlns:a16="http://schemas.microsoft.com/office/drawing/2014/main" id="{1635730F-17C5-48B6-8E7E-B66F6241660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세부 서비스 구조</a:t>
            </a:r>
          </a:p>
        </p:txBody>
      </p:sp>
      <p:sp>
        <p:nvSpPr>
          <p:cNvPr id="3" name="">
            <a:extLst xmlns:a="http://schemas.openxmlformats.org/drawingml/2006/main">
              <a:ext uri="{FF2B5EF4-FFF2-40B4-BE49-F238E27FC236}">
                <a16:creationId xmlns:a16="http://schemas.microsoft.com/office/drawing/2014/main" id="{BF26DF13-CB4F-4F29-B903-E4491CEC987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895E6C-EAE8-4628-A6D0-01217DCE1A5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8864BBA-F0A6-48A4-9A2F-87DF11AC6FA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129</a:t>
            </a:r>
          </a:p>
        </p:txBody>
      </p:sp>
      <p:sp>
        <p:nvSpPr>
          <p:cNvPr id="6" name="">
            <a:extLst xmlns:a="http://schemas.openxmlformats.org/drawingml/2006/main">
              <a:ext uri="{FF2B5EF4-FFF2-40B4-BE49-F238E27FC236}">
                <a16:creationId xmlns:a16="http://schemas.microsoft.com/office/drawing/2014/main" id="{33924940-15AA-4E0E-8DA4-E397142C428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공식 공개 자료 → 질문·범위 분류 → RAG 응답 → 사용자 실증</a:t>
            </a:r>
          </a:p>
        </p:txBody>
      </p:sp>
      <p:sp>
        <p:nvSpPr>
          <p:cNvPr id="7" name="">
            <a:extLst xmlns:a="http://schemas.openxmlformats.org/drawingml/2006/main">
              <a:ext uri="{FF2B5EF4-FFF2-40B4-BE49-F238E27FC236}">
                <a16:creationId xmlns:a16="http://schemas.microsoft.com/office/drawing/2014/main" id="{729C1143-E403-4D60-B3DD-FE093C5EF1DF}"/>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2A00E48-20BD-4D71-A4EE-8747AA315EE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6FC485EE-15CE-445C-94FD-9AD1A942EAA5}"/>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콘텐츠</a:t>
            </a:r>
          </a:p>
        </p:txBody>
      </p:sp>
      <p:sp>
        <p:nvSpPr>
          <p:cNvPr id="10" name="">
            <a:extLst xmlns:a="http://schemas.openxmlformats.org/drawingml/2006/main">
              <a:ext uri="{FF2B5EF4-FFF2-40B4-BE49-F238E27FC236}">
                <a16:creationId xmlns:a16="http://schemas.microsoft.com/office/drawing/2014/main" id="{A4AC607A-E183-4123-895D-4ED35064846B}"/>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A8A3B3EF-B3B3-41C2-8FE8-94AF2AE95D7F}"/>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B76DD47-051D-4123-AEA7-36DC0470742A}"/>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선별·청킹·벡터화</a:t>
            </a:r>
          </a:p>
        </p:txBody>
      </p:sp>
      <p:sp>
        <p:nvSpPr>
          <p:cNvPr id="13" name="">
            <a:extLst xmlns:a="http://schemas.openxmlformats.org/drawingml/2006/main">
              <a:ext uri="{FF2B5EF4-FFF2-40B4-BE49-F238E27FC236}">
                <a16:creationId xmlns:a16="http://schemas.microsoft.com/office/drawing/2014/main" id="{C840EF93-7297-401A-A9CB-AAA6A4B37F78}"/>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C622C34-F45F-4004-95E3-442537034D5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69DEECD5-17F6-4D7F-8538-781941EDA2EB}"/>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색인</a:t>
            </a:r>
          </a:p>
        </p:txBody>
      </p:sp>
      <p:sp>
        <p:nvSpPr>
          <p:cNvPr id="16" name="">
            <a:extLst xmlns:a="http://schemas.openxmlformats.org/drawingml/2006/main">
              <a:ext uri="{FF2B5EF4-FFF2-40B4-BE49-F238E27FC236}">
                <a16:creationId xmlns:a16="http://schemas.microsoft.com/office/drawing/2014/main" id="{6BF4A9E2-1CDA-4BA2-85A2-85536093FC5F}"/>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CEBE392-D859-4C7C-99F4-38F5A05971D7}"/>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29ED8BBD-339E-49AA-BF32-86222381311B}"/>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검색</a:t>
            </a:r>
          </a:p>
        </p:txBody>
      </p:sp>
      <p:sp>
        <p:nvSpPr>
          <p:cNvPr id="19" name="">
            <a:extLst xmlns:a="http://schemas.openxmlformats.org/drawingml/2006/main">
              <a:ext uri="{FF2B5EF4-FFF2-40B4-BE49-F238E27FC236}">
                <a16:creationId xmlns:a16="http://schemas.microsoft.com/office/drawing/2014/main" id="{596639FA-1080-492D-87BD-614453749B7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9442769-81C8-4AC0-BF21-41AC24156F28}"/>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21" name="">
            <a:extLst xmlns:a="http://schemas.openxmlformats.org/drawingml/2006/main">
              <a:ext uri="{FF2B5EF4-FFF2-40B4-BE49-F238E27FC236}">
                <a16:creationId xmlns:a16="http://schemas.microsoft.com/office/drawing/2014/main" id="{ED936DF4-5CBB-49A9-9056-D112AF4157F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BigQuery 품질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석</a:t>
            </a:r>
          </a:p>
        </p:txBody>
      </p:sp>
      <p:sp>
        <p:nvSpPr>
          <p:cNvPr id="22" name="">
            <a:extLst xmlns:a="http://schemas.openxmlformats.org/drawingml/2006/main">
              <a:ext uri="{FF2B5EF4-FFF2-40B4-BE49-F238E27FC236}">
                <a16:creationId xmlns:a16="http://schemas.microsoft.com/office/drawing/2014/main" id="{44BA6F7F-DA1E-465A-8D37-002E7ED1A64B}"/>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937264EF-7179-4F7D-96A7-CF9229933B75}"/>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4" name="">
            <a:extLst xmlns:a="http://schemas.openxmlformats.org/drawingml/2006/main">
              <a:ext uri="{FF2B5EF4-FFF2-40B4-BE49-F238E27FC236}">
                <a16:creationId xmlns:a16="http://schemas.microsoft.com/office/drawing/2014/main" id="{1EA70543-2401-48E1-AE49-5FE5A558E239}"/>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앱 질의</a:t>
            </a:r>
          </a:p>
        </p:txBody>
      </p:sp>
      <p:sp>
        <p:nvSpPr>
          <p:cNvPr id="25" name="">
            <a:extLst xmlns:a="http://schemas.openxmlformats.org/drawingml/2006/main">
              <a:ext uri="{FF2B5EF4-FFF2-40B4-BE49-F238E27FC236}">
                <a16:creationId xmlns:a16="http://schemas.microsoft.com/office/drawing/2014/main" id="{25D32E21-B82D-43CD-931B-FCBC764AA55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EEA20E6E-221E-482B-9D4C-A565AA8A2E5C}"/>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7" name="">
            <a:extLst xmlns:a="http://schemas.openxmlformats.org/drawingml/2006/main">
              <a:ext uri="{FF2B5EF4-FFF2-40B4-BE49-F238E27FC236}">
                <a16:creationId xmlns:a16="http://schemas.microsoft.com/office/drawing/2014/main" id="{25C2976F-FBD7-4373-85BF-C8184F9C457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질문·대화 문맥</a:t>
            </a:r>
          </a:p>
        </p:txBody>
      </p:sp>
      <p:sp>
        <p:nvSpPr>
          <p:cNvPr id="28" name="">
            <a:extLst xmlns:a="http://schemas.openxmlformats.org/drawingml/2006/main">
              <a:ext uri="{FF2B5EF4-FFF2-40B4-BE49-F238E27FC236}">
                <a16:creationId xmlns:a16="http://schemas.microsoft.com/office/drawing/2014/main" id="{41619CD6-1499-45A2-ACD9-1CD423E63B16}"/>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657CCE1-49CD-4B61-9171-BC528D96CFEC}"/>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30" name="">
            <a:extLst xmlns:a="http://schemas.openxmlformats.org/drawingml/2006/main">
              <a:ext uri="{FF2B5EF4-FFF2-40B4-BE49-F238E27FC236}">
                <a16:creationId xmlns:a16="http://schemas.microsoft.com/office/drawing/2014/main" id="{E5100184-BE48-404F-8324-15A873987BE2}"/>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Claude / Bedr</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ock</a:t>
            </a:r>
          </a:p>
        </p:txBody>
      </p:sp>
      <p:sp>
        <p:nvSpPr>
          <p:cNvPr id="31" name="">
            <a:extLst xmlns:a="http://schemas.openxmlformats.org/drawingml/2006/main">
              <a:ext uri="{FF2B5EF4-FFF2-40B4-BE49-F238E27FC236}">
                <a16:creationId xmlns:a16="http://schemas.microsoft.com/office/drawing/2014/main" id="{152F046C-5BA6-4952-A730-95A0CC6BD77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0564205-05EA-42C6-876D-2239F507734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3" name="">
            <a:extLst xmlns:a="http://schemas.openxmlformats.org/drawingml/2006/main">
              <a:ext uri="{FF2B5EF4-FFF2-40B4-BE49-F238E27FC236}">
                <a16:creationId xmlns:a16="http://schemas.microsoft.com/office/drawing/2014/main" id="{9E1A4CAA-F521-4C7A-923F-7045C81E3969}"/>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범위·근거 검사</a:t>
            </a:r>
          </a:p>
        </p:txBody>
      </p:sp>
      <p:sp>
        <p:nvSpPr>
          <p:cNvPr id="34" name="">
            <a:extLst xmlns:a="http://schemas.openxmlformats.org/drawingml/2006/main">
              <a:ext uri="{FF2B5EF4-FFF2-40B4-BE49-F238E27FC236}">
                <a16:creationId xmlns:a16="http://schemas.microsoft.com/office/drawing/2014/main" id="{249F417E-CB63-456F-9C3B-F729644D8EF2}"/>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927BA44-0E5B-4301-857D-6642E7B72EBA}"/>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6" name="">
            <a:extLst xmlns:a="http://schemas.openxmlformats.org/drawingml/2006/main">
              <a:ext uri="{FF2B5EF4-FFF2-40B4-BE49-F238E27FC236}">
                <a16:creationId xmlns:a16="http://schemas.microsoft.com/office/drawing/2014/main" id="{EDE93CDB-EC25-45EB-88AC-C7060FCD8CF6}"/>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원문 확인</a:t>
            </a:r>
          </a:p>
        </p:txBody>
      </p:sp>
      <p:sp>
        <p:nvSpPr>
          <p:cNvPr id="37" name="">
            <a:extLst xmlns:a="http://schemas.openxmlformats.org/drawingml/2006/main">
              <a:ext uri="{FF2B5EF4-FFF2-40B4-BE49-F238E27FC236}">
                <a16:creationId xmlns:a16="http://schemas.microsoft.com/office/drawing/2014/main" id="{44544221-B0A3-4973-8D61-E874EA87EEC8}"/>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8" name="">
            <a:extLst xmlns:a="http://schemas.openxmlformats.org/drawingml/2006/main">
              <a:ext uri="{FF2B5EF4-FFF2-40B4-BE49-F238E27FC236}">
                <a16:creationId xmlns:a16="http://schemas.microsoft.com/office/drawing/2014/main" id="{EBD17D4B-18C6-43BA-82B4-0CA6DAB4C24D}"/>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9" name="">
            <a:extLst xmlns:a="http://schemas.openxmlformats.org/drawingml/2006/main">
              <a:ext uri="{FF2B5EF4-FFF2-40B4-BE49-F238E27FC236}">
                <a16:creationId xmlns:a16="http://schemas.microsoft.com/office/drawing/2014/main" id="{E67A83E1-51EA-4FE3-AD5E-8C34C99A793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서비스 연결</a:t>
            </a:r>
          </a:p>
        </p:txBody>
      </p:sp>
      <p:sp>
        <p:nvSpPr>
          <p:cNvPr id="50" name="">
            <a:extLst xmlns:a="http://schemas.openxmlformats.org/drawingml/2006/main">
              <a:ext uri="{FF2B5EF4-FFF2-40B4-BE49-F238E27FC236}">
                <a16:creationId xmlns:a16="http://schemas.microsoft.com/office/drawing/2014/main" id="{F889E300-6E92-4657-8328-B38A9AA1D3A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41638298"/>
      </p:ext>
    </p:extLst>
  </p:cSld>
</p:sld>
</file>

<file path=ppt/slides/slide1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825D94A-3D42-48B0-868C-B2D7391DC81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논리 인터페이스·복구 설계</a:t>
            </a:r>
          </a:p>
        </p:txBody>
      </p:sp>
      <p:sp>
        <p:nvSpPr>
          <p:cNvPr id="2" name="">
            <a:extLst xmlns:a="http://schemas.openxmlformats.org/drawingml/2006/main">
              <a:ext uri="{FF2B5EF4-FFF2-40B4-BE49-F238E27FC236}">
                <a16:creationId xmlns:a16="http://schemas.microsoft.com/office/drawing/2014/main" id="{AEE5D9FC-74CB-41FA-9E05-A5B54266426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데이터와 예외 처리</a:t>
            </a:r>
          </a:p>
        </p:txBody>
      </p:sp>
      <p:sp>
        <p:nvSpPr>
          <p:cNvPr id="3" name="">
            <a:extLst xmlns:a="http://schemas.openxmlformats.org/drawingml/2006/main">
              <a:ext uri="{FF2B5EF4-FFF2-40B4-BE49-F238E27FC236}">
                <a16:creationId xmlns:a16="http://schemas.microsoft.com/office/drawing/2014/main" id="{CD6369C3-5CFD-42C9-871F-36051285FE2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226A82-4DC9-44A3-B084-A0D881C3025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BFE1158-EFDD-4E1E-94C6-C6A3FE15506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130</a:t>
            </a:r>
          </a:p>
        </p:txBody>
      </p:sp>
      <p:sp>
        <p:nvSpPr>
          <p:cNvPr id="6" name="">
            <a:extLst xmlns:a="http://schemas.openxmlformats.org/drawingml/2006/main">
              <a:ext uri="{FF2B5EF4-FFF2-40B4-BE49-F238E27FC236}">
                <a16:creationId xmlns:a16="http://schemas.microsoft.com/office/drawing/2014/main" id="{2BD475F8-5073-44C4-A187-AC5EDF712C0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6715020D-8680-4E49-AC06-D9B5CBC9A2E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6310D4B-62C1-479B-8F4A-4A3F4E4815F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EF94873F-342A-4A05-8CBD-09867101C33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OpenSearch·품질 분석 기록</a:t>
            </a:r>
          </a:p>
        </p:txBody>
      </p:sp>
      <p:sp>
        <p:nvSpPr>
          <p:cNvPr id="10" name="">
            <a:extLst xmlns:a="http://schemas.openxmlformats.org/drawingml/2006/main">
              <a:ext uri="{FF2B5EF4-FFF2-40B4-BE49-F238E27FC236}">
                <a16:creationId xmlns:a16="http://schemas.microsoft.com/office/drawing/2014/main" id="{51A82236-649E-436F-B963-8EAE694CB9C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9C5ACF-B0C0-4961-B44C-250E288E348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F4C09043-C7A8-4F78-BA2C-5D38BADDB2CE}"/>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561A993C-23E3-457D-9FAF-57BAC1B8418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F522654-746F-450D-8C90-E1F0975B761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7C1EBA32-830C-4C64-A76E-EEA70A5411F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 질문과 이전 대화의 문맥 구성</a:t>
            </a:r>
          </a:p>
        </p:txBody>
      </p:sp>
      <p:sp>
        <p:nvSpPr>
          <p:cNvPr id="16" name="">
            <a:extLst xmlns:a="http://schemas.openxmlformats.org/drawingml/2006/main">
              <a:ext uri="{FF2B5EF4-FFF2-40B4-BE49-F238E27FC236}">
                <a16:creationId xmlns:a16="http://schemas.microsoft.com/office/drawing/2014/main" id="{F3AFE3AA-311F-4390-9485-CFAAC9808AE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2AF4016-403F-4006-8ACD-A11122DAF96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2D430063-A66F-4C51-AED8-A5B91A1EDDC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정답 안내 페이지·근거 문단·응답 보류·처리</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 대조</a:t>
            </a:r>
          </a:p>
        </p:txBody>
      </p:sp>
      <p:sp>
        <p:nvSpPr>
          <p:cNvPr id="19" name="">
            <a:extLst xmlns:a="http://schemas.openxmlformats.org/drawingml/2006/main">
              <a:ext uri="{FF2B5EF4-FFF2-40B4-BE49-F238E27FC236}">
                <a16:creationId xmlns:a16="http://schemas.microsoft.com/office/drawing/2014/main" id="{98A76674-2712-4DD4-8FCB-7A3F976665D5}"/>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AB38B34-5DEC-4475-9755-90E1973B188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CA93772B-DEE9-4375-9952-B765768A398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문서 조각</a:t>
            </a:r>
          </a:p>
        </p:txBody>
      </p:sp>
      <p:sp>
        <p:nvSpPr>
          <p:cNvPr id="22" name="">
            <a:extLst xmlns:a="http://schemas.openxmlformats.org/drawingml/2006/main">
              <a:ext uri="{FF2B5EF4-FFF2-40B4-BE49-F238E27FC236}">
                <a16:creationId xmlns:a16="http://schemas.microsoft.com/office/drawing/2014/main" id="{387561EA-F426-44E0-B1CB-9C03FDA86D32}"/>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76293C4-F623-4B0A-A22A-8C74F63E7E7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6DC40A46-439D-4586-BB8F-AA713AE2CED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답변</a:t>
            </a:r>
          </a:p>
        </p:txBody>
      </p:sp>
      <p:sp>
        <p:nvSpPr>
          <p:cNvPr id="25" name="">
            <a:extLst xmlns:a="http://schemas.openxmlformats.org/drawingml/2006/main">
              <a:ext uri="{FF2B5EF4-FFF2-40B4-BE49-F238E27FC236}">
                <a16:creationId xmlns:a16="http://schemas.microsoft.com/office/drawing/2014/main" id="{D1D26FDB-FA19-4165-9E6F-5B2A0951ABD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63DFC6E3-99F6-4A69-AD3E-DF79FFA74F6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범위 밖 질문·상충 안내·개인 업무의 실행 요청</a:t>
            </a:r>
          </a:p>
        </p:txBody>
      </p:sp>
      <p:sp>
        <p:nvSpPr>
          <p:cNvPr id="27" name="">
            <a:extLst xmlns:a="http://schemas.openxmlformats.org/drawingml/2006/main">
              <a:ext uri="{FF2B5EF4-FFF2-40B4-BE49-F238E27FC236}">
                <a16:creationId xmlns:a16="http://schemas.microsoft.com/office/drawing/2014/main" id="{B2CC301A-45CA-44CB-9668-529B1992EC6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DEC7F3A-7BB7-4E00-AFA2-99FBA2CA7A0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의도 분류·근거·응답 품질 대조</a:t>
            </a:r>
          </a:p>
        </p:txBody>
      </p:sp>
      <p:sp>
        <p:nvSpPr>
          <p:cNvPr id="29" name="">
            <a:extLst xmlns:a="http://schemas.openxmlformats.org/drawingml/2006/main">
              <a:ext uri="{FF2B5EF4-FFF2-40B4-BE49-F238E27FC236}">
                <a16:creationId xmlns:a16="http://schemas.microsoft.com/office/drawing/2014/main" id="{EFFD2E4C-8234-4B70-AB04-018DE77ED66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84DA17C-3484-42D8-BCB7-648F99ED8FD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 도구·BigQuery 기반 품질 분석</a:t>
            </a:r>
          </a:p>
        </p:txBody>
      </p:sp>
      <p:sp>
        <p:nvSpPr>
          <p:cNvPr id="31" name="">
            <a:extLst xmlns:a="http://schemas.openxmlformats.org/drawingml/2006/main">
              <a:ext uri="{FF2B5EF4-FFF2-40B4-BE49-F238E27FC236}">
                <a16:creationId xmlns:a16="http://schemas.microsoft.com/office/drawing/2014/main" id="{0AF7AAC7-903C-4C13-B053-4908DA20367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9421B69-3121-45C5-9C93-3405F24C2A8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안내 페이지·근거 문단·응답 보류·처리시간 대조</a:t>
            </a:r>
          </a:p>
        </p:txBody>
      </p:sp>
    </p:spTree>
    <p:extLst>
      <p:ext uri="{BB962C8B-B14F-4D97-AF65-F5344CB8AC3E}">
        <p14:creationId xmlns:p14="http://schemas.microsoft.com/office/powerpoint/2010/main" val="2063251840"/>
      </p:ext>
    </p:extLst>
  </p:cSld>
</p:sld>
</file>

<file path=ppt/slides/slide1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477BEB0-452A-43DF-B495-6098C9F62A1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PF-A12 / CCK 비교·재현 시험 설계</a:t>
            </a:r>
          </a:p>
        </p:txBody>
      </p:sp>
      <p:sp>
        <p:nvSpPr>
          <p:cNvPr id="2" name="">
            <a:extLst xmlns:a="http://schemas.openxmlformats.org/drawingml/2006/main">
              <a:ext uri="{FF2B5EF4-FFF2-40B4-BE49-F238E27FC236}">
                <a16:creationId xmlns:a16="http://schemas.microsoft.com/office/drawing/2014/main" id="{B748E1B2-7C09-4024-B52D-8E6C1091D47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벤치마킹</a:t>
            </a:r>
          </a:p>
        </p:txBody>
      </p:sp>
      <p:sp>
        <p:nvSpPr>
          <p:cNvPr id="3" name="">
            <a:extLst xmlns:a="http://schemas.openxmlformats.org/drawingml/2006/main">
              <a:ext uri="{FF2B5EF4-FFF2-40B4-BE49-F238E27FC236}">
                <a16:creationId xmlns:a16="http://schemas.microsoft.com/office/drawing/2014/main" id="{0949ABD0-4846-4AE4-8E21-F7B0D8B6041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9A223A-B443-4A9F-8AF3-564680E0A7F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6E336A0-0990-4E5D-A07B-3E989C2666A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131</a:t>
            </a:r>
          </a:p>
        </p:txBody>
      </p:sp>
      <p:sp>
        <p:nvSpPr>
          <p:cNvPr id="6" name="">
            <a:extLst xmlns:a="http://schemas.openxmlformats.org/drawingml/2006/main">
              <a:ext uri="{FF2B5EF4-FFF2-40B4-BE49-F238E27FC236}">
                <a16:creationId xmlns:a16="http://schemas.microsoft.com/office/drawing/2014/main" id="{C3BD6C1F-7ADA-49BB-A112-2FD0C09AB27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A5B2B595-412B-4D49-BCB9-35731B984E1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공개 지식에 한정한 RAG</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실제 이용자 실증 평가</a:t>
            </a:r>
          </a:p>
        </p:txBody>
      </p:sp>
      <p:sp>
        <p:nvSpPr>
          <p:cNvPr id="8" name="">
            <a:extLst xmlns:a="http://schemas.openxmlformats.org/drawingml/2006/main">
              <a:ext uri="{FF2B5EF4-FFF2-40B4-BE49-F238E27FC236}">
                <a16:creationId xmlns:a16="http://schemas.microsoft.com/office/drawing/2014/main" id="{5CB544ED-631F-42F8-A0AA-21D680ED5770}"/>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E7761E47-E38A-452C-AB2A-DC1790A8550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지연·범위 밖 질문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안내 서비스를 행정 처리로 확대</a:t>
            </a:r>
          </a:p>
        </p:txBody>
      </p:sp>
      <p:sp>
        <p:nvSpPr>
          <p:cNvPr id="10" name="">
            <a:extLst xmlns:a="http://schemas.openxmlformats.org/drawingml/2006/main">
              <a:ext uri="{FF2B5EF4-FFF2-40B4-BE49-F238E27FC236}">
                <a16:creationId xmlns:a16="http://schemas.microsoft.com/office/drawing/2014/main" id="{6BF14AE8-0C5C-47C9-9C8A-B07EEF49A8D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9E88FAB-EE23-4D18-948F-9BFB21443B2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의도 분류·근거·응답 품질 대조</a:t>
            </a:r>
          </a:p>
        </p:txBody>
      </p:sp>
      <p:sp>
        <p:nvSpPr>
          <p:cNvPr id="12" name="">
            <a:extLst xmlns:a="http://schemas.openxmlformats.org/drawingml/2006/main">
              <a:ext uri="{FF2B5EF4-FFF2-40B4-BE49-F238E27FC236}">
                <a16:creationId xmlns:a16="http://schemas.microsoft.com/office/drawing/2014/main" id="{C85F6CBB-0B7D-48B0-BA36-8E7EEBB1BAC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4388FDC-4575-4FAD-8E63-AA2D933A2F9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신청 방법을 질문하고 근거 안내와 해당 공식 페이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 확인</a:t>
            </a:r>
          </a:p>
        </p:txBody>
      </p:sp>
      <p:sp>
        <p:nvSpPr>
          <p:cNvPr id="14" name="">
            <a:extLst xmlns:a="http://schemas.openxmlformats.org/drawingml/2006/main">
              <a:ext uri="{FF2B5EF4-FFF2-40B4-BE49-F238E27FC236}">
                <a16:creationId xmlns:a16="http://schemas.microsoft.com/office/drawing/2014/main" id="{F6C6A990-62AA-4091-B84E-2C8CEE923EC7}"/>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8761E2B-A5E2-437A-B62B-B3B7EAEE4747}"/>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범위 밖 질문·상충 안내·개인 업무의 실행 요청</a:t>
            </a:r>
          </a:p>
        </p:txBody>
      </p:sp>
      <p:sp>
        <p:nvSpPr>
          <p:cNvPr id="16" name="">
            <a:extLst xmlns:a="http://schemas.openxmlformats.org/drawingml/2006/main">
              <a:ext uri="{FF2B5EF4-FFF2-40B4-BE49-F238E27FC236}">
                <a16:creationId xmlns:a16="http://schemas.microsoft.com/office/drawing/2014/main" id="{B88EDAD0-3ACA-4D13-949E-AADB6006563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03861BF-C25F-44A7-8741-BE322C534076}"/>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정답 안내 페이지·근거 문단·응답 보류·처리시간 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a:t>
            </a:r>
          </a:p>
        </p:txBody>
      </p:sp>
    </p:spTree>
    <p:extLst>
      <p:ext uri="{BB962C8B-B14F-4D97-AF65-F5344CB8AC3E}">
        <p14:creationId xmlns:p14="http://schemas.microsoft.com/office/powerpoint/2010/main" val="1936765514"/>
      </p:ext>
    </p:extLst>
  </p:cSld>
</p:sld>
</file>

<file path=ppt/slides/slide1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C137860-9A16-4B8A-8B6B-48BE9F6AC2E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2024-09~12 실험, 2025/2026 평가 공개 / 해외</a:t>
            </a:r>
          </a:p>
        </p:txBody>
      </p:sp>
      <p:sp>
        <p:nvSpPr>
          <p:cNvPr id="2" name="">
            <a:extLst xmlns:a="http://schemas.openxmlformats.org/drawingml/2006/main">
              <a:ext uri="{FF2B5EF4-FFF2-40B4-BE49-F238E27FC236}">
                <a16:creationId xmlns:a16="http://schemas.microsoft.com/office/drawing/2014/main" id="{1EBBB2B9-2C3B-4DC4-B5EE-F23807D1030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a:t>
            </a:r>
          </a:p>
        </p:txBody>
      </p:sp>
      <p:sp>
        <p:nvSpPr>
          <p:cNvPr id="3" name="">
            <a:extLst xmlns:a="http://schemas.openxmlformats.org/drawingml/2006/main">
              <a:ext uri="{FF2B5EF4-FFF2-40B4-BE49-F238E27FC236}">
                <a16:creationId xmlns:a16="http://schemas.microsoft.com/office/drawing/2014/main" id="{9E8D2CD2-5632-4443-A2AE-1A4D8FC631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AB76F4-7F30-4785-B004-62E91BD74E1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536089F-0BD0-454E-BCB0-6625F3AAA18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132</a:t>
            </a:r>
          </a:p>
        </p:txBody>
      </p:sp>
      <p:sp>
        <p:nvSpPr>
          <p:cNvPr id="6" name="">
            <a:extLst xmlns:a="http://schemas.openxmlformats.org/drawingml/2006/main">
              <a:ext uri="{FF2B5EF4-FFF2-40B4-BE49-F238E27FC236}">
                <a16:creationId xmlns:a16="http://schemas.microsoft.com/office/drawing/2014/main" id="{7F6D2C7C-1616-4A4A-BDC1-1E5A871BC76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492254B-F331-4E9F-A744-D60290D4E891}"/>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M365 문서·회의 접점에서 공무원의 작성·검색·요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약을 지원한 실험. 새 업무 시스템 구축보다 직원이 이미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접근하는 자료와 협업 도구 안에 AI를 배치한 유형.</a:t>
            </a:r>
          </a:p>
        </p:txBody>
      </p:sp>
      <p:sp>
        <p:nvSpPr>
          <p:cNvPr id="8" name="">
            <a:extLst xmlns:a="http://schemas.openxmlformats.org/drawingml/2006/main">
              <a:ext uri="{FF2B5EF4-FFF2-40B4-BE49-F238E27FC236}">
                <a16:creationId xmlns:a16="http://schemas.microsoft.com/office/drawing/2014/main" id="{F5E999C9-83DB-4C20-87F1-F7261386690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9BFC2B5E-77E0-4B57-BCC5-D707E7595BF7}"/>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접근권한을 전제로 요청 문맥을 만들고 검색·생성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결과를 직원이 검토하는 흐름. 조직·직무별 동일 과업을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정의한 뒤 AI 사용 전후의 초안 작성, 사실 확인, 수정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간을 함께 기록하는 CCK 비교 설계.</a:t>
            </a:r>
          </a:p>
        </p:txBody>
      </p:sp>
      <p:sp>
        <p:nvSpPr>
          <p:cNvPr id="10" name="">
            <a:extLst xmlns:a="http://schemas.openxmlformats.org/drawingml/2006/main">
              <a:ext uri="{FF2B5EF4-FFF2-40B4-BE49-F238E27FC236}">
                <a16:creationId xmlns:a16="http://schemas.microsoft.com/office/drawing/2014/main" id="{001822F8-07FB-461B-9FDF-EA108AB3C0B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1D2A247A-00CA-4B0A-951F-F8D297348E7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설문 자기보고 절감시간을 TS의 예상 절감률로 직접 전환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하지 않는 평가. 과다공유 문서, 복잡한 질의, 숙련도 차이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재작업을 포함해 부서별 완료시간·오류율을 산정할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3743E5CC-F628-4AA3-9E46-05F78685B74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71AB417-F4D7-4867-B000-87781578E8A3}"/>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부서·직무·권한·변경 교차 평가</a:t>
            </a:r>
          </a:p>
        </p:txBody>
      </p:sp>
      <p:sp>
        <p:nvSpPr>
          <p:cNvPr id="14" name="">
            <a:extLst xmlns:a="http://schemas.openxmlformats.org/drawingml/2006/main">
              <a:ext uri="{FF2B5EF4-FFF2-40B4-BE49-F238E27FC236}">
                <a16:creationId xmlns:a16="http://schemas.microsoft.com/office/drawing/2014/main" id="{2618FAEC-5A6B-4D31-A20E-668573537595}"/>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270D622-4FAD-4188-B274-AE41930DDC3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완료시간·오류·총비용의 기준선·비교 평가</a:t>
            </a:r>
          </a:p>
        </p:txBody>
      </p:sp>
      <p:sp>
        <p:nvSpPr>
          <p:cNvPr id="16" name="">
            <a:extLst xmlns:a="http://schemas.openxmlformats.org/drawingml/2006/main">
              <a:ext uri="{FF2B5EF4-FFF2-40B4-BE49-F238E27FC236}">
                <a16:creationId xmlns:a16="http://schemas.microsoft.com/office/drawing/2014/main" id="{D6381B3D-C036-41AB-8656-CB71F3F4807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519D2CD-160A-4299-899D-F36D89B2D25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완료시간·오류·총비용</a:t>
            </a:r>
          </a:p>
        </p:txBody>
      </p:sp>
      <p:sp>
        <p:nvSpPr>
          <p:cNvPr id="18" name="">
            <a:extLst xmlns:a="http://schemas.openxmlformats.org/drawingml/2006/main">
              <a:ext uri="{FF2B5EF4-FFF2-40B4-BE49-F238E27FC236}">
                <a16:creationId xmlns:a16="http://schemas.microsoft.com/office/drawing/2014/main" id="{06999A99-BF92-4FA0-98C9-7D94D97D5B3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두 보고서는 모집단 중복. 자기보고 시간은 객관 실측/예산절감 아님; HMRC는 무작위 배정 포함</a:t>
            </a:r>
          </a:p>
        </p:txBody>
      </p:sp>
    </p:spTree>
    <p:extLst>
      <p:ext uri="{BB962C8B-B14F-4D97-AF65-F5344CB8AC3E}">
        <p14:creationId xmlns:p14="http://schemas.microsoft.com/office/powerpoint/2010/main" val="1935881204"/>
      </p:ext>
    </p:extLst>
  </p:cSld>
</p:sld>
</file>

<file path=ppt/slides/slide1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6A5D4291-BF31-4FD6-B9E7-0B92183B102B}"/>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86FAE28-5F4E-4802-A05F-AFE30D5FAA0B}"/>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29838F8-94D8-4235-B690-4C518456DC2D}"/>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53F0F73-3255-49D7-83AD-623FC50CC315}"/>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60161CDF-EA7C-4FA0-AD40-213225E282A8}"/>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5EDC648-B0C3-45F2-8E87-02DAB62EED2C}"/>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AB78FA4-0547-4E3F-960E-FC1B89FC00F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BD0610F6-F477-4F6E-B2E6-092A13C98E4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E0736A8F-0FE4-4FC3-A6CD-62A7731FCA1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5072E794-3985-4351-9A9F-E0D85FD9462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권한·목적 판정 후 허용·차단 분기</a:t>
            </a:r>
          </a:p>
        </p:txBody>
      </p:sp>
      <p:sp>
        <p:nvSpPr>
          <p:cNvPr id="2" name="">
            <a:extLst xmlns:a="http://schemas.openxmlformats.org/drawingml/2006/main">
              <a:ext uri="{FF2B5EF4-FFF2-40B4-BE49-F238E27FC236}">
                <a16:creationId xmlns:a16="http://schemas.microsoft.com/office/drawing/2014/main" id="{72D8ECF3-FF2A-42A1-85C6-FDD71ED0BD6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세부 서비스 구조</a:t>
            </a:r>
          </a:p>
        </p:txBody>
      </p:sp>
      <p:sp>
        <p:nvSpPr>
          <p:cNvPr id="3" name="">
            <a:extLst xmlns:a="http://schemas.openxmlformats.org/drawingml/2006/main">
              <a:ext uri="{FF2B5EF4-FFF2-40B4-BE49-F238E27FC236}">
                <a16:creationId xmlns:a16="http://schemas.microsoft.com/office/drawing/2014/main" id="{2870F3B7-593B-4132-A807-477E7F19BC7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AA222E-1220-4127-988B-65FF66928AE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BF204D9-177E-4EB6-B04D-269018F9E2B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133</a:t>
            </a:r>
          </a:p>
        </p:txBody>
      </p:sp>
      <p:sp>
        <p:nvSpPr>
          <p:cNvPr id="6" name="">
            <a:extLst xmlns:a="http://schemas.openxmlformats.org/drawingml/2006/main">
              <a:ext uri="{FF2B5EF4-FFF2-40B4-BE49-F238E27FC236}">
                <a16:creationId xmlns:a16="http://schemas.microsoft.com/office/drawing/2014/main" id="{B9290FA7-51EF-4033-A7ED-1E5A81A5371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직원·기존 권한 → M365 업무 → AI 작성·검색 → 로그·설문 평가</a:t>
            </a:r>
          </a:p>
        </p:txBody>
      </p:sp>
      <p:sp>
        <p:nvSpPr>
          <p:cNvPr id="7" name="">
            <a:extLst xmlns:a="http://schemas.openxmlformats.org/drawingml/2006/main">
              <a:ext uri="{FF2B5EF4-FFF2-40B4-BE49-F238E27FC236}">
                <a16:creationId xmlns:a16="http://schemas.microsoft.com/office/drawing/2014/main" id="{FBC163F3-3E4B-43CC-A0C6-6136B51B7F8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BE3A7A2-2D53-45BB-903B-BDD89766E60C}"/>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721E3AF7-9033-4481-8A4D-B2FA872E258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업무 요청</a:t>
            </a:r>
          </a:p>
        </p:txBody>
      </p:sp>
      <p:sp>
        <p:nvSpPr>
          <p:cNvPr id="10" name="">
            <a:extLst xmlns:a="http://schemas.openxmlformats.org/drawingml/2006/main">
              <a:ext uri="{FF2B5EF4-FFF2-40B4-BE49-F238E27FC236}">
                <a16:creationId xmlns:a16="http://schemas.microsoft.com/office/drawing/2014/main" id="{B95935CE-91D3-456B-8FB5-91C99BA5D63F}"/>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97985205-5BD5-4E57-B663-C1900D305787}"/>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33885EE6-2B4D-4069-ACA9-C651BD97FA5F}"/>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직원·과업 맥락</a:t>
            </a:r>
          </a:p>
        </p:txBody>
      </p:sp>
      <p:sp>
        <p:nvSpPr>
          <p:cNvPr id="13" name="">
            <a:extLst xmlns:a="http://schemas.openxmlformats.org/drawingml/2006/main">
              <a:ext uri="{FF2B5EF4-FFF2-40B4-BE49-F238E27FC236}">
                <a16:creationId xmlns:a16="http://schemas.microsoft.com/office/drawing/2014/main" id="{AEE0887B-2820-4AF0-93DE-E42D7C92D597}"/>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0E9167A-E975-45E7-887F-2B8E4B592A51}"/>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C8E1F81F-DD0E-4ADE-9D87-AC194BCA44AC}"/>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1DB0E131-6A29-419D-B74B-2643E294E20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51C5E4A-991A-40C4-A1FA-A19649200F3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67D258B-6569-48B5-9980-619B108B9AD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근거·사실 대조</a:t>
            </a:r>
          </a:p>
        </p:txBody>
      </p:sp>
      <p:sp>
        <p:nvSpPr>
          <p:cNvPr id="19" name="">
            <a:extLst xmlns:a="http://schemas.openxmlformats.org/drawingml/2006/main">
              <a:ext uri="{FF2B5EF4-FFF2-40B4-BE49-F238E27FC236}">
                <a16:creationId xmlns:a16="http://schemas.microsoft.com/office/drawing/2014/main" id="{3BB85359-4333-4087-81B4-45AA74E3268F}"/>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19ABB59-B55D-4307-9FE4-ED65587400BB}"/>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6FF7AB3C-FA0A-4956-8461-D66AEF29DC5D}"/>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자료</a:t>
            </a:r>
          </a:p>
        </p:txBody>
      </p:sp>
      <p:sp>
        <p:nvSpPr>
          <p:cNvPr id="22" name="">
            <a:extLst xmlns:a="http://schemas.openxmlformats.org/drawingml/2006/main">
              <a:ext uri="{FF2B5EF4-FFF2-40B4-BE49-F238E27FC236}">
                <a16:creationId xmlns:a16="http://schemas.microsoft.com/office/drawing/2014/main" id="{32CF0321-7094-49A9-BD48-EE57DBB5990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BADBA5B-90F8-4791-9187-38CCF34B141B}"/>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0BA5C843-0485-484C-8115-1FBB410FF187}"/>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검색·요약·작성</a:t>
            </a:r>
          </a:p>
        </p:txBody>
      </p:sp>
      <p:sp>
        <p:nvSpPr>
          <p:cNvPr id="25" name="">
            <a:extLst xmlns:a="http://schemas.openxmlformats.org/drawingml/2006/main">
              <a:ext uri="{FF2B5EF4-FFF2-40B4-BE49-F238E27FC236}">
                <a16:creationId xmlns:a16="http://schemas.microsoft.com/office/drawing/2014/main" id="{881AB018-BA9C-4D55-B411-A6D3FEC27007}"/>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E5E1AD5-3FD0-4FB5-AEF7-8E97B9148F12}"/>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18EAB52B-2B5B-4AEB-B2B3-0CDF3A4D2E02}"/>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편집·확인</a:t>
            </a:r>
          </a:p>
        </p:txBody>
      </p:sp>
      <p:sp>
        <p:nvSpPr>
          <p:cNvPr id="28" name="">
            <a:extLst xmlns:a="http://schemas.openxmlformats.org/drawingml/2006/main">
              <a:ext uri="{FF2B5EF4-FFF2-40B4-BE49-F238E27FC236}">
                <a16:creationId xmlns:a16="http://schemas.microsoft.com/office/drawing/2014/main" id="{F59426C6-1FCC-4090-A3D1-2579E919AF1A}"/>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C3A677B1-F9AF-49A4-BA78-B7D5336F68CB}"/>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A6AA0DE2-A4FD-4FF6-A0E1-22D6B6E9F2B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후속업</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무</a:t>
            </a:r>
          </a:p>
        </p:txBody>
      </p:sp>
      <p:sp>
        <p:nvSpPr>
          <p:cNvPr id="31" name="">
            <a:extLst xmlns:a="http://schemas.openxmlformats.org/drawingml/2006/main">
              <a:ext uri="{FF2B5EF4-FFF2-40B4-BE49-F238E27FC236}">
                <a16:creationId xmlns:a16="http://schemas.microsoft.com/office/drawing/2014/main" id="{B7EAF284-2FF8-4EC4-B49D-32BD31F38C7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2DF73C3-6966-42B9-96CA-0D9295AC409B}"/>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787E1B1F-8119-44AF-B863-67FD2239293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검토시간 비교</a:t>
            </a:r>
          </a:p>
        </p:txBody>
      </p:sp>
      <p:sp>
        <p:nvSpPr>
          <p:cNvPr id="34" name="">
            <a:extLst xmlns:a="http://schemas.openxmlformats.org/drawingml/2006/main">
              <a:ext uri="{FF2B5EF4-FFF2-40B4-BE49-F238E27FC236}">
                <a16:creationId xmlns:a16="http://schemas.microsoft.com/office/drawing/2014/main" id="{5889DA66-241B-445D-8ABF-7D5E3A892652}"/>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D22EA1A-3B0E-471C-B250-D087E8E78158}"/>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8B44DCBB-E5E7-4598-973A-8BD72733376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업무·평가 기록</a:t>
            </a:r>
          </a:p>
        </p:txBody>
      </p:sp>
      <p:sp>
        <p:nvSpPr>
          <p:cNvPr id="46" name="">
            <a:extLst xmlns:a="http://schemas.openxmlformats.org/drawingml/2006/main">
              <a:ext uri="{FF2B5EF4-FFF2-40B4-BE49-F238E27FC236}">
                <a16:creationId xmlns:a16="http://schemas.microsoft.com/office/drawing/2014/main" id="{6D484BF2-6EAF-4E28-B0AB-2CFA9ED545CB}"/>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64314869"/>
      </p:ext>
    </p:extLst>
  </p:cSld>
</p:sld>
</file>

<file path=ppt/slides/slide1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78E0F46-0ACD-437A-85FA-BDCD82BA4BD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논리 인터페이스·복구 설계</a:t>
            </a:r>
          </a:p>
        </p:txBody>
      </p:sp>
      <p:sp>
        <p:nvSpPr>
          <p:cNvPr id="2" name="">
            <a:extLst xmlns:a="http://schemas.openxmlformats.org/drawingml/2006/main">
              <a:ext uri="{FF2B5EF4-FFF2-40B4-BE49-F238E27FC236}">
                <a16:creationId xmlns:a16="http://schemas.microsoft.com/office/drawing/2014/main" id="{5CBAC82F-0310-468E-8690-7FF72D51328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데이터와 예외 처리</a:t>
            </a:r>
          </a:p>
        </p:txBody>
      </p:sp>
      <p:sp>
        <p:nvSpPr>
          <p:cNvPr id="3" name="">
            <a:extLst xmlns:a="http://schemas.openxmlformats.org/drawingml/2006/main">
              <a:ext uri="{FF2B5EF4-FFF2-40B4-BE49-F238E27FC236}">
                <a16:creationId xmlns:a16="http://schemas.microsoft.com/office/drawing/2014/main" id="{4F520B0D-9D9F-42B6-9CCE-8D6BBFDE388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8348216-44C7-4A8C-9323-0F8766296C5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7F41B7B-DE45-40EA-9881-8491F3BCDA0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134</a:t>
            </a:r>
          </a:p>
        </p:txBody>
      </p:sp>
      <p:sp>
        <p:nvSpPr>
          <p:cNvPr id="6" name="">
            <a:extLst xmlns:a="http://schemas.openxmlformats.org/drawingml/2006/main">
              <a:ext uri="{FF2B5EF4-FFF2-40B4-BE49-F238E27FC236}">
                <a16:creationId xmlns:a16="http://schemas.microsoft.com/office/drawing/2014/main" id="{24034BEB-D9C0-4C09-A15C-AEB5BFAA57AE}"/>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ECB92BF-81E1-42DA-BEF1-470195AB108B}"/>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AD8047E-FF42-499D-AF8E-216AC66C8A4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D571B234-F9E7-477C-BDF6-999BD7C0E07C}"/>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계정과 과업별 접근 문맥</a:t>
            </a:r>
          </a:p>
        </p:txBody>
      </p:sp>
      <p:sp>
        <p:nvSpPr>
          <p:cNvPr id="10" name="">
            <a:extLst xmlns:a="http://schemas.openxmlformats.org/drawingml/2006/main">
              <a:ext uri="{FF2B5EF4-FFF2-40B4-BE49-F238E27FC236}">
                <a16:creationId xmlns:a16="http://schemas.microsoft.com/office/drawing/2014/main" id="{03D4ED20-965B-4115-B8B2-01D01F47FFA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3B2C685-4420-45F6-AA4F-7039D9993A4E}"/>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3826708B-52FE-4DE0-8EB1-4C23D3A90AA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a:t>
            </a:r>
          </a:p>
        </p:txBody>
      </p:sp>
      <p:sp>
        <p:nvSpPr>
          <p:cNvPr id="13" name="">
            <a:extLst xmlns:a="http://schemas.openxmlformats.org/drawingml/2006/main">
              <a:ext uri="{FF2B5EF4-FFF2-40B4-BE49-F238E27FC236}">
                <a16:creationId xmlns:a16="http://schemas.microsoft.com/office/drawing/2014/main" id="{C5E177CD-2268-4F7F-80B3-7694157F04C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DD6CFAF-668A-4659-9670-E1ADF390197E}"/>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B26C6928-F637-4563-AC2F-BDF202BAEE0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B5605B2A-70E6-46E9-8090-178DE026291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C3AFE24-F8F9-436F-AB7C-0EBE7C260DC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FEF7C2A9-62BB-4DB7-9C24-CD960D1627B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초안</a:t>
            </a:r>
          </a:p>
        </p:txBody>
      </p:sp>
      <p:sp>
        <p:nvSpPr>
          <p:cNvPr id="19" name="">
            <a:extLst xmlns:a="http://schemas.openxmlformats.org/drawingml/2006/main">
              <a:ext uri="{FF2B5EF4-FFF2-40B4-BE49-F238E27FC236}">
                <a16:creationId xmlns:a16="http://schemas.microsoft.com/office/drawing/2014/main" id="{1F37CBDB-95FE-4BC8-ABCF-F511E5182C57}"/>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F3C4AD9-32E9-409E-8C0B-05F172D0A69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822DC953-4FA5-47AD-8988-948BE6747CA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초안</a:t>
            </a:r>
          </a:p>
        </p:txBody>
      </p:sp>
      <p:sp>
        <p:nvSpPr>
          <p:cNvPr id="22" name="">
            <a:extLst xmlns:a="http://schemas.openxmlformats.org/drawingml/2006/main">
              <a:ext uri="{FF2B5EF4-FFF2-40B4-BE49-F238E27FC236}">
                <a16:creationId xmlns:a16="http://schemas.microsoft.com/office/drawing/2014/main" id="{3E2C9502-FAFE-4CBD-B5DE-A5F20C37EC8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B264203-2AA8-474D-8328-A7F0AD8828D7}"/>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C125F48F-6D24-4382-879A-76D2DC356C3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검토·설문</a:t>
            </a:r>
          </a:p>
        </p:txBody>
      </p:sp>
      <p:sp>
        <p:nvSpPr>
          <p:cNvPr id="25" name="">
            <a:extLst xmlns:a="http://schemas.openxmlformats.org/drawingml/2006/main">
              <a:ext uri="{FF2B5EF4-FFF2-40B4-BE49-F238E27FC236}">
                <a16:creationId xmlns:a16="http://schemas.microsoft.com/office/drawing/2014/main" id="{B64E3ECD-674A-431E-8BA6-800D226DA43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28C8693-B491-468C-BA6C-801A2F61816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부서 공유문서·누락된 발언·잘못된 할일 배정</a:t>
            </a:r>
          </a:p>
        </p:txBody>
      </p:sp>
      <p:sp>
        <p:nvSpPr>
          <p:cNvPr id="27" name="">
            <a:extLst xmlns:a="http://schemas.openxmlformats.org/drawingml/2006/main">
              <a:ext uri="{FF2B5EF4-FFF2-40B4-BE49-F238E27FC236}">
                <a16:creationId xmlns:a16="http://schemas.microsoft.com/office/drawing/2014/main" id="{20B111DE-8F6D-4AA4-ABDE-B70665E6045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C5F730A-EC02-4D37-8604-5C977427BBB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과업의 실제 검토시간 비교</a:t>
            </a:r>
          </a:p>
        </p:txBody>
      </p:sp>
      <p:sp>
        <p:nvSpPr>
          <p:cNvPr id="29" name="">
            <a:extLst xmlns:a="http://schemas.openxmlformats.org/drawingml/2006/main">
              <a:ext uri="{FF2B5EF4-FFF2-40B4-BE49-F238E27FC236}">
                <a16:creationId xmlns:a16="http://schemas.microsoft.com/office/drawing/2014/main" id="{6CE5377C-FEDE-43DC-A1D9-1BD332399B2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693E7917-C314-4050-B077-E8721DFADE1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검토·재작업 시간과 사용 로그의 과업별 비교</a:t>
            </a:r>
          </a:p>
        </p:txBody>
      </p:sp>
      <p:sp>
        <p:nvSpPr>
          <p:cNvPr id="31" name="">
            <a:extLst xmlns:a="http://schemas.openxmlformats.org/drawingml/2006/main">
              <a:ext uri="{FF2B5EF4-FFF2-40B4-BE49-F238E27FC236}">
                <a16:creationId xmlns:a16="http://schemas.microsoft.com/office/drawing/2014/main" id="{5307C014-E94B-4863-BFA1-6B94A6C6DFA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7F421C4-9700-457B-B1E7-19D7CECB26A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권한별 결과와 검토·재작업을 포함한 과업 완료시간</a:t>
            </a:r>
          </a:p>
        </p:txBody>
      </p:sp>
    </p:spTree>
    <p:extLst>
      <p:ext uri="{BB962C8B-B14F-4D97-AF65-F5344CB8AC3E}">
        <p14:creationId xmlns:p14="http://schemas.microsoft.com/office/powerpoint/2010/main" val="1713626843"/>
      </p:ext>
    </p:extLst>
  </p:cSld>
</p:sld>
</file>

<file path=ppt/slides/slide1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0983317-4306-4D54-A618-43AE9B8FD1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PF-A13 / CCK 비교·재현 시험 설계</a:t>
            </a:r>
          </a:p>
        </p:txBody>
      </p:sp>
      <p:sp>
        <p:nvSpPr>
          <p:cNvPr id="2" name="">
            <a:extLst xmlns:a="http://schemas.openxmlformats.org/drawingml/2006/main">
              <a:ext uri="{FF2B5EF4-FFF2-40B4-BE49-F238E27FC236}">
                <a16:creationId xmlns:a16="http://schemas.microsoft.com/office/drawing/2014/main" id="{F7D68C56-9767-4C3F-B0D9-25680283DB5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Copilot 실험 · 벤치마킹</a:t>
            </a:r>
          </a:p>
        </p:txBody>
      </p:sp>
      <p:sp>
        <p:nvSpPr>
          <p:cNvPr id="3" name="">
            <a:extLst xmlns:a="http://schemas.openxmlformats.org/drawingml/2006/main">
              <a:ext uri="{FF2B5EF4-FFF2-40B4-BE49-F238E27FC236}">
                <a16:creationId xmlns:a16="http://schemas.microsoft.com/office/drawing/2014/main" id="{F60D8CFA-047C-4D32-8DB7-D5895056238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F2AF60-3E21-445E-B8CA-E01A213A476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1BA0063-13D2-4DA6-AC98-0C9F50E36D9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135</a:t>
            </a:r>
          </a:p>
        </p:txBody>
      </p:sp>
      <p:sp>
        <p:nvSpPr>
          <p:cNvPr id="6" name="">
            <a:extLst xmlns:a="http://schemas.openxmlformats.org/drawingml/2006/main">
              <a:ext uri="{FF2B5EF4-FFF2-40B4-BE49-F238E27FC236}">
                <a16:creationId xmlns:a16="http://schemas.microsoft.com/office/drawing/2014/main" id="{9AA975CD-30C7-428D-8F16-9C362FAD1AB0}"/>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33B28DD-A5FA-4ED7-9283-2E2902B8C12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협업 도구 내 AI 지원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교육·설문·활용 관측</a:t>
            </a:r>
          </a:p>
        </p:txBody>
      </p:sp>
      <p:sp>
        <p:nvSpPr>
          <p:cNvPr id="8" name="">
            <a:extLst xmlns:a="http://schemas.openxmlformats.org/drawingml/2006/main">
              <a:ext uri="{FF2B5EF4-FFF2-40B4-BE49-F238E27FC236}">
                <a16:creationId xmlns:a16="http://schemas.microsoft.com/office/drawing/2014/main" id="{23C89748-734B-40C8-8BD2-8C6B2AD329C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2AD7B765-EA59-4540-9BAF-913B0911D69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과업별 성과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자기보고 절감시간의 과대 일반화</a:t>
            </a:r>
          </a:p>
        </p:txBody>
      </p:sp>
      <p:sp>
        <p:nvSpPr>
          <p:cNvPr id="10" name="">
            <a:extLst xmlns:a="http://schemas.openxmlformats.org/drawingml/2006/main">
              <a:ext uri="{FF2B5EF4-FFF2-40B4-BE49-F238E27FC236}">
                <a16:creationId xmlns:a16="http://schemas.microsoft.com/office/drawing/2014/main" id="{92677C04-5D4E-44A1-B5F3-5BC52A9B145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6BC277A-F50F-4D46-9103-316FA217EF1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동일 과업의 실제 검토시간 비교</a:t>
            </a:r>
          </a:p>
        </p:txBody>
      </p:sp>
      <p:sp>
        <p:nvSpPr>
          <p:cNvPr id="12" name="">
            <a:extLst xmlns:a="http://schemas.openxmlformats.org/drawingml/2006/main">
              <a:ext uri="{FF2B5EF4-FFF2-40B4-BE49-F238E27FC236}">
                <a16:creationId xmlns:a16="http://schemas.microsoft.com/office/drawing/2014/main" id="{36E435C4-1F91-403D-BED5-D05A0D9A844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875205FB-A587-45C7-BF54-A21A00CC1CA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회의자료로 회의록 초안을 작성하고 직원이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수정·확정</a:t>
            </a:r>
          </a:p>
        </p:txBody>
      </p:sp>
      <p:sp>
        <p:nvSpPr>
          <p:cNvPr id="14" name="">
            <a:extLst xmlns:a="http://schemas.openxmlformats.org/drawingml/2006/main">
              <a:ext uri="{FF2B5EF4-FFF2-40B4-BE49-F238E27FC236}">
                <a16:creationId xmlns:a16="http://schemas.microsoft.com/office/drawing/2014/main" id="{7382F3B1-CBB4-4951-A988-820C69BAE46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EE34BEF4-1D76-4A3A-B595-EC310B44467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부서 공유문서·누락된 발언·잘못된 할일 배정</a:t>
            </a:r>
          </a:p>
        </p:txBody>
      </p:sp>
      <p:sp>
        <p:nvSpPr>
          <p:cNvPr id="16" name="">
            <a:extLst xmlns:a="http://schemas.openxmlformats.org/drawingml/2006/main">
              <a:ext uri="{FF2B5EF4-FFF2-40B4-BE49-F238E27FC236}">
                <a16:creationId xmlns:a16="http://schemas.microsoft.com/office/drawing/2014/main" id="{C69DD3F2-FCDD-4B04-B561-775705E9BCF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26CBF1A3-FDDB-4C5C-AF4A-6F92AE28079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결과와 검토·재작업을 포함한 과업 완료시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간</a:t>
            </a:r>
          </a:p>
        </p:txBody>
      </p:sp>
    </p:spTree>
    <p:extLst>
      <p:ext uri="{BB962C8B-B14F-4D97-AF65-F5344CB8AC3E}">
        <p14:creationId xmlns:p14="http://schemas.microsoft.com/office/powerpoint/2010/main" val="9034555"/>
      </p:ext>
    </p:extLst>
  </p:cSld>
</p:sld>
</file>

<file path=ppt/slides/slide1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ECE510E-10D2-4B6A-B5AD-CCDF4B79692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정책 의견수렴 분석 최초 실증(2025-05 발표) / 해외</a:t>
            </a:r>
          </a:p>
        </p:txBody>
      </p:sp>
      <p:sp>
        <p:nvSpPr>
          <p:cNvPr id="2" name="">
            <a:extLst xmlns:a="http://schemas.openxmlformats.org/drawingml/2006/main">
              <a:ext uri="{FF2B5EF4-FFF2-40B4-BE49-F238E27FC236}">
                <a16:creationId xmlns:a16="http://schemas.microsoft.com/office/drawing/2014/main" id="{4AE64859-B372-4A2A-93AF-1F1D78D69DD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a:t>
            </a:r>
          </a:p>
        </p:txBody>
      </p:sp>
      <p:sp>
        <p:nvSpPr>
          <p:cNvPr id="3" name="">
            <a:extLst xmlns:a="http://schemas.openxmlformats.org/drawingml/2006/main">
              <a:ext uri="{FF2B5EF4-FFF2-40B4-BE49-F238E27FC236}">
                <a16:creationId xmlns:a16="http://schemas.microsoft.com/office/drawing/2014/main" id="{A5A7DC1C-7AA3-4984-8C62-3731AF95584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06AA77-A6DD-4B3F-BF2E-BF13DFE86C0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AA81E6E-5C75-4FD1-AC3E-E424647DD7C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136</a:t>
            </a:r>
          </a:p>
        </p:txBody>
      </p:sp>
      <p:sp>
        <p:nvSpPr>
          <p:cNvPr id="6" name="">
            <a:extLst xmlns:a="http://schemas.openxmlformats.org/drawingml/2006/main">
              <a:ext uri="{FF2B5EF4-FFF2-40B4-BE49-F238E27FC236}">
                <a16:creationId xmlns:a16="http://schemas.microsoft.com/office/drawing/2014/main" id="{5103A1CD-0A21-40B5-BB61-F4DABE3DD820}"/>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C035DC9-91D3-4483-A9AA-E18E64853FBE}"/>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영국 Consult의 정책 의견수렴 분석 사례. 다수의 응답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주제별로 분류·요약해 정책 담당자의 검토를 돕는 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식이며 의견의 채택이나 정책 결정을 자동화하는 기능과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구분.</a:t>
            </a:r>
          </a:p>
        </p:txBody>
      </p:sp>
      <p:sp>
        <p:nvSpPr>
          <p:cNvPr id="8" name="">
            <a:extLst xmlns:a="http://schemas.openxmlformats.org/drawingml/2006/main">
              <a:ext uri="{FF2B5EF4-FFF2-40B4-BE49-F238E27FC236}">
                <a16:creationId xmlns:a16="http://schemas.microsoft.com/office/drawing/2014/main" id="{CA091624-EB03-4C23-85C9-5823E1A01FD3}"/>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3E09781-C626-41A1-8DAC-1A3A132CBC9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설문 문항·응답 원문을 입력하고 주제 후보 생성, 응답별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분류, 주제별 요약, 검토자의 수정으로 이어지는 논리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흐름. 원문 응답과 요약의 연결을 유지해 소수·반대 의견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 요약에서 누락됐는지 추적하는 구성.</a:t>
            </a:r>
          </a:p>
        </p:txBody>
      </p:sp>
      <p:sp>
        <p:nvSpPr>
          <p:cNvPr id="10" name="">
            <a:extLst xmlns:a="http://schemas.openxmlformats.org/drawingml/2006/main">
              <a:ext uri="{FF2B5EF4-FFF2-40B4-BE49-F238E27FC236}">
                <a16:creationId xmlns:a16="http://schemas.microsoft.com/office/drawing/2014/main" id="{A021ACDE-7013-4A5E-BC90-3A065275194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5882A0F-CBB7-4910-9812-CFF906B17D9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CCK의 민원·의견 분석에서는 전체 빈도만으로 성과를 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단하기 어려움. 다중 주제, 소수 의견, 상반된 입장, 부정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확한 인용을 포함한 정답셋과 담당자의 수정 시간을 함께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측정하는 방식의 적용.</a:t>
            </a:r>
          </a:p>
        </p:txBody>
      </p:sp>
      <p:sp>
        <p:nvSpPr>
          <p:cNvPr id="12" name="">
            <a:extLst xmlns:a="http://schemas.openxmlformats.org/drawingml/2006/main">
              <a:ext uri="{FF2B5EF4-FFF2-40B4-BE49-F238E27FC236}">
                <a16:creationId xmlns:a16="http://schemas.microsoft.com/office/drawing/2014/main" id="{9DF9436D-342E-47B1-8588-D0571CF2BE9E}"/>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8ADF16BC-9D37-4373-952F-942A03D4A71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업무분장·관할·복수부서 배정</a:t>
            </a:r>
          </a:p>
        </p:txBody>
      </p:sp>
      <p:sp>
        <p:nvSpPr>
          <p:cNvPr id="14" name="">
            <a:extLst xmlns:a="http://schemas.openxmlformats.org/drawingml/2006/main">
              <a:ext uri="{FF2B5EF4-FFF2-40B4-BE49-F238E27FC236}">
                <a16:creationId xmlns:a16="http://schemas.microsoft.com/office/drawing/2014/main" id="{117A50E1-9B3E-4DE0-843C-D4C7E4E77F0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86486C5A-CC04-49E3-A71D-C14EBC84997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재배정률·최종 해결시간의 기준선·비교 평가</a:t>
            </a:r>
          </a:p>
        </p:txBody>
      </p:sp>
      <p:sp>
        <p:nvSpPr>
          <p:cNvPr id="16" name="">
            <a:extLst xmlns:a="http://schemas.openxmlformats.org/drawingml/2006/main">
              <a:ext uri="{FF2B5EF4-FFF2-40B4-BE49-F238E27FC236}">
                <a16:creationId xmlns:a16="http://schemas.microsoft.com/office/drawing/2014/main" id="{5FC45660-64F9-4CAB-B934-29A38ACD6AD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458CCD9-0103-4795-BA8F-DE1B13A8816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재배정률·최종 해결시간</a:t>
            </a:r>
          </a:p>
        </p:txBody>
      </p:sp>
      <p:sp>
        <p:nvSpPr>
          <p:cNvPr id="18" name="">
            <a:extLst xmlns:a="http://schemas.openxmlformats.org/drawingml/2006/main">
              <a:ext uri="{FF2B5EF4-FFF2-40B4-BE49-F238E27FC236}">
                <a16:creationId xmlns:a16="http://schemas.microsoft.com/office/drawing/2014/main" id="{6616463E-5869-4401-A6BE-CAACFD14AA3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F1을 정확도76%로 쓰지 않음. 연7.5만일/2천만파운드는 전정부 확산 추정, 실현절감 아님</a:t>
            </a:r>
          </a:p>
        </p:txBody>
      </p:sp>
    </p:spTree>
    <p:extLst>
      <p:ext uri="{BB962C8B-B14F-4D97-AF65-F5344CB8AC3E}">
        <p14:creationId xmlns:p14="http://schemas.microsoft.com/office/powerpoint/2010/main" val="1696604934"/>
      </p:ext>
    </p:extLst>
  </p:cSld>
</p:sld>
</file>

<file path=ppt/slides/slide1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9FE05FD0-6C98-44E0-9CD4-8F13CE7B0041}"/>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CF90687-07A7-41A7-93E2-EFB8F3D4C6B3}"/>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28C3C0A-D80E-4ADD-8C08-E312B8EC0149}"/>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DA8B77C6-0212-4FA1-94EF-BBCA2FA5BAC5}"/>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B15B9BD-2DF2-40DE-85B3-DEC8981CCDD8}"/>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D5C47C4-0358-4E8C-A382-A63CFE42283B}"/>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1546C78-7643-420A-8BCC-11D07A9ACECB}"/>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12ECFC32-B14A-4A32-9104-6EE403D7B16A}"/>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F75DA91-83EE-43EC-8B80-3F663494B58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3763E192-2441-4B51-9EDC-04255F9BF82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원문 추출·대조·사람 확정</a:t>
            </a:r>
          </a:p>
        </p:txBody>
      </p:sp>
      <p:sp>
        <p:nvSpPr>
          <p:cNvPr id="2" name="">
            <a:extLst xmlns:a="http://schemas.openxmlformats.org/drawingml/2006/main">
              <a:ext uri="{FF2B5EF4-FFF2-40B4-BE49-F238E27FC236}">
                <a16:creationId xmlns:a16="http://schemas.microsoft.com/office/drawing/2014/main" id="{DDACB932-E17A-4ABE-A959-CA6C1B3D28A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세부 서비스 구조</a:t>
            </a:r>
          </a:p>
        </p:txBody>
      </p:sp>
      <p:sp>
        <p:nvSpPr>
          <p:cNvPr id="3" name="">
            <a:extLst xmlns:a="http://schemas.openxmlformats.org/drawingml/2006/main">
              <a:ext uri="{FF2B5EF4-FFF2-40B4-BE49-F238E27FC236}">
                <a16:creationId xmlns:a16="http://schemas.microsoft.com/office/drawing/2014/main" id="{DA862C8A-EE5E-4467-969B-0D0B46876A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84A350B-1704-4EEC-B7F0-E856139C386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6B5BE32-DA28-4A66-A28E-3C6AF6A724E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137</a:t>
            </a:r>
          </a:p>
        </p:txBody>
      </p:sp>
      <p:sp>
        <p:nvSpPr>
          <p:cNvPr id="6" name="">
            <a:extLst xmlns:a="http://schemas.openxmlformats.org/drawingml/2006/main">
              <a:ext uri="{FF2B5EF4-FFF2-40B4-BE49-F238E27FC236}">
                <a16:creationId xmlns:a16="http://schemas.microsoft.com/office/drawing/2014/main" id="{373738D3-E77B-4FB2-813D-89D54C4492C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정책 의견 → 주제 분류 → 분석·요약 → 공무원 수정</a:t>
            </a:r>
          </a:p>
        </p:txBody>
      </p:sp>
      <p:sp>
        <p:nvSpPr>
          <p:cNvPr id="7" name="">
            <a:extLst xmlns:a="http://schemas.openxmlformats.org/drawingml/2006/main">
              <a:ext uri="{FF2B5EF4-FFF2-40B4-BE49-F238E27FC236}">
                <a16:creationId xmlns:a16="http://schemas.microsoft.com/office/drawing/2014/main" id="{7CB21DD3-3764-483F-9404-8D26713D858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EB7499CD-53BE-4606-9308-1DBADCC0727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91155C44-DA6D-4CE1-8354-0CDF7D2FED3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 의견 접수</a:t>
            </a:r>
          </a:p>
        </p:txBody>
      </p:sp>
      <p:sp>
        <p:nvSpPr>
          <p:cNvPr id="10" name="">
            <a:extLst xmlns:a="http://schemas.openxmlformats.org/drawingml/2006/main">
              <a:ext uri="{FF2B5EF4-FFF2-40B4-BE49-F238E27FC236}">
                <a16:creationId xmlns:a16="http://schemas.microsoft.com/office/drawing/2014/main" id="{4AA08B28-8453-4F09-8F7D-FC63A5C14361}"/>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A92B12B-0B0A-4FB1-AF45-18EFF22F04B2}"/>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9B96134D-FC68-4305-A678-ED6DC5508E4D}"/>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주제 분류·요약</a:t>
            </a:r>
          </a:p>
        </p:txBody>
      </p:sp>
      <p:sp>
        <p:nvSpPr>
          <p:cNvPr id="13" name="">
            <a:extLst xmlns:a="http://schemas.openxmlformats.org/drawingml/2006/main">
              <a:ext uri="{FF2B5EF4-FFF2-40B4-BE49-F238E27FC236}">
                <a16:creationId xmlns:a16="http://schemas.microsoft.com/office/drawing/2014/main" id="{F0CA2E61-FBDF-46E0-B230-37F9EDA45313}"/>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DF49E8A5-8513-4B42-AD0F-5778AFE31222}"/>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C141402C-D05A-463A-A556-01F6C0D6E8E1}"/>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소수·반대 의견 검사</a:t>
            </a:r>
          </a:p>
        </p:txBody>
      </p:sp>
      <p:sp>
        <p:nvSpPr>
          <p:cNvPr id="16" name="">
            <a:extLst xmlns:a="http://schemas.openxmlformats.org/drawingml/2006/main">
              <a:ext uri="{FF2B5EF4-FFF2-40B4-BE49-F238E27FC236}">
                <a16:creationId xmlns:a16="http://schemas.microsoft.com/office/drawing/2014/main" id="{35EC708A-F6E8-43AD-88C4-EA3F334E902E}"/>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EFFA7E2-0612-4950-ADFB-C79885F8C2E4}"/>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8338D78C-9321-467C-9F30-4BCE1964812F}"/>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공무원 수정</a:t>
            </a:r>
          </a:p>
        </p:txBody>
      </p:sp>
      <p:sp>
        <p:nvSpPr>
          <p:cNvPr id="19" name="">
            <a:extLst xmlns:a="http://schemas.openxmlformats.org/drawingml/2006/main">
              <a:ext uri="{FF2B5EF4-FFF2-40B4-BE49-F238E27FC236}">
                <a16:creationId xmlns:a16="http://schemas.microsoft.com/office/drawing/2014/main" id="{A3B2BBC6-254C-48A1-A3B0-FC7A51619FD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A7EB7CD-446F-45BB-94AA-DB95A446F11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3D13B336-55B9-47E1-A48A-9AA11166FA1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 분석 자료</a:t>
            </a:r>
          </a:p>
        </p:txBody>
      </p:sp>
      <p:sp>
        <p:nvSpPr>
          <p:cNvPr id="22" name="">
            <a:extLst xmlns:a="http://schemas.openxmlformats.org/drawingml/2006/main">
              <a:ext uri="{FF2B5EF4-FFF2-40B4-BE49-F238E27FC236}">
                <a16:creationId xmlns:a16="http://schemas.microsoft.com/office/drawing/2014/main" id="{FCE54183-231B-4931-B2D5-7E1A8874A9E9}"/>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31F1416-D86B-40D5-8E71-A3B87E62E9C3}"/>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0208EFB3-3300-4886-8801-282052E66A43}"/>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응답·문항 자료</a:t>
            </a:r>
          </a:p>
        </p:txBody>
      </p:sp>
      <p:sp>
        <p:nvSpPr>
          <p:cNvPr id="25" name="">
            <a:extLst xmlns:a="http://schemas.openxmlformats.org/drawingml/2006/main">
              <a:ext uri="{FF2B5EF4-FFF2-40B4-BE49-F238E27FC236}">
                <a16:creationId xmlns:a16="http://schemas.microsoft.com/office/drawing/2014/main" id="{1868AE52-6DA5-42DF-A8DA-87E25753F5E7}"/>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2FD8EF7-1B89-4C12-9D61-CA0DB86C50F2}"/>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F58A0E19-F661-4473-823B-A4AA762A2ABB}"/>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원문·분류 연결</a:t>
            </a:r>
          </a:p>
        </p:txBody>
      </p:sp>
      <p:sp>
        <p:nvSpPr>
          <p:cNvPr id="28" name="">
            <a:extLst xmlns:a="http://schemas.openxmlformats.org/drawingml/2006/main">
              <a:ext uri="{FF2B5EF4-FFF2-40B4-BE49-F238E27FC236}">
                <a16:creationId xmlns:a16="http://schemas.microsoft.com/office/drawing/2014/main" id="{69881435-EEFC-42DA-8AAA-A585BB180223}"/>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1EA2399-F8F4-41DF-A599-0FA6D03DF4A9}"/>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92A7247F-D3EA-435F-93F2-6752CAB11AE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응답 원문 조회</a:t>
            </a:r>
          </a:p>
        </p:txBody>
      </p:sp>
      <p:sp>
        <p:nvSpPr>
          <p:cNvPr id="31" name="">
            <a:extLst xmlns:a="http://schemas.openxmlformats.org/drawingml/2006/main">
              <a:ext uri="{FF2B5EF4-FFF2-40B4-BE49-F238E27FC236}">
                <a16:creationId xmlns:a16="http://schemas.microsoft.com/office/drawing/2014/main" id="{E0C1CFF7-0863-4289-B0EF-BE07395D7483}"/>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8EDA894-50C0-4184-A642-CE334B9F5E77}"/>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6674C199-9AD7-4520-8358-8CA8877BDAA9}"/>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주제·검토 이력</a:t>
            </a:r>
          </a:p>
        </p:txBody>
      </p:sp>
      <p:sp>
        <p:nvSpPr>
          <p:cNvPr id="34" name="">
            <a:extLst xmlns:a="http://schemas.openxmlformats.org/drawingml/2006/main">
              <a:ext uri="{FF2B5EF4-FFF2-40B4-BE49-F238E27FC236}">
                <a16:creationId xmlns:a16="http://schemas.microsoft.com/office/drawing/2014/main" id="{5D9FED62-A3F8-4061-91B9-F079FC55592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F240FFCF-5853-45A5-AF68-A89A2F37838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DDE60FF2-03A4-4B8F-98EF-4D14B4A41BF7}"/>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수작업 대조</a:t>
            </a:r>
          </a:p>
        </p:txBody>
      </p:sp>
      <p:sp>
        <p:nvSpPr>
          <p:cNvPr id="46" name="">
            <a:extLst xmlns:a="http://schemas.openxmlformats.org/drawingml/2006/main">
              <a:ext uri="{FF2B5EF4-FFF2-40B4-BE49-F238E27FC236}">
                <a16:creationId xmlns:a16="http://schemas.microsoft.com/office/drawing/2014/main" id="{5BA75D68-BBB4-48D1-B28E-6F1B79F11C0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2393670"/>
      </p:ext>
    </p:extLst>
  </p:cSld>
</p:sld>
</file>

<file path=ppt/slides/slide1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3F5DF0E-6EDA-46E2-B060-5CB64032D59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논리 인터페이스·복구 설계</a:t>
            </a:r>
          </a:p>
        </p:txBody>
      </p:sp>
      <p:sp>
        <p:nvSpPr>
          <p:cNvPr id="2" name="">
            <a:extLst xmlns:a="http://schemas.openxmlformats.org/drawingml/2006/main">
              <a:ext uri="{FF2B5EF4-FFF2-40B4-BE49-F238E27FC236}">
                <a16:creationId xmlns:a16="http://schemas.microsoft.com/office/drawing/2014/main" id="{6E4AE351-4743-4DDB-9915-C4CA900D880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데이터와 예외 처리</a:t>
            </a:r>
          </a:p>
        </p:txBody>
      </p:sp>
      <p:sp>
        <p:nvSpPr>
          <p:cNvPr id="3" name="">
            <a:extLst xmlns:a="http://schemas.openxmlformats.org/drawingml/2006/main">
              <a:ext uri="{FF2B5EF4-FFF2-40B4-BE49-F238E27FC236}">
                <a16:creationId xmlns:a16="http://schemas.microsoft.com/office/drawing/2014/main" id="{5F0354A5-D3D2-49E2-A5F6-EAEBC0AC5A2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6913F7-0E29-46FC-8046-C5F396D54AC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C62F6DA-8C2B-4119-92EC-C7EBB3B9145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138</a:t>
            </a:r>
          </a:p>
        </p:txBody>
      </p:sp>
      <p:sp>
        <p:nvSpPr>
          <p:cNvPr id="6" name="">
            <a:extLst xmlns:a="http://schemas.openxmlformats.org/drawingml/2006/main">
              <a:ext uri="{FF2B5EF4-FFF2-40B4-BE49-F238E27FC236}">
                <a16:creationId xmlns:a16="http://schemas.microsoft.com/office/drawing/2014/main" id="{E173ADE5-FAD4-4BD6-B1FE-980C7C5F105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D081796-73B5-4351-A4DA-F111B7651A8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1B38912-9EF1-4976-881E-3C65F1EB7FF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EA8F5B42-06AB-4564-A78A-635AC0A3A3D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의견 원문·주제</a:t>
            </a:r>
          </a:p>
        </p:txBody>
      </p:sp>
      <p:sp>
        <p:nvSpPr>
          <p:cNvPr id="10" name="">
            <a:extLst xmlns:a="http://schemas.openxmlformats.org/drawingml/2006/main">
              <a:ext uri="{FF2B5EF4-FFF2-40B4-BE49-F238E27FC236}">
                <a16:creationId xmlns:a16="http://schemas.microsoft.com/office/drawing/2014/main" id="{B4D8BFF0-BEB0-4D7E-B6DF-51F346D9DCD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D2AD63-1688-418A-BDA7-31A0DA0CF44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F378B44B-B9F5-446B-8033-433AC14228D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9DC5CC81-4922-495B-B434-C52A3560895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36B0CD-C8A3-4B89-BCA1-465CE7B6394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F267894B-A6C2-4E73-989B-A6BD84358F3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주제별 요약</a:t>
            </a:r>
          </a:p>
        </p:txBody>
      </p:sp>
      <p:sp>
        <p:nvSpPr>
          <p:cNvPr id="16" name="">
            <a:extLst xmlns:a="http://schemas.openxmlformats.org/drawingml/2006/main">
              <a:ext uri="{FF2B5EF4-FFF2-40B4-BE49-F238E27FC236}">
                <a16:creationId xmlns:a16="http://schemas.microsoft.com/office/drawing/2014/main" id="{6547D7C9-F238-4F85-87DC-2F459279D8C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2600F18-C35F-4A23-A56E-A95BB53E3016}"/>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0D00CB87-5609-4213-9320-D5A8BF48C5EE}"/>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 후보</a:t>
            </a:r>
          </a:p>
        </p:txBody>
      </p:sp>
      <p:sp>
        <p:nvSpPr>
          <p:cNvPr id="19" name="">
            <a:extLst xmlns:a="http://schemas.openxmlformats.org/drawingml/2006/main">
              <a:ext uri="{FF2B5EF4-FFF2-40B4-BE49-F238E27FC236}">
                <a16:creationId xmlns:a16="http://schemas.microsoft.com/office/drawing/2014/main" id="{10BC45DA-57D4-44E8-870F-96DD2519D25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1D4CE25-B068-4445-A7EA-D40209785E7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35896759-B2D2-469D-B856-ECF3E492772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주제별 요약</a:t>
            </a:r>
          </a:p>
        </p:txBody>
      </p:sp>
      <p:sp>
        <p:nvSpPr>
          <p:cNvPr id="22" name="">
            <a:extLst xmlns:a="http://schemas.openxmlformats.org/drawingml/2006/main">
              <a:ext uri="{FF2B5EF4-FFF2-40B4-BE49-F238E27FC236}">
                <a16:creationId xmlns:a16="http://schemas.microsoft.com/office/drawing/2014/main" id="{8607C9E7-1EED-4F55-9CEB-39E39CF9E1C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3C95AD4-03EA-4323-B744-2688F181039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0296E649-98E0-4969-9FEA-AE37A98EF52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검증</a:t>
            </a:r>
          </a:p>
        </p:txBody>
      </p:sp>
      <p:sp>
        <p:nvSpPr>
          <p:cNvPr id="25" name="">
            <a:extLst xmlns:a="http://schemas.openxmlformats.org/drawingml/2006/main">
              <a:ext uri="{FF2B5EF4-FFF2-40B4-BE49-F238E27FC236}">
                <a16:creationId xmlns:a16="http://schemas.microsoft.com/office/drawing/2014/main" id="{63617AFD-7CBE-45D0-AFFA-E62D0F1F2B4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23E0ED6F-C3E8-4F2B-8306-4F15FD633E2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소수 의견·반대 의견·복수 주제·중복 제출</a:t>
            </a:r>
          </a:p>
        </p:txBody>
      </p:sp>
      <p:sp>
        <p:nvSpPr>
          <p:cNvPr id="27" name="">
            <a:extLst xmlns:a="http://schemas.openxmlformats.org/drawingml/2006/main">
              <a:ext uri="{FF2B5EF4-FFF2-40B4-BE49-F238E27FC236}">
                <a16:creationId xmlns:a16="http://schemas.microsoft.com/office/drawing/2014/main" id="{C88B57F9-EB54-4224-957C-29ACDD57C1E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81DDA91-7BBB-4021-B6AB-1685A0007FF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소수 의견 재현·원문 역추적</a:t>
            </a:r>
          </a:p>
        </p:txBody>
      </p:sp>
      <p:sp>
        <p:nvSpPr>
          <p:cNvPr id="29" name="">
            <a:extLst xmlns:a="http://schemas.openxmlformats.org/drawingml/2006/main">
              <a:ext uri="{FF2B5EF4-FFF2-40B4-BE49-F238E27FC236}">
                <a16:creationId xmlns:a16="http://schemas.microsoft.com/office/drawing/2014/main" id="{EFCB4F15-65A4-45BE-B4D1-77406CAC68A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079FCF65-4D7E-48C5-AB46-D93DB0C11EB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수작업 결과와 대조해 분류·누락 오류 보정</a:t>
            </a:r>
          </a:p>
        </p:txBody>
      </p:sp>
      <p:sp>
        <p:nvSpPr>
          <p:cNvPr id="31" name="">
            <a:extLst xmlns:a="http://schemas.openxmlformats.org/drawingml/2006/main">
              <a:ext uri="{FF2B5EF4-FFF2-40B4-BE49-F238E27FC236}">
                <a16:creationId xmlns:a16="http://schemas.microsoft.com/office/drawing/2014/main" id="{AF7B3686-A11D-45B7-8DF2-39AE593DD63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CF18FF0-104B-480B-BC7B-9A48D2D15060}"/>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주제별 원문 재현과 누락·오분류 수정 기록</a:t>
            </a:r>
          </a:p>
        </p:txBody>
      </p:sp>
    </p:spTree>
    <p:extLst>
      <p:ext uri="{BB962C8B-B14F-4D97-AF65-F5344CB8AC3E}">
        <p14:creationId xmlns:p14="http://schemas.microsoft.com/office/powerpoint/2010/main" val="1161424972"/>
      </p:ext>
    </p:extLst>
  </p:cSld>
</p:sld>
</file>

<file path=ppt/slides/slide1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02B5CAC-E931-4A65-9B75-847B56C7E15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PF-A14 / CCK 비교·재현 시험 설계</a:t>
            </a:r>
          </a:p>
        </p:txBody>
      </p:sp>
      <p:sp>
        <p:nvSpPr>
          <p:cNvPr id="2" name="">
            <a:extLst xmlns:a="http://schemas.openxmlformats.org/drawingml/2006/main">
              <a:ext uri="{FF2B5EF4-FFF2-40B4-BE49-F238E27FC236}">
                <a16:creationId xmlns:a16="http://schemas.microsoft.com/office/drawing/2014/main" id="{236C3F2F-35CF-4497-9281-60113DA8414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Consult · 벤치마킹</a:t>
            </a:r>
          </a:p>
        </p:txBody>
      </p:sp>
      <p:sp>
        <p:nvSpPr>
          <p:cNvPr id="3" name="">
            <a:extLst xmlns:a="http://schemas.openxmlformats.org/drawingml/2006/main">
              <a:ext uri="{FF2B5EF4-FFF2-40B4-BE49-F238E27FC236}">
                <a16:creationId xmlns:a16="http://schemas.microsoft.com/office/drawing/2014/main" id="{110AB319-9880-4781-BF27-EFA4009EBCA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F56E52E-2EAA-48B7-8C31-912F8E712D0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C494641-2686-4DFE-8D05-285B30875B8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139</a:t>
            </a:r>
          </a:p>
        </p:txBody>
      </p:sp>
      <p:sp>
        <p:nvSpPr>
          <p:cNvPr id="6" name="">
            <a:extLst xmlns:a="http://schemas.openxmlformats.org/drawingml/2006/main">
              <a:ext uri="{FF2B5EF4-FFF2-40B4-BE49-F238E27FC236}">
                <a16:creationId xmlns:a16="http://schemas.microsoft.com/office/drawing/2014/main" id="{DE37AC62-C5D9-4E0B-AFF6-C947F3D9CF7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3F788992-00D9-4E9B-90C6-F9915C16789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대량 의견의 주제 분류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공무원 수정·해석과 결합</a:t>
            </a:r>
          </a:p>
        </p:txBody>
      </p:sp>
      <p:sp>
        <p:nvSpPr>
          <p:cNvPr id="8" name="">
            <a:extLst xmlns:a="http://schemas.openxmlformats.org/drawingml/2006/main">
              <a:ext uri="{FF2B5EF4-FFF2-40B4-BE49-F238E27FC236}">
                <a16:creationId xmlns:a16="http://schemas.microsoft.com/office/drawing/2014/main" id="{6F64066A-0A19-4A8D-8CC7-FA68F499A4A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22B5247-2B53-4457-8428-CE58912A4522}"/>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소수 의견·반대 근거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주제 빈도와 정책 타당성 혼동</a:t>
            </a:r>
          </a:p>
        </p:txBody>
      </p:sp>
      <p:sp>
        <p:nvSpPr>
          <p:cNvPr id="10" name="">
            <a:extLst xmlns:a="http://schemas.openxmlformats.org/drawingml/2006/main">
              <a:ext uri="{FF2B5EF4-FFF2-40B4-BE49-F238E27FC236}">
                <a16:creationId xmlns:a16="http://schemas.microsoft.com/office/drawing/2014/main" id="{03349B24-A8F2-4652-BD6D-0FCFFE39AE88}"/>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C50A244-8FBB-4225-B3A1-7EC2DF58E22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소수 의견 재현·원문 역추적</a:t>
            </a:r>
          </a:p>
        </p:txBody>
      </p:sp>
      <p:sp>
        <p:nvSpPr>
          <p:cNvPr id="12" name="">
            <a:extLst xmlns:a="http://schemas.openxmlformats.org/drawingml/2006/main">
              <a:ext uri="{FF2B5EF4-FFF2-40B4-BE49-F238E27FC236}">
                <a16:creationId xmlns:a16="http://schemas.microsoft.com/office/drawing/2014/main" id="{EE123DA0-409E-4E6F-AD19-B6E5EECB7AA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3CE5435-EDB9-4198-9FA1-E42D4420BED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정책 의견을 주제별 분류하고 원문을 검토</a:t>
            </a:r>
          </a:p>
        </p:txBody>
      </p:sp>
      <p:sp>
        <p:nvSpPr>
          <p:cNvPr id="14" name="">
            <a:extLst xmlns:a="http://schemas.openxmlformats.org/drawingml/2006/main">
              <a:ext uri="{FF2B5EF4-FFF2-40B4-BE49-F238E27FC236}">
                <a16:creationId xmlns:a16="http://schemas.microsoft.com/office/drawing/2014/main" id="{884A9887-15D7-4484-AAD5-2EC64E4F3C92}"/>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13DF225-F0D1-479D-813F-98E5BB5B294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소수 의견·반대 의견·복수 주제·중복 제출</a:t>
            </a:r>
          </a:p>
        </p:txBody>
      </p:sp>
      <p:sp>
        <p:nvSpPr>
          <p:cNvPr id="16" name="">
            <a:extLst xmlns:a="http://schemas.openxmlformats.org/drawingml/2006/main">
              <a:ext uri="{FF2B5EF4-FFF2-40B4-BE49-F238E27FC236}">
                <a16:creationId xmlns:a16="http://schemas.microsoft.com/office/drawing/2014/main" id="{25694446-3C8C-4885-9504-25824A20157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57C9F4C-6F01-4C9A-B562-8B27B00A28F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주제별 원문 재현과 누락·오분류 수정 기록</a:t>
            </a:r>
          </a:p>
        </p:txBody>
      </p:sp>
    </p:spTree>
    <p:extLst>
      <p:ext uri="{BB962C8B-B14F-4D97-AF65-F5344CB8AC3E}">
        <p14:creationId xmlns:p14="http://schemas.microsoft.com/office/powerpoint/2010/main" val="640871883"/>
      </p:ext>
    </p:extLst>
  </p:cSld>
</p:sld>
</file>

<file path=ppt/slides/slide1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D6046A6-4083-4410-8BA5-35F4DFB0E35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2024-01~06 정부 실험·평가 / 해외</a:t>
            </a:r>
          </a:p>
        </p:txBody>
      </p:sp>
      <p:sp>
        <p:nvSpPr>
          <p:cNvPr id="2" name="">
            <a:extLst xmlns:a="http://schemas.openxmlformats.org/drawingml/2006/main">
              <a:ext uri="{FF2B5EF4-FFF2-40B4-BE49-F238E27FC236}">
                <a16:creationId xmlns:a16="http://schemas.microsoft.com/office/drawing/2014/main" id="{0571B999-ABE9-49FA-975F-735D555DFA8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a:t>
            </a:r>
          </a:p>
        </p:txBody>
      </p:sp>
      <p:sp>
        <p:nvSpPr>
          <p:cNvPr id="3" name="">
            <a:extLst xmlns:a="http://schemas.openxmlformats.org/drawingml/2006/main">
              <a:ext uri="{FF2B5EF4-FFF2-40B4-BE49-F238E27FC236}">
                <a16:creationId xmlns:a16="http://schemas.microsoft.com/office/drawing/2014/main" id="{B2F6C333-0F9D-427E-8304-B1F6B8C4D75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11BB86-8062-420A-8142-1076F946934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DEF83E-D494-4F4B-A445-97086C69646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140</a:t>
            </a:r>
          </a:p>
        </p:txBody>
      </p:sp>
      <p:sp>
        <p:nvSpPr>
          <p:cNvPr id="6" name="">
            <a:extLst xmlns:a="http://schemas.openxmlformats.org/drawingml/2006/main">
              <a:ext uri="{FF2B5EF4-FFF2-40B4-BE49-F238E27FC236}">
                <a16:creationId xmlns:a16="http://schemas.microsoft.com/office/drawing/2014/main" id="{7D9A7327-FFE3-4501-B2E3-8C1E309C11B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EC9CADBF-3515-4C35-9DBB-D815134146B8}"/>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호주 공공부문 Microsoft 365 Copilot 시험의 평가 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례. 기관 직원이 실제 업무에서 협업 AI를 사용하고 이용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경험·과업 효과·교육 부담을 비교하는 접근.</a:t>
            </a:r>
          </a:p>
        </p:txBody>
      </p:sp>
      <p:sp>
        <p:nvSpPr>
          <p:cNvPr id="8" name="">
            <a:extLst xmlns:a="http://schemas.openxmlformats.org/drawingml/2006/main">
              <a:ext uri="{FF2B5EF4-FFF2-40B4-BE49-F238E27FC236}">
                <a16:creationId xmlns:a16="http://schemas.microsoft.com/office/drawing/2014/main" id="{AF47B8D5-7301-4952-9FF2-D2B8BBFAF2D8}"/>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CC1E17A-1B0C-4E63-8E97-47E19473850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협업 도구와 문서 공유 권한 위에서 문서·회의·검색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지원을 수행하는 구조. 이용 로그·설문 응답·과업 평가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분리해 수집하고 기관·업무·숙련도에 따른 효과 편차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확인하는 평가 설계.</a:t>
            </a:r>
          </a:p>
        </p:txBody>
      </p:sp>
      <p:sp>
        <p:nvSpPr>
          <p:cNvPr id="10" name="">
            <a:extLst xmlns:a="http://schemas.openxmlformats.org/drawingml/2006/main">
              <a:ext uri="{FF2B5EF4-FFF2-40B4-BE49-F238E27FC236}">
                <a16:creationId xmlns:a16="http://schemas.microsoft.com/office/drawing/2014/main" id="{CE013898-7B71-44D9-A4E7-6C09CCE351F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DA3B276-22AE-42AB-B4E6-58331B02C65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보고된 시간 절감 수치를 TS의 기대효과로 직접 전용하지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않는 것이 핵심. 도구 이용자와 미이용자의 업무 난도, 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토시간, 오류 수정비용을 맞추어 비교하고 과도하게 공유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된 기존 문서의 검색 노출도 별도 점검.</a:t>
            </a:r>
          </a:p>
        </p:txBody>
      </p:sp>
      <p:sp>
        <p:nvSpPr>
          <p:cNvPr id="12" name="">
            <a:extLst xmlns:a="http://schemas.openxmlformats.org/drawingml/2006/main">
              <a:ext uri="{FF2B5EF4-FFF2-40B4-BE49-F238E27FC236}">
                <a16:creationId xmlns:a16="http://schemas.microsoft.com/office/drawing/2014/main" id="{B4FA2510-41DC-4689-896A-BAEAD5808E1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4E38329-AFAF-469E-9A4E-2FF16B14530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부서·직무·권한·변경 교차 평가</a:t>
            </a:r>
          </a:p>
        </p:txBody>
      </p:sp>
      <p:sp>
        <p:nvSpPr>
          <p:cNvPr id="14" name="">
            <a:extLst xmlns:a="http://schemas.openxmlformats.org/drawingml/2006/main">
              <a:ext uri="{FF2B5EF4-FFF2-40B4-BE49-F238E27FC236}">
                <a16:creationId xmlns:a16="http://schemas.microsoft.com/office/drawing/2014/main" id="{E5FCCB76-7F92-4FE8-8EF6-F0AF3E3D2BD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9CEF3B39-242E-4C61-84A8-DC9BE5AA9AE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완료시간·오류·총비용의 기준선·비교 평가</a:t>
            </a:r>
          </a:p>
        </p:txBody>
      </p:sp>
      <p:sp>
        <p:nvSpPr>
          <p:cNvPr id="16" name="">
            <a:extLst xmlns:a="http://schemas.openxmlformats.org/drawingml/2006/main">
              <a:ext uri="{FF2B5EF4-FFF2-40B4-BE49-F238E27FC236}">
                <a16:creationId xmlns:a16="http://schemas.microsoft.com/office/drawing/2014/main" id="{92154748-CA77-4EA2-8B54-619F46268EAC}"/>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FE94C474-CF90-44BB-BBC9-8BF47FBF4B4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완료시간·오류·총비용</a:t>
            </a:r>
          </a:p>
        </p:txBody>
      </p:sp>
      <p:sp>
        <p:nvSpPr>
          <p:cNvPr id="18" name="">
            <a:extLst xmlns:a="http://schemas.openxmlformats.org/drawingml/2006/main">
              <a:ext uri="{FF2B5EF4-FFF2-40B4-BE49-F238E27FC236}">
                <a16:creationId xmlns:a16="http://schemas.microsoft.com/office/drawing/2014/main" id="{C799A9A3-6EAB-41E4-A799-0EB8A6DE110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무작위 실험 아님. 일부 업무 하루1시간 체감 절감을 전직원 실측값으로 사용 금지</a:t>
            </a:r>
          </a:p>
        </p:txBody>
      </p:sp>
    </p:spTree>
    <p:extLst>
      <p:ext uri="{BB962C8B-B14F-4D97-AF65-F5344CB8AC3E}">
        <p14:creationId xmlns:p14="http://schemas.microsoft.com/office/powerpoint/2010/main" val="359763436"/>
      </p:ext>
    </p:extLst>
  </p:cSld>
</p:sld>
</file>

<file path=ppt/slides/slide1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586D91D4-8B92-406A-9AAD-921E57615663}"/>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4ECBD234-E49C-4829-8F6C-3BC415785C49}"/>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79923D81-4DB2-49C9-9A66-DA1BED3885C0}"/>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623F9D11-A0D3-4420-A31F-FD473C8A8891}"/>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D34D47C4-3608-4D13-9CC8-B845FA5CD7A9}"/>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E110B550-4CF8-4186-859C-43947DDAB111}"/>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C19198F3-24E0-45C4-9D79-1AD5D1935502}"/>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5646813B-2630-49CF-8624-959AAA8A9BEC}"/>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22ECA052-ACEC-4FB2-A8F6-05E8110983F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복수 자료 결합·분석·검토·평가</a:t>
            </a:r>
          </a:p>
        </p:txBody>
      </p:sp>
      <p:sp>
        <p:nvSpPr>
          <p:cNvPr id="2" name="">
            <a:extLst xmlns:a="http://schemas.openxmlformats.org/drawingml/2006/main">
              <a:ext uri="{FF2B5EF4-FFF2-40B4-BE49-F238E27FC236}">
                <a16:creationId xmlns:a16="http://schemas.microsoft.com/office/drawing/2014/main" id="{870913A4-8F82-4F08-9ABC-3891F59F29F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세부 서비스 구조</a:t>
            </a:r>
          </a:p>
        </p:txBody>
      </p:sp>
      <p:sp>
        <p:nvSpPr>
          <p:cNvPr id="3" name="">
            <a:extLst xmlns:a="http://schemas.openxmlformats.org/drawingml/2006/main">
              <a:ext uri="{FF2B5EF4-FFF2-40B4-BE49-F238E27FC236}">
                <a16:creationId xmlns:a16="http://schemas.microsoft.com/office/drawing/2014/main" id="{7F92C2E5-3B48-4966-9E52-03FC942D4FD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95704AF-57AA-40E0-A05B-62A9EC1202D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534D6DE-527D-407D-8570-0F9858696E5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141</a:t>
            </a:r>
          </a:p>
        </p:txBody>
      </p:sp>
      <p:sp>
        <p:nvSpPr>
          <p:cNvPr id="6" name="">
            <a:extLst xmlns:a="http://schemas.openxmlformats.org/drawingml/2006/main">
              <a:ext uri="{FF2B5EF4-FFF2-40B4-BE49-F238E27FC236}">
                <a16:creationId xmlns:a16="http://schemas.microsoft.com/office/drawing/2014/main" id="{4ED2C591-3813-4438-AA45-4F5F6B841D3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참여 기관 → 협업 AI 도구 → 교육·업무 활용 → 전후 설문 평가</a:t>
            </a:r>
          </a:p>
        </p:txBody>
      </p:sp>
      <p:sp>
        <p:nvSpPr>
          <p:cNvPr id="7" name="">
            <a:extLst xmlns:a="http://schemas.openxmlformats.org/drawingml/2006/main">
              <a:ext uri="{FF2B5EF4-FFF2-40B4-BE49-F238E27FC236}">
                <a16:creationId xmlns:a16="http://schemas.microsoft.com/office/drawing/2014/main" id="{B329F900-E1D6-4E7E-A323-F5A0065CBD6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3BCA5C3-42F4-4E9F-B5C8-AEADD5DAA44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8EE5A6F8-B473-494C-B8B2-A49C3DD96622}"/>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업무·설문 자료</a:t>
            </a:r>
          </a:p>
        </p:txBody>
      </p:sp>
      <p:sp>
        <p:nvSpPr>
          <p:cNvPr id="10" name="">
            <a:extLst xmlns:a="http://schemas.openxmlformats.org/drawingml/2006/main">
              <a:ext uri="{FF2B5EF4-FFF2-40B4-BE49-F238E27FC236}">
                <a16:creationId xmlns:a16="http://schemas.microsoft.com/office/drawing/2014/main" id="{465E57BD-67BC-453F-8700-5DC133FFF9D2}"/>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56C88799-9E1B-4E17-B484-3B13A5EE7F19}"/>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461F8DF4-6F02-454F-A814-571846701A3D}"/>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문맥 검색</a:t>
            </a:r>
          </a:p>
        </p:txBody>
      </p:sp>
      <p:sp>
        <p:nvSpPr>
          <p:cNvPr id="13" name="">
            <a:extLst xmlns:a="http://schemas.openxmlformats.org/drawingml/2006/main">
              <a:ext uri="{FF2B5EF4-FFF2-40B4-BE49-F238E27FC236}">
                <a16:creationId xmlns:a16="http://schemas.microsoft.com/office/drawing/2014/main" id="{02557758-5452-478D-8F2F-0358EC4FFDE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EE30AAE-27A3-4B0A-ACFE-B958D569788F}"/>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9BACE254-9A25-4C98-BE28-198AF78FD43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평가 표본 분리</a:t>
            </a:r>
          </a:p>
        </p:txBody>
      </p:sp>
      <p:sp>
        <p:nvSpPr>
          <p:cNvPr id="16" name="">
            <a:extLst xmlns:a="http://schemas.openxmlformats.org/drawingml/2006/main">
              <a:ext uri="{FF2B5EF4-FFF2-40B4-BE49-F238E27FC236}">
                <a16:creationId xmlns:a16="http://schemas.microsoft.com/office/drawing/2014/main" id="{DACE89D3-8C8B-42A2-87E3-F1A8A4214B34}"/>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B6D5E36-E257-45BD-8777-69097B5CD744}"/>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44650162-43BA-4880-A319-375B0730D921}"/>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Copilot 업무 지원</a:t>
            </a:r>
          </a:p>
        </p:txBody>
      </p:sp>
      <p:sp>
        <p:nvSpPr>
          <p:cNvPr id="19" name="">
            <a:extLst xmlns:a="http://schemas.openxmlformats.org/drawingml/2006/main">
              <a:ext uri="{FF2B5EF4-FFF2-40B4-BE49-F238E27FC236}">
                <a16:creationId xmlns:a16="http://schemas.microsoft.com/office/drawing/2014/main" id="{D2D02EDB-8D95-45F3-8E52-1121D75B32C5}"/>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6B2E8DC-E824-4328-85A1-AA116DFAE914}"/>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882264B6-5FFE-457D-9838-CFBAFBC1EE10}"/>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내용·공유 검사</a:t>
            </a:r>
          </a:p>
        </p:txBody>
      </p:sp>
      <p:sp>
        <p:nvSpPr>
          <p:cNvPr id="22" name="">
            <a:extLst xmlns:a="http://schemas.openxmlformats.org/drawingml/2006/main">
              <a:ext uri="{FF2B5EF4-FFF2-40B4-BE49-F238E27FC236}">
                <a16:creationId xmlns:a16="http://schemas.microsoft.com/office/drawing/2014/main" id="{594DCD47-0BF1-492F-90E0-0D8D36931B7B}"/>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BDE3279-60BE-4E75-AECE-B947B20EB3C6}"/>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53B502E1-66A1-49C1-A3F6-F39AB9D1A4E7}"/>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검토</a:t>
            </a:r>
          </a:p>
        </p:txBody>
      </p:sp>
      <p:sp>
        <p:nvSpPr>
          <p:cNvPr id="25" name="">
            <a:extLst xmlns:a="http://schemas.openxmlformats.org/drawingml/2006/main">
              <a:ext uri="{FF2B5EF4-FFF2-40B4-BE49-F238E27FC236}">
                <a16:creationId xmlns:a16="http://schemas.microsoft.com/office/drawing/2014/main" id="{970B75CF-5B9B-46C5-A11A-6815FE27909F}"/>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AD4DD76-BAD8-42AE-9E90-E95DF0A7AC74}"/>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7178724D-5AD6-4547-B4E4-751E7AA28AF3}"/>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결과 활용</a:t>
            </a:r>
          </a:p>
        </p:txBody>
      </p:sp>
      <p:sp>
        <p:nvSpPr>
          <p:cNvPr id="28" name="">
            <a:extLst xmlns:a="http://schemas.openxmlformats.org/drawingml/2006/main">
              <a:ext uri="{FF2B5EF4-FFF2-40B4-BE49-F238E27FC236}">
                <a16:creationId xmlns:a16="http://schemas.microsoft.com/office/drawing/2014/main" id="{621AD689-FAD1-450E-9D56-384EE3F4979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04B798E-9598-436B-AB4E-323106F174CE}"/>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4A551B9C-6A82-451A-BCBF-FA35D58DE08E}"/>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기관·과업 평가</a:t>
            </a:r>
          </a:p>
        </p:txBody>
      </p:sp>
      <p:sp>
        <p:nvSpPr>
          <p:cNvPr id="39" name="">
            <a:extLst xmlns:a="http://schemas.openxmlformats.org/drawingml/2006/main">
              <a:ext uri="{FF2B5EF4-FFF2-40B4-BE49-F238E27FC236}">
                <a16:creationId xmlns:a16="http://schemas.microsoft.com/office/drawing/2014/main" id="{14673107-9BE5-4DFE-AC8B-C2643C0BBCA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46011540"/>
      </p:ext>
    </p:extLst>
  </p:cSld>
</p:sld>
</file>

<file path=ppt/slides/slide1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1C81959-C999-48F2-8CC0-9EEF3B62F83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논리 인터페이스·복구 설계</a:t>
            </a:r>
          </a:p>
        </p:txBody>
      </p:sp>
      <p:sp>
        <p:nvSpPr>
          <p:cNvPr id="2" name="">
            <a:extLst xmlns:a="http://schemas.openxmlformats.org/drawingml/2006/main">
              <a:ext uri="{FF2B5EF4-FFF2-40B4-BE49-F238E27FC236}">
                <a16:creationId xmlns:a16="http://schemas.microsoft.com/office/drawing/2014/main" id="{D19D577D-9734-4F4B-B9A4-561349FB184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데이터와 예외 처리</a:t>
            </a:r>
          </a:p>
        </p:txBody>
      </p:sp>
      <p:sp>
        <p:nvSpPr>
          <p:cNvPr id="3" name="">
            <a:extLst xmlns:a="http://schemas.openxmlformats.org/drawingml/2006/main">
              <a:ext uri="{FF2B5EF4-FFF2-40B4-BE49-F238E27FC236}">
                <a16:creationId xmlns:a16="http://schemas.microsoft.com/office/drawing/2014/main" id="{5164A53C-AD9B-400C-B9DC-28B814713F0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9BAE30-D836-44C7-9F91-87887B7E400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FC5544D4-E781-4999-8593-1350E15123A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142</a:t>
            </a:r>
          </a:p>
        </p:txBody>
      </p:sp>
      <p:sp>
        <p:nvSpPr>
          <p:cNvPr id="6" name="">
            <a:extLst xmlns:a="http://schemas.openxmlformats.org/drawingml/2006/main">
              <a:ext uri="{FF2B5EF4-FFF2-40B4-BE49-F238E27FC236}">
                <a16:creationId xmlns:a16="http://schemas.microsoft.com/office/drawing/2014/main" id="{81A6AD0B-BB14-4A26-BC91-7284DBFE5A20}"/>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2CC94A9-D5B5-4D9E-9862-A56D1362CE3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12C698F-3C5A-48AE-B611-DA51A08E03D0}"/>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679ACE07-CAB6-4104-A471-8609631D410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문맥·평가 기록</a:t>
            </a:r>
          </a:p>
        </p:txBody>
      </p:sp>
      <p:sp>
        <p:nvSpPr>
          <p:cNvPr id="10" name="">
            <a:extLst xmlns:a="http://schemas.openxmlformats.org/drawingml/2006/main">
              <a:ext uri="{FF2B5EF4-FFF2-40B4-BE49-F238E27FC236}">
                <a16:creationId xmlns:a16="http://schemas.microsoft.com/office/drawing/2014/main" id="{7516A28E-1A53-4FDC-8CB8-4B4A3B951C4B}"/>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8DBF8D-4C4A-46F2-9881-A1A1561F8E8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E391D425-8600-470A-B86C-BDCADF3DDBB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지원 결과</a:t>
            </a:r>
          </a:p>
        </p:txBody>
      </p:sp>
      <p:sp>
        <p:nvSpPr>
          <p:cNvPr id="13" name="">
            <a:extLst xmlns:a="http://schemas.openxmlformats.org/drawingml/2006/main">
              <a:ext uri="{FF2B5EF4-FFF2-40B4-BE49-F238E27FC236}">
                <a16:creationId xmlns:a16="http://schemas.microsoft.com/office/drawing/2014/main" id="{9EF58305-7E82-4D4A-8661-B9170EB77779}"/>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690BBF-95BC-4D92-AFEE-637778FD5CE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8F8E8A7F-DBF0-40C0-8D0A-E208A0BBC048}"/>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E2ED9335-DE1B-4284-94A6-1FF0366EBA6F}"/>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7CECC8-25A0-45B1-AAEB-D7A73A9915D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611484B4-67D3-46D2-9CA2-2CC01DF2622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현업 활용</a:t>
            </a:r>
          </a:p>
        </p:txBody>
      </p:sp>
      <p:sp>
        <p:nvSpPr>
          <p:cNvPr id="19" name="">
            <a:extLst xmlns:a="http://schemas.openxmlformats.org/drawingml/2006/main">
              <a:ext uri="{FF2B5EF4-FFF2-40B4-BE49-F238E27FC236}">
                <a16:creationId xmlns:a16="http://schemas.microsoft.com/office/drawing/2014/main" id="{2A610A96-730B-47D9-845E-C1A86E6CB39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5E054E8-ABED-41B5-BA53-B12F1D3BDC7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63AEA844-2355-4F70-9519-D37F26CDDB7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현업 활용</a:t>
            </a:r>
          </a:p>
        </p:txBody>
      </p:sp>
      <p:sp>
        <p:nvSpPr>
          <p:cNvPr id="22" name="">
            <a:extLst xmlns:a="http://schemas.openxmlformats.org/drawingml/2006/main">
              <a:ext uri="{FF2B5EF4-FFF2-40B4-BE49-F238E27FC236}">
                <a16:creationId xmlns:a16="http://schemas.microsoft.com/office/drawing/2014/main" id="{A10E86B6-EFDF-47E8-ADAF-57BADEA15A1E}"/>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D3D7FC4-E730-485A-B764-CAE9A1C24FA5}"/>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644EC8D6-207F-497B-A869-774DF846764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전후 평가</a:t>
            </a:r>
          </a:p>
        </p:txBody>
      </p:sp>
      <p:sp>
        <p:nvSpPr>
          <p:cNvPr id="25" name="">
            <a:extLst xmlns:a="http://schemas.openxmlformats.org/drawingml/2006/main">
              <a:ext uri="{FF2B5EF4-FFF2-40B4-BE49-F238E27FC236}">
                <a16:creationId xmlns:a16="http://schemas.microsoft.com/office/drawing/2014/main" id="{5BA0D882-0398-4D02-AF70-528690D49928}"/>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DB3D0ECB-46C0-4C80-991D-CFDD0679880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숙련도 차이·미사용자 제외·어려운 과업 누락</a:t>
            </a:r>
          </a:p>
        </p:txBody>
      </p:sp>
      <p:sp>
        <p:nvSpPr>
          <p:cNvPr id="27" name="">
            <a:extLst xmlns:a="http://schemas.openxmlformats.org/drawingml/2006/main">
              <a:ext uri="{FF2B5EF4-FFF2-40B4-BE49-F238E27FC236}">
                <a16:creationId xmlns:a16="http://schemas.microsoft.com/office/drawing/2014/main" id="{27FF99AD-A0F6-488D-B04C-A2FBFC4A3CC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FF26F32-648F-4C04-A8DA-5484B9474FE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과업·숙련도별 비교와 실패 비용 포함</a:t>
            </a:r>
          </a:p>
        </p:txBody>
      </p:sp>
      <p:sp>
        <p:nvSpPr>
          <p:cNvPr id="29" name="">
            <a:extLst xmlns:a="http://schemas.openxmlformats.org/drawingml/2006/main">
              <a:ext uri="{FF2B5EF4-FFF2-40B4-BE49-F238E27FC236}">
                <a16:creationId xmlns:a16="http://schemas.microsoft.com/office/drawing/2014/main" id="{B60E3375-56AF-4FAA-9B9A-21AD0F94CCA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2D81076-0D25-4ADD-903D-3BFE61814BB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기관·과업별 효과와 학습 부담·실패 비용 분석</a:t>
            </a:r>
          </a:p>
        </p:txBody>
      </p:sp>
      <p:sp>
        <p:nvSpPr>
          <p:cNvPr id="31" name="">
            <a:extLst xmlns:a="http://schemas.openxmlformats.org/drawingml/2006/main">
              <a:ext uri="{FF2B5EF4-FFF2-40B4-BE49-F238E27FC236}">
                <a16:creationId xmlns:a16="http://schemas.microsoft.com/office/drawing/2014/main" id="{8B47BBE2-2A37-4944-8AA4-22E48B81FA3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A3BEB71-057F-40D5-895F-1E802747B0AA}"/>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기관·과업·숙련도별 비교표와 오류·재작업 기록</a:t>
            </a:r>
          </a:p>
        </p:txBody>
      </p:sp>
    </p:spTree>
    <p:extLst>
      <p:ext uri="{BB962C8B-B14F-4D97-AF65-F5344CB8AC3E}">
        <p14:creationId xmlns:p14="http://schemas.microsoft.com/office/powerpoint/2010/main" val="1391533948"/>
      </p:ext>
    </p:extLst>
  </p:cSld>
</p:sld>
</file>

<file path=ppt/slides/slide1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E451EF3-144D-4203-8DE6-32751618257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PF-A15 / CCK 비교·재현 시험 설계</a:t>
            </a:r>
          </a:p>
        </p:txBody>
      </p:sp>
      <p:sp>
        <p:nvSpPr>
          <p:cNvPr id="2" name="">
            <a:extLst xmlns:a="http://schemas.openxmlformats.org/drawingml/2006/main">
              <a:ext uri="{FF2B5EF4-FFF2-40B4-BE49-F238E27FC236}">
                <a16:creationId xmlns:a16="http://schemas.microsoft.com/office/drawing/2014/main" id="{CF344ABC-FB4B-4FD2-AE62-EF2EFFC80F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APS Copilot 평가 · 벤치마킹</a:t>
            </a:r>
          </a:p>
        </p:txBody>
      </p:sp>
      <p:sp>
        <p:nvSpPr>
          <p:cNvPr id="3" name="">
            <a:extLst xmlns:a="http://schemas.openxmlformats.org/drawingml/2006/main">
              <a:ext uri="{FF2B5EF4-FFF2-40B4-BE49-F238E27FC236}">
                <a16:creationId xmlns:a16="http://schemas.microsoft.com/office/drawing/2014/main" id="{1BFBCF94-CF49-4AC6-8260-B2DFC8C6EC1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5B8EA07-32B4-4979-87B8-3A5980612EB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A6C1866-258C-4263-9842-4F5C7D9E14F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143</a:t>
            </a:r>
          </a:p>
        </p:txBody>
      </p:sp>
      <p:sp>
        <p:nvSpPr>
          <p:cNvPr id="6" name="">
            <a:extLst xmlns:a="http://schemas.openxmlformats.org/drawingml/2006/main">
              <a:ext uri="{FF2B5EF4-FFF2-40B4-BE49-F238E27FC236}">
                <a16:creationId xmlns:a16="http://schemas.microsoft.com/office/drawing/2014/main" id="{3E12C9E5-3E12-40A8-B27A-03F7CB65055C}"/>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65B4B987-729E-4808-929D-9653E854DC4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협업 환경과 교육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참여기관의 전후 평가</a:t>
            </a:r>
          </a:p>
        </p:txBody>
      </p:sp>
      <p:sp>
        <p:nvSpPr>
          <p:cNvPr id="8" name="">
            <a:extLst xmlns:a="http://schemas.openxmlformats.org/drawingml/2006/main">
              <a:ext uri="{FF2B5EF4-FFF2-40B4-BE49-F238E27FC236}">
                <a16:creationId xmlns:a16="http://schemas.microsoft.com/office/drawing/2014/main" id="{EAD49AF9-B6F0-4E54-A032-3BCA11BF7775}"/>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6318AEE-557F-4F67-AB36-020FB4D44846}"/>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학습·조직 준비도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설문 변화의 인과효과 단정</a:t>
            </a:r>
          </a:p>
        </p:txBody>
      </p:sp>
      <p:sp>
        <p:nvSpPr>
          <p:cNvPr id="10" name="">
            <a:extLst xmlns:a="http://schemas.openxmlformats.org/drawingml/2006/main">
              <a:ext uri="{FF2B5EF4-FFF2-40B4-BE49-F238E27FC236}">
                <a16:creationId xmlns:a16="http://schemas.microsoft.com/office/drawing/2014/main" id="{E63579B4-9DE9-4F6E-B786-2A60C5DC795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6A7C87D-C281-4B74-88ED-877FABFC829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과업·숙련도별 비교와 실패 비용 포함</a:t>
            </a:r>
          </a:p>
        </p:txBody>
      </p:sp>
      <p:sp>
        <p:nvSpPr>
          <p:cNvPr id="12" name="">
            <a:extLst xmlns:a="http://schemas.openxmlformats.org/drawingml/2006/main">
              <a:ext uri="{FF2B5EF4-FFF2-40B4-BE49-F238E27FC236}">
                <a16:creationId xmlns:a16="http://schemas.microsoft.com/office/drawing/2014/main" id="{A1F44B23-21FE-49C3-98F1-7C46EC9ABE5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7AF4972-0264-4C53-BFA3-04D44B52BE8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업무를 지원 전후 수행하고 검토시간까지 측</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a:t>
            </a:r>
          </a:p>
        </p:txBody>
      </p:sp>
      <p:sp>
        <p:nvSpPr>
          <p:cNvPr id="14" name="">
            <a:extLst xmlns:a="http://schemas.openxmlformats.org/drawingml/2006/main">
              <a:ext uri="{FF2B5EF4-FFF2-40B4-BE49-F238E27FC236}">
                <a16:creationId xmlns:a16="http://schemas.microsoft.com/office/drawing/2014/main" id="{02AFC594-051B-4576-92D5-984E3845496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11A8CE9-9FFE-4656-B91D-D63537EDC985}"/>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숙련도 차이·미사용자 제외·어려운 과업 누락</a:t>
            </a:r>
          </a:p>
        </p:txBody>
      </p:sp>
      <p:sp>
        <p:nvSpPr>
          <p:cNvPr id="16" name="">
            <a:extLst xmlns:a="http://schemas.openxmlformats.org/drawingml/2006/main">
              <a:ext uri="{FF2B5EF4-FFF2-40B4-BE49-F238E27FC236}">
                <a16:creationId xmlns:a16="http://schemas.microsoft.com/office/drawing/2014/main" id="{77C55225-3A23-4212-BDB0-9EB9FD4851AB}"/>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E151CFA-2355-453E-8922-345647B5F03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기관·과업·숙련도별 비교표와 오류·재작업 기록</a:t>
            </a:r>
          </a:p>
        </p:txBody>
      </p:sp>
    </p:spTree>
    <p:extLst>
      <p:ext uri="{BB962C8B-B14F-4D97-AF65-F5344CB8AC3E}">
        <p14:creationId xmlns:p14="http://schemas.microsoft.com/office/powerpoint/2010/main" val="1235346372"/>
      </p:ext>
    </p:extLst>
  </p:cSld>
</p:sld>
</file>

<file path=ppt/slides/slide1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2760A55-A2D0-4A98-BEFF-BB4B36777A9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초기11,000명 활용 후 전사 확대 협약(2025-12) / 해외</a:t>
            </a:r>
          </a:p>
        </p:txBody>
      </p:sp>
      <p:sp>
        <p:nvSpPr>
          <p:cNvPr id="2" name="">
            <a:extLst xmlns:a="http://schemas.openxmlformats.org/drawingml/2006/main">
              <a:ext uri="{FF2B5EF4-FFF2-40B4-BE49-F238E27FC236}">
                <a16:creationId xmlns:a16="http://schemas.microsoft.com/office/drawing/2014/main" id="{1433F619-400C-4450-A029-EECD8DB66A7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a:t>
            </a:r>
          </a:p>
        </p:txBody>
      </p:sp>
      <p:sp>
        <p:nvSpPr>
          <p:cNvPr id="3" name="">
            <a:extLst xmlns:a="http://schemas.openxmlformats.org/drawingml/2006/main">
              <a:ext uri="{FF2B5EF4-FFF2-40B4-BE49-F238E27FC236}">
                <a16:creationId xmlns:a16="http://schemas.microsoft.com/office/drawing/2014/main" id="{8D9A9F70-2DB5-4C0B-AFDB-91149AE16E8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DD25ECA-A070-4ADE-9A55-91B2C8398A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8E59B06-683C-4AA9-92D1-BA1F58BC895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144</a:t>
            </a:r>
          </a:p>
        </p:txBody>
      </p:sp>
      <p:sp>
        <p:nvSpPr>
          <p:cNvPr id="6" name="">
            <a:extLst xmlns:a="http://schemas.openxmlformats.org/drawingml/2006/main">
              <a:ext uri="{FF2B5EF4-FFF2-40B4-BE49-F238E27FC236}">
                <a16:creationId xmlns:a16="http://schemas.microsoft.com/office/drawing/2014/main" id="{4B04225B-7E3A-4779-9F15-17787BBF519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DAB5381-E6A9-461F-B6CA-9E8D1FF1EC89}"/>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BBVA의 전사 AI 활용과 전문화 GPT 확산 사례. 공통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도구 도입 이후 현업 사용자가 자신의 업무에 맞는 지시·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자료를 구성하고 전담 조직이 활용과 교육을 지원하는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운영 방식.</a:t>
            </a:r>
          </a:p>
        </p:txBody>
      </p:sp>
      <p:sp>
        <p:nvSpPr>
          <p:cNvPr id="8" name="">
            <a:extLst xmlns:a="http://schemas.openxmlformats.org/drawingml/2006/main">
              <a:ext uri="{FF2B5EF4-FFF2-40B4-BE49-F238E27FC236}">
                <a16:creationId xmlns:a16="http://schemas.microsoft.com/office/drawing/2014/main" id="{56624678-9A08-4ED3-BFB8-2BBC519FD44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F830371-0459-482A-A7C5-F1684E294360}"/>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직원 접근, 기업용 AI 환경, 업무별 GPT, 지식·프롬프트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관리, 현업 검토, 활용 피드백의 흐름으로 재구성. 실제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내부 권한 구현은 공개된 활용 설명과 구분하고 민감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 입력과 업무 결과 사용의 책임을 별도 설계.</a:t>
            </a:r>
          </a:p>
        </p:txBody>
      </p:sp>
      <p:sp>
        <p:nvSpPr>
          <p:cNvPr id="10" name="">
            <a:extLst xmlns:a="http://schemas.openxmlformats.org/drawingml/2006/main">
              <a:ext uri="{FF2B5EF4-FFF2-40B4-BE49-F238E27FC236}">
                <a16:creationId xmlns:a16="http://schemas.microsoft.com/office/drawing/2014/main" id="{1AA1A41C-F8AB-4C69-AF91-8D68DFD3762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FC8E0476-8E16-423E-BDCF-2D9A7BAA04D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TS에서의 비교 기준은 생성한 봇 수보다 검증된 업무 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위의 정착 여부. 부서 소유자·업무 범위·근거 자료·시험 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과·중단 조건을 갖춘 서비스 목록을 운영하고 전보 이후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소유권 이전을 공통 기능으로 관리할 필요.</a:t>
            </a:r>
          </a:p>
        </p:txBody>
      </p:sp>
      <p:sp>
        <p:nvSpPr>
          <p:cNvPr id="12" name="">
            <a:extLst xmlns:a="http://schemas.openxmlformats.org/drawingml/2006/main">
              <a:ext uri="{FF2B5EF4-FFF2-40B4-BE49-F238E27FC236}">
                <a16:creationId xmlns:a16="http://schemas.microsoft.com/office/drawing/2014/main" id="{0CCBB421-B370-4983-BF15-EF2961BC738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D2752A7-9394-4E7E-94E7-18DFA91E96E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9AD1577A-AE1A-4434-8860-89B80F5150E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C4F1934-A5BB-49E4-9101-4FF3B879702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983A36CD-9633-4D62-A491-DBD0D8CFE77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F57686A-1B86-4092-B0D4-63D2F145CC64}"/>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135C1070-5FD4-48E4-8730-C2ED6F70EBE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12만명 전사 확대는 발표 계획과 초기11,000명 실적을 구분. 독립 ROI 검증 아님</a:t>
            </a:r>
          </a:p>
        </p:txBody>
      </p:sp>
    </p:spTree>
    <p:extLst>
      <p:ext uri="{BB962C8B-B14F-4D97-AF65-F5344CB8AC3E}">
        <p14:creationId xmlns:p14="http://schemas.microsoft.com/office/powerpoint/2010/main" val="818766664"/>
      </p:ext>
    </p:extLst>
  </p:cSld>
</p:sld>
</file>

<file path=ppt/slides/slide1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1B529424-718F-47B8-BFFF-60DD1F503CFD}"/>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1DA936BA-C4E3-4E8F-8D09-F53BEEBB3D1F}"/>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A5169CDA-9B95-4F52-9222-DB93E4F42335}"/>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12C64D8-12A3-4EE0-B530-CF781FFE7F52}"/>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E3F36212-5EA9-4DAE-9DCA-A5D915560F90}"/>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CFEA212-2817-4997-B939-FEEE30DC7E24}"/>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DCBBF77-4706-4A39-A51E-FD46D18281C8}"/>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4DF1CFDC-032D-45D8-98FF-684CF5AB0341}"/>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BE0B0040-CE08-4CC6-A276-7B6A903F06F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172D2B61-04C9-46EC-AC04-981EF128A91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권한·목적 판정 후 허용·차단 분기</a:t>
            </a:r>
          </a:p>
        </p:txBody>
      </p:sp>
      <p:sp>
        <p:nvSpPr>
          <p:cNvPr id="2" name="">
            <a:extLst xmlns:a="http://schemas.openxmlformats.org/drawingml/2006/main">
              <a:ext uri="{FF2B5EF4-FFF2-40B4-BE49-F238E27FC236}">
                <a16:creationId xmlns:a16="http://schemas.microsoft.com/office/drawing/2014/main" id="{99DF84AC-B50A-48E8-B876-F836489636D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세부 서비스 구조</a:t>
            </a:r>
          </a:p>
        </p:txBody>
      </p:sp>
      <p:sp>
        <p:nvSpPr>
          <p:cNvPr id="3" name="">
            <a:extLst xmlns:a="http://schemas.openxmlformats.org/drawingml/2006/main">
              <a:ext uri="{FF2B5EF4-FFF2-40B4-BE49-F238E27FC236}">
                <a16:creationId xmlns:a16="http://schemas.microsoft.com/office/drawing/2014/main" id="{EF8986D9-ABE1-48DD-BE0D-DA21445EBDC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8D8CC0-38AD-4940-8BD4-CD4F4B9A9B7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7188A77-5575-4BFE-B2CE-7B232DFBEAC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145</a:t>
            </a:r>
          </a:p>
        </p:txBody>
      </p:sp>
      <p:sp>
        <p:nvSpPr>
          <p:cNvPr id="6" name="">
            <a:extLst xmlns:a="http://schemas.openxmlformats.org/drawingml/2006/main">
              <a:ext uri="{FF2B5EF4-FFF2-40B4-BE49-F238E27FC236}">
                <a16:creationId xmlns:a16="http://schemas.microsoft.com/office/drawing/2014/main" id="{F98C04C7-4F5F-48E2-BE08-857C4B27292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기업 AI 환경 → 업무 GPT → 현업 활용 지원 → 확산·성과 관측</a:t>
            </a:r>
          </a:p>
        </p:txBody>
      </p:sp>
      <p:sp>
        <p:nvSpPr>
          <p:cNvPr id="7" name="">
            <a:extLst xmlns:a="http://schemas.openxmlformats.org/drawingml/2006/main">
              <a:ext uri="{FF2B5EF4-FFF2-40B4-BE49-F238E27FC236}">
                <a16:creationId xmlns:a16="http://schemas.microsoft.com/office/drawing/2014/main" id="{AEC11F03-8271-46EF-9C54-2B6F47BFCBE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59D3904F-9B22-412D-9C98-57935F9135B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07A6F0CD-4D1A-48E4-BA95-DFC6C23048AD}"/>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직원·GPT 접점</a:t>
            </a:r>
          </a:p>
        </p:txBody>
      </p:sp>
      <p:sp>
        <p:nvSpPr>
          <p:cNvPr id="10" name="">
            <a:extLst xmlns:a="http://schemas.openxmlformats.org/drawingml/2006/main">
              <a:ext uri="{FF2B5EF4-FFF2-40B4-BE49-F238E27FC236}">
                <a16:creationId xmlns:a16="http://schemas.microsoft.com/office/drawing/2014/main" id="{AE06F587-217F-4188-9072-1644B41D25B8}"/>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558AFB1-1A30-40BC-8019-0EB65184EDD8}"/>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C433FDF2-A6C2-45D7-BEEB-F8AD3501F52F}"/>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업무·민감범위</a:t>
            </a:r>
          </a:p>
        </p:txBody>
      </p:sp>
      <p:sp>
        <p:nvSpPr>
          <p:cNvPr id="13" name="">
            <a:extLst xmlns:a="http://schemas.openxmlformats.org/drawingml/2006/main">
              <a:ext uri="{FF2B5EF4-FFF2-40B4-BE49-F238E27FC236}">
                <a16:creationId xmlns:a16="http://schemas.microsoft.com/office/drawing/2014/main" id="{2596F0B4-18E7-4968-95B9-9F56BFBFCA05}"/>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844FF5C-1220-4775-A7C5-407F91F608ED}"/>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57F23A4E-2A00-47B6-ACB5-7CF54D192A90}"/>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부서별 이용범위</a:t>
            </a:r>
          </a:p>
        </p:txBody>
      </p:sp>
      <p:sp>
        <p:nvSpPr>
          <p:cNvPr id="16" name="">
            <a:extLst xmlns:a="http://schemas.openxmlformats.org/drawingml/2006/main">
              <a:ext uri="{FF2B5EF4-FFF2-40B4-BE49-F238E27FC236}">
                <a16:creationId xmlns:a16="http://schemas.microsoft.com/office/drawing/2014/main" id="{0D8DFFB3-B2B2-492C-AE0A-D45262DA80F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03B9B8C-7376-47CE-A47E-ED59FCBD773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4472F198-A8D3-4D48-8F4E-E0173E5D20C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근거·권한 검사</a:t>
            </a:r>
          </a:p>
        </p:txBody>
      </p:sp>
      <p:sp>
        <p:nvSpPr>
          <p:cNvPr id="19" name="">
            <a:extLst xmlns:a="http://schemas.openxmlformats.org/drawingml/2006/main">
              <a:ext uri="{FF2B5EF4-FFF2-40B4-BE49-F238E27FC236}">
                <a16:creationId xmlns:a16="http://schemas.microsoft.com/office/drawing/2014/main" id="{523770EF-3151-4770-829A-CC624B848BD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498B154-6C02-48A3-A49D-261B56EAAADC}"/>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4CD14D98-A616-4D07-8F28-8B01AEFB26D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지식·지시</a:t>
            </a:r>
          </a:p>
        </p:txBody>
      </p:sp>
      <p:sp>
        <p:nvSpPr>
          <p:cNvPr id="22" name="">
            <a:extLst xmlns:a="http://schemas.openxmlformats.org/drawingml/2006/main">
              <a:ext uri="{FF2B5EF4-FFF2-40B4-BE49-F238E27FC236}">
                <a16:creationId xmlns:a16="http://schemas.microsoft.com/office/drawing/2014/main" id="{CF5C88C4-4A22-4BD3-80BB-2C7767EF7FE5}"/>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01BF9A8-3346-44C9-8957-E5CF743146EF}"/>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66EF1BC7-2900-4575-B7F4-5649178CFA7F}"/>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기업 AI·전문화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GPT</a:t>
            </a:r>
          </a:p>
        </p:txBody>
      </p:sp>
      <p:sp>
        <p:nvSpPr>
          <p:cNvPr id="25" name="">
            <a:extLst xmlns:a="http://schemas.openxmlformats.org/drawingml/2006/main">
              <a:ext uri="{FF2B5EF4-FFF2-40B4-BE49-F238E27FC236}">
                <a16:creationId xmlns:a16="http://schemas.microsoft.com/office/drawing/2014/main" id="{DBDEDC46-49C4-4B2B-91B2-33F25126D8E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3B14100-EA22-4FFA-9844-30BF6CC436C0}"/>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E793D234-D022-4194-BD6E-C20D4161BCB5}"/>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 담당 확인</a:t>
            </a:r>
          </a:p>
        </p:txBody>
      </p:sp>
      <p:sp>
        <p:nvSpPr>
          <p:cNvPr id="28" name="">
            <a:extLst xmlns:a="http://schemas.openxmlformats.org/drawingml/2006/main">
              <a:ext uri="{FF2B5EF4-FFF2-40B4-BE49-F238E27FC236}">
                <a16:creationId xmlns:a16="http://schemas.microsoft.com/office/drawing/2014/main" id="{A8279048-C949-4332-B162-EDFE5E6BE91A}"/>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1CA09E1-1F3E-4BB8-8643-2D73441E339C}"/>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CB049448-7D4A-441E-AD27-ADB5ACFC6CAB}"/>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현업 결과 활용</a:t>
            </a:r>
          </a:p>
        </p:txBody>
      </p:sp>
      <p:sp>
        <p:nvSpPr>
          <p:cNvPr id="31" name="">
            <a:extLst xmlns:a="http://schemas.openxmlformats.org/drawingml/2006/main">
              <a:ext uri="{FF2B5EF4-FFF2-40B4-BE49-F238E27FC236}">
                <a16:creationId xmlns:a16="http://schemas.microsoft.com/office/drawing/2014/main" id="{8F66928B-C590-41A0-B7B8-5C04960A8CCF}"/>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E32E7D0-04A6-4BB0-906B-D1651342EF38}"/>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AE089404-896E-488D-B8CA-54C0BA7C357E}"/>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채택 조직 평가</a:t>
            </a:r>
          </a:p>
        </p:txBody>
      </p:sp>
      <p:sp>
        <p:nvSpPr>
          <p:cNvPr id="34" name="">
            <a:extLst xmlns:a="http://schemas.openxmlformats.org/drawingml/2006/main">
              <a:ext uri="{FF2B5EF4-FFF2-40B4-BE49-F238E27FC236}">
                <a16:creationId xmlns:a16="http://schemas.microsoft.com/office/drawing/2014/main" id="{CE7DB0C3-6A00-48F1-80D5-009284FEC057}"/>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4D358A69-582B-4ACC-BDB8-B9E188E47BE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D10BEB70-57C7-454E-A073-7CD505006DDD}"/>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GPT·활용 기록</a:t>
            </a:r>
          </a:p>
        </p:txBody>
      </p:sp>
      <p:sp>
        <p:nvSpPr>
          <p:cNvPr id="46" name="">
            <a:extLst xmlns:a="http://schemas.openxmlformats.org/drawingml/2006/main">
              <a:ext uri="{FF2B5EF4-FFF2-40B4-BE49-F238E27FC236}">
                <a16:creationId xmlns:a16="http://schemas.microsoft.com/office/drawing/2014/main" id="{3143210E-6A45-476A-AB28-94B72AE58A6C}"/>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68141040"/>
      </p:ext>
    </p:extLst>
  </p:cSld>
</p:sld>
</file>

<file path=ppt/slides/slide1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31A921E-05DD-400E-8EDE-525B458FF16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논리 인터페이스·복구 설계</a:t>
            </a:r>
          </a:p>
        </p:txBody>
      </p:sp>
      <p:sp>
        <p:nvSpPr>
          <p:cNvPr id="2" name="">
            <a:extLst xmlns:a="http://schemas.openxmlformats.org/drawingml/2006/main">
              <a:ext uri="{FF2B5EF4-FFF2-40B4-BE49-F238E27FC236}">
                <a16:creationId xmlns:a16="http://schemas.microsoft.com/office/drawing/2014/main" id="{18E6A467-1E84-47FC-B602-8699C3060EA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데이터와 예외 처리</a:t>
            </a:r>
          </a:p>
        </p:txBody>
      </p:sp>
      <p:sp>
        <p:nvSpPr>
          <p:cNvPr id="3" name="">
            <a:extLst xmlns:a="http://schemas.openxmlformats.org/drawingml/2006/main">
              <a:ext uri="{FF2B5EF4-FFF2-40B4-BE49-F238E27FC236}">
                <a16:creationId xmlns:a16="http://schemas.microsoft.com/office/drawing/2014/main" id="{47F03399-7718-42DB-8028-0BA45CF1770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F232F9-9134-45B2-9228-225D640C6D8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FFBAADC-4CBB-4A55-8CFC-8F65AAE6B91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146</a:t>
            </a:r>
          </a:p>
        </p:txBody>
      </p:sp>
      <p:sp>
        <p:nvSpPr>
          <p:cNvPr id="6" name="">
            <a:extLst xmlns:a="http://schemas.openxmlformats.org/drawingml/2006/main">
              <a:ext uri="{FF2B5EF4-FFF2-40B4-BE49-F238E27FC236}">
                <a16:creationId xmlns:a16="http://schemas.microsoft.com/office/drawing/2014/main" id="{A59A9F5D-72F1-4AAD-BEEE-ECD72C4F4C2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4B9B1E4-7063-47D1-991F-A2BB9F1BD73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88B8FB6-2A54-424B-8B30-0DB8FD3D569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166225B4-FA9C-4EDF-95DC-4FF3D29798D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사용자·업무 목적·민감자료 범위 확인</a:t>
            </a:r>
          </a:p>
        </p:txBody>
      </p:sp>
      <p:sp>
        <p:nvSpPr>
          <p:cNvPr id="10" name="">
            <a:extLst xmlns:a="http://schemas.openxmlformats.org/drawingml/2006/main">
              <a:ext uri="{FF2B5EF4-FFF2-40B4-BE49-F238E27FC236}">
                <a16:creationId xmlns:a16="http://schemas.microsoft.com/office/drawing/2014/main" id="{EFBC8910-51B3-4CED-823E-3B5953E1D31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7DA1FA-4187-4E34-A614-7231F442D10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61E0E69E-6E71-47F2-89C1-D09569BA9A8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목적</a:t>
            </a:r>
          </a:p>
        </p:txBody>
      </p:sp>
      <p:sp>
        <p:nvSpPr>
          <p:cNvPr id="13" name="">
            <a:extLst xmlns:a="http://schemas.openxmlformats.org/drawingml/2006/main">
              <a:ext uri="{FF2B5EF4-FFF2-40B4-BE49-F238E27FC236}">
                <a16:creationId xmlns:a16="http://schemas.microsoft.com/office/drawing/2014/main" id="{A3BDF30C-1A74-4871-98AF-C4EB385D9803}"/>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2C1C2D5-2779-40FE-9EAB-E1B89195A13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3AF8C2DF-A8BD-4181-8CFE-2E91E9C4020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부서별 이용범위</a:t>
            </a:r>
          </a:p>
        </p:txBody>
      </p:sp>
      <p:sp>
        <p:nvSpPr>
          <p:cNvPr id="16" name="">
            <a:extLst xmlns:a="http://schemas.openxmlformats.org/drawingml/2006/main">
              <a:ext uri="{FF2B5EF4-FFF2-40B4-BE49-F238E27FC236}">
                <a16:creationId xmlns:a16="http://schemas.microsoft.com/office/drawing/2014/main" id="{8C059E03-046F-46BE-A6CC-7462F244C02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89EAD58-0AB1-453C-8980-D777E840531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B2EE2A12-C3D6-4F84-82E1-B4E0F70B1A8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결과</a:t>
            </a:r>
          </a:p>
        </p:txBody>
      </p:sp>
      <p:sp>
        <p:nvSpPr>
          <p:cNvPr id="19" name="">
            <a:extLst xmlns:a="http://schemas.openxmlformats.org/drawingml/2006/main">
              <a:ext uri="{FF2B5EF4-FFF2-40B4-BE49-F238E27FC236}">
                <a16:creationId xmlns:a16="http://schemas.microsoft.com/office/drawing/2014/main" id="{C7DA8530-B887-4671-B142-8D5CA2F01C1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E179AEC-9E37-4B60-A056-39F111800A2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34C6E848-8702-48E9-A31A-3694EAFB16D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결과</a:t>
            </a:r>
          </a:p>
        </p:txBody>
      </p:sp>
      <p:sp>
        <p:nvSpPr>
          <p:cNvPr id="22" name="">
            <a:extLst xmlns:a="http://schemas.openxmlformats.org/drawingml/2006/main">
              <a:ext uri="{FF2B5EF4-FFF2-40B4-BE49-F238E27FC236}">
                <a16:creationId xmlns:a16="http://schemas.microsoft.com/office/drawing/2014/main" id="{3C041E5C-3CA1-4CFE-9A25-3D68779C3B92}"/>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10EA841-DFFD-4457-8263-6EB8724037F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441510F3-50DC-4F84-86F5-1CF0B31F5821}"/>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활용·평가 기록</a:t>
            </a:r>
          </a:p>
        </p:txBody>
      </p:sp>
      <p:sp>
        <p:nvSpPr>
          <p:cNvPr id="25" name="">
            <a:extLst xmlns:a="http://schemas.openxmlformats.org/drawingml/2006/main">
              <a:ext uri="{FF2B5EF4-FFF2-40B4-BE49-F238E27FC236}">
                <a16:creationId xmlns:a16="http://schemas.microsoft.com/office/drawing/2014/main" id="{7BA9A8C6-C47B-4EE6-8226-48A460B0637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1433B73-1C05-4724-A136-03072949F57F}"/>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승인되지 않은 지식·민감 입력·성과 자기보고 편향</a:t>
            </a:r>
          </a:p>
        </p:txBody>
      </p:sp>
      <p:sp>
        <p:nvSpPr>
          <p:cNvPr id="27" name="">
            <a:extLst xmlns:a="http://schemas.openxmlformats.org/drawingml/2006/main">
              <a:ext uri="{FF2B5EF4-FFF2-40B4-BE49-F238E27FC236}">
                <a16:creationId xmlns:a16="http://schemas.microsoft.com/office/drawing/2014/main" id="{3CAB9F00-06EA-417A-8D5B-D67CF0FF08D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0AC6B09-E36A-4E43-B009-F37308275C0B}"/>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부서별 권한·완료율·재작업 평가</a:t>
            </a:r>
          </a:p>
        </p:txBody>
      </p:sp>
      <p:sp>
        <p:nvSpPr>
          <p:cNvPr id="29" name="">
            <a:extLst xmlns:a="http://schemas.openxmlformats.org/drawingml/2006/main">
              <a:ext uri="{FF2B5EF4-FFF2-40B4-BE49-F238E27FC236}">
                <a16:creationId xmlns:a16="http://schemas.microsoft.com/office/drawing/2014/main" id="{42BBEC04-BD1C-4B72-A548-FBCAEECD878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F0EDAA5-8FB7-4E0B-BA20-F74471E9424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전담 조직의 교육·활용 발굴·성과 검토</a:t>
            </a:r>
          </a:p>
        </p:txBody>
      </p:sp>
      <p:sp>
        <p:nvSpPr>
          <p:cNvPr id="31" name="">
            <a:extLst xmlns:a="http://schemas.openxmlformats.org/drawingml/2006/main">
              <a:ext uri="{FF2B5EF4-FFF2-40B4-BE49-F238E27FC236}">
                <a16:creationId xmlns:a16="http://schemas.microsoft.com/office/drawing/2014/main" id="{8C89ABA9-A804-471E-B0FF-6C8822C1399A}"/>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59E2924-04EA-4E90-93EF-0EE94576758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업무별 수용률·오류·완료시간·입력 통제 결과</a:t>
            </a:r>
          </a:p>
        </p:txBody>
      </p:sp>
    </p:spTree>
    <p:extLst>
      <p:ext uri="{BB962C8B-B14F-4D97-AF65-F5344CB8AC3E}">
        <p14:creationId xmlns:p14="http://schemas.microsoft.com/office/powerpoint/2010/main" val="1107858381"/>
      </p:ext>
    </p:extLst>
  </p:cSld>
</p:sld>
</file>

<file path=ppt/slides/slide1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69D8A93-7934-4211-8F17-12B1F38AC01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PF-A16 / CCK 비교·재현 시험 설계</a:t>
            </a:r>
          </a:p>
        </p:txBody>
      </p:sp>
      <p:sp>
        <p:nvSpPr>
          <p:cNvPr id="2" name="">
            <a:extLst xmlns:a="http://schemas.openxmlformats.org/drawingml/2006/main">
              <a:ext uri="{FF2B5EF4-FFF2-40B4-BE49-F238E27FC236}">
                <a16:creationId xmlns:a16="http://schemas.microsoft.com/office/drawing/2014/main" id="{3C0A2CAA-4D53-475A-8441-CD8EC9F4CC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BBVA 기업 AI 도입 · 벤치마킹</a:t>
            </a:r>
          </a:p>
        </p:txBody>
      </p:sp>
      <p:sp>
        <p:nvSpPr>
          <p:cNvPr id="3" name="">
            <a:extLst xmlns:a="http://schemas.openxmlformats.org/drawingml/2006/main">
              <a:ext uri="{FF2B5EF4-FFF2-40B4-BE49-F238E27FC236}">
                <a16:creationId xmlns:a16="http://schemas.microsoft.com/office/drawing/2014/main" id="{BE5FF38F-9FA9-48FA-B8E7-27BB875BB69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24D1E0-988F-43C4-9DF3-321A9B13E9C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82B385E-7885-44FF-922F-E53272BABE5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147</a:t>
            </a:r>
          </a:p>
        </p:txBody>
      </p:sp>
      <p:sp>
        <p:nvSpPr>
          <p:cNvPr id="6" name="">
            <a:extLst xmlns:a="http://schemas.openxmlformats.org/drawingml/2006/main">
              <a:ext uri="{FF2B5EF4-FFF2-40B4-BE49-F238E27FC236}">
                <a16:creationId xmlns:a16="http://schemas.microsoft.com/office/drawing/2014/main" id="{D0A3BC44-1922-404D-8C6A-A6A2FA99A95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FCA6A97-2AB5-4722-8D55-B727F841114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업무 GPT의 구성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교육·활용 지원과 단계적 확산</a:t>
            </a:r>
          </a:p>
        </p:txBody>
      </p:sp>
      <p:sp>
        <p:nvSpPr>
          <p:cNvPr id="8" name="">
            <a:extLst xmlns:a="http://schemas.openxmlformats.org/drawingml/2006/main">
              <a:ext uri="{FF2B5EF4-FFF2-40B4-BE49-F238E27FC236}">
                <a16:creationId xmlns:a16="http://schemas.microsoft.com/office/drawing/2014/main" id="{7B09AED3-F285-48C2-AA9A-314CF07345C5}"/>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1E4BEEBC-507D-4A9A-AB6E-933F01E6FFA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활용자 수와 업무 완결성의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규제·민감자료 통제의 확장 부담</a:t>
            </a:r>
          </a:p>
        </p:txBody>
      </p:sp>
      <p:sp>
        <p:nvSpPr>
          <p:cNvPr id="10" name="">
            <a:extLst xmlns:a="http://schemas.openxmlformats.org/drawingml/2006/main">
              <a:ext uri="{FF2B5EF4-FFF2-40B4-BE49-F238E27FC236}">
                <a16:creationId xmlns:a16="http://schemas.microsoft.com/office/drawing/2014/main" id="{105C995D-4B8B-4B9F-8D4A-BD7A4D0AF9D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F1C7F51-61AD-416E-80C1-57919E93E4C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부서별 권한·완료율·재작업 평가</a:t>
            </a:r>
          </a:p>
        </p:txBody>
      </p:sp>
      <p:sp>
        <p:nvSpPr>
          <p:cNvPr id="12" name="">
            <a:extLst xmlns:a="http://schemas.openxmlformats.org/drawingml/2006/main">
              <a:ext uri="{FF2B5EF4-FFF2-40B4-BE49-F238E27FC236}">
                <a16:creationId xmlns:a16="http://schemas.microsoft.com/office/drawing/2014/main" id="{335DFB1E-861E-45A8-BDD2-3E04ED0A1AC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FBD46FA-CA9F-4EB5-AB92-4D8EEE5E50C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GPT를 구성하고 담당 조직이 교육·활용 지원</a:t>
            </a:r>
          </a:p>
        </p:txBody>
      </p:sp>
      <p:sp>
        <p:nvSpPr>
          <p:cNvPr id="14" name="">
            <a:extLst xmlns:a="http://schemas.openxmlformats.org/drawingml/2006/main">
              <a:ext uri="{FF2B5EF4-FFF2-40B4-BE49-F238E27FC236}">
                <a16:creationId xmlns:a16="http://schemas.microsoft.com/office/drawing/2014/main" id="{DF34C41B-E925-4AA3-B1EA-F93934902B9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4ECFAD0-93A4-4AA3-8123-A075D5CC788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승인되지 않은 지식·민감 입력·성과 자기보고 편향</a:t>
            </a:r>
          </a:p>
        </p:txBody>
      </p:sp>
      <p:sp>
        <p:nvSpPr>
          <p:cNvPr id="16" name="">
            <a:extLst xmlns:a="http://schemas.openxmlformats.org/drawingml/2006/main">
              <a:ext uri="{FF2B5EF4-FFF2-40B4-BE49-F238E27FC236}">
                <a16:creationId xmlns:a16="http://schemas.microsoft.com/office/drawing/2014/main" id="{B00F3125-595C-41B8-88DD-C4E0E94C637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C4E3665-EE6D-4005-B705-237FB6A8728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수용률·오류·완료시간·입력 통제 결과</a:t>
            </a:r>
          </a:p>
        </p:txBody>
      </p:sp>
    </p:spTree>
    <p:extLst>
      <p:ext uri="{BB962C8B-B14F-4D97-AF65-F5344CB8AC3E}">
        <p14:creationId xmlns:p14="http://schemas.microsoft.com/office/powerpoint/2010/main" val="1387673609"/>
      </p:ext>
    </p:extLst>
  </p:cSld>
</p:sld>
</file>

<file path=ppt/slides/slide1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182AD19-BE0C-4F5E-9443-AE28CCC3009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업무 도구 운영 · 기업 발표 / 해외</a:t>
            </a:r>
          </a:p>
        </p:txBody>
      </p:sp>
      <p:sp>
        <p:nvSpPr>
          <p:cNvPr id="2" name="">
            <a:extLst xmlns:a="http://schemas.openxmlformats.org/drawingml/2006/main">
              <a:ext uri="{FF2B5EF4-FFF2-40B4-BE49-F238E27FC236}">
                <a16:creationId xmlns:a16="http://schemas.microsoft.com/office/drawing/2014/main" id="{DDD34348-6AA9-4EF2-9D80-F1F5EF6E034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a:t>
            </a:r>
          </a:p>
        </p:txBody>
      </p:sp>
      <p:sp>
        <p:nvSpPr>
          <p:cNvPr id="3" name="">
            <a:extLst xmlns:a="http://schemas.openxmlformats.org/drawingml/2006/main">
              <a:ext uri="{FF2B5EF4-FFF2-40B4-BE49-F238E27FC236}">
                <a16:creationId xmlns:a16="http://schemas.microsoft.com/office/drawing/2014/main" id="{530C69D1-4BD2-4608-AF38-3644D0AE56C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F36FE4-4827-4C16-A71F-5E544D6FE3F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B502FC03-50F7-40F2-B32B-6B886DF70A6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148</a:t>
            </a:r>
          </a:p>
        </p:txBody>
      </p:sp>
      <p:sp>
        <p:nvSpPr>
          <p:cNvPr id="6" name="">
            <a:extLst xmlns:a="http://schemas.openxmlformats.org/drawingml/2006/main">
              <a:ext uri="{FF2B5EF4-FFF2-40B4-BE49-F238E27FC236}">
                <a16:creationId xmlns:a16="http://schemas.microsoft.com/office/drawing/2014/main" id="{FF9C0699-F323-4069-A9F0-DE3D4E968A9F}"/>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2D40CB1-B5B1-48CE-8B9A-67C5A6A7E8B8}"/>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Morgan Stanley의 지식 검색 Assistant와 회의 후속</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 Debrief 사례. 자문가가 승인된 지식을 찾는 업무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와 고객 회의에서 요약·할일을 정리하는 업무를 서로 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른 입력 경로로 지원.</a:t>
            </a:r>
          </a:p>
        </p:txBody>
      </p:sp>
      <p:sp>
        <p:nvSpPr>
          <p:cNvPr id="8" name="">
            <a:extLst xmlns:a="http://schemas.openxmlformats.org/drawingml/2006/main">
              <a:ext uri="{FF2B5EF4-FFF2-40B4-BE49-F238E27FC236}">
                <a16:creationId xmlns:a16="http://schemas.microsoft.com/office/drawing/2014/main" id="{78A9F111-239A-4EC4-9C6C-F2EF8942EA5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651DE4E-90D8-4F9F-ABBC-7B8F84F3ABBB}"/>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지식 검색은 승인 문서의 검색·근거 응답으로, 회의 지원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은 동의받은 기록의 요약·실행 항목 초안·자문가 검토·C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RM 또는 후속 메시지 연결로 재구성. 검색 근거와 고객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대화 기록의 접근·보관 정책을 분리하는 설계.</a:t>
            </a:r>
          </a:p>
        </p:txBody>
      </p:sp>
      <p:sp>
        <p:nvSpPr>
          <p:cNvPr id="10" name="">
            <a:extLst xmlns:a="http://schemas.openxmlformats.org/drawingml/2006/main">
              <a:ext uri="{FF2B5EF4-FFF2-40B4-BE49-F238E27FC236}">
                <a16:creationId xmlns:a16="http://schemas.microsoft.com/office/drawing/2014/main" id="{5C0143D4-D07F-4641-AD4E-F0E562DC5180}"/>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D548874-70A3-42DB-A6E1-A9CE0BCF4E3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CCK의 상담·민원 후속 처리에서는 생성된 요약과 실제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등록·발송을 구분할 필요. 화자·수신자·기한·해야 할 일의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누락과 중복을 시험하고 담당자 확인 이후 업무 시스템에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반영된 결과까지 추적.</a:t>
            </a:r>
          </a:p>
        </p:txBody>
      </p:sp>
      <p:sp>
        <p:nvSpPr>
          <p:cNvPr id="12" name="">
            <a:extLst xmlns:a="http://schemas.openxmlformats.org/drawingml/2006/main">
              <a:ext uri="{FF2B5EF4-FFF2-40B4-BE49-F238E27FC236}">
                <a16:creationId xmlns:a16="http://schemas.microsoft.com/office/drawing/2014/main" id="{2C27345D-109D-4851-8E2D-6CDD793D8232}"/>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2B9CFBF6-9167-4252-B6C5-37A528592A3B}"/>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전결·발송 확인 / 원문 근거 / 진행상태·인사이동 인계</a:t>
            </a:r>
          </a:p>
        </p:txBody>
      </p:sp>
      <p:sp>
        <p:nvSpPr>
          <p:cNvPr id="14" name="">
            <a:extLst xmlns:a="http://schemas.openxmlformats.org/drawingml/2006/main">
              <a:ext uri="{FF2B5EF4-FFF2-40B4-BE49-F238E27FC236}">
                <a16:creationId xmlns:a16="http://schemas.microsoft.com/office/drawing/2014/main" id="{7D6FD4B9-765A-4B6E-8416-0434385FE27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0F4878A-BC03-4386-8013-FB535A1F3F3A}"/>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발송 전 확인·판본 변경 재승인·담당 변경 후 인계 대사</a:t>
            </a:r>
          </a:p>
        </p:txBody>
      </p:sp>
      <p:sp>
        <p:nvSpPr>
          <p:cNvPr id="16" name="">
            <a:extLst xmlns:a="http://schemas.openxmlformats.org/drawingml/2006/main">
              <a:ext uri="{FF2B5EF4-FFF2-40B4-BE49-F238E27FC236}">
                <a16:creationId xmlns:a16="http://schemas.microsoft.com/office/drawing/2014/main" id="{52E93520-D029-4C35-A543-8A48C992461B}"/>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40A7B12-92DE-4DCC-8C86-9E75C4472FC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TS 업무 완료시간·오류·추가 구축 공수의 비교 평가</a:t>
            </a:r>
          </a:p>
        </p:txBody>
      </p:sp>
      <p:sp>
        <p:nvSpPr>
          <p:cNvPr id="18" name="">
            <a:extLst xmlns:a="http://schemas.openxmlformats.org/drawingml/2006/main">
              <a:ext uri="{FF2B5EF4-FFF2-40B4-BE49-F238E27FC236}">
                <a16:creationId xmlns:a16="http://schemas.microsoft.com/office/drawing/2014/main" id="{2FB82FFC-70BE-4B83-96CC-7C969715FF27}"/>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Assistant 채택률과 Debrief 시간절감의 구분 · 사용자 동의·편집 판단 포함</a:t>
            </a:r>
          </a:p>
        </p:txBody>
      </p:sp>
    </p:spTree>
    <p:extLst>
      <p:ext uri="{BB962C8B-B14F-4D97-AF65-F5344CB8AC3E}">
        <p14:creationId xmlns:p14="http://schemas.microsoft.com/office/powerpoint/2010/main" val="747046264"/>
      </p:ext>
    </p:extLst>
  </p:cSld>
</p:sld>
</file>

<file path=ppt/slides/slide1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0CEB7796-E7E1-44C3-A169-0A24E5E8F603}"/>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A0963EC-CAAA-4B8B-BEED-756B2C2CC423}"/>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D2292868-B5C1-4DE9-9CAA-D2665CBD97CA}"/>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44A80C0-B6DA-4A0A-85D2-B3465F561A74}"/>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A604D0D8-7AF5-46EE-B1B8-5D60F5F875FC}"/>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6365DF0F-266E-407A-87C7-BF971085EC5A}"/>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F11A157-CEEC-4827-9F32-E4DE6CF3CFFC}"/>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A60878FB-7462-4FB8-BAB8-80F8459C8AC0}"/>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8316B9CB-CB4F-49BC-B59B-D9A6DCBADE7A}"/>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36548D03-0C58-4168-BBDE-CB349A6776E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입력 구조화·확인·업무시스템 처리</a:t>
            </a:r>
          </a:p>
        </p:txBody>
      </p:sp>
      <p:sp>
        <p:nvSpPr>
          <p:cNvPr id="2" name="">
            <a:extLst xmlns:a="http://schemas.openxmlformats.org/drawingml/2006/main">
              <a:ext uri="{FF2B5EF4-FFF2-40B4-BE49-F238E27FC236}">
                <a16:creationId xmlns:a16="http://schemas.microsoft.com/office/drawing/2014/main" id="{06EE57FD-5E1F-49DA-A50F-621C7ECC857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세부 서비스 구조</a:t>
            </a:r>
          </a:p>
        </p:txBody>
      </p:sp>
      <p:sp>
        <p:nvSpPr>
          <p:cNvPr id="3" name="">
            <a:extLst xmlns:a="http://schemas.openxmlformats.org/drawingml/2006/main">
              <a:ext uri="{FF2B5EF4-FFF2-40B4-BE49-F238E27FC236}">
                <a16:creationId xmlns:a16="http://schemas.microsoft.com/office/drawing/2014/main" id="{2A0995F5-4708-4355-AA21-0C85723AF6F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C2C540E-9437-4924-A081-1AAF612BC00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282635DF-795E-46AA-B480-FD712E9455E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149</a:t>
            </a:r>
          </a:p>
        </p:txBody>
      </p:sp>
      <p:sp>
        <p:nvSpPr>
          <p:cNvPr id="6" name="">
            <a:extLst xmlns:a="http://schemas.openxmlformats.org/drawingml/2006/main">
              <a:ext uri="{FF2B5EF4-FFF2-40B4-BE49-F238E27FC236}">
                <a16:creationId xmlns:a16="http://schemas.microsoft.com/office/drawing/2014/main" id="{59A48CE0-6ED1-47EB-9162-47462D81111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동의받은 회의 → 요약·후속조치 초안 → 자문가 편집·확인 → CRM·이메일 업무</a:t>
            </a:r>
          </a:p>
        </p:txBody>
      </p:sp>
      <p:sp>
        <p:nvSpPr>
          <p:cNvPr id="7" name="">
            <a:extLst xmlns:a="http://schemas.openxmlformats.org/drawingml/2006/main">
              <a:ext uri="{FF2B5EF4-FFF2-40B4-BE49-F238E27FC236}">
                <a16:creationId xmlns:a16="http://schemas.microsoft.com/office/drawing/2014/main" id="{5C1CFB61-9C68-44C6-BFD4-7C1F9BA6BAB4}"/>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AC7F0887-3545-47EF-851A-1C76E1887ABB}"/>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42493E5F-0C21-4D76-8D86-7F48C628372A}"/>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질문·회의 접점</a:t>
            </a:r>
          </a:p>
        </p:txBody>
      </p:sp>
      <p:sp>
        <p:nvSpPr>
          <p:cNvPr id="10" name="">
            <a:extLst xmlns:a="http://schemas.openxmlformats.org/drawingml/2006/main">
              <a:ext uri="{FF2B5EF4-FFF2-40B4-BE49-F238E27FC236}">
                <a16:creationId xmlns:a16="http://schemas.microsoft.com/office/drawing/2014/main" id="{4CCCEE7D-3999-4F74-AEEB-F9F7E7CB9022}"/>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8DE0566A-7511-4646-8802-104713F76370}"/>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061BB29C-6D92-4418-866E-629A16B4B1ED}"/>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동의·고객 문맥</a:t>
            </a:r>
          </a:p>
        </p:txBody>
      </p:sp>
      <p:sp>
        <p:nvSpPr>
          <p:cNvPr id="13" name="">
            <a:extLst xmlns:a="http://schemas.openxmlformats.org/drawingml/2006/main">
              <a:ext uri="{FF2B5EF4-FFF2-40B4-BE49-F238E27FC236}">
                <a16:creationId xmlns:a16="http://schemas.microsoft.com/office/drawing/2014/main" id="{00AB2E4A-D8AC-489C-B031-106692C68569}"/>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30317DC-69BC-4450-8DBB-416244B53E80}"/>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B1234DA4-16BF-4415-B983-F0AEFA4A68AC}"/>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요약·할일 생성</a:t>
            </a:r>
          </a:p>
        </p:txBody>
      </p:sp>
      <p:sp>
        <p:nvSpPr>
          <p:cNvPr id="16" name="">
            <a:extLst xmlns:a="http://schemas.openxmlformats.org/drawingml/2006/main">
              <a:ext uri="{FF2B5EF4-FFF2-40B4-BE49-F238E27FC236}">
                <a16:creationId xmlns:a16="http://schemas.microsoft.com/office/drawing/2014/main" id="{B52D3B4A-64C4-41EC-9D3C-CEE697E226BF}"/>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059D714-9388-4A11-8311-73E18DB6FCE7}"/>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6009AA27-61AE-4B3D-BC7F-059FA93449B5}"/>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사실·수신자 검사</a:t>
            </a:r>
          </a:p>
        </p:txBody>
      </p:sp>
      <p:sp>
        <p:nvSpPr>
          <p:cNvPr id="19" name="">
            <a:extLst xmlns:a="http://schemas.openxmlformats.org/drawingml/2006/main">
              <a:ext uri="{FF2B5EF4-FFF2-40B4-BE49-F238E27FC236}">
                <a16:creationId xmlns:a16="http://schemas.microsoft.com/office/drawing/2014/main" id="{E1692075-89EE-4443-91D5-770D5BA4B979}"/>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3A9B4DF-86EC-4F51-9052-2D63B55E1CB6}"/>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A81B8BAC-9B57-4309-94E2-A48A2897554B}"/>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편집·확인</a:t>
            </a:r>
          </a:p>
        </p:txBody>
      </p:sp>
      <p:sp>
        <p:nvSpPr>
          <p:cNvPr id="22" name="">
            <a:extLst xmlns:a="http://schemas.openxmlformats.org/drawingml/2006/main">
              <a:ext uri="{FF2B5EF4-FFF2-40B4-BE49-F238E27FC236}">
                <a16:creationId xmlns:a16="http://schemas.microsoft.com/office/drawing/2014/main" id="{77A3524D-21F1-475C-A80E-42FA5F8DB55E}"/>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D602A38C-833E-41BC-B255-1EF43E85C5F0}"/>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2CF31939-F171-4BE0-AD60-A9A89DD96F5B}"/>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CRM·이메일 반</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a:t>
            </a:r>
          </a:p>
        </p:txBody>
      </p:sp>
      <p:sp>
        <p:nvSpPr>
          <p:cNvPr id="25" name="">
            <a:extLst xmlns:a="http://schemas.openxmlformats.org/drawingml/2006/main">
              <a:ext uri="{FF2B5EF4-FFF2-40B4-BE49-F238E27FC236}">
                <a16:creationId xmlns:a16="http://schemas.microsoft.com/office/drawing/2014/main" id="{3BE1D5F2-6B66-46B6-A752-D9054419574D}"/>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3E9BCE07-E417-4413-8F0F-675B73ABD46F}"/>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CAE096B0-8642-4505-928B-C62D1909DFD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지식·회의</a:t>
            </a:r>
          </a:p>
        </p:txBody>
      </p:sp>
      <p:sp>
        <p:nvSpPr>
          <p:cNvPr id="28" name="">
            <a:extLst xmlns:a="http://schemas.openxmlformats.org/drawingml/2006/main">
              <a:ext uri="{FF2B5EF4-FFF2-40B4-BE49-F238E27FC236}">
                <a16:creationId xmlns:a16="http://schemas.microsoft.com/office/drawing/2014/main" id="{990C555F-2ACC-4AEE-A8AE-346E09B771F0}"/>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45B4386-1A7D-4E3A-8B62-648C9D8FE177}"/>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CF131B3D-7C4E-48C7-B88E-1B0EB8E8D3B8}"/>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 조회</a:t>
            </a:r>
          </a:p>
        </p:txBody>
      </p:sp>
      <p:sp>
        <p:nvSpPr>
          <p:cNvPr id="31" name="">
            <a:extLst xmlns:a="http://schemas.openxmlformats.org/drawingml/2006/main">
              <a:ext uri="{FF2B5EF4-FFF2-40B4-BE49-F238E27FC236}">
                <a16:creationId xmlns:a16="http://schemas.microsoft.com/office/drawing/2014/main" id="{B2FAB62A-7619-4F33-A69F-FB2EF808BFB5}"/>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97C6B5D-5CD2-4C4B-8C1E-F805AEB08F9D}"/>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570B92A-35F3-414D-9215-36DA38D301A1}"/>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요약·확인 기록</a:t>
            </a:r>
          </a:p>
        </p:txBody>
      </p:sp>
      <p:sp>
        <p:nvSpPr>
          <p:cNvPr id="34" name="">
            <a:extLst xmlns:a="http://schemas.openxmlformats.org/drawingml/2006/main">
              <a:ext uri="{FF2B5EF4-FFF2-40B4-BE49-F238E27FC236}">
                <a16:creationId xmlns:a16="http://schemas.microsoft.com/office/drawing/2014/main" id="{058B35EB-3F69-439D-A0E8-8375D895217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468D7D9A-7172-4F97-9252-A46451AA0812}"/>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2311322F-7A62-4480-B3CB-FD402E98FE8B}"/>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후속조치 추적</a:t>
            </a:r>
          </a:p>
        </p:txBody>
      </p:sp>
      <p:sp>
        <p:nvSpPr>
          <p:cNvPr id="46" name="">
            <a:extLst xmlns:a="http://schemas.openxmlformats.org/drawingml/2006/main">
              <a:ext uri="{FF2B5EF4-FFF2-40B4-BE49-F238E27FC236}">
                <a16:creationId xmlns:a16="http://schemas.microsoft.com/office/drawing/2014/main" id="{A174E28E-2293-45CE-ABF4-58155B6C388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655023794"/>
      </p:ext>
    </p:extLst>
  </p:cSld>
</p:sld>
</file>

<file path=ppt/slides/slide1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588249C-6F8F-485E-9681-29699BA9153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논리 인터페이스·복구 설계</a:t>
            </a:r>
          </a:p>
        </p:txBody>
      </p:sp>
      <p:sp>
        <p:nvSpPr>
          <p:cNvPr id="2" name="">
            <a:extLst xmlns:a="http://schemas.openxmlformats.org/drawingml/2006/main">
              <a:ext uri="{FF2B5EF4-FFF2-40B4-BE49-F238E27FC236}">
                <a16:creationId xmlns:a16="http://schemas.microsoft.com/office/drawing/2014/main" id="{FD6A0F69-E7EB-45DC-8741-E2AB206AB02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데이터와 예외 처리</a:t>
            </a:r>
          </a:p>
        </p:txBody>
      </p:sp>
      <p:sp>
        <p:nvSpPr>
          <p:cNvPr id="3" name="">
            <a:extLst xmlns:a="http://schemas.openxmlformats.org/drawingml/2006/main">
              <a:ext uri="{FF2B5EF4-FFF2-40B4-BE49-F238E27FC236}">
                <a16:creationId xmlns:a16="http://schemas.microsoft.com/office/drawing/2014/main" id="{73BA9A74-E5E7-46C8-81F6-99E1300FAF4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EBEE8F-30E3-4C42-A3A8-D650E3CFD0C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71CCD6E-CF55-41F5-A7C3-66C588DEF80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150</a:t>
            </a:r>
          </a:p>
        </p:txBody>
      </p:sp>
      <p:sp>
        <p:nvSpPr>
          <p:cNvPr id="6" name="">
            <a:extLst xmlns:a="http://schemas.openxmlformats.org/drawingml/2006/main">
              <a:ext uri="{FF2B5EF4-FFF2-40B4-BE49-F238E27FC236}">
                <a16:creationId xmlns:a16="http://schemas.microsoft.com/office/drawing/2014/main" id="{24D33C5C-74DD-449C-BB03-61DAEA5EB11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02409995-3916-4A0F-94B2-8E894C5A39B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9B8BDBE-90C7-4B18-ACB2-6BF2B279ACA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6F7D4CFD-8051-44F7-B858-EC402734B6C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지식 질의와 동의받은 회의 입력 분리</a:t>
            </a:r>
          </a:p>
        </p:txBody>
      </p:sp>
      <p:sp>
        <p:nvSpPr>
          <p:cNvPr id="10" name="">
            <a:extLst xmlns:a="http://schemas.openxmlformats.org/drawingml/2006/main">
              <a:ext uri="{FF2B5EF4-FFF2-40B4-BE49-F238E27FC236}">
                <a16:creationId xmlns:a16="http://schemas.microsoft.com/office/drawing/2014/main" id="{018939F0-53D9-485B-854D-2A3AD27B91D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3586CB-FDFB-454D-88DD-2836A1455FFB}"/>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388E7DCF-C3A2-4790-BE82-CA1D15C003B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회의 내용</a:t>
            </a:r>
          </a:p>
        </p:txBody>
      </p:sp>
      <p:sp>
        <p:nvSpPr>
          <p:cNvPr id="13" name="">
            <a:extLst xmlns:a="http://schemas.openxmlformats.org/drawingml/2006/main">
              <a:ext uri="{FF2B5EF4-FFF2-40B4-BE49-F238E27FC236}">
                <a16:creationId xmlns:a16="http://schemas.microsoft.com/office/drawing/2014/main" id="{0566D7DB-78ED-4899-97CB-AC83C4ABC6D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C0008B4-983A-45B0-8261-E36E1D8C455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9358B844-EDFE-4045-B4E6-81CF1FD212B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회의·업무 기록</a:t>
            </a:r>
          </a:p>
        </p:txBody>
      </p:sp>
      <p:sp>
        <p:nvSpPr>
          <p:cNvPr id="16" name="">
            <a:extLst xmlns:a="http://schemas.openxmlformats.org/drawingml/2006/main">
              <a:ext uri="{FF2B5EF4-FFF2-40B4-BE49-F238E27FC236}">
                <a16:creationId xmlns:a16="http://schemas.microsoft.com/office/drawing/2014/main" id="{695F16B3-D357-4BCE-869E-394841324E5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B1FCEB0-2F3A-49C2-B3AB-3B8E3BEF2EF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DC9F97F3-E0A4-45EC-BE02-742B4EAD98C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자문가 확인</a:t>
            </a:r>
          </a:p>
        </p:txBody>
      </p:sp>
      <p:sp>
        <p:nvSpPr>
          <p:cNvPr id="19" name="">
            <a:extLst xmlns:a="http://schemas.openxmlformats.org/drawingml/2006/main">
              <a:ext uri="{FF2B5EF4-FFF2-40B4-BE49-F238E27FC236}">
                <a16:creationId xmlns:a16="http://schemas.microsoft.com/office/drawing/2014/main" id="{A5E07E03-7D09-4594-B8E0-4CBCB0CD267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08B0146-AB64-45B1-BF82-26271A3210A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0EC7A1A6-0D56-4D96-BE55-97281DF9998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CRM·이메일 기록</a:t>
            </a:r>
          </a:p>
        </p:txBody>
      </p:sp>
      <p:sp>
        <p:nvSpPr>
          <p:cNvPr id="22" name="">
            <a:extLst xmlns:a="http://schemas.openxmlformats.org/drawingml/2006/main">
              <a:ext uri="{FF2B5EF4-FFF2-40B4-BE49-F238E27FC236}">
                <a16:creationId xmlns:a16="http://schemas.microsoft.com/office/drawing/2014/main" id="{D63D5E7A-2495-4B20-8A09-7CADC5DDC59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6E5A343-2D75-463B-86B8-694B5A48C93B}"/>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C178A370-6224-4BAB-A79A-7DB7D5254B0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CRM·이메일 기록</a:t>
            </a:r>
          </a:p>
        </p:txBody>
      </p:sp>
      <p:sp>
        <p:nvSpPr>
          <p:cNvPr id="25" name="">
            <a:extLst xmlns:a="http://schemas.openxmlformats.org/drawingml/2006/main">
              <a:ext uri="{FF2B5EF4-FFF2-40B4-BE49-F238E27FC236}">
                <a16:creationId xmlns:a16="http://schemas.microsoft.com/office/drawing/2014/main" id="{C0ABF42A-0EA5-4F95-B033-C9CD6B035B9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3C5FBACB-8CFA-4B8F-9F77-284993699257}"/>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잘못된 수신자·발언자 혼동·삭제 요청·미확인 할일</a:t>
            </a:r>
          </a:p>
        </p:txBody>
      </p:sp>
      <p:sp>
        <p:nvSpPr>
          <p:cNvPr id="27" name="">
            <a:extLst xmlns:a="http://schemas.openxmlformats.org/drawingml/2006/main">
              <a:ext uri="{FF2B5EF4-FFF2-40B4-BE49-F238E27FC236}">
                <a16:creationId xmlns:a16="http://schemas.microsoft.com/office/drawing/2014/main" id="{D08686F0-7D11-461E-8285-25E7CD0083D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D95198A-4473-4903-901B-7AC9852B3CD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녹취 동의·사실·수신자·실행 확인</a:t>
            </a:r>
          </a:p>
        </p:txBody>
      </p:sp>
      <p:sp>
        <p:nvSpPr>
          <p:cNvPr id="29" name="">
            <a:extLst xmlns:a="http://schemas.openxmlformats.org/drawingml/2006/main">
              <a:ext uri="{FF2B5EF4-FFF2-40B4-BE49-F238E27FC236}">
                <a16:creationId xmlns:a16="http://schemas.microsoft.com/office/drawing/2014/main" id="{F2263E02-8B5C-4DFD-BE21-AA39EAAA966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0F6026D-21F0-4590-992E-7A7544CF140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요약 사실·할일·수신자·후속조치 완료 확인</a:t>
            </a:r>
          </a:p>
        </p:txBody>
      </p:sp>
      <p:sp>
        <p:nvSpPr>
          <p:cNvPr id="31" name="">
            <a:extLst xmlns:a="http://schemas.openxmlformats.org/drawingml/2006/main">
              <a:ext uri="{FF2B5EF4-FFF2-40B4-BE49-F238E27FC236}">
                <a16:creationId xmlns:a16="http://schemas.microsoft.com/office/drawing/2014/main" id="{654C2E7B-0EB1-4C59-8A29-0D87F5A0873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059EC49-92F9-4B54-B16F-CE176453BBF4}"/>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동의·원 발화·수정·승인·CRM 반영 이력</a:t>
            </a:r>
          </a:p>
        </p:txBody>
      </p:sp>
    </p:spTree>
    <p:extLst>
      <p:ext uri="{BB962C8B-B14F-4D97-AF65-F5344CB8AC3E}">
        <p14:creationId xmlns:p14="http://schemas.microsoft.com/office/powerpoint/2010/main" val="1429683900"/>
      </p:ext>
    </p:extLst>
  </p:cSld>
</p:sld>
</file>

<file path=ppt/slides/slide1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81FAEE1-355E-45AB-86F7-80FE4CDA71B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PF08 / CCK 비교·재현 시험 설계</a:t>
            </a:r>
          </a:p>
        </p:txBody>
      </p:sp>
      <p:sp>
        <p:nvSpPr>
          <p:cNvPr id="2" name="">
            <a:extLst xmlns:a="http://schemas.openxmlformats.org/drawingml/2006/main">
              <a:ext uri="{FF2B5EF4-FFF2-40B4-BE49-F238E27FC236}">
                <a16:creationId xmlns:a16="http://schemas.microsoft.com/office/drawing/2014/main" id="{BA5EFA67-A00C-4EE6-AC5E-80FFDA62CD9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Assistant·Debrief · 벤치마킹</a:t>
            </a:r>
          </a:p>
        </p:txBody>
      </p:sp>
      <p:sp>
        <p:nvSpPr>
          <p:cNvPr id="3" name="">
            <a:extLst xmlns:a="http://schemas.openxmlformats.org/drawingml/2006/main">
              <a:ext uri="{FF2B5EF4-FFF2-40B4-BE49-F238E27FC236}">
                <a16:creationId xmlns:a16="http://schemas.microsoft.com/office/drawing/2014/main" id="{4E661F14-C644-4F79-92A6-E3F7D7389FC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3FADCF-9DE5-44E9-8381-C9740CFF9D0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69F83E8-CD29-4C67-9CD9-868AAAA51CE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151</a:t>
            </a:r>
          </a:p>
        </p:txBody>
      </p:sp>
      <p:sp>
        <p:nvSpPr>
          <p:cNvPr id="6" name="">
            <a:extLst xmlns:a="http://schemas.openxmlformats.org/drawingml/2006/main">
              <a:ext uri="{FF2B5EF4-FFF2-40B4-BE49-F238E27FC236}">
                <a16:creationId xmlns:a16="http://schemas.microsoft.com/office/drawing/2014/main" id="{3E0A2615-0B94-48ED-AB9A-8060544F20F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AD1FDE84-B986-4B13-B77C-999F44E031C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회의 요약과 후속 업무의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동의와 자문가 편집·확인</a:t>
            </a:r>
          </a:p>
        </p:txBody>
      </p:sp>
      <p:sp>
        <p:nvSpPr>
          <p:cNvPr id="8" name="">
            <a:extLst xmlns:a="http://schemas.openxmlformats.org/drawingml/2006/main">
              <a:ext uri="{FF2B5EF4-FFF2-40B4-BE49-F238E27FC236}">
                <a16:creationId xmlns:a16="http://schemas.microsoft.com/office/drawing/2014/main" id="{6DA4372E-2B31-4CA1-91E6-BC176888751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D398DD7-6B50-4EF7-A7F4-E63345D0055D}"/>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대화의 잘못된 요약·할일 추출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확인 전 CRM·이메일 반영</a:t>
            </a:r>
          </a:p>
        </p:txBody>
      </p:sp>
      <p:sp>
        <p:nvSpPr>
          <p:cNvPr id="10" name="">
            <a:extLst xmlns:a="http://schemas.openxmlformats.org/drawingml/2006/main">
              <a:ext uri="{FF2B5EF4-FFF2-40B4-BE49-F238E27FC236}">
                <a16:creationId xmlns:a16="http://schemas.microsoft.com/office/drawing/2014/main" id="{D7E9560A-8D84-427A-8F16-530650F467C0}"/>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CDE9EE1-0AB3-47F8-9BFE-361B5ACABAF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녹취 동의·사실·수신자·실행 확인</a:t>
            </a:r>
          </a:p>
        </p:txBody>
      </p:sp>
      <p:sp>
        <p:nvSpPr>
          <p:cNvPr id="12" name="">
            <a:extLst xmlns:a="http://schemas.openxmlformats.org/drawingml/2006/main">
              <a:ext uri="{FF2B5EF4-FFF2-40B4-BE49-F238E27FC236}">
                <a16:creationId xmlns:a16="http://schemas.microsoft.com/office/drawing/2014/main" id="{CCE54345-4618-436D-B809-AFF86E082256}"/>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E8903625-3053-43DE-B558-96FCAAA95C9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동의받은 회의에서 요약·할일을 만든 뒤 CRM 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a:t>
            </a:r>
          </a:p>
        </p:txBody>
      </p:sp>
      <p:sp>
        <p:nvSpPr>
          <p:cNvPr id="14" name="">
            <a:extLst xmlns:a="http://schemas.openxmlformats.org/drawingml/2006/main">
              <a:ext uri="{FF2B5EF4-FFF2-40B4-BE49-F238E27FC236}">
                <a16:creationId xmlns:a16="http://schemas.microsoft.com/office/drawing/2014/main" id="{5AE9A522-9E27-4648-85F3-551199C2952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1EF30A7-D06F-4FA7-89E3-F2D40DD131D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잘못된 수신자·발언자 혼동·삭제 요청·미확인 할일</a:t>
            </a:r>
          </a:p>
        </p:txBody>
      </p:sp>
      <p:sp>
        <p:nvSpPr>
          <p:cNvPr id="16" name="">
            <a:extLst xmlns:a="http://schemas.openxmlformats.org/drawingml/2006/main">
              <a:ext uri="{FF2B5EF4-FFF2-40B4-BE49-F238E27FC236}">
                <a16:creationId xmlns:a16="http://schemas.microsoft.com/office/drawing/2014/main" id="{1C2AB0FA-F5EC-48A8-8621-6F89CEC61BE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03583FAF-ECCC-46FE-89C2-27808DECC6B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동의·원 발화·수정·승인·CRM 반영 이력</a:t>
            </a:r>
          </a:p>
        </p:txBody>
      </p:sp>
    </p:spTree>
    <p:extLst>
      <p:ext uri="{BB962C8B-B14F-4D97-AF65-F5344CB8AC3E}">
        <p14:creationId xmlns:p14="http://schemas.microsoft.com/office/powerpoint/2010/main" val="980288400"/>
      </p:ext>
    </p:extLst>
  </p:cSld>
</p:sld>
</file>

<file path=ppt/slides/slide1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9A0A0F1-D09E-4FBB-9B6A-A914496AC90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2024 출시, 2025 전사 확산·2025연차보고 / 해외</a:t>
            </a:r>
          </a:p>
        </p:txBody>
      </p:sp>
      <p:sp>
        <p:nvSpPr>
          <p:cNvPr id="2" name="">
            <a:extLst xmlns:a="http://schemas.openxmlformats.org/drawingml/2006/main">
              <a:ext uri="{FF2B5EF4-FFF2-40B4-BE49-F238E27FC236}">
                <a16:creationId xmlns:a16="http://schemas.microsoft.com/office/drawing/2014/main" id="{46E39371-4A32-43D8-AFD3-B46A02C7837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a:t>
            </a:r>
          </a:p>
        </p:txBody>
      </p:sp>
      <p:sp>
        <p:nvSpPr>
          <p:cNvPr id="3" name="">
            <a:extLst xmlns:a="http://schemas.openxmlformats.org/drawingml/2006/main">
              <a:ext uri="{FF2B5EF4-FFF2-40B4-BE49-F238E27FC236}">
                <a16:creationId xmlns:a16="http://schemas.microsoft.com/office/drawing/2014/main" id="{F98FDF59-F06C-4254-AE14-8755BE0FB6C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3527FE-53F1-4E9C-A510-CCB262870CA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A8C0885-9C62-4BBC-8CED-172FDCA6DB8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152</a:t>
            </a:r>
          </a:p>
        </p:txBody>
      </p:sp>
      <p:sp>
        <p:nvSpPr>
          <p:cNvPr id="6" name="">
            <a:extLst xmlns:a="http://schemas.openxmlformats.org/drawingml/2006/main">
              <a:ext uri="{FF2B5EF4-FFF2-40B4-BE49-F238E27FC236}">
                <a16:creationId xmlns:a16="http://schemas.microsoft.com/office/drawing/2014/main" id="{FB242117-EDDB-45F1-9360-9AD2630E3B02}"/>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444EE8B-F443-42C7-8B66-54FC8F25197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JPMorgan Chase의 공통 LLM Suite와 사업부 활용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확산 사례. 공통 도구와 전사 데이터 기반을 마련한 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사업부의 업무별 적용을 확대하는 접근.</a:t>
            </a:r>
          </a:p>
        </p:txBody>
      </p:sp>
      <p:sp>
        <p:nvSpPr>
          <p:cNvPr id="8" name="">
            <a:extLst xmlns:a="http://schemas.openxmlformats.org/drawingml/2006/main">
              <a:ext uri="{FF2B5EF4-FFF2-40B4-BE49-F238E27FC236}">
                <a16:creationId xmlns:a16="http://schemas.microsoft.com/office/drawing/2014/main" id="{C6036802-7BCE-40F8-8EB2-CF113201D4B9}"/>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5AC61022-D805-4E0F-9253-B916C9278D8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직원·사업부 문맥, 공통 AI 호출, 허용 자료 연결, 결과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 운영 관측의 계층으로 재구성. 공개 사례에서 확인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한 이용 범위와 실제 내부 배치·데이터 연계·권한 구현은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분리해 해석하는 방식.</a:t>
            </a:r>
          </a:p>
        </p:txBody>
      </p:sp>
      <p:sp>
        <p:nvSpPr>
          <p:cNvPr id="10" name="">
            <a:extLst xmlns:a="http://schemas.openxmlformats.org/drawingml/2006/main">
              <a:ext uri="{FF2B5EF4-FFF2-40B4-BE49-F238E27FC236}">
                <a16:creationId xmlns:a16="http://schemas.microsoft.com/office/drawing/2014/main" id="{EE94CFD9-47EE-4075-B479-EC3192D16E5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173DE700-3895-4166-88CD-100CC8F70F9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1차 구축에서는 공통 계층의 조직 매핑·권한·감사·지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식 운영을 우선 인수하고 후속 부서 업무를 단계별로 추가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하는 참고. 이용량 증가와 업무 완료 품질·비용·위험을 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께 관찰하는 확산 기준 필요.</a:t>
            </a:r>
          </a:p>
        </p:txBody>
      </p:sp>
      <p:sp>
        <p:nvSpPr>
          <p:cNvPr id="12" name="">
            <a:extLst xmlns:a="http://schemas.openxmlformats.org/drawingml/2006/main">
              <a:ext uri="{FF2B5EF4-FFF2-40B4-BE49-F238E27FC236}">
                <a16:creationId xmlns:a16="http://schemas.microsoft.com/office/drawing/2014/main" id="{7CFA084F-ACCB-464B-ABFE-C02F2A6F427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4B6E0BD-E99A-49DD-A081-EF2BE313D27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설정·회귀 평가·두 번째 부서 적용</a:t>
            </a:r>
          </a:p>
        </p:txBody>
      </p:sp>
      <p:sp>
        <p:nvSpPr>
          <p:cNvPr id="14" name="">
            <a:extLst xmlns:a="http://schemas.openxmlformats.org/drawingml/2006/main">
              <a:ext uri="{FF2B5EF4-FFF2-40B4-BE49-F238E27FC236}">
                <a16:creationId xmlns:a16="http://schemas.microsoft.com/office/drawing/2014/main" id="{B8E85272-97BC-4061-B390-6F0933E3B18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9F7CFBAB-861E-4BAA-9FD1-E96A32D6BF6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도입기간·유지비·교육 부담의 기준선·비교 평가</a:t>
            </a:r>
          </a:p>
        </p:txBody>
      </p:sp>
      <p:sp>
        <p:nvSpPr>
          <p:cNvPr id="16" name="">
            <a:extLst xmlns:a="http://schemas.openxmlformats.org/drawingml/2006/main">
              <a:ext uri="{FF2B5EF4-FFF2-40B4-BE49-F238E27FC236}">
                <a16:creationId xmlns:a16="http://schemas.microsoft.com/office/drawing/2014/main" id="{A3D72E28-778B-4E3A-BD8D-ACF008D9089B}"/>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63873B5-524D-4E70-AD0B-ECEB94ACE7F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도입기간·유지비·교육 부담</a:t>
            </a:r>
          </a:p>
        </p:txBody>
      </p:sp>
      <p:sp>
        <p:nvSpPr>
          <p:cNvPr id="18" name="">
            <a:extLst xmlns:a="http://schemas.openxmlformats.org/drawingml/2006/main">
              <a:ext uri="{FF2B5EF4-FFF2-40B4-BE49-F238E27FC236}">
                <a16:creationId xmlns:a16="http://schemas.microsoft.com/office/drawing/2014/main" id="{1DDF4655-D991-47F7-8999-E1EB38B6F18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접근 가능과 활성이용 분모 다름. 거래심사 효율은 별도 AI 사례이며 LLM Suite 성과로 귀속 금지</a:t>
            </a:r>
          </a:p>
        </p:txBody>
      </p:sp>
    </p:spTree>
    <p:extLst>
      <p:ext uri="{BB962C8B-B14F-4D97-AF65-F5344CB8AC3E}">
        <p14:creationId xmlns:p14="http://schemas.microsoft.com/office/powerpoint/2010/main" val="2114933537"/>
      </p:ext>
    </p:extLst>
  </p:cSld>
</p:sld>
</file>

<file path=ppt/slides/slide1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9BFED20-5049-43E4-85FB-0A0A7F548CE1}"/>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3B57925-D12B-4C43-A9CA-B602E5913360}"/>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2FDA709E-E27D-4521-A607-545359B10DFC}"/>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42D84EC-CDE5-4049-8323-1859BB5F3980}"/>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212B9827-F89D-4035-9D49-83816ED48BE5}"/>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9935429F-8BEE-4898-BDA3-F3E2A50CCD2C}"/>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850D5388-2241-45EA-9DFA-5ED1D6D8FC7C}"/>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74C4BA9F-5544-4761-87E3-8999D8D642AD}"/>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FCD61F8D-79D3-453A-A41F-B69A4673DA7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98C9BB0E-623E-45B1-BBFD-293A973B7F4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권한·목적 판정 후 허용·차단 분기</a:t>
            </a:r>
          </a:p>
        </p:txBody>
      </p:sp>
      <p:sp>
        <p:nvSpPr>
          <p:cNvPr id="2" name="">
            <a:extLst xmlns:a="http://schemas.openxmlformats.org/drawingml/2006/main">
              <a:ext uri="{FF2B5EF4-FFF2-40B4-BE49-F238E27FC236}">
                <a16:creationId xmlns:a16="http://schemas.microsoft.com/office/drawing/2014/main" id="{ED48B226-62AA-48DE-93B6-98F89553356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세부 서비스 구조</a:t>
            </a:r>
          </a:p>
        </p:txBody>
      </p:sp>
      <p:sp>
        <p:nvSpPr>
          <p:cNvPr id="3" name="">
            <a:extLst xmlns:a="http://schemas.openxmlformats.org/drawingml/2006/main">
              <a:ext uri="{FF2B5EF4-FFF2-40B4-BE49-F238E27FC236}">
                <a16:creationId xmlns:a16="http://schemas.microsoft.com/office/drawing/2014/main" id="{1EFC2CEC-0FC2-48BE-8C91-3FCBD8C542E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833280E-5F30-47C0-88BF-14461A5ED5D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AE0EE4A-F493-45D1-BE8C-FE89008C216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153</a:t>
            </a:r>
          </a:p>
        </p:txBody>
      </p:sp>
      <p:sp>
        <p:nvSpPr>
          <p:cNvPr id="6" name="">
            <a:extLst xmlns:a="http://schemas.openxmlformats.org/drawingml/2006/main">
              <a:ext uri="{FF2B5EF4-FFF2-40B4-BE49-F238E27FC236}">
                <a16:creationId xmlns:a16="http://schemas.microsoft.com/office/drawing/2014/main" id="{6DD9BBA7-C997-454E-A6E3-BB66C22C7026}"/>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공통 데이터 → LLM Suite → 사업부 업무 → 이용·운영 관리</a:t>
            </a:r>
          </a:p>
        </p:txBody>
      </p:sp>
      <p:sp>
        <p:nvSpPr>
          <p:cNvPr id="7" name="">
            <a:extLst xmlns:a="http://schemas.openxmlformats.org/drawingml/2006/main">
              <a:ext uri="{FF2B5EF4-FFF2-40B4-BE49-F238E27FC236}">
                <a16:creationId xmlns:a16="http://schemas.microsoft.com/office/drawing/2014/main" id="{27FD2715-6A1A-4968-AB1F-2F35C27070FA}"/>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714B196-517E-4A1D-AFE4-55160BFE32EF}"/>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1709D90D-2CCB-404F-80DE-97F8784F6E8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AI 접점</a:t>
            </a:r>
          </a:p>
        </p:txBody>
      </p:sp>
      <p:sp>
        <p:nvSpPr>
          <p:cNvPr id="10" name="">
            <a:extLst xmlns:a="http://schemas.openxmlformats.org/drawingml/2006/main">
              <a:ext uri="{FF2B5EF4-FFF2-40B4-BE49-F238E27FC236}">
                <a16:creationId xmlns:a16="http://schemas.microsoft.com/office/drawing/2014/main" id="{3FCB1203-E909-44FB-9821-7433B4388253}"/>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2D7D553-9F2F-4C51-9347-8AA3BECBCD95}"/>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69ED3D24-E78E-44B1-852A-7E9679609642}"/>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직무·자료 권한</a:t>
            </a:r>
          </a:p>
        </p:txBody>
      </p:sp>
      <p:sp>
        <p:nvSpPr>
          <p:cNvPr id="13" name="">
            <a:extLst xmlns:a="http://schemas.openxmlformats.org/drawingml/2006/main">
              <a:ext uri="{FF2B5EF4-FFF2-40B4-BE49-F238E27FC236}">
                <a16:creationId xmlns:a16="http://schemas.microsoft.com/office/drawing/2014/main" id="{8F1A7D54-7320-47E4-9955-B8035888296F}"/>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F33AAF9-D0B7-4CAE-B244-FA8B4598F189}"/>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A4BB80DF-DE61-47F5-B6F8-56172DEDB91A}"/>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실행 경계</a:t>
            </a:r>
          </a:p>
        </p:txBody>
      </p:sp>
      <p:sp>
        <p:nvSpPr>
          <p:cNvPr id="16" name="">
            <a:extLst xmlns:a="http://schemas.openxmlformats.org/drawingml/2006/main">
              <a:ext uri="{FF2B5EF4-FFF2-40B4-BE49-F238E27FC236}">
                <a16:creationId xmlns:a16="http://schemas.microsoft.com/office/drawing/2014/main" id="{B38F2E0A-2542-4DD9-A682-BFDB222609D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ECB489C-8375-41BB-85F6-2A2A8604AEAC}"/>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FD7173E4-E457-43AC-9D96-AEC8B35EED54}"/>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근거·위험 검사</a:t>
            </a:r>
          </a:p>
        </p:txBody>
      </p:sp>
      <p:sp>
        <p:nvSpPr>
          <p:cNvPr id="19" name="">
            <a:extLst xmlns:a="http://schemas.openxmlformats.org/drawingml/2006/main">
              <a:ext uri="{FF2B5EF4-FFF2-40B4-BE49-F238E27FC236}">
                <a16:creationId xmlns:a16="http://schemas.microsoft.com/office/drawing/2014/main" id="{838930DB-3EC7-4B6D-8656-F6B57F0C46E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45FDEC9-6642-4C23-B513-C07B5DE327EA}"/>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F9CAB8C7-5CF5-4E5A-AA5B-1AA2A074CD4D}"/>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전사·업무 자료</a:t>
            </a:r>
          </a:p>
        </p:txBody>
      </p:sp>
      <p:sp>
        <p:nvSpPr>
          <p:cNvPr id="22" name="">
            <a:extLst xmlns:a="http://schemas.openxmlformats.org/drawingml/2006/main">
              <a:ext uri="{FF2B5EF4-FFF2-40B4-BE49-F238E27FC236}">
                <a16:creationId xmlns:a16="http://schemas.microsoft.com/office/drawing/2014/main" id="{C41CCACE-5142-4EA6-9221-40E1C738CC25}"/>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FB41D4F8-2AED-4225-8420-1B190CA39B51}"/>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9A9F245A-7BDB-4474-A842-B9B1EC00B4E9}"/>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LLM Suite 지원</a:t>
            </a:r>
          </a:p>
        </p:txBody>
      </p:sp>
      <p:sp>
        <p:nvSpPr>
          <p:cNvPr id="25" name="">
            <a:extLst xmlns:a="http://schemas.openxmlformats.org/drawingml/2006/main">
              <a:ext uri="{FF2B5EF4-FFF2-40B4-BE49-F238E27FC236}">
                <a16:creationId xmlns:a16="http://schemas.microsoft.com/office/drawing/2014/main" id="{E6194CF5-AE26-4DC1-BEC1-170E8D9BAF7D}"/>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EF60102-5AB6-49E2-9DA2-25CDA2541B8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2BA020D8-E933-4E44-A91C-9CE5203AC64F}"/>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사업부 직원 검토</a:t>
            </a:r>
          </a:p>
        </p:txBody>
      </p:sp>
      <p:sp>
        <p:nvSpPr>
          <p:cNvPr id="28" name="">
            <a:extLst xmlns:a="http://schemas.openxmlformats.org/drawingml/2006/main">
              <a:ext uri="{FF2B5EF4-FFF2-40B4-BE49-F238E27FC236}">
                <a16:creationId xmlns:a16="http://schemas.microsoft.com/office/drawing/2014/main" id="{A212B161-27CC-4B6B-8735-0B65A6AE22B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A947B7B-3BDD-4A4D-AFD4-7CF03253BA6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7232B2F9-C7FB-420A-B7DB-A798F6F5480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사업별 업무 활용</a:t>
            </a:r>
          </a:p>
        </p:txBody>
      </p:sp>
      <p:sp>
        <p:nvSpPr>
          <p:cNvPr id="31" name="">
            <a:extLst xmlns:a="http://schemas.openxmlformats.org/drawingml/2006/main">
              <a:ext uri="{FF2B5EF4-FFF2-40B4-BE49-F238E27FC236}">
                <a16:creationId xmlns:a16="http://schemas.microsoft.com/office/drawing/2014/main" id="{BE0E6E33-7E56-48DC-8867-B655542EE21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FE29D26-403A-4F7D-BC5A-5698158E2950}"/>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A08E7A05-0AEB-4D3D-A040-E7348D2A753D}"/>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비용·정답 평가</a:t>
            </a:r>
          </a:p>
        </p:txBody>
      </p:sp>
      <p:sp>
        <p:nvSpPr>
          <p:cNvPr id="34" name="">
            <a:extLst xmlns:a="http://schemas.openxmlformats.org/drawingml/2006/main">
              <a:ext uri="{FF2B5EF4-FFF2-40B4-BE49-F238E27FC236}">
                <a16:creationId xmlns:a16="http://schemas.microsoft.com/office/drawing/2014/main" id="{E4EB9F91-309C-48BE-99F5-E9FCB2DF8922}"/>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690DD1B-4604-4E16-A394-377D6F5BED53}"/>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D4ECAE15-9B1F-43A9-8420-2FDAD0F711E0}"/>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문맥·평가 기록</a:t>
            </a:r>
          </a:p>
        </p:txBody>
      </p:sp>
      <p:sp>
        <p:nvSpPr>
          <p:cNvPr id="46" name="">
            <a:extLst xmlns:a="http://schemas.openxmlformats.org/drawingml/2006/main">
              <a:ext uri="{FF2B5EF4-FFF2-40B4-BE49-F238E27FC236}">
                <a16:creationId xmlns:a16="http://schemas.microsoft.com/office/drawing/2014/main" id="{336B854C-B014-4877-96B5-83CD53CC626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8976652"/>
      </p:ext>
    </p:extLst>
  </p:cSld>
</p:sld>
</file>

<file path=ppt/slides/slide1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91F266D-D4B4-4AA0-8DA1-0C01FF3967D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논리 인터페이스·복구 설계</a:t>
            </a:r>
          </a:p>
        </p:txBody>
      </p:sp>
      <p:sp>
        <p:nvSpPr>
          <p:cNvPr id="2" name="">
            <a:extLst xmlns:a="http://schemas.openxmlformats.org/drawingml/2006/main">
              <a:ext uri="{FF2B5EF4-FFF2-40B4-BE49-F238E27FC236}">
                <a16:creationId xmlns:a16="http://schemas.microsoft.com/office/drawing/2014/main" id="{1D80B626-2109-48E4-93AB-AAE7098E660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데이터와 예외 처리</a:t>
            </a:r>
          </a:p>
        </p:txBody>
      </p:sp>
      <p:sp>
        <p:nvSpPr>
          <p:cNvPr id="3" name="">
            <a:extLst xmlns:a="http://schemas.openxmlformats.org/drawingml/2006/main">
              <a:ext uri="{FF2B5EF4-FFF2-40B4-BE49-F238E27FC236}">
                <a16:creationId xmlns:a16="http://schemas.microsoft.com/office/drawing/2014/main" id="{5A1C302E-A17B-4EFB-BEBC-C5C39597357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8711C9-805E-4695-A075-D92CA483AAA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33075EE-CCBA-496B-97C3-096E6FB74E0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154</a:t>
            </a:r>
          </a:p>
        </p:txBody>
      </p:sp>
      <p:sp>
        <p:nvSpPr>
          <p:cNvPr id="6" name="">
            <a:extLst xmlns:a="http://schemas.openxmlformats.org/drawingml/2006/main">
              <a:ext uri="{FF2B5EF4-FFF2-40B4-BE49-F238E27FC236}">
                <a16:creationId xmlns:a16="http://schemas.microsoft.com/office/drawing/2014/main" id="{D5231259-1E66-4A0A-83A1-A52EDC3D7E14}"/>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9FDF65C-1D88-4FA1-BDD1-62FC27E2E71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B46C1B9-682A-4922-84BE-441660A748D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9E8672F9-7359-4BC5-A1AD-59F34050150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사업부·직무·자료 접근조건 구성</a:t>
            </a:r>
          </a:p>
        </p:txBody>
      </p:sp>
      <p:sp>
        <p:nvSpPr>
          <p:cNvPr id="10" name="">
            <a:extLst xmlns:a="http://schemas.openxmlformats.org/drawingml/2006/main">
              <a:ext uri="{FF2B5EF4-FFF2-40B4-BE49-F238E27FC236}">
                <a16:creationId xmlns:a16="http://schemas.microsoft.com/office/drawing/2014/main" id="{6AE41364-970A-40B1-A4A2-4BDC779A94C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9B40A52-DF7F-4DA2-8471-5D6B451DE92B}"/>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C8163E9C-3B3C-4907-BBA0-7FE2D30CE57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9FE53016-3A8A-4C3D-AE69-015F35CC018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BA84BF-B35D-46F4-87DA-4FFEC24F619A}"/>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7CAD0ABF-AA58-4FA1-953E-E5A6B6DEDC8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사업부 실행 경계</a:t>
            </a:r>
          </a:p>
        </p:txBody>
      </p:sp>
      <p:sp>
        <p:nvSpPr>
          <p:cNvPr id="16" name="">
            <a:extLst xmlns:a="http://schemas.openxmlformats.org/drawingml/2006/main">
              <a:ext uri="{FF2B5EF4-FFF2-40B4-BE49-F238E27FC236}">
                <a16:creationId xmlns:a16="http://schemas.microsoft.com/office/drawing/2014/main" id="{28BCC9A4-FA06-4760-A322-BD2537D578C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F664D23-D876-4D58-BCFF-8A5493152EC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7C5DC168-DA1F-4FE8-BAEC-7FE3C72F4F9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AI 결과</a:t>
            </a:r>
          </a:p>
        </p:txBody>
      </p:sp>
      <p:sp>
        <p:nvSpPr>
          <p:cNvPr id="19" name="">
            <a:extLst xmlns:a="http://schemas.openxmlformats.org/drawingml/2006/main">
              <a:ext uri="{FF2B5EF4-FFF2-40B4-BE49-F238E27FC236}">
                <a16:creationId xmlns:a16="http://schemas.microsoft.com/office/drawing/2014/main" id="{D4BEE34F-1123-4E3E-BC4A-1E3E3CC5DA14}"/>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6D01CAB-0EA5-41F8-A640-C8086EBDC056}"/>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32D32A41-C4C4-46F7-BF96-F2F4FEA2842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AI 결과</a:t>
            </a:r>
          </a:p>
        </p:txBody>
      </p:sp>
      <p:sp>
        <p:nvSpPr>
          <p:cNvPr id="22" name="">
            <a:extLst xmlns:a="http://schemas.openxmlformats.org/drawingml/2006/main">
              <a:ext uri="{FF2B5EF4-FFF2-40B4-BE49-F238E27FC236}">
                <a16:creationId xmlns:a16="http://schemas.microsoft.com/office/drawing/2014/main" id="{BEC0722C-2DAF-437A-87DE-97087877282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1106B39-8BA1-438D-AEA5-4D5230F3065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4D7DB0D1-7910-4BE8-ABD5-7914F0A0A11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이용·운영 기록</a:t>
            </a:r>
          </a:p>
        </p:txBody>
      </p:sp>
      <p:sp>
        <p:nvSpPr>
          <p:cNvPr id="25" name="">
            <a:extLst xmlns:a="http://schemas.openxmlformats.org/drawingml/2006/main">
              <a:ext uri="{FF2B5EF4-FFF2-40B4-BE49-F238E27FC236}">
                <a16:creationId xmlns:a16="http://schemas.microsoft.com/office/drawing/2014/main" id="{460BF35D-CD78-4CD3-A775-61D331E2C45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8658A35-CC68-47A9-B9AC-77459D2B9CB7}"/>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 간 지식 노출·개정 지연·비용 급증</a:t>
            </a:r>
          </a:p>
        </p:txBody>
      </p:sp>
      <p:sp>
        <p:nvSpPr>
          <p:cNvPr id="27" name="">
            <a:extLst xmlns:a="http://schemas.openxmlformats.org/drawingml/2006/main">
              <a:ext uri="{FF2B5EF4-FFF2-40B4-BE49-F238E27FC236}">
                <a16:creationId xmlns:a16="http://schemas.microsoft.com/office/drawing/2014/main" id="{C6DDD708-1E67-426D-AA83-4ABD10975AFC}"/>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D03C4748-43E5-4A6B-8C1A-BD3188E17EB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사업부별 정답·권한·비용 평가</a:t>
            </a:r>
          </a:p>
        </p:txBody>
      </p:sp>
      <p:sp>
        <p:nvSpPr>
          <p:cNvPr id="29" name="">
            <a:extLst xmlns:a="http://schemas.openxmlformats.org/drawingml/2006/main">
              <a:ext uri="{FF2B5EF4-FFF2-40B4-BE49-F238E27FC236}">
                <a16:creationId xmlns:a16="http://schemas.microsoft.com/office/drawing/2014/main" id="{AC02E9F6-85C7-4BE5-BB2B-F6924C01BA3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E6B86F7-D3D9-460B-A9E1-767AA94CE6D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사업부별 이용·정답·위험·운영 비용 평가</a:t>
            </a:r>
          </a:p>
        </p:txBody>
      </p:sp>
      <p:sp>
        <p:nvSpPr>
          <p:cNvPr id="31" name="">
            <a:extLst xmlns:a="http://schemas.openxmlformats.org/drawingml/2006/main">
              <a:ext uri="{FF2B5EF4-FFF2-40B4-BE49-F238E27FC236}">
                <a16:creationId xmlns:a16="http://schemas.microsoft.com/office/drawing/2014/main" id="{6A301F23-55C1-48DA-B1E7-EBCFBDCF9350}"/>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282D853-1539-4958-ADA3-31B15FDFDB1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부서별 권한·정답·응답비용·운영 로그</a:t>
            </a:r>
          </a:p>
        </p:txBody>
      </p:sp>
    </p:spTree>
    <p:extLst>
      <p:ext uri="{BB962C8B-B14F-4D97-AF65-F5344CB8AC3E}">
        <p14:creationId xmlns:p14="http://schemas.microsoft.com/office/powerpoint/2010/main" val="1009979776"/>
      </p:ext>
    </p:extLst>
  </p:cSld>
</p:sld>
</file>

<file path=ppt/slides/slide1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5062C37-A107-473D-A60E-3408163C71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PF-A18 / CCK 비교·재현 시험 설계</a:t>
            </a:r>
          </a:p>
        </p:txBody>
      </p:sp>
      <p:sp>
        <p:nvSpPr>
          <p:cNvPr id="2" name="">
            <a:extLst xmlns:a="http://schemas.openxmlformats.org/drawingml/2006/main">
              <a:ext uri="{FF2B5EF4-FFF2-40B4-BE49-F238E27FC236}">
                <a16:creationId xmlns:a16="http://schemas.microsoft.com/office/drawing/2014/main" id="{05D01154-72C1-4646-A818-FD0DD47D1A3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JPMorganChase LLM Suite · 벤치마킹</a:t>
            </a:r>
          </a:p>
        </p:txBody>
      </p:sp>
      <p:sp>
        <p:nvSpPr>
          <p:cNvPr id="3" name="">
            <a:extLst xmlns:a="http://schemas.openxmlformats.org/drawingml/2006/main">
              <a:ext uri="{FF2B5EF4-FFF2-40B4-BE49-F238E27FC236}">
                <a16:creationId xmlns:a16="http://schemas.microsoft.com/office/drawing/2014/main" id="{9C6A826A-1CE6-46BF-940E-DFCE0BB15BD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C404F1A-E599-44FF-9BA9-B8222942F44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277D194-2FF7-4BE9-841D-A0EDAEA55E8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155</a:t>
            </a:r>
          </a:p>
        </p:txBody>
      </p:sp>
      <p:sp>
        <p:nvSpPr>
          <p:cNvPr id="6" name="">
            <a:extLst xmlns:a="http://schemas.openxmlformats.org/drawingml/2006/main">
              <a:ext uri="{FF2B5EF4-FFF2-40B4-BE49-F238E27FC236}">
                <a16:creationId xmlns:a16="http://schemas.microsoft.com/office/drawing/2014/main" id="{4EF6CFD3-EE86-435E-B586-59047E08BBA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7D2930E1-A8E8-47DD-ADEB-C51FA5C4D45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공통 AI 기반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사업부별 활용 접점의 확장</a:t>
            </a:r>
          </a:p>
        </p:txBody>
      </p:sp>
      <p:sp>
        <p:nvSpPr>
          <p:cNvPr id="8" name="">
            <a:extLst xmlns:a="http://schemas.openxmlformats.org/drawingml/2006/main">
              <a:ext uri="{FF2B5EF4-FFF2-40B4-BE49-F238E27FC236}">
                <a16:creationId xmlns:a16="http://schemas.microsoft.com/office/drawing/2014/main" id="{48F8ED39-0C93-4770-89A9-87B770CADFB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3C52055-CA5A-44CA-84E9-2ECD8C126A3F}"/>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사업부별 지식·권한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전사 확산을 일률적 효과로 환산</a:t>
            </a:r>
          </a:p>
        </p:txBody>
      </p:sp>
      <p:sp>
        <p:nvSpPr>
          <p:cNvPr id="10" name="">
            <a:extLst xmlns:a="http://schemas.openxmlformats.org/drawingml/2006/main">
              <a:ext uri="{FF2B5EF4-FFF2-40B4-BE49-F238E27FC236}">
                <a16:creationId xmlns:a16="http://schemas.microsoft.com/office/drawing/2014/main" id="{C2B53C35-9074-45CD-BCFF-DC30C3A8818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5938098-9AFF-4E70-8893-04FED256C92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사업부별 정답·권한·비용 평가</a:t>
            </a:r>
          </a:p>
        </p:txBody>
      </p:sp>
      <p:sp>
        <p:nvSpPr>
          <p:cNvPr id="12" name="">
            <a:extLst xmlns:a="http://schemas.openxmlformats.org/drawingml/2006/main">
              <a:ext uri="{FF2B5EF4-FFF2-40B4-BE49-F238E27FC236}">
                <a16:creationId xmlns:a16="http://schemas.microsoft.com/office/drawing/2014/main" id="{78C04707-2783-477F-B798-730A9ADCBB9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BD356D05-243D-473E-AE90-D6B49665E20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 업무 문맥으로 공통 AI 지원 결과 활용</a:t>
            </a:r>
          </a:p>
        </p:txBody>
      </p:sp>
      <p:sp>
        <p:nvSpPr>
          <p:cNvPr id="14" name="">
            <a:extLst xmlns:a="http://schemas.openxmlformats.org/drawingml/2006/main">
              <a:ext uri="{FF2B5EF4-FFF2-40B4-BE49-F238E27FC236}">
                <a16:creationId xmlns:a16="http://schemas.microsoft.com/office/drawing/2014/main" id="{12D9AB6D-5792-4233-9A3B-37DE9AA4B53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1A8D974-C207-4850-BA6F-442FB3E9B137}"/>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사업부 간 지식 노출·개정 지연·비용 급증</a:t>
            </a:r>
          </a:p>
        </p:txBody>
      </p:sp>
      <p:sp>
        <p:nvSpPr>
          <p:cNvPr id="16" name="">
            <a:extLst xmlns:a="http://schemas.openxmlformats.org/drawingml/2006/main">
              <a:ext uri="{FF2B5EF4-FFF2-40B4-BE49-F238E27FC236}">
                <a16:creationId xmlns:a16="http://schemas.microsoft.com/office/drawing/2014/main" id="{927FDE32-6A62-4667-BA3F-A4F2862B4F9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7ACF39A-1FF0-450A-8284-4F73FBADE2BF}"/>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부서별 권한·정답·응답비용·운영 로그</a:t>
            </a:r>
          </a:p>
        </p:txBody>
      </p:sp>
    </p:spTree>
    <p:extLst>
      <p:ext uri="{BB962C8B-B14F-4D97-AF65-F5344CB8AC3E}">
        <p14:creationId xmlns:p14="http://schemas.microsoft.com/office/powerpoint/2010/main" val="1522389705"/>
      </p:ext>
    </p:extLst>
  </p:cSld>
</p:sld>
</file>

<file path=ppt/slides/slide1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29C3A2C-9DFF-48CB-8E44-128CF2EFE16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2026-07-23 문서 / 2026-10-16 확인 / 해외</a:t>
            </a:r>
          </a:p>
        </p:txBody>
      </p:sp>
      <p:sp>
        <p:nvSpPr>
          <p:cNvPr id="2" name="">
            <a:extLst xmlns:a="http://schemas.openxmlformats.org/drawingml/2006/main">
              <a:ext uri="{FF2B5EF4-FFF2-40B4-BE49-F238E27FC236}">
                <a16:creationId xmlns:a16="http://schemas.microsoft.com/office/drawing/2014/main" id="{2196A120-5399-40BD-8C04-E112F71179F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a:t>
            </a:r>
          </a:p>
        </p:txBody>
      </p:sp>
      <p:sp>
        <p:nvSpPr>
          <p:cNvPr id="3" name="">
            <a:extLst xmlns:a="http://schemas.openxmlformats.org/drawingml/2006/main">
              <a:ext uri="{FF2B5EF4-FFF2-40B4-BE49-F238E27FC236}">
                <a16:creationId xmlns:a16="http://schemas.microsoft.com/office/drawing/2014/main" id="{BE66C19D-C7D9-42FC-AA8D-A1C615BF4CF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08F397-1D4C-4358-BF7B-FCB3312B130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5B327354-A279-4E0A-AE7A-4E196A4ACD3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156</a:t>
            </a:r>
          </a:p>
        </p:txBody>
      </p:sp>
      <p:sp>
        <p:nvSpPr>
          <p:cNvPr id="6" name="">
            <a:extLst xmlns:a="http://schemas.openxmlformats.org/drawingml/2006/main">
              <a:ext uri="{FF2B5EF4-FFF2-40B4-BE49-F238E27FC236}">
                <a16:creationId xmlns:a16="http://schemas.microsoft.com/office/drawing/2014/main" id="{95E1F9C1-A3B8-4FF5-9D7A-9F7F2742334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9BAC5F5-38C6-47EB-9771-04C5BE656D0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Microsoft Graph의 조직 관계 활용 기능을 조직 네이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티브 AI의 구성요소 관점에서 분석한 사례. 상사·보고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계·추가 관계를 식별해 질의 대상과 업무 문맥을 연결하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기능 범위.</a:t>
            </a:r>
          </a:p>
        </p:txBody>
      </p:sp>
      <p:sp>
        <p:nvSpPr>
          <p:cNvPr id="8" name="">
            <a:extLst xmlns:a="http://schemas.openxmlformats.org/drawingml/2006/main">
              <a:ext uri="{FF2B5EF4-FFF2-40B4-BE49-F238E27FC236}">
                <a16:creationId xmlns:a16="http://schemas.microsoft.com/office/drawing/2014/main" id="{3D34FC01-F883-4C75-9AA5-AA23E5426A8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8340922-C249-475F-ABFF-BA88D7B5A35B}"/>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지원되는 디렉터리·관계 유형과 직원 식별정보를 대조하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요청자에게 허용된 관계 정보를 조회하는 흐름. 직원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이름을 단순 검색어로 사용하는 방식과 공식 ID·관계 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형·효력일을 이용하는 방식의 차이를 비교하는 설계.</a:t>
            </a:r>
          </a:p>
        </p:txBody>
      </p:sp>
      <p:sp>
        <p:nvSpPr>
          <p:cNvPr id="10" name="">
            <a:extLst xmlns:a="http://schemas.openxmlformats.org/drawingml/2006/main">
              <a:ext uri="{FF2B5EF4-FFF2-40B4-BE49-F238E27FC236}">
                <a16:creationId xmlns:a16="http://schemas.microsoft.com/office/drawing/2014/main" id="{040034F8-7364-4E3F-9ED9-C6F6150F35B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AF371D6-82C0-4D46-8330-B2CFF92BA26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직속 상사 관계가 문서 열람·결재 권한을 자동 부여하는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근거는 아님. TS에서는 조직 관계 그래프와 업무시스템의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권한 정책을 분리하고 겸직·파견·대결·전보·동명이인 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건에서 허용된 관계와 실제 접근 권한을 함께 시험.</a:t>
            </a:r>
          </a:p>
        </p:txBody>
      </p:sp>
      <p:sp>
        <p:nvSpPr>
          <p:cNvPr id="12" name="">
            <a:extLst xmlns:a="http://schemas.openxmlformats.org/drawingml/2006/main">
              <a:ext uri="{FF2B5EF4-FFF2-40B4-BE49-F238E27FC236}">
                <a16:creationId xmlns:a16="http://schemas.microsoft.com/office/drawing/2014/main" id="{6D731DCF-9946-4496-8D3F-0F4B79C6A06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1B9FF7D-5BE1-496C-94DA-7AC5833D45C3}"/>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사번·직무·별칭·겸직·책임업무 매핑</a:t>
            </a:r>
          </a:p>
        </p:txBody>
      </p:sp>
      <p:sp>
        <p:nvSpPr>
          <p:cNvPr id="14" name="">
            <a:extLst xmlns:a="http://schemas.openxmlformats.org/drawingml/2006/main">
              <a:ext uri="{FF2B5EF4-FFF2-40B4-BE49-F238E27FC236}">
                <a16:creationId xmlns:a16="http://schemas.microsoft.com/office/drawing/2014/main" id="{E29880B3-6EC3-45A9-91E5-02C9F5B6F54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DCDED81A-297C-4C76-ADC3-27BE1D132AC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인물 식별·직무 매핑 정확도의 기준선·비교 평가</a:t>
            </a:r>
          </a:p>
        </p:txBody>
      </p:sp>
      <p:sp>
        <p:nvSpPr>
          <p:cNvPr id="16" name="">
            <a:extLst xmlns:a="http://schemas.openxmlformats.org/drawingml/2006/main">
              <a:ext uri="{FF2B5EF4-FFF2-40B4-BE49-F238E27FC236}">
                <a16:creationId xmlns:a16="http://schemas.microsoft.com/office/drawing/2014/main" id="{DB1EFBBD-3F25-4F4C-AA7B-DA56C283D9B3}"/>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9E9C370-2525-4BDC-8A34-4C61E731F56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인물 식별·직무 매핑 정확도</a:t>
            </a:r>
          </a:p>
        </p:txBody>
      </p:sp>
      <p:sp>
        <p:nvSpPr>
          <p:cNvPr id="18" name="">
            <a:extLst xmlns:a="http://schemas.openxmlformats.org/drawingml/2006/main">
              <a:ext uri="{FF2B5EF4-FFF2-40B4-BE49-F238E27FC236}">
                <a16:creationId xmlns:a16="http://schemas.microsoft.com/office/drawing/2014/main" id="{BCC70585-C2F0-4879-9B4D-87FE2C3ECF5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지원 관계·데이터 조건에 따름. TS 업무분장·권한 변경 처리 품질은 별도 시험 필요</a:t>
            </a:r>
          </a:p>
        </p:txBody>
      </p:sp>
    </p:spTree>
    <p:extLst>
      <p:ext uri="{BB962C8B-B14F-4D97-AF65-F5344CB8AC3E}">
        <p14:creationId xmlns:p14="http://schemas.microsoft.com/office/powerpoint/2010/main" val="760589463"/>
      </p:ext>
    </p:extLst>
  </p:cSld>
</p:sld>
</file>

<file path=ppt/slides/slide1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016198BB-3437-4676-A063-0B9DC2652735}"/>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C65F35F-D049-4E61-B9B1-FFA9D062EC3D}"/>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9AFAA09-099C-4F57-ADB0-630211C82F72}"/>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69EBDF7-7D8C-48B3-B2C5-464CD1655207}"/>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054F6D9F-BE84-496D-ADD3-28F2D0648AF7}"/>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21C2497-9480-4096-9295-B10B95B730D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034B3D1D-759B-469D-9E83-84FE96A5D014}"/>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E5FABA99-E2CF-46B8-920C-72188881D3AF}"/>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EBBCBB43-69A3-411D-B6AB-11B178481D6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9F83F4D7-55CF-4C51-B6B5-B3CE40FB061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권한·목적 판정 후 허용·차단 분기</a:t>
            </a:r>
          </a:p>
        </p:txBody>
      </p:sp>
      <p:sp>
        <p:nvSpPr>
          <p:cNvPr id="2" name="">
            <a:extLst xmlns:a="http://schemas.openxmlformats.org/drawingml/2006/main">
              <a:ext uri="{FF2B5EF4-FFF2-40B4-BE49-F238E27FC236}">
                <a16:creationId xmlns:a16="http://schemas.microsoft.com/office/drawing/2014/main" id="{0DE67B22-B069-4545-9FC9-7EF84878440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세부 서비스 구조</a:t>
            </a:r>
          </a:p>
        </p:txBody>
      </p:sp>
      <p:sp>
        <p:nvSpPr>
          <p:cNvPr id="3" name="">
            <a:extLst xmlns:a="http://schemas.openxmlformats.org/drawingml/2006/main">
              <a:ext uri="{FF2B5EF4-FFF2-40B4-BE49-F238E27FC236}">
                <a16:creationId xmlns:a16="http://schemas.microsoft.com/office/drawing/2014/main" id="{F7E6B5A8-0394-41D3-A06C-6B05663A0DA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5E47BF4-D742-49D0-91DD-78B5C1E8077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6184082-61B1-48DE-909F-9EF1E183816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157</a:t>
            </a:r>
          </a:p>
        </p:txBody>
      </p:sp>
      <p:sp>
        <p:nvSpPr>
          <p:cNvPr id="6" name="">
            <a:extLst xmlns:a="http://schemas.openxmlformats.org/drawingml/2006/main">
              <a:ext uri="{FF2B5EF4-FFF2-40B4-BE49-F238E27FC236}">
                <a16:creationId xmlns:a16="http://schemas.microsoft.com/office/drawing/2014/main" id="{4F2DF3DF-D424-4BE8-AFBB-DB56599FE39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정보 → 관계 커넥터 → 조직 관계 질의 → 접근 범위 응답</a:t>
            </a:r>
          </a:p>
        </p:txBody>
      </p:sp>
      <p:sp>
        <p:nvSpPr>
          <p:cNvPr id="7" name="">
            <a:extLst xmlns:a="http://schemas.openxmlformats.org/drawingml/2006/main">
              <a:ext uri="{FF2B5EF4-FFF2-40B4-BE49-F238E27FC236}">
                <a16:creationId xmlns:a16="http://schemas.microsoft.com/office/drawing/2014/main" id="{4C760DD8-9CA5-44DF-B7B4-2006A3117417}"/>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1E6AC7E-ECD6-45A6-9EEF-751AC5E082CF}"/>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29B15814-9F64-42F6-B878-5FDB92913F3C}"/>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조직 관계 질의</a:t>
            </a:r>
          </a:p>
        </p:txBody>
      </p:sp>
      <p:sp>
        <p:nvSpPr>
          <p:cNvPr id="10" name="">
            <a:extLst xmlns:a="http://schemas.openxmlformats.org/drawingml/2006/main">
              <a:ext uri="{FF2B5EF4-FFF2-40B4-BE49-F238E27FC236}">
                <a16:creationId xmlns:a16="http://schemas.microsoft.com/office/drawing/2014/main" id="{A3618E54-65EC-4992-A80A-9B37BB856B1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DCC8AC1-3436-4E62-BF0D-702359543771}"/>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43DD2DB1-1977-4128-A081-5C4F22036959}"/>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로그인·대상 ID</a:t>
            </a:r>
          </a:p>
        </p:txBody>
      </p:sp>
      <p:sp>
        <p:nvSpPr>
          <p:cNvPr id="13" name="">
            <a:extLst xmlns:a="http://schemas.openxmlformats.org/drawingml/2006/main">
              <a:ext uri="{FF2B5EF4-FFF2-40B4-BE49-F238E27FC236}">
                <a16:creationId xmlns:a16="http://schemas.microsoft.com/office/drawing/2014/main" id="{379164FE-24FC-4982-A842-B4C33CA0E270}"/>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2EBC467-0F0D-4445-A1D5-C48127C0851C}"/>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8466335E-3AC4-40E6-8CA7-5725878A4A2D}"/>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관계와 권한 분리</a:t>
            </a:r>
          </a:p>
        </p:txBody>
      </p:sp>
      <p:sp>
        <p:nvSpPr>
          <p:cNvPr id="16" name="">
            <a:extLst xmlns:a="http://schemas.openxmlformats.org/drawingml/2006/main">
              <a:ext uri="{FF2B5EF4-FFF2-40B4-BE49-F238E27FC236}">
                <a16:creationId xmlns:a16="http://schemas.microsoft.com/office/drawing/2014/main" id="{60A061ED-62B0-4A8E-A4EB-23335D4F54C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C597AF22-46F8-44B4-B611-81526EDD398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8E5F02E3-D644-4615-A809-8FDFE2BD1F8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효력일·동명 검사</a:t>
            </a:r>
          </a:p>
        </p:txBody>
      </p:sp>
      <p:sp>
        <p:nvSpPr>
          <p:cNvPr id="19" name="">
            <a:extLst xmlns:a="http://schemas.openxmlformats.org/drawingml/2006/main">
              <a:ext uri="{FF2B5EF4-FFF2-40B4-BE49-F238E27FC236}">
                <a16:creationId xmlns:a16="http://schemas.microsoft.com/office/drawing/2014/main" id="{C5F2EDC4-8583-4B3B-83A6-498290CF6D24}"/>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F599AE09-8597-4B53-B7CE-F88827C326DC}"/>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0C788B80-A293-4998-969F-026C44095833}"/>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디렉터리</a:t>
            </a:r>
          </a:p>
        </p:txBody>
      </p:sp>
      <p:sp>
        <p:nvSpPr>
          <p:cNvPr id="22" name="">
            <a:extLst xmlns:a="http://schemas.openxmlformats.org/drawingml/2006/main">
              <a:ext uri="{FF2B5EF4-FFF2-40B4-BE49-F238E27FC236}">
                <a16:creationId xmlns:a16="http://schemas.microsoft.com/office/drawing/2014/main" id="{BC6EAD07-B2CF-4770-BECE-9AA4D5C2FD9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0413D46-B051-4C12-B9E9-FF8E65CA8A2B}"/>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192A2311-7BF6-4830-A8CE-32E8E25477A3}"/>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 유형 매칭</a:t>
            </a:r>
          </a:p>
        </p:txBody>
      </p:sp>
      <p:sp>
        <p:nvSpPr>
          <p:cNvPr id="25" name="">
            <a:extLst xmlns:a="http://schemas.openxmlformats.org/drawingml/2006/main">
              <a:ext uri="{FF2B5EF4-FFF2-40B4-BE49-F238E27FC236}">
                <a16:creationId xmlns:a16="http://schemas.microsoft.com/office/drawing/2014/main" id="{3BFB8F31-4A44-48F0-BE34-1589830A9C9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A123132-86A5-450F-A61B-8CF5937B3C0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BC049ABE-EAA1-4D93-9456-3EFE95B993AE}"/>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확인</a:t>
            </a:r>
          </a:p>
        </p:txBody>
      </p:sp>
      <p:sp>
        <p:nvSpPr>
          <p:cNvPr id="28" name="">
            <a:extLst xmlns:a="http://schemas.openxmlformats.org/drawingml/2006/main">
              <a:ext uri="{FF2B5EF4-FFF2-40B4-BE49-F238E27FC236}">
                <a16:creationId xmlns:a16="http://schemas.microsoft.com/office/drawing/2014/main" id="{EE44A9B8-0E8B-4353-BF40-E082C55F15F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204E1F4-5869-48F1-BB60-95FD2C6FF8A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430625DE-74F0-4B7C-83BB-C20AAB814FC9}"/>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 관계 응답</a:t>
            </a:r>
          </a:p>
        </p:txBody>
      </p:sp>
      <p:sp>
        <p:nvSpPr>
          <p:cNvPr id="31" name="">
            <a:extLst xmlns:a="http://schemas.openxmlformats.org/drawingml/2006/main">
              <a:ext uri="{FF2B5EF4-FFF2-40B4-BE49-F238E27FC236}">
                <a16:creationId xmlns:a16="http://schemas.microsoft.com/office/drawing/2014/main" id="{15975B99-587F-4B7E-ABAD-5D48526DE316}"/>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A1261C8-EFFC-4508-8BCD-2ED3C877595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4A97106B-FDD3-4B01-870D-A8B2F761A295}"/>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전보·해제 대사</a:t>
            </a:r>
          </a:p>
        </p:txBody>
      </p:sp>
      <p:sp>
        <p:nvSpPr>
          <p:cNvPr id="34" name="">
            <a:extLst xmlns:a="http://schemas.openxmlformats.org/drawingml/2006/main">
              <a:ext uri="{FF2B5EF4-FFF2-40B4-BE49-F238E27FC236}">
                <a16:creationId xmlns:a16="http://schemas.microsoft.com/office/drawing/2014/main" id="{F19957F9-D34E-4694-B061-40589250ED22}"/>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D2215A0-5E35-4D84-9632-16FBCF1EF7C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934FE96F-4C1F-4D62-A27F-6FF23C31CDE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관계·효력일 원장</a:t>
            </a:r>
          </a:p>
        </p:txBody>
      </p:sp>
      <p:sp>
        <p:nvSpPr>
          <p:cNvPr id="46" name="">
            <a:extLst xmlns:a="http://schemas.openxmlformats.org/drawingml/2006/main">
              <a:ext uri="{FF2B5EF4-FFF2-40B4-BE49-F238E27FC236}">
                <a16:creationId xmlns:a16="http://schemas.microsoft.com/office/drawing/2014/main" id="{38D4ED11-39DE-4D6D-AFE4-6B9953CF031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80269335"/>
      </p:ext>
    </p:extLst>
  </p:cSld>
</p:sld>
</file>

<file path=ppt/slides/slide1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1294F1-86D1-47B5-9B64-50017205C9D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논리 인터페이스·복구 설계</a:t>
            </a:r>
          </a:p>
        </p:txBody>
      </p:sp>
      <p:sp>
        <p:nvSpPr>
          <p:cNvPr id="2" name="">
            <a:extLst xmlns:a="http://schemas.openxmlformats.org/drawingml/2006/main">
              <a:ext uri="{FF2B5EF4-FFF2-40B4-BE49-F238E27FC236}">
                <a16:creationId xmlns:a16="http://schemas.microsoft.com/office/drawing/2014/main" id="{9CF6E515-536F-4E2F-93FF-2D32031FAAF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데이터와 예외 처리</a:t>
            </a:r>
          </a:p>
        </p:txBody>
      </p:sp>
      <p:sp>
        <p:nvSpPr>
          <p:cNvPr id="3" name="">
            <a:extLst xmlns:a="http://schemas.openxmlformats.org/drawingml/2006/main">
              <a:ext uri="{FF2B5EF4-FFF2-40B4-BE49-F238E27FC236}">
                <a16:creationId xmlns:a16="http://schemas.microsoft.com/office/drawing/2014/main" id="{F70C1DAA-6CD7-42F0-8160-0EED537CA04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1C04E7B-47A9-4BE1-B110-8E5B2EF409C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5C8A5DB-3EA3-4A11-854C-663731D24E9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158</a:t>
            </a:r>
          </a:p>
        </p:txBody>
      </p:sp>
      <p:sp>
        <p:nvSpPr>
          <p:cNvPr id="6" name="">
            <a:extLst xmlns:a="http://schemas.openxmlformats.org/drawingml/2006/main">
              <a:ext uri="{FF2B5EF4-FFF2-40B4-BE49-F238E27FC236}">
                <a16:creationId xmlns:a16="http://schemas.microsoft.com/office/drawing/2014/main" id="{916258DB-3715-4FBB-97F9-E40E8089C84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0E601D7-6024-4D1C-BE05-BD52F088668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DDBD5C5-797D-4C43-BCEE-3682ACE313B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A40D0815-451A-4657-9C76-8DE647CBD2A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로그인 사용자와 관계 질의 대상 식별</a:t>
            </a:r>
          </a:p>
        </p:txBody>
      </p:sp>
      <p:sp>
        <p:nvSpPr>
          <p:cNvPr id="10" name="">
            <a:extLst xmlns:a="http://schemas.openxmlformats.org/drawingml/2006/main">
              <a:ext uri="{FF2B5EF4-FFF2-40B4-BE49-F238E27FC236}">
                <a16:creationId xmlns:a16="http://schemas.microsoft.com/office/drawing/2014/main" id="{CCD1A1E8-2C96-4171-97A9-F1A574B6D6A8}"/>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5EB8EC0-AE96-4630-AE19-A4E6714D3A3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9DC68DAA-2D5E-4532-AEDE-629556676D1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정보</a:t>
            </a:r>
          </a:p>
        </p:txBody>
      </p:sp>
      <p:sp>
        <p:nvSpPr>
          <p:cNvPr id="13" name="">
            <a:extLst xmlns:a="http://schemas.openxmlformats.org/drawingml/2006/main">
              <a:ext uri="{FF2B5EF4-FFF2-40B4-BE49-F238E27FC236}">
                <a16:creationId xmlns:a16="http://schemas.microsoft.com/office/drawing/2014/main" id="{DFC79541-4803-4F6E-8449-69E2004D2C1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305C912-98F6-4A30-ACBC-B1F4F429C7C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D8019DB8-E885-4010-9796-D01C8042614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관계와 권한 분리</a:t>
            </a:r>
          </a:p>
        </p:txBody>
      </p:sp>
      <p:sp>
        <p:nvSpPr>
          <p:cNvPr id="16" name="">
            <a:extLst xmlns:a="http://schemas.openxmlformats.org/drawingml/2006/main">
              <a:ext uri="{FF2B5EF4-FFF2-40B4-BE49-F238E27FC236}">
                <a16:creationId xmlns:a16="http://schemas.microsoft.com/office/drawing/2014/main" id="{D1A772FD-7AF7-4BBF-9982-B574E93FB19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159B36-CA7F-4B48-941B-A8255F003BF6}"/>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0CACF3E8-083C-49C4-9ED0-C07BC8DC956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 질의</a:t>
            </a:r>
          </a:p>
        </p:txBody>
      </p:sp>
      <p:sp>
        <p:nvSpPr>
          <p:cNvPr id="19" name="">
            <a:extLst xmlns:a="http://schemas.openxmlformats.org/drawingml/2006/main">
              <a:ext uri="{FF2B5EF4-FFF2-40B4-BE49-F238E27FC236}">
                <a16:creationId xmlns:a16="http://schemas.microsoft.com/office/drawing/2014/main" id="{BAC8DF43-374F-41A6-B967-7FE5E47E288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AB9F2B1-5947-451A-B60A-23AA5AF77F7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A55BED37-C9BE-4C85-9E97-8E753FAD261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관계 질의</a:t>
            </a:r>
          </a:p>
        </p:txBody>
      </p:sp>
      <p:sp>
        <p:nvSpPr>
          <p:cNvPr id="22" name="">
            <a:extLst xmlns:a="http://schemas.openxmlformats.org/drawingml/2006/main">
              <a:ext uri="{FF2B5EF4-FFF2-40B4-BE49-F238E27FC236}">
                <a16:creationId xmlns:a16="http://schemas.microsoft.com/office/drawing/2014/main" id="{1C443709-E97E-4CF6-ABB2-D3A4CE73C10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0B6FB36-760C-4DF8-B121-D663A961785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4A6A4F2F-4796-4252-975B-5B4644F2829E}"/>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허용 응답</a:t>
            </a:r>
          </a:p>
        </p:txBody>
      </p:sp>
      <p:sp>
        <p:nvSpPr>
          <p:cNvPr id="25" name="">
            <a:extLst xmlns:a="http://schemas.openxmlformats.org/drawingml/2006/main">
              <a:ext uri="{FF2B5EF4-FFF2-40B4-BE49-F238E27FC236}">
                <a16:creationId xmlns:a16="http://schemas.microsoft.com/office/drawing/2014/main" id="{2CB4061F-D2B0-4269-84A7-989BD805427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9C1DBA5-F68F-4AA8-8392-AC66F838E1DC}"/>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동명이인·전보일 경계·종료된 대행관계</a:t>
            </a:r>
          </a:p>
        </p:txBody>
      </p:sp>
      <p:sp>
        <p:nvSpPr>
          <p:cNvPr id="27" name="">
            <a:extLst xmlns:a="http://schemas.openxmlformats.org/drawingml/2006/main">
              <a:ext uri="{FF2B5EF4-FFF2-40B4-BE49-F238E27FC236}">
                <a16:creationId xmlns:a16="http://schemas.microsoft.com/office/drawing/2014/main" id="{70D493C8-64BF-4A2E-B72C-B6B3A53E19E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DB63BF8-372C-4A77-9005-E31476897B6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신원·효력일과 권한 원천 분리</a:t>
            </a:r>
          </a:p>
        </p:txBody>
      </p:sp>
      <p:sp>
        <p:nvSpPr>
          <p:cNvPr id="29" name="">
            <a:extLst xmlns:a="http://schemas.openxmlformats.org/drawingml/2006/main">
              <a:ext uri="{FF2B5EF4-FFF2-40B4-BE49-F238E27FC236}">
                <a16:creationId xmlns:a16="http://schemas.microsoft.com/office/drawing/2014/main" id="{0842FFCD-B61A-4B30-9009-64D094511D9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084D964-4B17-4C83-81D5-639CFE239B92}"/>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전보·겸직·관계 해제 이후 결과 대사</a:t>
            </a:r>
          </a:p>
        </p:txBody>
      </p:sp>
      <p:sp>
        <p:nvSpPr>
          <p:cNvPr id="31" name="">
            <a:extLst xmlns:a="http://schemas.openxmlformats.org/drawingml/2006/main">
              <a:ext uri="{FF2B5EF4-FFF2-40B4-BE49-F238E27FC236}">
                <a16:creationId xmlns:a16="http://schemas.microsoft.com/office/drawing/2014/main" id="{F1D1B491-BE8D-40FB-BD5C-C98F4470BAB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EF1E82A-0550-45D1-B559-994CBA2FCCF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관계와 응답의 ID·효력일·권한 대사</a:t>
            </a:r>
          </a:p>
        </p:txBody>
      </p:sp>
    </p:spTree>
    <p:extLst>
      <p:ext uri="{BB962C8B-B14F-4D97-AF65-F5344CB8AC3E}">
        <p14:creationId xmlns:p14="http://schemas.microsoft.com/office/powerpoint/2010/main" val="2094777171"/>
      </p:ext>
    </p:extLst>
  </p:cSld>
</p:sld>
</file>

<file path=ppt/slides/slide1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D8E95B0-65B6-4F63-AA08-DB92ACBE622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PF-C01 / CCK 비교·재현 시험 설계</a:t>
            </a:r>
          </a:p>
        </p:txBody>
      </p:sp>
      <p:sp>
        <p:nvSpPr>
          <p:cNvPr id="2" name="">
            <a:extLst xmlns:a="http://schemas.openxmlformats.org/drawingml/2006/main">
              <a:ext uri="{FF2B5EF4-FFF2-40B4-BE49-F238E27FC236}">
                <a16:creationId xmlns:a16="http://schemas.microsoft.com/office/drawing/2014/main" id="{F1C381BB-AFE0-4540-A654-E666848A669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M365 조직 관계 · 벤치마킹</a:t>
            </a:r>
          </a:p>
        </p:txBody>
      </p:sp>
      <p:sp>
        <p:nvSpPr>
          <p:cNvPr id="3" name="">
            <a:extLst xmlns:a="http://schemas.openxmlformats.org/drawingml/2006/main">
              <a:ext uri="{FF2B5EF4-FFF2-40B4-BE49-F238E27FC236}">
                <a16:creationId xmlns:a16="http://schemas.microsoft.com/office/drawing/2014/main" id="{27AED414-2DA2-4C1C-AAC0-38591B0356E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D08BB6-5D67-4E1C-BDF9-A331ED4C8FA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E3EA426C-4778-459E-B1B2-2CBA70423CE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159</a:t>
            </a:r>
          </a:p>
        </p:txBody>
      </p:sp>
      <p:sp>
        <p:nvSpPr>
          <p:cNvPr id="6" name="">
            <a:extLst xmlns:a="http://schemas.openxmlformats.org/drawingml/2006/main">
              <a:ext uri="{FF2B5EF4-FFF2-40B4-BE49-F238E27FC236}">
                <a16:creationId xmlns:a16="http://schemas.microsoft.com/office/drawing/2014/main" id="{BDC18DD3-8C0E-49FC-A35D-76ED3981A6A5}"/>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2D57C282-8FF1-4676-A1AA-00B9AA360BE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직원 관계의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질의의 데이터 기반 구성</a:t>
            </a:r>
          </a:p>
        </p:txBody>
      </p:sp>
      <p:sp>
        <p:nvSpPr>
          <p:cNvPr id="8" name="">
            <a:extLst xmlns:a="http://schemas.openxmlformats.org/drawingml/2006/main">
              <a:ext uri="{FF2B5EF4-FFF2-40B4-BE49-F238E27FC236}">
                <a16:creationId xmlns:a16="http://schemas.microsoft.com/office/drawing/2014/main" id="{2E65F04D-7EBE-48B9-BF0D-46CDA763B35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188F0BAB-A92F-4E7E-A623-1582B74E3B3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관계를 접근권한으로 오인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전보·겸직 정보의 지연</a:t>
            </a:r>
          </a:p>
        </p:txBody>
      </p:sp>
      <p:sp>
        <p:nvSpPr>
          <p:cNvPr id="10" name="">
            <a:extLst xmlns:a="http://schemas.openxmlformats.org/drawingml/2006/main">
              <a:ext uri="{FF2B5EF4-FFF2-40B4-BE49-F238E27FC236}">
                <a16:creationId xmlns:a16="http://schemas.microsoft.com/office/drawing/2014/main" id="{E8FA0A43-E7A7-4BFC-A02E-444EC7923F50}"/>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4E52960A-BE37-4363-B253-D97C7C4E193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신원·효력일과 권한 원천 분리</a:t>
            </a:r>
          </a:p>
        </p:txBody>
      </p:sp>
      <p:sp>
        <p:nvSpPr>
          <p:cNvPr id="12" name="">
            <a:extLst xmlns:a="http://schemas.openxmlformats.org/drawingml/2006/main">
              <a:ext uri="{FF2B5EF4-FFF2-40B4-BE49-F238E27FC236}">
                <a16:creationId xmlns:a16="http://schemas.microsoft.com/office/drawing/2014/main" id="{AD44C496-ECB9-465E-A8F5-F1CCE119741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C0A026F9-6AAD-499D-8348-2DAD02EC764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상사·겸직·점선 보고 관계를 대상 직원 ID로 조회</a:t>
            </a:r>
          </a:p>
        </p:txBody>
      </p:sp>
      <p:sp>
        <p:nvSpPr>
          <p:cNvPr id="14" name="">
            <a:extLst xmlns:a="http://schemas.openxmlformats.org/drawingml/2006/main">
              <a:ext uri="{FF2B5EF4-FFF2-40B4-BE49-F238E27FC236}">
                <a16:creationId xmlns:a16="http://schemas.microsoft.com/office/drawing/2014/main" id="{41789F1C-97B5-47D4-A5B3-C1AAC52A540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3ADEFDC-5280-46E2-BD37-D98BB598494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동명이인·전보일 경계·종료된 대행관계</a:t>
            </a:r>
          </a:p>
        </p:txBody>
      </p:sp>
      <p:sp>
        <p:nvSpPr>
          <p:cNvPr id="16" name="">
            <a:extLst xmlns:a="http://schemas.openxmlformats.org/drawingml/2006/main">
              <a:ext uri="{FF2B5EF4-FFF2-40B4-BE49-F238E27FC236}">
                <a16:creationId xmlns:a16="http://schemas.microsoft.com/office/drawing/2014/main" id="{7183007D-0BD1-442C-8E22-841F720C544A}"/>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D8D97F8-6B43-4A7D-92C4-E44D355D3ADE}"/>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원천 관계와 응답의 ID·효력일·권한 대사</a:t>
            </a:r>
          </a:p>
        </p:txBody>
      </p:sp>
    </p:spTree>
    <p:extLst>
      <p:ext uri="{BB962C8B-B14F-4D97-AF65-F5344CB8AC3E}">
        <p14:creationId xmlns:p14="http://schemas.microsoft.com/office/powerpoint/2010/main" val="1669139911"/>
      </p:ext>
    </p:extLst>
  </p:cSld>
</p:sld>
</file>

<file path=ppt/slides/slide1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1CFB94-7409-49CC-B089-9B591A85975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공식 기능 문서 / 2026-10-16 확인 / 해외</a:t>
            </a:r>
          </a:p>
        </p:txBody>
      </p:sp>
      <p:sp>
        <p:nvSpPr>
          <p:cNvPr id="2" name="">
            <a:extLst xmlns:a="http://schemas.openxmlformats.org/drawingml/2006/main">
              <a:ext uri="{FF2B5EF4-FFF2-40B4-BE49-F238E27FC236}">
                <a16:creationId xmlns:a16="http://schemas.microsoft.com/office/drawing/2014/main" id="{DA970C2E-C891-44B2-9384-6A0D141393A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a:t>
            </a:r>
          </a:p>
        </p:txBody>
      </p:sp>
      <p:sp>
        <p:nvSpPr>
          <p:cNvPr id="3" name="">
            <a:extLst xmlns:a="http://schemas.openxmlformats.org/drawingml/2006/main">
              <a:ext uri="{FF2B5EF4-FFF2-40B4-BE49-F238E27FC236}">
                <a16:creationId xmlns:a16="http://schemas.microsoft.com/office/drawing/2014/main" id="{39CCE42E-A105-44E8-9E04-F4C6E847135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8CE646-486B-4135-8594-B586E03A6CA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6DC7B11-FF37-4268-B265-0AD4B2EDEBF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160</a:t>
            </a:r>
          </a:p>
        </p:txBody>
      </p:sp>
      <p:sp>
        <p:nvSpPr>
          <p:cNvPr id="6" name="">
            <a:extLst xmlns:a="http://schemas.openxmlformats.org/drawingml/2006/main">
              <a:ext uri="{FF2B5EF4-FFF2-40B4-BE49-F238E27FC236}">
                <a16:creationId xmlns:a16="http://schemas.microsoft.com/office/drawing/2014/main" id="{4D8F10AF-EFEC-4486-83C7-674A6823DB2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2107AFB-0B02-4D75-9B43-6434785AB44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Glean People connector의 직원 정보 동기화 기능을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조직 기반 검색 관점에서 분석한 사례. 인물·부서·직책·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관리자 필드를 검색 문맥과 연결하는 구성요소.</a:t>
            </a:r>
          </a:p>
        </p:txBody>
      </p:sp>
      <p:sp>
        <p:nvSpPr>
          <p:cNvPr id="8" name="">
            <a:extLst xmlns:a="http://schemas.openxmlformats.org/drawingml/2006/main">
              <a:ext uri="{FF2B5EF4-FFF2-40B4-BE49-F238E27FC236}">
                <a16:creationId xmlns:a16="http://schemas.microsoft.com/office/drawing/2014/main" id="{619761A0-28B5-47FD-83E0-6C4E632FAEE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EF20440-773E-4AF2-98E9-F1196BFBE29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직원 데이터의 식별자·필드 매핑, 동기화, 검색 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 접근 통제와 삭제 반영의 흐름으로 재구성. 복수 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천의 같은 사람과 동명이인을 구분하고 변경 이벤트가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검색 결과에 반영되는 상태를 관측하는 설계.</a:t>
            </a:r>
          </a:p>
        </p:txBody>
      </p:sp>
      <p:sp>
        <p:nvSpPr>
          <p:cNvPr id="10" name="">
            <a:extLst xmlns:a="http://schemas.openxmlformats.org/drawingml/2006/main">
              <a:ext uri="{FF2B5EF4-FFF2-40B4-BE49-F238E27FC236}">
                <a16:creationId xmlns:a16="http://schemas.microsoft.com/office/drawing/2014/main" id="{5AF10ACF-35C5-4677-AA3C-1BFD22449E0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D3A1EEE-9A71-4A64-911F-B982CB6868C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데이터 연계 성공과 조직 기반 추론 성공을 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 검수할 필요. 사번 매칭·조직 코드 변경·퇴직 삭제의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사와 동일 요청의 직무별 결과 비교를 나누고 오류 발생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 원천과 색인의 어느 단계에서 지연됐는지 추적.</a:t>
            </a:r>
          </a:p>
        </p:txBody>
      </p:sp>
      <p:sp>
        <p:nvSpPr>
          <p:cNvPr id="12" name="">
            <a:extLst xmlns:a="http://schemas.openxmlformats.org/drawingml/2006/main">
              <a:ext uri="{FF2B5EF4-FFF2-40B4-BE49-F238E27FC236}">
                <a16:creationId xmlns:a16="http://schemas.microsoft.com/office/drawing/2014/main" id="{745FEB3F-3D39-453B-8D65-A5A87B08280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7854799-C0E2-4FB3-A49A-6B244413C80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전보·퇴직·겸직 이후 검색·인계·캐시 회수</a:t>
            </a:r>
          </a:p>
        </p:txBody>
      </p:sp>
      <p:sp>
        <p:nvSpPr>
          <p:cNvPr id="14" name="">
            <a:extLst xmlns:a="http://schemas.openxmlformats.org/drawingml/2006/main">
              <a:ext uri="{FF2B5EF4-FFF2-40B4-BE49-F238E27FC236}">
                <a16:creationId xmlns:a16="http://schemas.microsoft.com/office/drawing/2014/main" id="{63A9B4AB-0452-4903-8244-AFDB6683793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F12B0B4-D072-4D4D-A106-0718371AA963}"/>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오노출 건수·변경 반영 지연의 기준선·비교 평가</a:t>
            </a:r>
          </a:p>
        </p:txBody>
      </p:sp>
      <p:sp>
        <p:nvSpPr>
          <p:cNvPr id="16" name="">
            <a:extLst xmlns:a="http://schemas.openxmlformats.org/drawingml/2006/main">
              <a:ext uri="{FF2B5EF4-FFF2-40B4-BE49-F238E27FC236}">
                <a16:creationId xmlns:a16="http://schemas.microsoft.com/office/drawing/2014/main" id="{B6C4B245-F22F-48F4-9946-073E2EAA3802}"/>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B7E3681-4AC1-44BC-A44A-C42A21C4264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오노출 건수·변경 반영 지연</a:t>
            </a:r>
          </a:p>
        </p:txBody>
      </p:sp>
      <p:sp>
        <p:nvSpPr>
          <p:cNvPr id="18" name="">
            <a:extLst xmlns:a="http://schemas.openxmlformats.org/drawingml/2006/main">
              <a:ext uri="{FF2B5EF4-FFF2-40B4-BE49-F238E27FC236}">
                <a16:creationId xmlns:a16="http://schemas.microsoft.com/office/drawing/2014/main" id="{746BC5EB-F990-4529-8008-12877DE8836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CSV 방식은 인사 변경마다 재업로드 필요. 자동 커넥터도 제공. 동기화·조직 맥락 자체는 CCK 독점 기능 아님</a:t>
            </a:r>
          </a:p>
        </p:txBody>
      </p:sp>
    </p:spTree>
    <p:extLst>
      <p:ext uri="{BB962C8B-B14F-4D97-AF65-F5344CB8AC3E}">
        <p14:creationId xmlns:p14="http://schemas.microsoft.com/office/powerpoint/2010/main" val="1509121163"/>
      </p:ext>
    </p:extLst>
  </p:cSld>
</p:sld>
</file>

<file path=ppt/slides/slide1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8931BD7E-BA66-45FF-922B-22C8437E3FC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C9FB1E0-B7DE-4639-9B31-AFEF42BFC513}"/>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6C9859FF-D0E1-4CDF-BE22-A65CBE9A7D3A}"/>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F2E9E90-378F-40A7-8FCF-6758F42E94DD}"/>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92C2365C-1F40-402C-A17A-4A6592FFCCAA}"/>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645BEA6-9D2B-44BE-A2F1-CD00A08C00F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30F4BDC6-EC6E-4366-923E-1612413968CC}"/>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7BE8D4B2-D3AA-40DF-A4CD-4ACC3DD7FA75}"/>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D9501D83-1F0B-48BE-A16B-3BA32033DC8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6CD8F427-22BB-40F3-9E67-FC28DC0312C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권한·목적 판정 후 허용·차단 분기</a:t>
            </a:r>
          </a:p>
        </p:txBody>
      </p:sp>
      <p:sp>
        <p:nvSpPr>
          <p:cNvPr id="2" name="">
            <a:extLst xmlns:a="http://schemas.openxmlformats.org/drawingml/2006/main">
              <a:ext uri="{FF2B5EF4-FFF2-40B4-BE49-F238E27FC236}">
                <a16:creationId xmlns:a16="http://schemas.microsoft.com/office/drawing/2014/main" id="{E09C6DFD-2C15-40FA-B15F-E88198C8B96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세부 서비스 구조</a:t>
            </a:r>
          </a:p>
        </p:txBody>
      </p:sp>
      <p:sp>
        <p:nvSpPr>
          <p:cNvPr id="3" name="">
            <a:extLst xmlns:a="http://schemas.openxmlformats.org/drawingml/2006/main">
              <a:ext uri="{FF2B5EF4-FFF2-40B4-BE49-F238E27FC236}">
                <a16:creationId xmlns:a16="http://schemas.microsoft.com/office/drawing/2014/main" id="{A0DA5040-7694-4AA3-A90D-FD1CC86F0C2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C664595-4DA1-4B9B-8B77-5EAD3B08FFA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6AB55D0-9E7F-40C2-A055-F12F8146F2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161</a:t>
            </a:r>
          </a:p>
        </p:txBody>
      </p:sp>
      <p:sp>
        <p:nvSpPr>
          <p:cNvPr id="6" name="">
            <a:extLst xmlns:a="http://schemas.openxmlformats.org/drawingml/2006/main">
              <a:ext uri="{FF2B5EF4-FFF2-40B4-BE49-F238E27FC236}">
                <a16:creationId xmlns:a16="http://schemas.microsoft.com/office/drawing/2014/main" id="{A7C56828-DC92-4E2D-81B3-ADDA4A4E5FD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디렉터리 → 동기화·필드 매핑 → 권한별 검색 → 직원 정보 활용</a:t>
            </a:r>
          </a:p>
        </p:txBody>
      </p:sp>
      <p:sp>
        <p:nvSpPr>
          <p:cNvPr id="7" name="">
            <a:extLst xmlns:a="http://schemas.openxmlformats.org/drawingml/2006/main">
              <a:ext uri="{FF2B5EF4-FFF2-40B4-BE49-F238E27FC236}">
                <a16:creationId xmlns:a16="http://schemas.microsoft.com/office/drawing/2014/main" id="{C6523F62-728B-4CC0-9E79-39A816B6D5C0}"/>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11542EE-B2A7-46E5-AD2E-BEA4D491C57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A7CC5FF4-EF9F-4556-ADE2-CD06CE1D047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인물 검색 접점</a:t>
            </a:r>
          </a:p>
        </p:txBody>
      </p:sp>
      <p:sp>
        <p:nvSpPr>
          <p:cNvPr id="10" name="">
            <a:extLst xmlns:a="http://schemas.openxmlformats.org/drawingml/2006/main">
              <a:ext uri="{FF2B5EF4-FFF2-40B4-BE49-F238E27FC236}">
                <a16:creationId xmlns:a16="http://schemas.microsoft.com/office/drawing/2014/main" id="{B7A8B269-F758-4371-A55A-0C7522D3A5F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99AB902-6218-4BC9-8F31-9C5C94BB6747}"/>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C9D54887-1FD9-4D17-9751-9674D9E7A8EE}"/>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사람 ID·부서</a:t>
            </a:r>
          </a:p>
        </p:txBody>
      </p:sp>
      <p:sp>
        <p:nvSpPr>
          <p:cNvPr id="13" name="">
            <a:extLst xmlns:a="http://schemas.openxmlformats.org/drawingml/2006/main">
              <a:ext uri="{FF2B5EF4-FFF2-40B4-BE49-F238E27FC236}">
                <a16:creationId xmlns:a16="http://schemas.microsoft.com/office/drawing/2014/main" id="{85D4F43C-192B-4424-A494-913FC527EAE8}"/>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F70DF4B-6D0A-491C-8B5C-008187658D7E}"/>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DCEC0039-C403-4A6D-8436-09D6F6F9962E}"/>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원천 우선순위</a:t>
            </a:r>
          </a:p>
        </p:txBody>
      </p:sp>
      <p:sp>
        <p:nvSpPr>
          <p:cNvPr id="16" name="">
            <a:extLst xmlns:a="http://schemas.openxmlformats.org/drawingml/2006/main">
              <a:ext uri="{FF2B5EF4-FFF2-40B4-BE49-F238E27FC236}">
                <a16:creationId xmlns:a16="http://schemas.microsoft.com/office/drawing/2014/main" id="{397405BE-0D0C-4066-B68E-9BA4BF106FF7}"/>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A3A571EA-7DF0-4528-8F02-5581B128AB53}"/>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D00B666B-16D8-4850-AC29-10C2E7A6C83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중복·삭제 검사</a:t>
            </a:r>
          </a:p>
        </p:txBody>
      </p:sp>
      <p:sp>
        <p:nvSpPr>
          <p:cNvPr id="19" name="">
            <a:extLst xmlns:a="http://schemas.openxmlformats.org/drawingml/2006/main">
              <a:ext uri="{FF2B5EF4-FFF2-40B4-BE49-F238E27FC236}">
                <a16:creationId xmlns:a16="http://schemas.microsoft.com/office/drawing/2014/main" id="{EE391DE3-9EC2-4758-8373-21B83E430072}"/>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DB1EFC1-4F95-41E7-87FF-910643FCAF48}"/>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E34E5AF6-6975-4483-81C4-BBE021E14AA6}"/>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지정 직원 원천</a:t>
            </a:r>
          </a:p>
        </p:txBody>
      </p:sp>
      <p:sp>
        <p:nvSpPr>
          <p:cNvPr id="22" name="">
            <a:extLst xmlns:a="http://schemas.openxmlformats.org/drawingml/2006/main">
              <a:ext uri="{FF2B5EF4-FFF2-40B4-BE49-F238E27FC236}">
                <a16:creationId xmlns:a16="http://schemas.microsoft.com/office/drawing/2014/main" id="{28BD8F15-6F13-4BA7-BB97-C574A4D58AFD}"/>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22F983D-F4DF-4491-99EF-D9253E7B40DA}"/>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76D2CEB3-BC1F-4695-AF91-591FD4E322BE}"/>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People 필드 매</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핑</a:t>
            </a:r>
          </a:p>
        </p:txBody>
      </p:sp>
      <p:sp>
        <p:nvSpPr>
          <p:cNvPr id="25" name="">
            <a:extLst xmlns:a="http://schemas.openxmlformats.org/drawingml/2006/main">
              <a:ext uri="{FF2B5EF4-FFF2-40B4-BE49-F238E27FC236}">
                <a16:creationId xmlns:a16="http://schemas.microsoft.com/office/drawing/2014/main" id="{14948304-8D2C-47D1-BA4A-CB09DD90CF7B}"/>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389C02E-AC23-4AD1-840C-47911215046E}"/>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3ADAC32B-DA07-464A-ACA1-8480134C3EB8}"/>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관리자 대사</a:t>
            </a:r>
          </a:p>
        </p:txBody>
      </p:sp>
      <p:sp>
        <p:nvSpPr>
          <p:cNvPr id="28" name="">
            <a:extLst xmlns:a="http://schemas.openxmlformats.org/drawingml/2006/main">
              <a:ext uri="{FF2B5EF4-FFF2-40B4-BE49-F238E27FC236}">
                <a16:creationId xmlns:a16="http://schemas.microsoft.com/office/drawing/2014/main" id="{EEBD6B0C-9A38-44E0-A456-7C6DC996F76A}"/>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71517AB5-EC4D-4442-9568-AB5A2F35F29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3563A2CE-20AE-4C29-AAAA-3F56CE0975DD}"/>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 문맥 제공</a:t>
            </a:r>
          </a:p>
        </p:txBody>
      </p:sp>
      <p:sp>
        <p:nvSpPr>
          <p:cNvPr id="31" name="">
            <a:extLst xmlns:a="http://schemas.openxmlformats.org/drawingml/2006/main">
              <a:ext uri="{FF2B5EF4-FFF2-40B4-BE49-F238E27FC236}">
                <a16:creationId xmlns:a16="http://schemas.microsoft.com/office/drawing/2014/main" id="{9632D762-BB71-4E5A-BCF1-2304B16C7D0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7F5FE28-3A67-4C7A-A8C4-F3FE33074A9B}"/>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A524B838-FA6D-44DF-B558-86514FF84CF7}"/>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전보·퇴직 반영</a:t>
            </a:r>
          </a:p>
        </p:txBody>
      </p:sp>
      <p:sp>
        <p:nvSpPr>
          <p:cNvPr id="34" name="">
            <a:extLst xmlns:a="http://schemas.openxmlformats.org/drawingml/2006/main">
              <a:ext uri="{FF2B5EF4-FFF2-40B4-BE49-F238E27FC236}">
                <a16:creationId xmlns:a16="http://schemas.microsoft.com/office/drawing/2014/main" id="{31281969-ED74-4BA7-9737-E0B0F571A497}"/>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1B6BB2B4-36FB-4107-896A-94697249810C}"/>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F99F595A-FBE5-4F3A-A09D-B034FF803435}"/>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사람·조직 색인</a:t>
            </a:r>
          </a:p>
        </p:txBody>
      </p:sp>
      <p:sp>
        <p:nvSpPr>
          <p:cNvPr id="46" name="">
            <a:extLst xmlns:a="http://schemas.openxmlformats.org/drawingml/2006/main">
              <a:ext uri="{FF2B5EF4-FFF2-40B4-BE49-F238E27FC236}">
                <a16:creationId xmlns:a16="http://schemas.microsoft.com/office/drawing/2014/main" id="{CB093E1B-29F7-425B-82F2-AD1A1F0D5E6C}"/>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966538757"/>
      </p:ext>
    </p:extLst>
  </p:cSld>
</p:sld>
</file>

<file path=ppt/slides/slide1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FBBD8B1-7986-40EC-95BC-0253285D963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논리 인터페이스·복구 설계</a:t>
            </a:r>
          </a:p>
        </p:txBody>
      </p:sp>
      <p:sp>
        <p:nvSpPr>
          <p:cNvPr id="2" name="">
            <a:extLst xmlns:a="http://schemas.openxmlformats.org/drawingml/2006/main">
              <a:ext uri="{FF2B5EF4-FFF2-40B4-BE49-F238E27FC236}">
                <a16:creationId xmlns:a16="http://schemas.microsoft.com/office/drawing/2014/main" id="{87D31349-688B-445B-8558-32CA034380F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데이터와 예외 처리</a:t>
            </a:r>
          </a:p>
        </p:txBody>
      </p:sp>
      <p:sp>
        <p:nvSpPr>
          <p:cNvPr id="3" name="">
            <a:extLst xmlns:a="http://schemas.openxmlformats.org/drawingml/2006/main">
              <a:ext uri="{FF2B5EF4-FFF2-40B4-BE49-F238E27FC236}">
                <a16:creationId xmlns:a16="http://schemas.microsoft.com/office/drawing/2014/main" id="{A1539AC4-19AA-40CC-9237-EB145D442A7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B2F5BD-0F7E-463C-B306-14899C260AE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87455003-E83A-4106-9D55-2C90F4B28B5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162</a:t>
            </a:r>
          </a:p>
        </p:txBody>
      </p:sp>
      <p:sp>
        <p:nvSpPr>
          <p:cNvPr id="6" name="">
            <a:extLst xmlns:a="http://schemas.openxmlformats.org/drawingml/2006/main">
              <a:ext uri="{FF2B5EF4-FFF2-40B4-BE49-F238E27FC236}">
                <a16:creationId xmlns:a16="http://schemas.microsoft.com/office/drawing/2014/main" id="{0132073A-0378-43CE-A54E-1B002813F66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0763F78A-161B-4622-B1B1-CC7C964B0C8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7C70C2A-CAB4-4CA7-9270-6C26BC40A64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B1346493-C7BB-47CA-AA49-4579B1505093}"/>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사람 ID·부서·직책·관리자 필드 정의</a:t>
            </a:r>
          </a:p>
        </p:txBody>
      </p:sp>
      <p:sp>
        <p:nvSpPr>
          <p:cNvPr id="10" name="">
            <a:extLst xmlns:a="http://schemas.openxmlformats.org/drawingml/2006/main">
              <a:ext uri="{FF2B5EF4-FFF2-40B4-BE49-F238E27FC236}">
                <a16:creationId xmlns:a16="http://schemas.microsoft.com/office/drawing/2014/main" id="{FDDE3D5A-B5EE-4385-8F33-95015118C7A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7D3237-F3EE-46F3-A838-FE073A6CB21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EC77773A-B55D-48B4-ADE4-65208E1A442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필드</a:t>
            </a:r>
          </a:p>
        </p:txBody>
      </p:sp>
      <p:sp>
        <p:nvSpPr>
          <p:cNvPr id="13" name="">
            <a:extLst xmlns:a="http://schemas.openxmlformats.org/drawingml/2006/main">
              <a:ext uri="{FF2B5EF4-FFF2-40B4-BE49-F238E27FC236}">
                <a16:creationId xmlns:a16="http://schemas.microsoft.com/office/drawing/2014/main" id="{5DA903C5-E043-4F14-8C3B-CE1C43B7758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63A22D-AE40-4857-BEB2-1CC9F3769BD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1F84B9F2-1758-465C-BC0F-01D3652863C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원천 우선순위</a:t>
            </a:r>
          </a:p>
        </p:txBody>
      </p:sp>
      <p:sp>
        <p:nvSpPr>
          <p:cNvPr id="16" name="">
            <a:extLst xmlns:a="http://schemas.openxmlformats.org/drawingml/2006/main">
              <a:ext uri="{FF2B5EF4-FFF2-40B4-BE49-F238E27FC236}">
                <a16:creationId xmlns:a16="http://schemas.microsoft.com/office/drawing/2014/main" id="{48D88E2F-9243-488B-99CB-BD0231BE61C1}"/>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71B3E03-DDC8-45CB-9F24-F943E59DC0A5}"/>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4512429C-CF3A-48C5-8171-0F5EEA75251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문맥</a:t>
            </a:r>
          </a:p>
        </p:txBody>
      </p:sp>
      <p:sp>
        <p:nvSpPr>
          <p:cNvPr id="19" name="">
            <a:extLst xmlns:a="http://schemas.openxmlformats.org/drawingml/2006/main">
              <a:ext uri="{FF2B5EF4-FFF2-40B4-BE49-F238E27FC236}">
                <a16:creationId xmlns:a16="http://schemas.microsoft.com/office/drawing/2014/main" id="{FD9CE1C4-D61A-42DC-A80E-25A9928D5E3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827A92D-CC6D-45D5-B816-2B5499A5FED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84833372-B13A-402D-9258-65FCBE0B739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검색 문맥</a:t>
            </a:r>
          </a:p>
        </p:txBody>
      </p:sp>
      <p:sp>
        <p:nvSpPr>
          <p:cNvPr id="22" name="">
            <a:extLst xmlns:a="http://schemas.openxmlformats.org/drawingml/2006/main">
              <a:ext uri="{FF2B5EF4-FFF2-40B4-BE49-F238E27FC236}">
                <a16:creationId xmlns:a16="http://schemas.microsoft.com/office/drawing/2014/main" id="{8E6AAFA7-BF6D-4FFC-871A-FDA4393A083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A583EF6-6064-4F97-ADC3-B9274EB26F6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D8B3C824-05BB-4D1B-8BDE-46A66A0AA89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정보 결과</a:t>
            </a:r>
          </a:p>
        </p:txBody>
      </p:sp>
      <p:sp>
        <p:nvSpPr>
          <p:cNvPr id="25" name="">
            <a:extLst xmlns:a="http://schemas.openxmlformats.org/drawingml/2006/main">
              <a:ext uri="{FF2B5EF4-FFF2-40B4-BE49-F238E27FC236}">
                <a16:creationId xmlns:a16="http://schemas.microsoft.com/office/drawing/2014/main" id="{31EF9ECC-9EA3-4449-B174-5DEF868CEA05}"/>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A40D1E4-8681-4E81-AED7-CC27D7034C12}"/>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중복 계정·삭제 이벤트 누락·CSV 갱신 지연</a:t>
            </a:r>
          </a:p>
        </p:txBody>
      </p:sp>
      <p:sp>
        <p:nvSpPr>
          <p:cNvPr id="27" name="">
            <a:extLst xmlns:a="http://schemas.openxmlformats.org/drawingml/2006/main">
              <a:ext uri="{FF2B5EF4-FFF2-40B4-BE49-F238E27FC236}">
                <a16:creationId xmlns:a16="http://schemas.microsoft.com/office/drawing/2014/main" id="{02169211-464C-4840-BD93-F7DE70409CF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B245D72-778C-477A-9DB3-C950A10F003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우선순위·중복·변경 대사</a:t>
            </a:r>
          </a:p>
        </p:txBody>
      </p:sp>
      <p:sp>
        <p:nvSpPr>
          <p:cNvPr id="29" name="">
            <a:extLst xmlns:a="http://schemas.openxmlformats.org/drawingml/2006/main">
              <a:ext uri="{FF2B5EF4-FFF2-40B4-BE49-F238E27FC236}">
                <a16:creationId xmlns:a16="http://schemas.microsoft.com/office/drawing/2014/main" id="{B4F30BAF-EE7E-4282-AE1A-8BAB1C0D569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A987A1F-DCDF-484D-80E5-263B42039AC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변경·퇴직·삭제의 동기화 결과 대사</a:t>
            </a:r>
          </a:p>
        </p:txBody>
      </p:sp>
      <p:sp>
        <p:nvSpPr>
          <p:cNvPr id="31" name="">
            <a:extLst xmlns:a="http://schemas.openxmlformats.org/drawingml/2006/main">
              <a:ext uri="{FF2B5EF4-FFF2-40B4-BE49-F238E27FC236}">
                <a16:creationId xmlns:a16="http://schemas.microsoft.com/office/drawing/2014/main" id="{72087941-E181-47DB-8EE4-C29DAC6201F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DFFA8124-C20C-4766-816B-4E59790D34B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원천–동기화–검색 결과의 전후 스냅샷과 지연</a:t>
            </a:r>
          </a:p>
        </p:txBody>
      </p:sp>
    </p:spTree>
    <p:extLst>
      <p:ext uri="{BB962C8B-B14F-4D97-AF65-F5344CB8AC3E}">
        <p14:creationId xmlns:p14="http://schemas.microsoft.com/office/powerpoint/2010/main" val="1426880362"/>
      </p:ext>
    </p:extLst>
  </p:cSld>
</p:sld>
</file>

<file path=ppt/slides/slide1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474917A-3620-4BBB-8431-30D0AB9B45A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PF-C02 / CCK 비교·재현 시험 설계</a:t>
            </a:r>
          </a:p>
        </p:txBody>
      </p:sp>
      <p:sp>
        <p:nvSpPr>
          <p:cNvPr id="2" name="">
            <a:extLst xmlns:a="http://schemas.openxmlformats.org/drawingml/2006/main">
              <a:ext uri="{FF2B5EF4-FFF2-40B4-BE49-F238E27FC236}">
                <a16:creationId xmlns:a16="http://schemas.microsoft.com/office/drawing/2014/main" id="{303E878C-3671-4DC9-AE6A-FA9785CAF74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Glean People connector · 벤치마킹</a:t>
            </a:r>
          </a:p>
        </p:txBody>
      </p:sp>
      <p:sp>
        <p:nvSpPr>
          <p:cNvPr id="3" name="">
            <a:extLst xmlns:a="http://schemas.openxmlformats.org/drawingml/2006/main">
              <a:ext uri="{FF2B5EF4-FFF2-40B4-BE49-F238E27FC236}">
                <a16:creationId xmlns:a16="http://schemas.microsoft.com/office/drawing/2014/main" id="{E105D371-87CE-4577-9C85-4AD923DD719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867E7B-2363-4B57-B985-5ABAF2F64BD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61D9F949-82A5-4E90-AE80-EFBC2497F0E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163</a:t>
            </a:r>
          </a:p>
        </p:txBody>
      </p:sp>
      <p:sp>
        <p:nvSpPr>
          <p:cNvPr id="6" name="">
            <a:extLst xmlns:a="http://schemas.openxmlformats.org/drawingml/2006/main">
              <a:ext uri="{FF2B5EF4-FFF2-40B4-BE49-F238E27FC236}">
                <a16:creationId xmlns:a16="http://schemas.microsoft.com/office/drawing/2014/main" id="{D5C346DE-44AC-4573-B42F-64E2517E44B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CA0DCD8A-B847-4C34-9ACC-F9A18DB5DA8C}"/>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사람 정보의 지정 원천 동기화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조직 필드의 일관된 매핑</a:t>
            </a:r>
          </a:p>
        </p:txBody>
      </p:sp>
      <p:sp>
        <p:nvSpPr>
          <p:cNvPr id="8" name="">
            <a:extLst xmlns:a="http://schemas.openxmlformats.org/drawingml/2006/main">
              <a:ext uri="{FF2B5EF4-FFF2-40B4-BE49-F238E27FC236}">
                <a16:creationId xmlns:a16="http://schemas.microsoft.com/office/drawing/2014/main" id="{8EBCE060-0680-4636-8875-C278925897B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31853C5-5B34-45F1-A044-7C2697ED150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복수 원천의 직원 중복</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삭제·퇴직·부서 변경 반영 누락</a:t>
            </a:r>
          </a:p>
        </p:txBody>
      </p:sp>
      <p:sp>
        <p:nvSpPr>
          <p:cNvPr id="10" name="">
            <a:extLst xmlns:a="http://schemas.openxmlformats.org/drawingml/2006/main">
              <a:ext uri="{FF2B5EF4-FFF2-40B4-BE49-F238E27FC236}">
                <a16:creationId xmlns:a16="http://schemas.microsoft.com/office/drawing/2014/main" id="{E0EEFDC0-31F3-4D7E-8038-4536A4AFC0B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59391819-DE3C-4951-884F-1A9E3771031C}"/>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우선순위·중복·변경 대사</a:t>
            </a:r>
          </a:p>
        </p:txBody>
      </p:sp>
      <p:sp>
        <p:nvSpPr>
          <p:cNvPr id="12" name="">
            <a:extLst xmlns:a="http://schemas.openxmlformats.org/drawingml/2006/main">
              <a:ext uri="{FF2B5EF4-FFF2-40B4-BE49-F238E27FC236}">
                <a16:creationId xmlns:a16="http://schemas.microsoft.com/office/drawing/2014/main" id="{5B7B80EB-75F6-4827-881B-507F8BC4510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9BEA2AE9-571E-4054-993C-A66B6F496A5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직원 원천의 부서·직책 변경을 검색에 반영</a:t>
            </a:r>
          </a:p>
        </p:txBody>
      </p:sp>
      <p:sp>
        <p:nvSpPr>
          <p:cNvPr id="14" name="">
            <a:extLst xmlns:a="http://schemas.openxmlformats.org/drawingml/2006/main">
              <a:ext uri="{FF2B5EF4-FFF2-40B4-BE49-F238E27FC236}">
                <a16:creationId xmlns:a16="http://schemas.microsoft.com/office/drawing/2014/main" id="{F056C0C8-54CA-4E7B-9431-225C846FD0E7}"/>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53F3026-0B98-43AE-84C6-9B2655E00F2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중복 계정·삭제 이벤트 누락·CSV 갱신 지연</a:t>
            </a:r>
          </a:p>
        </p:txBody>
      </p:sp>
      <p:sp>
        <p:nvSpPr>
          <p:cNvPr id="16" name="">
            <a:extLst xmlns:a="http://schemas.openxmlformats.org/drawingml/2006/main">
              <a:ext uri="{FF2B5EF4-FFF2-40B4-BE49-F238E27FC236}">
                <a16:creationId xmlns:a16="http://schemas.microsoft.com/office/drawing/2014/main" id="{C1DC8179-AA93-4705-B9CC-DB796965D3C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2EB7B86-CED9-4684-9893-CC13C7292E3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원천–동기화–검색 결과의 전후 스냅샷과 지연</a:t>
            </a:r>
          </a:p>
        </p:txBody>
      </p:sp>
    </p:spTree>
    <p:extLst>
      <p:ext uri="{BB962C8B-B14F-4D97-AF65-F5344CB8AC3E}">
        <p14:creationId xmlns:p14="http://schemas.microsoft.com/office/powerpoint/2010/main" val="1422361200"/>
      </p:ext>
    </p:extLst>
  </p:cSld>
</p:sld>
</file>

<file path=ppt/slides/slide1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BD5A0A-9AAB-43D3-AE2B-AE5062C2EC8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2026-02-06 제안서 및 로컬 정리 / 고객 운영 검증 아님 / 국내</a:t>
            </a:r>
          </a:p>
        </p:txBody>
      </p:sp>
      <p:sp>
        <p:nvSpPr>
          <p:cNvPr id="2" name="">
            <a:extLst xmlns:a="http://schemas.openxmlformats.org/drawingml/2006/main">
              <a:ext uri="{FF2B5EF4-FFF2-40B4-BE49-F238E27FC236}">
                <a16:creationId xmlns:a16="http://schemas.microsoft.com/office/drawing/2014/main" id="{63337108-D493-4853-8CB6-125D753635D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a:t>
            </a:r>
          </a:p>
        </p:txBody>
      </p:sp>
      <p:sp>
        <p:nvSpPr>
          <p:cNvPr id="3" name="">
            <a:extLst xmlns:a="http://schemas.openxmlformats.org/drawingml/2006/main">
              <a:ext uri="{FF2B5EF4-FFF2-40B4-BE49-F238E27FC236}">
                <a16:creationId xmlns:a16="http://schemas.microsoft.com/office/drawing/2014/main" id="{C499927B-6D66-4076-A014-B73ECCD5AFF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F91DB0-4B11-41E6-97FA-FDAEC2462DA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FB37F8F-4DD8-4579-9BA8-EA5DE83A5C2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164</a:t>
            </a:r>
          </a:p>
        </p:txBody>
      </p:sp>
      <p:sp>
        <p:nvSpPr>
          <p:cNvPr id="6" name="">
            <a:extLst xmlns:a="http://schemas.openxmlformats.org/drawingml/2006/main">
              <a:ext uri="{FF2B5EF4-FFF2-40B4-BE49-F238E27FC236}">
                <a16:creationId xmlns:a16="http://schemas.microsoft.com/office/drawing/2014/main" id="{04E4653F-C564-45A4-A22B-19C085F39FBF}"/>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5EC039F-A30E-4455-889D-278751088F4E}"/>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ERP·그룹웨어의 AI 업무 지원을 문서 검색과 행정 실행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연결 관점에서 분석한 사례. 직원이 정보를 찾는 단계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에서 근태·결재 등 업무 요청을 구성하는 단계로 확장하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기능 범위.</a:t>
            </a:r>
          </a:p>
        </p:txBody>
      </p:sp>
      <p:sp>
        <p:nvSpPr>
          <p:cNvPr id="8" name="">
            <a:extLst xmlns:a="http://schemas.openxmlformats.org/drawingml/2006/main">
              <a:ext uri="{FF2B5EF4-FFF2-40B4-BE49-F238E27FC236}">
                <a16:creationId xmlns:a16="http://schemas.microsoft.com/office/drawing/2014/main" id="{BB808B93-0061-480F-B7EA-1BF85F7B87C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95C60CB-D2A8-487F-825E-57B3698469C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로그인 직원과 업무 목적 확인, 필요한 문서·인사 정보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조회, 실행 요청 구조화, 사용자 확인, 시스템 등록·처리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 반환으로 재구성. 제품 소개의 기능 범위와 실제 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 버전·연계 API 지원 여부를 구분하는 방식.</a:t>
            </a:r>
          </a:p>
        </p:txBody>
      </p:sp>
      <p:sp>
        <p:nvSpPr>
          <p:cNvPr id="10" name="">
            <a:extLst xmlns:a="http://schemas.openxmlformats.org/drawingml/2006/main">
              <a:ext uri="{FF2B5EF4-FFF2-40B4-BE49-F238E27FC236}">
                <a16:creationId xmlns:a16="http://schemas.microsoft.com/office/drawing/2014/main" id="{F0A118A2-3301-4D82-B757-EF71C88924DA}"/>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31391E0-0B44-4C73-9D77-BAD0E62A35B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기존 ERP·그룹웨어의 권한·결재 로직을 유지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하며 AI가 입력과 초안을 지원하는 접근. 실행 대상·결재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선·중복 요청·부분 실패·취소 조건을 시험하고 조회용 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큰과 쓰기 권한의 분리를 추가 개발 범위로 검토.</a:t>
            </a:r>
          </a:p>
        </p:txBody>
      </p:sp>
      <p:sp>
        <p:nvSpPr>
          <p:cNvPr id="12" name="">
            <a:extLst xmlns:a="http://schemas.openxmlformats.org/drawingml/2006/main">
              <a:ext uri="{FF2B5EF4-FFF2-40B4-BE49-F238E27FC236}">
                <a16:creationId xmlns:a16="http://schemas.microsoft.com/office/drawing/2014/main" id="{F5B34682-5066-4E8E-988C-8981D493EFB6}"/>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82DD513-92CB-4DF2-B2DD-4ABB7A0FDC4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항목·담당자·승인·API 처리 연결</a:t>
            </a:r>
          </a:p>
        </p:txBody>
      </p:sp>
      <p:sp>
        <p:nvSpPr>
          <p:cNvPr id="14" name="">
            <a:extLst xmlns:a="http://schemas.openxmlformats.org/drawingml/2006/main">
              <a:ext uri="{FF2B5EF4-FFF2-40B4-BE49-F238E27FC236}">
                <a16:creationId xmlns:a16="http://schemas.microsoft.com/office/drawing/2014/main" id="{9EEBBCAA-AC66-4286-BF2B-A50E5850A10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4C2E4E7-9DBF-4EE8-A0DA-84F6DBEDBA6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완료율·재작업·중복 처리의 기준선·비교 평가</a:t>
            </a:r>
          </a:p>
        </p:txBody>
      </p:sp>
      <p:sp>
        <p:nvSpPr>
          <p:cNvPr id="16" name="">
            <a:extLst xmlns:a="http://schemas.openxmlformats.org/drawingml/2006/main">
              <a:ext uri="{FF2B5EF4-FFF2-40B4-BE49-F238E27FC236}">
                <a16:creationId xmlns:a16="http://schemas.microsoft.com/office/drawing/2014/main" id="{DC2C5C16-796B-45C8-BB11-0A9867BC844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25650B1-5247-45D7-93B9-AB6D97E99EC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완료율·재작업·중복 처리</a:t>
            </a:r>
          </a:p>
        </p:txBody>
      </p:sp>
      <p:sp>
        <p:nvSpPr>
          <p:cNvPr id="18" name="">
            <a:extLst xmlns:a="http://schemas.openxmlformats.org/drawingml/2006/main">
              <a:ext uri="{FF2B5EF4-FFF2-40B4-BE49-F238E27FC236}">
                <a16:creationId xmlns:a16="http://schemas.microsoft.com/office/drawing/2014/main" id="{946D5472-EEC1-4CA6-A8E6-E8C7FDD8B73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제품 기능 설명과 고객 구현·성과를 구분. 특정 ERP 의존성 및 TS 타 시스템 연계 공수는 미확인</a:t>
            </a:r>
          </a:p>
        </p:txBody>
      </p:sp>
    </p:spTree>
    <p:extLst>
      <p:ext uri="{BB962C8B-B14F-4D97-AF65-F5344CB8AC3E}">
        <p14:creationId xmlns:p14="http://schemas.microsoft.com/office/powerpoint/2010/main" val="1268762516"/>
      </p:ext>
    </p:extLst>
  </p:cSld>
</p:sld>
</file>

<file path=ppt/slides/slide1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217757B-EDF1-441C-92A8-AD3F27CECCC4}"/>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F2E12FD0-94B1-4114-BD08-1D083D470ACD}"/>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0EA22A8-DDD7-4F47-A22E-A9E8CAE49391}"/>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9134B13-D824-4D29-AA76-2D81B31E28F9}"/>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2D680DE9-4855-49F0-A0DC-9326F561521C}"/>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F4CD883-5376-4783-8CEF-38F65A1124D9}"/>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92539983-3466-472C-A1AA-5245B237B5F5}"/>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FAA29DE4-E3EF-4134-9FDE-BD344AE94ECD}"/>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CA3FC666-2CC3-42C0-8D5C-45B2C591AAC5}"/>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B4C92D7F-5F5E-4A01-98A4-AF135D9531C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입력 구조화·확인·업무시스템 처리</a:t>
            </a:r>
          </a:p>
        </p:txBody>
      </p:sp>
      <p:sp>
        <p:nvSpPr>
          <p:cNvPr id="2" name="">
            <a:extLst xmlns:a="http://schemas.openxmlformats.org/drawingml/2006/main">
              <a:ext uri="{FF2B5EF4-FFF2-40B4-BE49-F238E27FC236}">
                <a16:creationId xmlns:a16="http://schemas.microsoft.com/office/drawing/2014/main" id="{11B05F8E-4172-4EF2-88CD-8C444512DAB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세부 서비스 구조</a:t>
            </a:r>
          </a:p>
        </p:txBody>
      </p:sp>
      <p:sp>
        <p:nvSpPr>
          <p:cNvPr id="3" name="">
            <a:extLst xmlns:a="http://schemas.openxmlformats.org/drawingml/2006/main">
              <a:ext uri="{FF2B5EF4-FFF2-40B4-BE49-F238E27FC236}">
                <a16:creationId xmlns:a16="http://schemas.microsoft.com/office/drawing/2014/main" id="{8732F642-16BA-43A6-AF7E-235A37167F5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F208B4-7930-46D6-8803-F763E5DC33A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D1359BF4-6268-446B-8607-F6C60937F93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165</a:t>
            </a:r>
          </a:p>
        </p:txBody>
      </p:sp>
      <p:sp>
        <p:nvSpPr>
          <p:cNvPr id="6" name="">
            <a:extLst xmlns:a="http://schemas.openxmlformats.org/drawingml/2006/main">
              <a:ext uri="{FF2B5EF4-FFF2-40B4-BE49-F238E27FC236}">
                <a16:creationId xmlns:a16="http://schemas.microsoft.com/office/drawing/2014/main" id="{F1AD091E-5FF7-4A62-B280-AB01B6A89FD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ERP·그룹웨어 → 문서·업무 지식 → 업무 에이전트 → 근태·결재 연계</a:t>
            </a:r>
          </a:p>
        </p:txBody>
      </p:sp>
      <p:sp>
        <p:nvSpPr>
          <p:cNvPr id="7" name="">
            <a:extLst xmlns:a="http://schemas.openxmlformats.org/drawingml/2006/main">
              <a:ext uri="{FF2B5EF4-FFF2-40B4-BE49-F238E27FC236}">
                <a16:creationId xmlns:a16="http://schemas.microsoft.com/office/drawing/2014/main" id="{864AC11B-AAA8-4292-ABB3-62E095E47459}"/>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DA553F4-A002-4995-A66E-B3D516BE71AC}"/>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F801D6F1-88F1-4640-9908-32AE26DE0F85}"/>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ERP·그룹웨어</a:t>
            </a:r>
          </a:p>
        </p:txBody>
      </p:sp>
      <p:sp>
        <p:nvSpPr>
          <p:cNvPr id="10" name="">
            <a:extLst xmlns:a="http://schemas.openxmlformats.org/drawingml/2006/main">
              <a:ext uri="{FF2B5EF4-FFF2-40B4-BE49-F238E27FC236}">
                <a16:creationId xmlns:a16="http://schemas.microsoft.com/office/drawing/2014/main" id="{636CDC02-B7C5-4EA3-A67C-4F419081C512}"/>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3D631EA-B2C9-4B93-8024-FC48574322C5}"/>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F53FB238-D46D-4AE9-B262-A6F914AE01FF}"/>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직원·업무·권한</a:t>
            </a:r>
          </a:p>
        </p:txBody>
      </p:sp>
      <p:sp>
        <p:nvSpPr>
          <p:cNvPr id="13" name="">
            <a:extLst xmlns:a="http://schemas.openxmlformats.org/drawingml/2006/main">
              <a:ext uri="{FF2B5EF4-FFF2-40B4-BE49-F238E27FC236}">
                <a16:creationId xmlns:a16="http://schemas.microsoft.com/office/drawing/2014/main" id="{F690B101-0CD5-45B8-9D6B-5788565F86BA}"/>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39CCFCA-A2FE-46CF-9004-1252D9FBAE89}"/>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523D3728-4814-4C08-935B-89D4EA87C72C}"/>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ONE AI 구조화</a:t>
            </a:r>
          </a:p>
        </p:txBody>
      </p:sp>
      <p:sp>
        <p:nvSpPr>
          <p:cNvPr id="16" name="">
            <a:extLst xmlns:a="http://schemas.openxmlformats.org/drawingml/2006/main">
              <a:ext uri="{FF2B5EF4-FFF2-40B4-BE49-F238E27FC236}">
                <a16:creationId xmlns:a16="http://schemas.microsoft.com/office/drawing/2014/main" id="{CE3535A8-8E22-4C92-A464-D425C54077A2}"/>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930D9E76-106F-471B-8050-5A222918660D}"/>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E2AD9660-C37D-4373-B187-E87866A7EE0B}"/>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필드·권한 검사</a:t>
            </a:r>
          </a:p>
        </p:txBody>
      </p:sp>
      <p:sp>
        <p:nvSpPr>
          <p:cNvPr id="19" name="">
            <a:extLst xmlns:a="http://schemas.openxmlformats.org/drawingml/2006/main">
              <a:ext uri="{FF2B5EF4-FFF2-40B4-BE49-F238E27FC236}">
                <a16:creationId xmlns:a16="http://schemas.microsoft.com/office/drawing/2014/main" id="{00A83044-AE2C-481D-BD73-0390C884ACA5}"/>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65CFE802-A86D-4505-ADC7-7002BAE37B76}"/>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89A7CD60-FFFC-4568-8E5B-0383D2FCED27}"/>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사용자·결재자</a:t>
            </a:r>
          </a:p>
        </p:txBody>
      </p:sp>
      <p:sp>
        <p:nvSpPr>
          <p:cNvPr id="22" name="">
            <a:extLst xmlns:a="http://schemas.openxmlformats.org/drawingml/2006/main">
              <a:ext uri="{FF2B5EF4-FFF2-40B4-BE49-F238E27FC236}">
                <a16:creationId xmlns:a16="http://schemas.microsoft.com/office/drawing/2014/main" id="{FF0F61C6-E7FC-4E7E-917B-F2A52A55B82C}"/>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A20EA9B-99AF-48B5-96C5-9590E8288BFE}"/>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EA9D843B-7364-468D-AFC1-ADB89693225C}"/>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근태·전자결재</a:t>
            </a:r>
          </a:p>
        </p:txBody>
      </p:sp>
      <p:sp>
        <p:nvSpPr>
          <p:cNvPr id="25" name="">
            <a:extLst xmlns:a="http://schemas.openxmlformats.org/drawingml/2006/main">
              <a:ext uri="{FF2B5EF4-FFF2-40B4-BE49-F238E27FC236}">
                <a16:creationId xmlns:a16="http://schemas.microsoft.com/office/drawing/2014/main" id="{5B7DA501-78B5-4704-91C6-CFDBA1A819CE}"/>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1754E00-964C-4020-B71B-D6AD1E3DD75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5601C39E-877B-49FC-B280-6A4F7AEB63D5}"/>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ERP·인사·문서</a:t>
            </a:r>
          </a:p>
        </p:txBody>
      </p:sp>
      <p:sp>
        <p:nvSpPr>
          <p:cNvPr id="28" name="">
            <a:extLst xmlns:a="http://schemas.openxmlformats.org/drawingml/2006/main">
              <a:ext uri="{FF2B5EF4-FFF2-40B4-BE49-F238E27FC236}">
                <a16:creationId xmlns:a16="http://schemas.microsoft.com/office/drawing/2014/main" id="{B1353ED6-F30A-4EA6-BBD0-E7902ECB38C1}"/>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4DC8040-4CA5-4A6C-B1D6-E47DF4F35AE6}"/>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A269D6C8-B48D-4779-BDAA-7FA9422E45B1}"/>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문서·근태 조회</a:t>
            </a:r>
          </a:p>
        </p:txBody>
      </p:sp>
      <p:sp>
        <p:nvSpPr>
          <p:cNvPr id="31" name="">
            <a:extLst xmlns:a="http://schemas.openxmlformats.org/drawingml/2006/main">
              <a:ext uri="{FF2B5EF4-FFF2-40B4-BE49-F238E27FC236}">
                <a16:creationId xmlns:a16="http://schemas.microsoft.com/office/drawing/2014/main" id="{851C36C0-2ABC-4F97-B77A-E4115BAB3F08}"/>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7B99307-F553-4BD5-B19A-759EDADCFF72}"/>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CF5822FB-AEDD-4FA0-8103-D8E1CE44A1A8}"/>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초안·처리 상태</a:t>
            </a:r>
          </a:p>
        </p:txBody>
      </p:sp>
      <p:sp>
        <p:nvSpPr>
          <p:cNvPr id="34" name="">
            <a:extLst xmlns:a="http://schemas.openxmlformats.org/drawingml/2006/main">
              <a:ext uri="{FF2B5EF4-FFF2-40B4-BE49-F238E27FC236}">
                <a16:creationId xmlns:a16="http://schemas.microsoft.com/office/drawing/2014/main" id="{B9901882-7181-4D60-A7CD-85662E330E82}"/>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7BD61F1-E7C7-417E-B4D3-BA5659C57A20}"/>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A8CF3DC-FB7F-4A34-9DC4-2C15BC3080D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실행 결과 확인</a:t>
            </a:r>
          </a:p>
        </p:txBody>
      </p:sp>
      <p:sp>
        <p:nvSpPr>
          <p:cNvPr id="46" name="">
            <a:extLst xmlns:a="http://schemas.openxmlformats.org/drawingml/2006/main">
              <a:ext uri="{FF2B5EF4-FFF2-40B4-BE49-F238E27FC236}">
                <a16:creationId xmlns:a16="http://schemas.microsoft.com/office/drawing/2014/main" id="{8F7CB7CC-FBEE-46D3-AE95-21526515786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5890342"/>
      </p:ext>
    </p:extLst>
  </p:cSld>
</p:sld>
</file>

<file path=ppt/slides/slide1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228648A-5BE4-410D-B5BE-8DF7F064B40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논리 인터페이스·복구 설계</a:t>
            </a:r>
          </a:p>
        </p:txBody>
      </p:sp>
      <p:sp>
        <p:nvSpPr>
          <p:cNvPr id="2" name="">
            <a:extLst xmlns:a="http://schemas.openxmlformats.org/drawingml/2006/main">
              <a:ext uri="{FF2B5EF4-FFF2-40B4-BE49-F238E27FC236}">
                <a16:creationId xmlns:a16="http://schemas.microsoft.com/office/drawing/2014/main" id="{66C3CD0E-380C-4A6E-9A7E-E4DD4D968DB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데이터와 예외 처리</a:t>
            </a:r>
          </a:p>
        </p:txBody>
      </p:sp>
      <p:sp>
        <p:nvSpPr>
          <p:cNvPr id="3" name="">
            <a:extLst xmlns:a="http://schemas.openxmlformats.org/drawingml/2006/main">
              <a:ext uri="{FF2B5EF4-FFF2-40B4-BE49-F238E27FC236}">
                <a16:creationId xmlns:a16="http://schemas.microsoft.com/office/drawing/2014/main" id="{140B2A69-264E-43B0-8110-02B1DFFD404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275223-3693-42D5-A99F-A3D15BDB985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DC27B68-7B55-4018-9C42-F4E526B3885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166</a:t>
            </a:r>
          </a:p>
        </p:txBody>
      </p:sp>
      <p:sp>
        <p:nvSpPr>
          <p:cNvPr id="6" name="">
            <a:extLst xmlns:a="http://schemas.openxmlformats.org/drawingml/2006/main">
              <a:ext uri="{FF2B5EF4-FFF2-40B4-BE49-F238E27FC236}">
                <a16:creationId xmlns:a16="http://schemas.microsoft.com/office/drawing/2014/main" id="{9AA94A16-405E-4674-9D39-754878310A4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D107969-3626-445A-920F-15FA871D6A3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3A7CA0C6-0B3A-4A80-9FE5-DD6FFBA348B3}"/>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196B5E17-D2C1-48E7-8235-C0B8C2FAAC3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직원·대상 업무·실행 권한 확인</a:t>
            </a:r>
          </a:p>
        </p:txBody>
      </p:sp>
      <p:sp>
        <p:nvSpPr>
          <p:cNvPr id="10" name="">
            <a:extLst xmlns:a="http://schemas.openxmlformats.org/drawingml/2006/main">
              <a:ext uri="{FF2B5EF4-FFF2-40B4-BE49-F238E27FC236}">
                <a16:creationId xmlns:a16="http://schemas.microsoft.com/office/drawing/2014/main" id="{3F3D175A-D3A5-4B63-94D7-52A2733BD5E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4CC952-0F6D-46B7-B961-B8FC09E1009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043F1CBE-3316-4E7A-95A8-A568C0760D6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66AE93C3-84DE-4F72-A455-1AF07E27600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27460BF-3C2B-44F0-9FEC-5D0A2DFBC7D1}"/>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06965F87-E545-4DBA-8C53-04EC17494A8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문서·업무 지식</a:t>
            </a:r>
          </a:p>
        </p:txBody>
      </p:sp>
      <p:sp>
        <p:nvSpPr>
          <p:cNvPr id="16" name="">
            <a:extLst xmlns:a="http://schemas.openxmlformats.org/drawingml/2006/main">
              <a:ext uri="{FF2B5EF4-FFF2-40B4-BE49-F238E27FC236}">
                <a16:creationId xmlns:a16="http://schemas.microsoft.com/office/drawing/2014/main" id="{38891601-44FA-4902-A669-20EC027F549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100BBAD-D959-49F2-BEC1-96506B132F0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E70A45AC-AC2D-4079-96A0-9BB10CB7007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초안</a:t>
            </a:r>
          </a:p>
        </p:txBody>
      </p:sp>
      <p:sp>
        <p:nvSpPr>
          <p:cNvPr id="19" name="">
            <a:extLst xmlns:a="http://schemas.openxmlformats.org/drawingml/2006/main">
              <a:ext uri="{FF2B5EF4-FFF2-40B4-BE49-F238E27FC236}">
                <a16:creationId xmlns:a16="http://schemas.microsoft.com/office/drawing/2014/main" id="{AE27E3B5-C60C-49B2-A052-965CC6EBF1BA}"/>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77B3154-E4E0-4B6C-93EA-82132F56251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653D0A0A-FD66-4C14-A1A9-332E1CE7DBF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근태·결재 결과</a:t>
            </a:r>
          </a:p>
        </p:txBody>
      </p:sp>
      <p:sp>
        <p:nvSpPr>
          <p:cNvPr id="22" name="">
            <a:extLst xmlns:a="http://schemas.openxmlformats.org/drawingml/2006/main">
              <a:ext uri="{FF2B5EF4-FFF2-40B4-BE49-F238E27FC236}">
                <a16:creationId xmlns:a16="http://schemas.microsoft.com/office/drawing/2014/main" id="{5A6DD91A-7634-421E-93E0-C5F15320400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304A8FF-2969-40E1-93A4-2C2B6C8AF0C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2D048437-86DC-4ACC-B331-3ED3784C8CD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근태·결재 결과</a:t>
            </a:r>
          </a:p>
        </p:txBody>
      </p:sp>
      <p:sp>
        <p:nvSpPr>
          <p:cNvPr id="25" name="">
            <a:extLst xmlns:a="http://schemas.openxmlformats.org/drawingml/2006/main">
              <a:ext uri="{FF2B5EF4-FFF2-40B4-BE49-F238E27FC236}">
                <a16:creationId xmlns:a16="http://schemas.microsoft.com/office/drawing/2014/main" id="{940DF7ED-561B-4EF1-A37C-21E9F8E51CE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B2EA5E8-B474-4BD3-92E7-E7061D80216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잔여일수 부족·전결권 부재·중복 상신</a:t>
            </a:r>
          </a:p>
        </p:txBody>
      </p:sp>
      <p:sp>
        <p:nvSpPr>
          <p:cNvPr id="27" name="">
            <a:extLst xmlns:a="http://schemas.openxmlformats.org/drawingml/2006/main">
              <a:ext uri="{FF2B5EF4-FFF2-40B4-BE49-F238E27FC236}">
                <a16:creationId xmlns:a16="http://schemas.microsoft.com/office/drawing/2014/main" id="{EF3555A1-0C93-4923-821C-CF6F0E4FD296}"/>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8EE16D27-6728-4479-95B3-81CC58AE9D0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기능·승인·결과 확인</a:t>
            </a:r>
          </a:p>
        </p:txBody>
      </p:sp>
      <p:sp>
        <p:nvSpPr>
          <p:cNvPr id="29" name="">
            <a:extLst xmlns:a="http://schemas.openxmlformats.org/drawingml/2006/main">
              <a:ext uri="{FF2B5EF4-FFF2-40B4-BE49-F238E27FC236}">
                <a16:creationId xmlns:a16="http://schemas.microsoft.com/office/drawing/2014/main" id="{834FEC19-CF63-45D3-ABFA-E730372BF2FA}"/>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397D5E2E-5FB4-4179-98C5-34E6D9DEF9C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기능·승인·실행 결과의 비교 시험</a:t>
            </a:r>
          </a:p>
        </p:txBody>
      </p:sp>
      <p:sp>
        <p:nvSpPr>
          <p:cNvPr id="31" name="">
            <a:extLst xmlns:a="http://schemas.openxmlformats.org/drawingml/2006/main">
              <a:ext uri="{FF2B5EF4-FFF2-40B4-BE49-F238E27FC236}">
                <a16:creationId xmlns:a16="http://schemas.microsoft.com/office/drawing/2014/main" id="{BE60FF22-E7F1-43DD-A123-081E0ACFBD7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C8910C7-98FF-4EC0-987F-B6B504041E8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도입본 기능 목록·사용자 확인·원천 접수 결과</a:t>
            </a:r>
          </a:p>
        </p:txBody>
      </p:sp>
    </p:spTree>
    <p:extLst>
      <p:ext uri="{BB962C8B-B14F-4D97-AF65-F5344CB8AC3E}">
        <p14:creationId xmlns:p14="http://schemas.microsoft.com/office/powerpoint/2010/main" val="1321041682"/>
      </p:ext>
    </p:extLst>
  </p:cSld>
</p:sld>
</file>

<file path=ppt/slides/slide1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98D262E-2081-4A9D-9DD0-E3C16392D7C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PF-C03 / CCK 비교·재현 시험 설계</a:t>
            </a:r>
          </a:p>
        </p:txBody>
      </p:sp>
      <p:sp>
        <p:nvSpPr>
          <p:cNvPr id="2" name="">
            <a:extLst xmlns:a="http://schemas.openxmlformats.org/drawingml/2006/main">
              <a:ext uri="{FF2B5EF4-FFF2-40B4-BE49-F238E27FC236}">
                <a16:creationId xmlns:a16="http://schemas.microsoft.com/office/drawing/2014/main" id="{72E396EE-55EB-4629-B479-1BCF10FA7CE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더존 Amaranth 10 ONE AI · 벤치마킹</a:t>
            </a:r>
          </a:p>
        </p:txBody>
      </p:sp>
      <p:sp>
        <p:nvSpPr>
          <p:cNvPr id="3" name="">
            <a:extLst xmlns:a="http://schemas.openxmlformats.org/drawingml/2006/main">
              <a:ext uri="{FF2B5EF4-FFF2-40B4-BE49-F238E27FC236}">
                <a16:creationId xmlns:a16="http://schemas.microsoft.com/office/drawing/2014/main" id="{22EDB133-6233-444C-B5B0-60C676AA39E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1B16DB3-FBA4-46AA-8000-D6358B25F92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E373D5C-C301-4128-A0CC-2D5912637AF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167</a:t>
            </a:r>
          </a:p>
        </p:txBody>
      </p:sp>
      <p:sp>
        <p:nvSpPr>
          <p:cNvPr id="6" name="">
            <a:extLst xmlns:a="http://schemas.openxmlformats.org/drawingml/2006/main">
              <a:ext uri="{FF2B5EF4-FFF2-40B4-BE49-F238E27FC236}">
                <a16:creationId xmlns:a16="http://schemas.microsoft.com/office/drawing/2014/main" id="{02EDB6D4-4864-4F41-995B-2581A9127813}"/>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성공·성립 조건</a:t>
            </a:r>
          </a:p>
        </p:txBody>
      </p:sp>
      <p:sp>
        <p:nvSpPr>
          <p:cNvPr id="7" name="">
            <a:extLst xmlns:a="http://schemas.openxmlformats.org/drawingml/2006/main">
              <a:ext uri="{FF2B5EF4-FFF2-40B4-BE49-F238E27FC236}">
                <a16:creationId xmlns:a16="http://schemas.microsoft.com/office/drawing/2014/main" id="{D7A8CB7A-E9B6-4516-9152-88BE9EA95395}"/>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ERP·그룹웨어의 업무 문맥</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문서·근태·결재 접점 연결</a:t>
            </a:r>
          </a:p>
        </p:txBody>
      </p:sp>
      <p:sp>
        <p:nvSpPr>
          <p:cNvPr id="8" name="">
            <a:extLst xmlns:a="http://schemas.openxmlformats.org/drawingml/2006/main">
              <a:ext uri="{FF2B5EF4-FFF2-40B4-BE49-F238E27FC236}">
                <a16:creationId xmlns:a16="http://schemas.microsoft.com/office/drawing/2014/main" id="{40396884-FFF8-44FF-B78A-ECDB32E90C8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5CBA215-B40E-472F-8E73-DBE81039B29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제품 소개와 실제 고객 동작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실행 권한의 과도한 위임</a:t>
            </a:r>
          </a:p>
        </p:txBody>
      </p:sp>
      <p:sp>
        <p:nvSpPr>
          <p:cNvPr id="10" name="">
            <a:extLst xmlns:a="http://schemas.openxmlformats.org/drawingml/2006/main">
              <a:ext uri="{FF2B5EF4-FFF2-40B4-BE49-F238E27FC236}">
                <a16:creationId xmlns:a16="http://schemas.microsoft.com/office/drawing/2014/main" id="{A77E4584-DC6B-470D-AA60-C0B64CC3CC3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7903113-B7C4-4979-BBB8-B5EAE238ED5A}"/>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도입본 기능·승인·결과 확인</a:t>
            </a:r>
          </a:p>
        </p:txBody>
      </p:sp>
      <p:sp>
        <p:nvSpPr>
          <p:cNvPr id="12" name="">
            <a:extLst xmlns:a="http://schemas.openxmlformats.org/drawingml/2006/main">
              <a:ext uri="{FF2B5EF4-FFF2-40B4-BE49-F238E27FC236}">
                <a16:creationId xmlns:a16="http://schemas.microsoft.com/office/drawing/2014/main" id="{9DFEF2C6-7192-457B-ACE7-352E0AEFA9B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B57E6C4-E105-4A3A-9D2D-BF93144C642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근태 요청을 확인하고 해당 전자결재 절차로 연결</a:t>
            </a:r>
          </a:p>
        </p:txBody>
      </p:sp>
      <p:sp>
        <p:nvSpPr>
          <p:cNvPr id="14" name="">
            <a:extLst xmlns:a="http://schemas.openxmlformats.org/drawingml/2006/main">
              <a:ext uri="{FF2B5EF4-FFF2-40B4-BE49-F238E27FC236}">
                <a16:creationId xmlns:a16="http://schemas.microsoft.com/office/drawing/2014/main" id="{705FC98B-4620-47CF-A93C-AA494A52DB7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30B5B50-0DD7-4171-839E-9A299EA31E3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잔여일수 부족·전결권 부재·중복 상신</a:t>
            </a:r>
          </a:p>
        </p:txBody>
      </p:sp>
      <p:sp>
        <p:nvSpPr>
          <p:cNvPr id="16" name="">
            <a:extLst xmlns:a="http://schemas.openxmlformats.org/drawingml/2006/main">
              <a:ext uri="{FF2B5EF4-FFF2-40B4-BE49-F238E27FC236}">
                <a16:creationId xmlns:a16="http://schemas.microsoft.com/office/drawing/2014/main" id="{2B9E7CFF-1016-4D7C-9737-39409610AEFC}"/>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4C60F42-F0B9-4198-A244-AB4C348D22D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도입본 기능 목록·사용자 확인·원천 접수 결과</a:t>
            </a:r>
          </a:p>
        </p:txBody>
      </p:sp>
    </p:spTree>
    <p:extLst>
      <p:ext uri="{BB962C8B-B14F-4D97-AF65-F5344CB8AC3E}">
        <p14:creationId xmlns:p14="http://schemas.microsoft.com/office/powerpoint/2010/main" val="1669657922"/>
      </p:ext>
    </p:extLst>
  </p:cSld>
</p:sld>
</file>

<file path=ppt/slides/slide1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967374B-C8DF-40DA-8638-001AB1A302E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감사 지적·개선 / 해외</a:t>
            </a:r>
          </a:p>
        </p:txBody>
      </p:sp>
      <p:sp>
        <p:nvSpPr>
          <p:cNvPr id="2" name="">
            <a:extLst xmlns:a="http://schemas.openxmlformats.org/drawingml/2006/main">
              <a:ext uri="{FF2B5EF4-FFF2-40B4-BE49-F238E27FC236}">
                <a16:creationId xmlns:a16="http://schemas.microsoft.com/office/drawing/2014/main" id="{7223DD07-F13B-4208-A794-A172A75FCE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a:t>
            </a:r>
          </a:p>
        </p:txBody>
      </p:sp>
      <p:sp>
        <p:nvSpPr>
          <p:cNvPr id="3" name="">
            <a:extLst xmlns:a="http://schemas.openxmlformats.org/drawingml/2006/main">
              <a:ext uri="{FF2B5EF4-FFF2-40B4-BE49-F238E27FC236}">
                <a16:creationId xmlns:a16="http://schemas.microsoft.com/office/drawing/2014/main" id="{F750A668-9E8D-45D7-87D9-D8801ABA8FC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DC33A7-4716-4DCF-B756-AD12C33FCE5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62743EA-C948-44B9-BFCF-F49EED6A517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168</a:t>
            </a:r>
          </a:p>
        </p:txBody>
      </p:sp>
      <p:sp>
        <p:nvSpPr>
          <p:cNvPr id="6" name="">
            <a:extLst xmlns:a="http://schemas.openxmlformats.org/drawingml/2006/main">
              <a:ext uri="{FF2B5EF4-FFF2-40B4-BE49-F238E27FC236}">
                <a16:creationId xmlns:a16="http://schemas.microsoft.com/office/drawing/2014/main" id="{3D648C6D-97F2-4415-96DE-47AEC341096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A397FAF-31F8-4257-89F8-8369147A307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뉴욕 MyCity의 챗봇 답변 품질과 통합서비스 사업관리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문제를 다룬 감사 사례. 공식 안내의 정확성과 서비스 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합·계약 감독을 함께 봐야 하는 대민 AI 사업의 사례.</a:t>
            </a:r>
          </a:p>
        </p:txBody>
      </p:sp>
      <p:sp>
        <p:nvSpPr>
          <p:cNvPr id="8" name="">
            <a:extLst xmlns:a="http://schemas.openxmlformats.org/drawingml/2006/main">
              <a:ext uri="{FF2B5EF4-FFF2-40B4-BE49-F238E27FC236}">
                <a16:creationId xmlns:a16="http://schemas.microsoft.com/office/drawing/2014/main" id="{36CE6311-933C-4AE3-BA92-DD2E75C52C2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4849A27-955D-4F0B-ADEB-A7D6A9F8967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질문별 근거 문서, 답변 결과, 공식 신청 경로, 오류 수정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이력을 연결하는 재구성. 독립 시험셋과 계약 산출물 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록을 대응시키고 감사 지적·기관 반론을 근거별로 구분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비교하는 방식.</a:t>
            </a:r>
          </a:p>
        </p:txBody>
      </p:sp>
      <p:sp>
        <p:nvSpPr>
          <p:cNvPr id="10" name="">
            <a:extLst xmlns:a="http://schemas.openxmlformats.org/drawingml/2006/main">
              <a:ext uri="{FF2B5EF4-FFF2-40B4-BE49-F238E27FC236}">
                <a16:creationId xmlns:a16="http://schemas.microsoft.com/office/drawing/2014/main" id="{2DDBEBFD-973B-4DBA-B352-B9E37F4D53B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EF46B40-9395-4D40-A970-39A91D41EA8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챗봇 공개와 민원 업무 완결을 같은 성과로 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설계에 활용. 부정확·상충 안내의 회귀시험, 완료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 정의, 변경 요구와 인수 증빙의 연결을 CCK 사업관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리 기능에 반영할 필요.</a:t>
            </a:r>
          </a:p>
        </p:txBody>
      </p:sp>
      <p:sp>
        <p:nvSpPr>
          <p:cNvPr id="12" name="">
            <a:extLst xmlns:a="http://schemas.openxmlformats.org/drawingml/2006/main">
              <a:ext uri="{FF2B5EF4-FFF2-40B4-BE49-F238E27FC236}">
                <a16:creationId xmlns:a16="http://schemas.microsoft.com/office/drawing/2014/main" id="{EFE5B9DB-9FED-4FD8-B4C1-591FF0DD192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DC557B26-EBDA-4A0F-A465-5483358F605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반례 정답셋·오안내 신고·책임부서 인계</a:t>
            </a:r>
          </a:p>
        </p:txBody>
      </p:sp>
      <p:sp>
        <p:nvSpPr>
          <p:cNvPr id="14" name="">
            <a:extLst xmlns:a="http://schemas.openxmlformats.org/drawingml/2006/main">
              <a:ext uri="{FF2B5EF4-FFF2-40B4-BE49-F238E27FC236}">
                <a16:creationId xmlns:a16="http://schemas.microsoft.com/office/drawing/2014/main" id="{200BA381-0B83-4C70-AF32-66F65CC0258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2E7DBE5-B46B-4C96-85C9-1C9D93948CF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규정과 상충하는 안내 및 미완료 신청 재현</a:t>
            </a:r>
          </a:p>
        </p:txBody>
      </p:sp>
      <p:sp>
        <p:nvSpPr>
          <p:cNvPr id="16" name="">
            <a:extLst xmlns:a="http://schemas.openxmlformats.org/drawingml/2006/main">
              <a:ext uri="{FF2B5EF4-FFF2-40B4-BE49-F238E27FC236}">
                <a16:creationId xmlns:a16="http://schemas.microsoft.com/office/drawing/2014/main" id="{593D2928-B816-43A7-8542-5493AE4ACCC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6A6DDBE-6734-4AD3-8852-7B1DCC60798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오안내율 / 신청 완료율 / 재접촉률</a:t>
            </a:r>
          </a:p>
        </p:txBody>
      </p:sp>
      <p:sp>
        <p:nvSpPr>
          <p:cNvPr id="18" name="">
            <a:extLst xmlns:a="http://schemas.openxmlformats.org/drawingml/2006/main">
              <a:ext uri="{FF2B5EF4-FFF2-40B4-BE49-F238E27FC236}">
                <a16:creationId xmlns:a16="http://schemas.microsoft.com/office/drawing/2014/main" id="{0873198D-D21C-48B4-BC80-38196B8E9A3D}"/>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운영기관의 정확도 주장과 감사 판단의 차이 존재 · 개별 질의·평가 방식 대조 필요</a:t>
            </a:r>
          </a:p>
        </p:txBody>
      </p:sp>
    </p:spTree>
    <p:extLst>
      <p:ext uri="{BB962C8B-B14F-4D97-AF65-F5344CB8AC3E}">
        <p14:creationId xmlns:p14="http://schemas.microsoft.com/office/powerpoint/2010/main" val="1004914477"/>
      </p:ext>
    </p:extLst>
  </p:cSld>
</p:sld>
</file>

<file path=ppt/slides/slide1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FA8AFC5-EBFB-4865-99AE-6F4715973954}"/>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9750BBC-04EA-469D-8A09-C0C4477560C5}"/>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E761C07-5466-4624-9FA1-88C39BEE1C9C}"/>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A8A47E31-00D2-4AB7-BC12-32BD9D07289E}"/>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C5094C77-96CC-4387-B1D4-0668C4B4233C}"/>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5F660B9-AE50-4ABA-8B38-E1B685B17AEA}"/>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6DC4D4BC-A2A8-4D70-B005-86F1C7A06A5C}"/>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75D5222-95D1-474E-A66B-FEB50ABB0FDD}"/>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AF18DB7-692B-4DB3-8786-BA117EDDDC6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82A8054A-056A-4E1F-BF5E-B09EBA3B03E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지식 갱신·검색·근거 응답</a:t>
            </a:r>
          </a:p>
        </p:txBody>
      </p:sp>
      <p:sp>
        <p:nvSpPr>
          <p:cNvPr id="2" name="">
            <a:extLst xmlns:a="http://schemas.openxmlformats.org/drawingml/2006/main">
              <a:ext uri="{FF2B5EF4-FFF2-40B4-BE49-F238E27FC236}">
                <a16:creationId xmlns:a16="http://schemas.microsoft.com/office/drawing/2014/main" id="{11F9E74B-E01C-4F2C-A18A-865FDE516CD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세부 서비스 구조</a:t>
            </a:r>
          </a:p>
        </p:txBody>
      </p:sp>
      <p:sp>
        <p:nvSpPr>
          <p:cNvPr id="3" name="">
            <a:extLst xmlns:a="http://schemas.openxmlformats.org/drawingml/2006/main">
              <a:ext uri="{FF2B5EF4-FFF2-40B4-BE49-F238E27FC236}">
                <a16:creationId xmlns:a16="http://schemas.microsoft.com/office/drawing/2014/main" id="{F86DFBC6-6436-4F28-9168-07B2AD60434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FD96191-CF97-4A7F-BF89-C5573A933D8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C48939BD-BC15-433F-A4C4-53194E732C8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169</a:t>
            </a:r>
          </a:p>
        </p:txBody>
      </p:sp>
      <p:sp>
        <p:nvSpPr>
          <p:cNvPr id="6" name="">
            <a:extLst xmlns:a="http://schemas.openxmlformats.org/drawingml/2006/main">
              <a:ext uri="{FF2B5EF4-FFF2-40B4-BE49-F238E27FC236}">
                <a16:creationId xmlns:a16="http://schemas.microsoft.com/office/drawing/2014/main" id="{BE3E9A9E-CF57-4CA4-8310-A2E83B55F39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공공 안내 자료 → AI 챗봇 → 사업자 안내 → 감사·개선 요청</a:t>
            </a:r>
          </a:p>
        </p:txBody>
      </p:sp>
      <p:sp>
        <p:nvSpPr>
          <p:cNvPr id="7" name="">
            <a:extLst xmlns:a="http://schemas.openxmlformats.org/drawingml/2006/main">
              <a:ext uri="{FF2B5EF4-FFF2-40B4-BE49-F238E27FC236}">
                <a16:creationId xmlns:a16="http://schemas.microsoft.com/office/drawing/2014/main" id="{B2FAD553-6C59-4ED4-AE8C-EB3DEE6634B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FFEAE04-DA72-49F1-8F96-30DDBE41747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00A259D2-7F47-46BD-8336-15ADF9C12B01}"/>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정책·서비스 목록</a:t>
            </a:r>
          </a:p>
        </p:txBody>
      </p:sp>
      <p:sp>
        <p:nvSpPr>
          <p:cNvPr id="10" name="">
            <a:extLst xmlns:a="http://schemas.openxmlformats.org/drawingml/2006/main">
              <a:ext uri="{FF2B5EF4-FFF2-40B4-BE49-F238E27FC236}">
                <a16:creationId xmlns:a16="http://schemas.microsoft.com/office/drawing/2014/main" id="{D6B2B29E-C27D-4A46-A8ED-5CD6B84738DD}"/>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BA93980-F4D0-4C12-A3E7-BF8FDD84AE3F}"/>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B3B91151-22F4-4488-B01F-170BE22B434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판본·적용조건 정리</a:t>
            </a:r>
          </a:p>
        </p:txBody>
      </p:sp>
      <p:sp>
        <p:nvSpPr>
          <p:cNvPr id="13" name="">
            <a:extLst xmlns:a="http://schemas.openxmlformats.org/drawingml/2006/main">
              <a:ext uri="{FF2B5EF4-FFF2-40B4-BE49-F238E27FC236}">
                <a16:creationId xmlns:a16="http://schemas.microsoft.com/office/drawing/2014/main" id="{F2BA9225-7D8A-48D5-8E61-A2E09FC92580}"/>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E856306-0487-447B-A8F5-FE70E2958DE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85AE6A48-1459-4E47-A593-6BA5C6316892}"/>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안내·회귀시험셋</a:t>
            </a:r>
          </a:p>
        </p:txBody>
      </p:sp>
      <p:sp>
        <p:nvSpPr>
          <p:cNvPr id="16" name="">
            <a:extLst xmlns:a="http://schemas.openxmlformats.org/drawingml/2006/main">
              <a:ext uri="{FF2B5EF4-FFF2-40B4-BE49-F238E27FC236}">
                <a16:creationId xmlns:a16="http://schemas.microsoft.com/office/drawing/2014/main" id="{749E029D-3D67-4754-BC40-1B670DD2EA8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6BC760B-1465-4D6D-8860-1ACA581FBA2B}"/>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5D83FE2C-E88B-4CD3-BCC8-9B0AF767C0A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안내 검색</a:t>
            </a:r>
          </a:p>
        </p:txBody>
      </p:sp>
      <p:sp>
        <p:nvSpPr>
          <p:cNvPr id="19" name="">
            <a:extLst xmlns:a="http://schemas.openxmlformats.org/drawingml/2006/main">
              <a:ext uri="{FF2B5EF4-FFF2-40B4-BE49-F238E27FC236}">
                <a16:creationId xmlns:a16="http://schemas.microsoft.com/office/drawing/2014/main" id="{32022123-2505-4637-8EC1-C49296C2C5B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2530042-9F57-4265-A2D7-3FF1DC57FFA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B93093E3-6A5E-4DAC-8BFA-E06EFA2169CC}"/>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MyCity 질의</a:t>
            </a:r>
          </a:p>
        </p:txBody>
      </p:sp>
      <p:sp>
        <p:nvSpPr>
          <p:cNvPr id="22" name="">
            <a:extLst xmlns:a="http://schemas.openxmlformats.org/drawingml/2006/main">
              <a:ext uri="{FF2B5EF4-FFF2-40B4-BE49-F238E27FC236}">
                <a16:creationId xmlns:a16="http://schemas.microsoft.com/office/drawing/2014/main" id="{0B686497-5785-4F8E-A7C2-CC883F8245D7}"/>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84DDCBB-0A02-46A0-A2DE-6056619F39CD}"/>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8835AE24-22A4-4C3C-8BA7-FA002F7EB1D2}"/>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소관·이용조건</a:t>
            </a:r>
          </a:p>
        </p:txBody>
      </p:sp>
      <p:sp>
        <p:nvSpPr>
          <p:cNvPr id="25" name="">
            <a:extLst xmlns:a="http://schemas.openxmlformats.org/drawingml/2006/main">
              <a:ext uri="{FF2B5EF4-FFF2-40B4-BE49-F238E27FC236}">
                <a16:creationId xmlns:a16="http://schemas.microsoft.com/office/drawing/2014/main" id="{2CBE32A4-A21A-4F2C-91C1-DB4923752072}"/>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72BCECD-368F-411B-9E99-F56242DD474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B3B1E946-5995-4644-92F7-2C0A202FA4B1}"/>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근거형 답변 구성</a:t>
            </a:r>
          </a:p>
        </p:txBody>
      </p:sp>
      <p:sp>
        <p:nvSpPr>
          <p:cNvPr id="28" name="">
            <a:extLst xmlns:a="http://schemas.openxmlformats.org/drawingml/2006/main">
              <a:ext uri="{FF2B5EF4-FFF2-40B4-BE49-F238E27FC236}">
                <a16:creationId xmlns:a16="http://schemas.microsoft.com/office/drawing/2014/main" id="{D929C7AD-15EF-4E9F-B9AB-D14ED9B60CD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FF4699B-40D1-4767-BD35-AF585A774E4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1DCB34BD-8DF1-482F-845A-50D912676C21}"/>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위법·상충 안내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검사</a:t>
            </a:r>
          </a:p>
        </p:txBody>
      </p:sp>
      <p:sp>
        <p:nvSpPr>
          <p:cNvPr id="31" name="">
            <a:extLst xmlns:a="http://schemas.openxmlformats.org/drawingml/2006/main">
              <a:ext uri="{FF2B5EF4-FFF2-40B4-BE49-F238E27FC236}">
                <a16:creationId xmlns:a16="http://schemas.microsoft.com/office/drawing/2014/main" id="{6F1D8146-C6C7-4F9E-AAB6-74C27C626440}"/>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E4F7139-6BED-4F43-A032-3B5C99CC95D6}"/>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44AF25A3-3F00-4F91-9C89-8F04ED993FD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서비스 담당 검토</a:t>
            </a:r>
          </a:p>
        </p:txBody>
      </p:sp>
      <p:sp>
        <p:nvSpPr>
          <p:cNvPr id="34" name="">
            <a:extLst xmlns:a="http://schemas.openxmlformats.org/drawingml/2006/main">
              <a:ext uri="{FF2B5EF4-FFF2-40B4-BE49-F238E27FC236}">
                <a16:creationId xmlns:a16="http://schemas.microsoft.com/office/drawing/2014/main" id="{B4FEE3CD-40F4-42EF-9A56-FF5F06AE1386}"/>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856F4DF-1FD7-405D-AF46-988DB122853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782A70F8-C1B2-4DEE-93DA-CD915E48B11F}"/>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경로 안내</a:t>
            </a:r>
          </a:p>
        </p:txBody>
      </p:sp>
      <p:sp>
        <p:nvSpPr>
          <p:cNvPr id="46" name="">
            <a:extLst xmlns:a="http://schemas.openxmlformats.org/drawingml/2006/main">
              <a:ext uri="{FF2B5EF4-FFF2-40B4-BE49-F238E27FC236}">
                <a16:creationId xmlns:a16="http://schemas.microsoft.com/office/drawing/2014/main" id="{29734FB2-BFE4-43DC-8A34-505B796C522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421918488"/>
      </p:ext>
    </p:extLst>
  </p:cSld>
</p:sld>
</file>

<file path=ppt/slides/slide1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ABC976D-B9E5-48E3-9873-1D3402E3A37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논리 인터페이스·복구 설계</a:t>
            </a:r>
          </a:p>
        </p:txBody>
      </p:sp>
      <p:sp>
        <p:nvSpPr>
          <p:cNvPr id="2" name="">
            <a:extLst xmlns:a="http://schemas.openxmlformats.org/drawingml/2006/main">
              <a:ext uri="{FF2B5EF4-FFF2-40B4-BE49-F238E27FC236}">
                <a16:creationId xmlns:a16="http://schemas.microsoft.com/office/drawing/2014/main" id="{8942A163-134F-445B-AB5E-2E67CA2582E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데이터와 예외 처리</a:t>
            </a:r>
          </a:p>
        </p:txBody>
      </p:sp>
      <p:sp>
        <p:nvSpPr>
          <p:cNvPr id="3" name="">
            <a:extLst xmlns:a="http://schemas.openxmlformats.org/drawingml/2006/main">
              <a:ext uri="{FF2B5EF4-FFF2-40B4-BE49-F238E27FC236}">
                <a16:creationId xmlns:a16="http://schemas.microsoft.com/office/drawing/2014/main" id="{FB39C0C7-0F84-439C-BAB4-E4EFE189C2B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F4B8900-91D5-41DE-AD41-FFAAB50F27E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43D42B3D-4786-41FB-AF5E-17DC2BBC337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170</a:t>
            </a:r>
          </a:p>
        </p:txBody>
      </p:sp>
      <p:sp>
        <p:nvSpPr>
          <p:cNvPr id="6" name="">
            <a:extLst xmlns:a="http://schemas.openxmlformats.org/drawingml/2006/main">
              <a:ext uri="{FF2B5EF4-FFF2-40B4-BE49-F238E27FC236}">
                <a16:creationId xmlns:a16="http://schemas.microsoft.com/office/drawing/2014/main" id="{93DC24F6-D61A-49DD-B2BA-3979239D339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B0F20C11-A008-4B9A-B524-46422756D0E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297B34D-06B1-47EC-9462-0702B5C65C6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C9A36FE5-4AA8-4190-8653-C9884E47C06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안내·응답·평가 기록</a:t>
            </a:r>
          </a:p>
        </p:txBody>
      </p:sp>
      <p:sp>
        <p:nvSpPr>
          <p:cNvPr id="10" name="">
            <a:extLst xmlns:a="http://schemas.openxmlformats.org/drawingml/2006/main">
              <a:ext uri="{FF2B5EF4-FFF2-40B4-BE49-F238E27FC236}">
                <a16:creationId xmlns:a16="http://schemas.microsoft.com/office/drawing/2014/main" id="{E56E911F-6D5B-4A03-A1E9-9F812B0F755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4E96D0-0765-41F3-B771-1178CBB2241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B2918AAB-7C49-448B-8D45-4C47157559B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576C0EC8-2E5E-4612-83AD-9598E633AE4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ACED1A5-A35C-452A-B5C8-2D074BF8880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0F9B33B-F592-4191-8094-3494B83EC2E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업무와 공식 소관·이용조건 식별</a:t>
            </a:r>
          </a:p>
        </p:txBody>
      </p:sp>
      <p:sp>
        <p:nvSpPr>
          <p:cNvPr id="16" name="">
            <a:extLst xmlns:a="http://schemas.openxmlformats.org/drawingml/2006/main">
              <a:ext uri="{FF2B5EF4-FFF2-40B4-BE49-F238E27FC236}">
                <a16:creationId xmlns:a16="http://schemas.microsoft.com/office/drawing/2014/main" id="{A2D060BC-AF74-4F30-A4E0-3E2D1D53A4B5}"/>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BA48CEA-80AD-463A-839A-BB43DFA0297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12BC1C9C-E29A-40F1-BD3D-E9EEEEEB42BD}"/>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질문별 정답·변형 질의 일관성·실제 서비스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도달 기록</a:t>
            </a:r>
          </a:p>
        </p:txBody>
      </p:sp>
      <p:sp>
        <p:nvSpPr>
          <p:cNvPr id="19" name="">
            <a:extLst xmlns:a="http://schemas.openxmlformats.org/drawingml/2006/main">
              <a:ext uri="{FF2B5EF4-FFF2-40B4-BE49-F238E27FC236}">
                <a16:creationId xmlns:a16="http://schemas.microsoft.com/office/drawing/2014/main" id="{E4CC81E9-E2C6-422F-879E-9A169536ABE7}"/>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14803FE-7F48-475B-993A-261A50063A5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08B9A336-3639-4CEB-8D4A-681883C90AD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 지식</a:t>
            </a:r>
          </a:p>
        </p:txBody>
      </p:sp>
      <p:sp>
        <p:nvSpPr>
          <p:cNvPr id="22" name="">
            <a:extLst xmlns:a="http://schemas.openxmlformats.org/drawingml/2006/main">
              <a:ext uri="{FF2B5EF4-FFF2-40B4-BE49-F238E27FC236}">
                <a16:creationId xmlns:a16="http://schemas.microsoft.com/office/drawing/2014/main" id="{E90A50A2-7AD7-4574-AC37-954F393EA47B}"/>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D8CBC74-FC6F-4075-8065-A3E0CC11848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86F99BB5-50D8-4A54-8295-706C131AD2F5}"/>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챗봇 답변</a:t>
            </a:r>
          </a:p>
        </p:txBody>
      </p:sp>
      <p:sp>
        <p:nvSpPr>
          <p:cNvPr id="25" name="">
            <a:extLst xmlns:a="http://schemas.openxmlformats.org/drawingml/2006/main">
              <a:ext uri="{FF2B5EF4-FFF2-40B4-BE49-F238E27FC236}">
                <a16:creationId xmlns:a16="http://schemas.microsoft.com/office/drawing/2014/main" id="{6FCD4A7F-AEAC-4464-9DB1-9C93DDFC939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3DEB9CC0-B417-4FD0-9525-2203175BC9DD}"/>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 표현 변경·상충 규정·폐지된 서비스</a:t>
            </a:r>
          </a:p>
        </p:txBody>
      </p:sp>
      <p:sp>
        <p:nvSpPr>
          <p:cNvPr id="27" name="">
            <a:extLst xmlns:a="http://schemas.openxmlformats.org/drawingml/2006/main">
              <a:ext uri="{FF2B5EF4-FFF2-40B4-BE49-F238E27FC236}">
                <a16:creationId xmlns:a16="http://schemas.microsoft.com/office/drawing/2014/main" id="{9C836EC2-CB5A-47F7-A3FB-998A9749CEF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C53ACE6-B3F4-4150-95F1-1691248E92C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감사 지적과 기관 반론의 근거별 추적</a:t>
            </a:r>
          </a:p>
        </p:txBody>
      </p:sp>
      <p:sp>
        <p:nvSpPr>
          <p:cNvPr id="29" name="">
            <a:extLst xmlns:a="http://schemas.openxmlformats.org/drawingml/2006/main">
              <a:ext uri="{FF2B5EF4-FFF2-40B4-BE49-F238E27FC236}">
                <a16:creationId xmlns:a16="http://schemas.microsoft.com/office/drawing/2014/main" id="{08200301-3402-4001-A045-31E01141677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999F98B-2BE1-464D-9166-FF555D1C9D1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회귀시험·오답 보완·계약 산출물의 대사</a:t>
            </a:r>
          </a:p>
        </p:txBody>
      </p:sp>
      <p:sp>
        <p:nvSpPr>
          <p:cNvPr id="31" name="">
            <a:extLst xmlns:a="http://schemas.openxmlformats.org/drawingml/2006/main">
              <a:ext uri="{FF2B5EF4-FFF2-40B4-BE49-F238E27FC236}">
                <a16:creationId xmlns:a16="http://schemas.microsoft.com/office/drawing/2014/main" id="{462F83AE-5A02-4E83-A8AD-35AAACCED1B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A4FBEA0-BD5B-40DA-9A50-93005C6D54C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질문별 정답·변형 질의 일관성·실제 서비스 도달 기록</a:t>
            </a:r>
          </a:p>
        </p:txBody>
      </p:sp>
    </p:spTree>
    <p:extLst>
      <p:ext uri="{BB962C8B-B14F-4D97-AF65-F5344CB8AC3E}">
        <p14:creationId xmlns:p14="http://schemas.microsoft.com/office/powerpoint/2010/main" val="361660917"/>
      </p:ext>
    </p:extLst>
  </p:cSld>
</p:sld>
</file>

<file path=ppt/slides/slide1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6A70AEB-E979-4B15-BD6F-37CBD72B665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PF31 / CCK 비교·재현 시험 설계</a:t>
            </a:r>
          </a:p>
        </p:txBody>
      </p:sp>
      <p:sp>
        <p:nvSpPr>
          <p:cNvPr id="2" name="">
            <a:extLst xmlns:a="http://schemas.openxmlformats.org/drawingml/2006/main">
              <a:ext uri="{FF2B5EF4-FFF2-40B4-BE49-F238E27FC236}">
                <a16:creationId xmlns:a16="http://schemas.microsoft.com/office/drawing/2014/main" id="{C25752FB-2B95-4ABB-AB14-DB4869C1011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벤치마킹</a:t>
            </a:r>
          </a:p>
        </p:txBody>
      </p:sp>
      <p:sp>
        <p:nvSpPr>
          <p:cNvPr id="3" name="">
            <a:extLst xmlns:a="http://schemas.openxmlformats.org/drawingml/2006/main">
              <a:ext uri="{FF2B5EF4-FFF2-40B4-BE49-F238E27FC236}">
                <a16:creationId xmlns:a16="http://schemas.microsoft.com/office/drawing/2014/main" id="{E2FF0188-94C8-4B9A-94E9-0160DE5B606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B350E84-9223-4978-9642-E82BE0E987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015FB02B-8546-4576-9497-E8DC3F8BBC1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171</a:t>
            </a:r>
          </a:p>
        </p:txBody>
      </p:sp>
      <p:sp>
        <p:nvSpPr>
          <p:cNvPr id="6" name="">
            <a:extLst xmlns:a="http://schemas.openxmlformats.org/drawingml/2006/main">
              <a:ext uri="{FF2B5EF4-FFF2-40B4-BE49-F238E27FC236}">
                <a16:creationId xmlns:a16="http://schemas.microsoft.com/office/drawing/2014/main" id="{2E194061-27EE-4AD5-900F-141B28A4E430}"/>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FCB763CC-387B-4749-8A2B-BE8DD24BA49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통합 서비스의 완료조건 정의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응답 품질·계약 증빙의 독립 검토</a:t>
            </a:r>
          </a:p>
        </p:txBody>
      </p:sp>
      <p:sp>
        <p:nvSpPr>
          <p:cNvPr id="8" name="">
            <a:extLst xmlns:a="http://schemas.openxmlformats.org/drawingml/2006/main">
              <a:ext uri="{FF2B5EF4-FFF2-40B4-BE49-F238E27FC236}">
                <a16:creationId xmlns:a16="http://schemas.microsoft.com/office/drawing/2014/main" id="{5B493451-4EAD-4F44-ABCD-A96EC251D140}"/>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C51CBD4D-4D06-4992-ADF1-3E4C9A9EC55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감사에서 지적된 비일관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사업계획·계약 감독·서비스 통합의 미비</a:t>
            </a:r>
          </a:p>
        </p:txBody>
      </p:sp>
      <p:sp>
        <p:nvSpPr>
          <p:cNvPr id="10" name="">
            <a:extLst xmlns:a="http://schemas.openxmlformats.org/drawingml/2006/main">
              <a:ext uri="{FF2B5EF4-FFF2-40B4-BE49-F238E27FC236}">
                <a16:creationId xmlns:a16="http://schemas.microsoft.com/office/drawing/2014/main" id="{6C74F3DE-E97F-4F3E-B049-EA928B1754FB}"/>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DA73D5C-723C-4E05-B9E5-53A5F04CB17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감사 지적과 기관 반론의 근거별 추적</a:t>
            </a:r>
          </a:p>
        </p:txBody>
      </p:sp>
      <p:sp>
        <p:nvSpPr>
          <p:cNvPr id="12" name="">
            <a:extLst xmlns:a="http://schemas.openxmlformats.org/drawingml/2006/main">
              <a:ext uri="{FF2B5EF4-FFF2-40B4-BE49-F238E27FC236}">
                <a16:creationId xmlns:a16="http://schemas.microsoft.com/office/drawing/2014/main" id="{8D5AB622-A0B0-461A-910A-BB2EED7419D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AEA99A4-0B20-4987-96AB-90569C0883D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사업자가 허가 조건을 질문해 공식 안내로 이동</a:t>
            </a:r>
          </a:p>
        </p:txBody>
      </p:sp>
      <p:sp>
        <p:nvSpPr>
          <p:cNvPr id="14" name="">
            <a:extLst xmlns:a="http://schemas.openxmlformats.org/drawingml/2006/main">
              <a:ext uri="{FF2B5EF4-FFF2-40B4-BE49-F238E27FC236}">
                <a16:creationId xmlns:a16="http://schemas.microsoft.com/office/drawing/2014/main" id="{7DCDA3DE-F8AB-47E4-9199-1DDE7AE8D3D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DB3DCACE-1EDC-4723-98C1-8B15A89995A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질문 표현 변경·상충 규정·폐지된 서비스</a:t>
            </a:r>
          </a:p>
        </p:txBody>
      </p:sp>
      <p:sp>
        <p:nvSpPr>
          <p:cNvPr id="16" name="">
            <a:extLst xmlns:a="http://schemas.openxmlformats.org/drawingml/2006/main">
              <a:ext uri="{FF2B5EF4-FFF2-40B4-BE49-F238E27FC236}">
                <a16:creationId xmlns:a16="http://schemas.microsoft.com/office/drawing/2014/main" id="{7F7A3BA6-5ABB-458A-88FE-17375EFB7450}"/>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4D46C31A-DDCA-4A95-BC16-67F722A01B3E}"/>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질문별 정답·변형 질의 일관성·실제 서비스 도달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921398510"/>
      </p:ext>
    </p:extLst>
  </p:cSld>
</p:sld>
</file>

<file path=ppt/slides/slide1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0973790-0259-4E17-9422-16DE525F1DE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4CAE1B80-DE3E-4CCF-BE8E-720CE60D939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827031EF-9250-4D17-908F-E3B93E0EE53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9DA04FA-16AE-429F-B695-5D2D38A6BFF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7EA1B26E-CC3A-42D4-91BF-7A82B535A2B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172</a:t>
            </a:r>
          </a:p>
        </p:txBody>
      </p:sp>
      <p:sp>
        <p:nvSpPr>
          <p:cNvPr id="6" name="">
            <a:extLst xmlns:a="http://schemas.openxmlformats.org/drawingml/2006/main">
              <a:ext uri="{FF2B5EF4-FFF2-40B4-BE49-F238E27FC236}">
                <a16:creationId xmlns:a16="http://schemas.microsoft.com/office/drawing/2014/main" id="{A576E82D-FE51-407C-8840-CE15F77E17F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72A9631A-FFCF-4490-9DA8-414350ACF958}"/>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0CBFD1-B5DB-4BA4-B382-F4500292C4DF}"/>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AI미래전략실</a:t>
            </a:r>
          </a:p>
        </p:txBody>
      </p:sp>
      <p:sp>
        <p:nvSpPr>
          <p:cNvPr id="9" name="">
            <a:extLst xmlns:a="http://schemas.openxmlformats.org/drawingml/2006/main">
              <a:ext uri="{FF2B5EF4-FFF2-40B4-BE49-F238E27FC236}">
                <a16:creationId xmlns:a16="http://schemas.microsoft.com/office/drawing/2014/main" id="{CD689C93-B5D2-4C8F-A8B4-1DD429198EEB}"/>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전략·윤리</a:t>
            </a:r>
          </a:p>
        </p:txBody>
      </p:sp>
      <p:sp>
        <p:nvSpPr>
          <p:cNvPr id="10" name="">
            <a:extLst xmlns:a="http://schemas.openxmlformats.org/drawingml/2006/main">
              <a:ext uri="{FF2B5EF4-FFF2-40B4-BE49-F238E27FC236}">
                <a16:creationId xmlns:a16="http://schemas.microsoft.com/office/drawing/2014/main" id="{47A770FE-20AF-4F52-A2BE-BDF181647C0B}"/>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인공지능(AI) 전환 전략 수립․조정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인공지능(AI) 제도 및 지침, 윤리기준 관리</a:t>
            </a:r>
          </a:p>
        </p:txBody>
      </p:sp>
      <p:sp>
        <p:nvSpPr>
          <p:cNvPr id="11" name="">
            <a:extLst xmlns:a="http://schemas.openxmlformats.org/drawingml/2006/main">
              <a:ext uri="{FF2B5EF4-FFF2-40B4-BE49-F238E27FC236}">
                <a16:creationId xmlns:a16="http://schemas.microsoft.com/office/drawing/2014/main" id="{94B25794-A7C5-4909-9B08-3C2EF70BBA5C}"/>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4B57C91-2CE4-4250-B85E-0DFC9BB25037}"/>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13" name="">
            <a:extLst xmlns:a="http://schemas.openxmlformats.org/drawingml/2006/main">
              <a:ext uri="{FF2B5EF4-FFF2-40B4-BE49-F238E27FC236}">
                <a16:creationId xmlns:a16="http://schemas.microsoft.com/office/drawing/2014/main" id="{2A3DDC2B-B321-430E-B939-68889CE08EC5}"/>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사업 조정·데이터 표준</a:t>
            </a:r>
          </a:p>
        </p:txBody>
      </p:sp>
      <p:sp>
        <p:nvSpPr>
          <p:cNvPr id="14" name="">
            <a:extLst xmlns:a="http://schemas.openxmlformats.org/drawingml/2006/main">
              <a:ext uri="{FF2B5EF4-FFF2-40B4-BE49-F238E27FC236}">
                <a16:creationId xmlns:a16="http://schemas.microsoft.com/office/drawing/2014/main" id="{71785698-E713-43F5-B376-B854E6A4C62C}"/>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활용 서비스 구축 지원 및 성과관리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p:txBody>
      </p:sp>
      <p:sp>
        <p:nvSpPr>
          <p:cNvPr id="15" name="">
            <a:extLst xmlns:a="http://schemas.openxmlformats.org/drawingml/2006/main">
              <a:ext uri="{FF2B5EF4-FFF2-40B4-BE49-F238E27FC236}">
                <a16:creationId xmlns:a16="http://schemas.microsoft.com/office/drawing/2014/main" id="{86ABF733-C998-420B-8570-B0BBD1857260}"/>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86E5141-4DF7-4D48-BB73-8B2A65BF0891}"/>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AI서비스개발팀</a:t>
            </a:r>
          </a:p>
        </p:txBody>
      </p:sp>
      <p:sp>
        <p:nvSpPr>
          <p:cNvPr id="17" name="">
            <a:extLst xmlns:a="http://schemas.openxmlformats.org/drawingml/2006/main">
              <a:ext uri="{FF2B5EF4-FFF2-40B4-BE49-F238E27FC236}">
                <a16:creationId xmlns:a16="http://schemas.microsoft.com/office/drawing/2014/main" id="{F69EFF0C-AA7E-4561-85F0-690B7AA6C69E}"/>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공통플랫폼·모델 품질</a:t>
            </a:r>
          </a:p>
        </p:txBody>
      </p:sp>
      <p:sp>
        <p:nvSpPr>
          <p:cNvPr id="18" name="">
            <a:extLst xmlns:a="http://schemas.openxmlformats.org/drawingml/2006/main">
              <a:ext uri="{FF2B5EF4-FFF2-40B4-BE49-F238E27FC236}">
                <a16:creationId xmlns:a16="http://schemas.microsoft.com/office/drawing/2014/main" id="{5DBAA9CF-E91F-4C5D-8BF8-D5A6C976933D}"/>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공통플랫폼 구축․운영 인공지능(AI) 모델 고도화․품질관리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인공지능(AI) 시범 서비스(PoC) 추진</a:t>
            </a:r>
          </a:p>
        </p:txBody>
      </p:sp>
      <p:sp>
        <p:nvSpPr>
          <p:cNvPr id="19" name="">
            <a:extLst xmlns:a="http://schemas.openxmlformats.org/drawingml/2006/main">
              <a:ext uri="{FF2B5EF4-FFF2-40B4-BE49-F238E27FC236}">
                <a16:creationId xmlns:a16="http://schemas.microsoft.com/office/drawing/2014/main" id="{80ADD996-85FE-4616-A0A1-991B9C44C878}"/>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EA9BBD0-CE15-42F2-9E1C-B14A06C52182}"/>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21" name="">
            <a:extLst xmlns:a="http://schemas.openxmlformats.org/drawingml/2006/main">
              <a:ext uri="{FF2B5EF4-FFF2-40B4-BE49-F238E27FC236}">
                <a16:creationId xmlns:a16="http://schemas.microsoft.com/office/drawing/2014/main" id="{6714D4A5-0B96-4599-A8EC-76AEBB47C1B4}"/>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조직·분장·전결 관리</a:t>
            </a:r>
          </a:p>
        </p:txBody>
      </p:sp>
      <p:sp>
        <p:nvSpPr>
          <p:cNvPr id="22" name="">
            <a:extLst xmlns:a="http://schemas.openxmlformats.org/drawingml/2006/main">
              <a:ext uri="{FF2B5EF4-FFF2-40B4-BE49-F238E27FC236}">
                <a16:creationId xmlns:a16="http://schemas.microsoft.com/office/drawing/2014/main" id="{B0BC8D80-E7FA-4BB1-979A-6D81598A33D3}"/>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조직 및 정원관리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위임전결에 관한 사항</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업무분장 조정‧관리</a:t>
            </a:r>
          </a:p>
        </p:txBody>
      </p:sp>
      <p:sp>
        <p:nvSpPr>
          <p:cNvPr id="23" name="">
            <a:extLst xmlns:a="http://schemas.openxmlformats.org/drawingml/2006/main">
              <a:ext uri="{FF2B5EF4-FFF2-40B4-BE49-F238E27FC236}">
                <a16:creationId xmlns:a16="http://schemas.microsoft.com/office/drawing/2014/main" id="{120C3397-034F-4822-874B-CEF8404E3C28}"/>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736918152"/>
      </p:ext>
    </p:extLst>
  </p:cSld>
</p:sld>
</file>

<file path=ppt/slides/slide1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34D611E-AC06-4763-B22B-AB35247E787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22D1FDB1-AEFD-4508-B04B-1573CEDF601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0B1F347D-F78F-4035-ADA1-585CD42DE6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9C8101-A28C-4B3B-886E-6B35E591353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3C70A59A-9418-4110-972C-EBFF1BC6705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173</a:t>
            </a:r>
          </a:p>
        </p:txBody>
      </p:sp>
      <p:sp>
        <p:nvSpPr>
          <p:cNvPr id="6" name="">
            <a:extLst xmlns:a="http://schemas.openxmlformats.org/drawingml/2006/main">
              <a:ext uri="{FF2B5EF4-FFF2-40B4-BE49-F238E27FC236}">
                <a16:creationId xmlns:a16="http://schemas.microsoft.com/office/drawing/2014/main" id="{4850B393-C8FB-4A0C-B586-8F55A8DBB2A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2EAC07E8-864F-4562-839B-39B401D363A3}"/>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176F344-AE7F-4DCC-88FB-FDB8DB0C7D44}"/>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75D5E927-FD33-4A5F-9F80-D12942959F48}"/>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발령·인사정보 관리</a:t>
            </a:r>
          </a:p>
        </p:txBody>
      </p:sp>
      <p:sp>
        <p:nvSpPr>
          <p:cNvPr id="10" name="">
            <a:extLst xmlns:a="http://schemas.openxmlformats.org/drawingml/2006/main">
              <a:ext uri="{FF2B5EF4-FFF2-40B4-BE49-F238E27FC236}">
                <a16:creationId xmlns:a16="http://schemas.microsoft.com/office/drawing/2014/main" id="{57541DFA-A06F-493E-AEE7-B725FA6CAFC8}"/>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인사통계자료․인사정보 관리 및 인사 관련 제증명 발급</a:t>
            </a:r>
          </a:p>
        </p:txBody>
      </p:sp>
      <p:sp>
        <p:nvSpPr>
          <p:cNvPr id="11" name="">
            <a:extLst xmlns:a="http://schemas.openxmlformats.org/drawingml/2006/main">
              <a:ext uri="{FF2B5EF4-FFF2-40B4-BE49-F238E27FC236}">
                <a16:creationId xmlns:a16="http://schemas.microsoft.com/office/drawing/2014/main" id="{EC5FF319-EC9B-4CF5-B67F-883C79539915}"/>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342C76E-0DBD-4A3B-B882-AA3C019C38D5}"/>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BE8FC931-AA30-4649-ADAC-DC1A852E944D}"/>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정보화·데이터 품질</a:t>
            </a:r>
          </a:p>
        </p:txBody>
      </p:sp>
      <p:sp>
        <p:nvSpPr>
          <p:cNvPr id="14" name="">
            <a:extLst xmlns:a="http://schemas.openxmlformats.org/drawingml/2006/main">
              <a:ext uri="{FF2B5EF4-FFF2-40B4-BE49-F238E27FC236}">
                <a16:creationId xmlns:a16="http://schemas.microsoft.com/office/drawing/2014/main" id="{7CD8C811-5B1D-469D-8524-5EFE5AA5DEF8}"/>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정보화사업 사전검토(과업지시서 등) 및 시스템 구축 지원(기술분야)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16D36A6E-D9CE-4EA8-BF5F-27353A7AC85B}"/>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619340E-6861-4947-BD1D-73F5E91CA168}"/>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9E21D1A0-5C3E-45E7-BF78-155C63012C9D}"/>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보안·개인정보 관리</a:t>
            </a:r>
          </a:p>
        </p:txBody>
      </p:sp>
      <p:sp>
        <p:nvSpPr>
          <p:cNvPr id="18" name="">
            <a:extLst xmlns:a="http://schemas.openxmlformats.org/drawingml/2006/main">
              <a:ext uri="{FF2B5EF4-FFF2-40B4-BE49-F238E27FC236}">
                <a16:creationId xmlns:a16="http://schemas.microsoft.com/office/drawing/2014/main" id="{AC7C8E9D-895D-40E1-969B-3875B6C4CFAD}"/>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정보보안 업무총괄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8888E5A3-B725-47B7-A9A9-D5FBA573CC7F}"/>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374623886"/>
      </p:ext>
    </p:extLst>
  </p:cSld>
</p:sld>
</file>

<file path=ppt/slides/slide1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308FFB3-069A-4E2F-8811-0CBA8A2F66C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CCK 재사용·추가 개발·검수·기대효과</a:t>
            </a:r>
          </a:p>
        </p:txBody>
      </p:sp>
      <p:sp>
        <p:nvSpPr>
          <p:cNvPr id="2" name="">
            <a:extLst xmlns:a="http://schemas.openxmlformats.org/drawingml/2006/main">
              <a:ext uri="{FF2B5EF4-FFF2-40B4-BE49-F238E27FC236}">
                <a16:creationId xmlns:a16="http://schemas.microsoft.com/office/drawing/2014/main" id="{6BCD607B-AD55-47C0-99E6-CE772AD1E7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A2CBC36A-50E8-45DE-914D-7DC6B4B2D69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9CF86C-F031-4492-9713-FDC63638E61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9364E63B-1128-412C-A06F-6347AD0B041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174</a:t>
            </a:r>
          </a:p>
        </p:txBody>
      </p:sp>
      <p:sp>
        <p:nvSpPr>
          <p:cNvPr id="6" name="">
            <a:extLst xmlns:a="http://schemas.openxmlformats.org/drawingml/2006/main">
              <a:ext uri="{FF2B5EF4-FFF2-40B4-BE49-F238E27FC236}">
                <a16:creationId xmlns:a16="http://schemas.microsoft.com/office/drawing/2014/main" id="{BEBFD1D0-D5D3-477B-8D76-A2A277AA540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C7C13289-B470-44CF-BEB9-C55E81B437FA}"/>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대화·검색·서식·스킬</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D71C4CCA-DF06-4655-BEE5-35D4FB05235D}"/>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F5258315-4415-418A-BB90-FDC1F1AD4ECF}"/>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사람–조직–직무–업무 관계·효력일 모델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업무 분류기·검색 전 정책 집행 연결</a:t>
            </a:r>
          </a:p>
        </p:txBody>
      </p:sp>
      <p:sp>
        <p:nvSpPr>
          <p:cNvPr id="10" name="">
            <a:extLst xmlns:a="http://schemas.openxmlformats.org/drawingml/2006/main">
              <a:ext uri="{FF2B5EF4-FFF2-40B4-BE49-F238E27FC236}">
                <a16:creationId xmlns:a16="http://schemas.microsoft.com/office/drawing/2014/main" id="{2DFD6592-4513-4B31-98D9-EE1814B51F36}"/>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10AD17A9-2C7A-4EAA-8AA7-38A0BC63B0FB}"/>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맥락 입력·부서 간 오인계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직무·업무 분류 정답 건수 ÷ 평가 건수 / 변경 전파 지연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 비인가 노출 건수</a:t>
            </a:r>
          </a:p>
        </p:txBody>
      </p:sp>
      <p:sp>
        <p:nvSpPr>
          <p:cNvPr id="12" name="">
            <a:extLst xmlns:a="http://schemas.openxmlformats.org/drawingml/2006/main">
              <a:ext uri="{FF2B5EF4-FFF2-40B4-BE49-F238E27FC236}">
                <a16:creationId xmlns:a16="http://schemas.microsoft.com/office/drawing/2014/main" id="{7002B191-6D32-49FC-AF8C-1B6879FE658D}"/>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6CC216F8-E22A-47E5-8853-E6B8BB2FBC4A}"/>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동명이인·겸직·전보·회수 전후 동일 요청</a:t>
            </a:r>
          </a:p>
        </p:txBody>
      </p:sp>
      <p:sp>
        <p:nvSpPr>
          <p:cNvPr id="14" name="">
            <a:extLst xmlns:a="http://schemas.openxmlformats.org/drawingml/2006/main">
              <a:ext uri="{FF2B5EF4-FFF2-40B4-BE49-F238E27FC236}">
                <a16:creationId xmlns:a16="http://schemas.microsoft.com/office/drawing/2014/main" id="{F1337A83-BA8F-44D4-9E93-6DF77EA18096}"/>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152B8261-84D2-4A47-B834-AB7A7CD39063}"/>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정답 조직·업무·서식 일치, 모호한 식별 보류, 비인가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노출·실행 0건 기준안</a:t>
            </a:r>
          </a:p>
        </p:txBody>
      </p:sp>
      <p:sp>
        <p:nvSpPr>
          <p:cNvPr id="16" name="">
            <a:extLst xmlns:a="http://schemas.openxmlformats.org/drawingml/2006/main">
              <a:ext uri="{FF2B5EF4-FFF2-40B4-BE49-F238E27FC236}">
                <a16:creationId xmlns:a16="http://schemas.microsoft.com/office/drawing/2014/main" id="{640F6EAD-AE4D-453F-9640-CEBE0AA788FE}"/>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D2DA2DF-A7D7-4443-BFAC-74B859913205}"/>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 매핑 정답셋·교차권한 결과·변경 전파·복구 기록</a:t>
            </a:r>
          </a:p>
        </p:txBody>
      </p:sp>
      <p:sp>
        <p:nvSpPr>
          <p:cNvPr id="18" name="">
            <a:extLst xmlns:a="http://schemas.openxmlformats.org/drawingml/2006/main">
              <a:ext uri="{FF2B5EF4-FFF2-40B4-BE49-F238E27FC236}">
                <a16:creationId xmlns:a16="http://schemas.microsoft.com/office/drawing/2014/main" id="{28D44F8A-39DD-415A-94A5-7AAC95CCB046}"/>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BM-ST-04-R01 / BM-ST-04-T01</a:t>
            </a:r>
          </a:p>
        </p:txBody>
      </p:sp>
      <p:sp>
        <p:nvSpPr>
          <p:cNvPr id="19" name="">
            <a:extLst xmlns:a="http://schemas.openxmlformats.org/drawingml/2006/main">
              <a:ext uri="{FF2B5EF4-FFF2-40B4-BE49-F238E27FC236}">
                <a16:creationId xmlns:a16="http://schemas.microsoft.com/office/drawing/2014/main" id="{CCB86C71-ADD8-4008-900B-BFB1C28D7DA8}"/>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773380031"/>
      </p:ext>
    </p:extLst>
  </p:cSld>
</p:sld>
</file>

<file path=ppt/slides/slide1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2FCF053-8700-4680-860F-FFFC968695C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12대 전략 / 공통 기반 인수 후 업무 특화</a:t>
            </a:r>
          </a:p>
        </p:txBody>
      </p:sp>
      <p:sp>
        <p:nvSpPr>
          <p:cNvPr id="2" name="">
            <a:extLst xmlns:a="http://schemas.openxmlformats.org/drawingml/2006/main">
              <a:ext uri="{FF2B5EF4-FFF2-40B4-BE49-F238E27FC236}">
                <a16:creationId xmlns:a16="http://schemas.microsoft.com/office/drawing/2014/main" id="{48A4081A-7D3F-4158-88DC-67506D0772E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부서별 후속 적용의 연결</a:t>
            </a:r>
          </a:p>
        </p:txBody>
      </p:sp>
      <p:sp>
        <p:nvSpPr>
          <p:cNvPr id="3" name="">
            <a:extLst xmlns:a="http://schemas.openxmlformats.org/drawingml/2006/main">
              <a:ext uri="{FF2B5EF4-FFF2-40B4-BE49-F238E27FC236}">
                <a16:creationId xmlns:a16="http://schemas.microsoft.com/office/drawing/2014/main" id="{A016E0D5-B864-4E22-B569-145F66FEF15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408300-8F62-42DF-8E89-F1BDD4233EC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2026.10.16</a:t>
            </a:r>
          </a:p>
        </p:txBody>
      </p:sp>
      <p:sp>
        <p:nvSpPr>
          <p:cNvPr id="5" name="">
            <a:extLst xmlns:a="http://schemas.openxmlformats.org/drawingml/2006/main">
              <a:ext uri="{FF2B5EF4-FFF2-40B4-BE49-F238E27FC236}">
                <a16:creationId xmlns:a16="http://schemas.microsoft.com/office/drawing/2014/main" id="{1EAC660F-DAFC-4762-8FBB-373199F7FD0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175</a:t>
            </a:r>
          </a:p>
        </p:txBody>
      </p:sp>
      <p:sp>
        <p:nvSpPr>
          <p:cNvPr id="6" name="">
            <a:extLst xmlns:a="http://schemas.openxmlformats.org/drawingml/2006/main">
              <a:ext uri="{FF2B5EF4-FFF2-40B4-BE49-F238E27FC236}">
                <a16:creationId xmlns:a16="http://schemas.microsoft.com/office/drawing/2014/main" id="{EBA09C1E-AD1F-42E1-89E1-889427A70170}"/>
              </a:ext>
            </a:extLst>
          </p:cNvPr>
          <p:cNvSpPr>
            <a:spLocks xmlns:a="http://schemas.openxmlformats.org/drawingml/2006/main" noGrp="1"/>
          </p:cNvSpPr>
          <p:nvPr/>
        </p:nvSpPr>
        <p:spPr>
          <a:xfrm xmlns:a="http://schemas.openxmlformats.org/drawingml/2006/main">
            <a:off x="571500" y="1857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ST-01 지역·취약계층 안전조치 근거 지원</a:t>
            </a:r>
          </a:p>
        </p:txBody>
      </p:sp>
      <p:sp>
        <p:nvSpPr>
          <p:cNvPr id="7" name="">
            <a:extLst xmlns:a="http://schemas.openxmlformats.org/drawingml/2006/main">
              <a:ext uri="{FF2B5EF4-FFF2-40B4-BE49-F238E27FC236}">
                <a16:creationId xmlns:a16="http://schemas.microsoft.com/office/drawing/2014/main" id="{B252DB8D-E42D-4DB2-BFD7-A755DF809CDB}"/>
              </a:ext>
            </a:extLst>
          </p:cNvPr>
          <p:cNvSpPr>
            <a:spLocks xmlns:a="http://schemas.openxmlformats.org/drawingml/2006/main" noGrp="1"/>
          </p:cNvSpPr>
          <p:nvPr/>
        </p:nvSpPr>
        <p:spPr>
          <a:xfrm xmlns:a="http://schemas.openxmlformats.org/drawingml/2006/main">
            <a:off x="571500" y="2524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ST-02 검사·소비자 권익 검토 지원</a:t>
            </a:r>
          </a:p>
        </p:txBody>
      </p:sp>
      <p:sp>
        <p:nvSpPr>
          <p:cNvPr id="8" name="">
            <a:extLst xmlns:a="http://schemas.openxmlformats.org/drawingml/2006/main">
              <a:ext uri="{FF2B5EF4-FFF2-40B4-BE49-F238E27FC236}">
                <a16:creationId xmlns:a16="http://schemas.microsoft.com/office/drawing/2014/main" id="{EE439929-ED6B-41B1-B719-C3BC38EC47BA}"/>
              </a:ext>
            </a:extLst>
          </p:cNvPr>
          <p:cNvSpPr>
            <a:spLocks xmlns:a="http://schemas.openxmlformats.org/drawingml/2006/main" noGrp="1"/>
          </p:cNvSpPr>
          <p:nvPr/>
        </p:nvSpPr>
        <p:spPr>
          <a:xfrm xmlns:a="http://schemas.openxmlformats.org/drawingml/2006/main">
            <a:off x="571500" y="31908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ST-03 중대사고 예방·보고 완전성</a:t>
            </a:r>
          </a:p>
        </p:txBody>
      </p:sp>
      <p:sp>
        <p:nvSpPr>
          <p:cNvPr id="9" name="">
            <a:extLst xmlns:a="http://schemas.openxmlformats.org/drawingml/2006/main">
              <a:ext uri="{FF2B5EF4-FFF2-40B4-BE49-F238E27FC236}">
                <a16:creationId xmlns:a16="http://schemas.microsoft.com/office/drawing/2014/main" id="{0009D68C-121C-44E0-8ABF-98CB342B1DF7}"/>
              </a:ext>
            </a:extLst>
          </p:cNvPr>
          <p:cNvSpPr>
            <a:spLocks xmlns:a="http://schemas.openxmlformats.org/drawingml/2006/main" noGrp="1"/>
          </p:cNvSpPr>
          <p:nvPr/>
        </p:nvSpPr>
        <p:spPr>
          <a:xfrm xmlns:a="http://schemas.openxmlformats.org/drawingml/2006/main">
            <a:off x="571500" y="38576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ST-04 조직 네이티브 공통 기반</a:t>
            </a:r>
          </a:p>
        </p:txBody>
      </p:sp>
      <p:sp>
        <p:nvSpPr>
          <p:cNvPr id="10" name="">
            <a:extLst xmlns:a="http://schemas.openxmlformats.org/drawingml/2006/main">
              <a:ext uri="{FF2B5EF4-FFF2-40B4-BE49-F238E27FC236}">
                <a16:creationId xmlns:a16="http://schemas.microsoft.com/office/drawing/2014/main" id="{3D09CEC6-958D-4183-89A5-0DAF0ACCDC44}"/>
              </a:ext>
            </a:extLst>
          </p:cNvPr>
          <p:cNvSpPr>
            <a:spLocks xmlns:a="http://schemas.openxmlformats.org/drawingml/2006/main" noGrp="1"/>
          </p:cNvSpPr>
          <p:nvPr/>
        </p:nvSpPr>
        <p:spPr>
          <a:xfrm xmlns:a="http://schemas.openxmlformats.org/drawingml/2006/main">
            <a:off x="571500" y="4524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ST-05 모빌리티 실증 증거·안전 검증</a:t>
            </a:r>
          </a:p>
        </p:txBody>
      </p:sp>
      <p:sp>
        <p:nvSpPr>
          <p:cNvPr id="11" name="">
            <a:extLst xmlns:a="http://schemas.openxmlformats.org/drawingml/2006/main">
              <a:ext uri="{FF2B5EF4-FFF2-40B4-BE49-F238E27FC236}">
                <a16:creationId xmlns:a16="http://schemas.microsoft.com/office/drawing/2014/main" id="{DCA7A92D-623E-4347-BF90-1547FD55BDED}"/>
              </a:ext>
            </a:extLst>
          </p:cNvPr>
          <p:cNvSpPr>
            <a:spLocks xmlns:a="http://schemas.openxmlformats.org/drawingml/2006/main" noGrp="1"/>
          </p:cNvSpPr>
          <p:nvPr/>
        </p:nvSpPr>
        <p:spPr>
          <a:xfrm xmlns:a="http://schemas.openxmlformats.org/drawingml/2006/main">
            <a:off x="5715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ST-06 친환경 운행·탄소 검증 지원</a:t>
            </a:r>
          </a:p>
        </p:txBody>
      </p:sp>
      <p:sp>
        <p:nvSpPr>
          <p:cNvPr id="12" name="">
            <a:extLst xmlns:a="http://schemas.openxmlformats.org/drawingml/2006/main">
              <a:ext uri="{FF2B5EF4-FFF2-40B4-BE49-F238E27FC236}">
                <a16:creationId xmlns:a16="http://schemas.microsoft.com/office/drawing/2014/main" id="{472E4281-EA5D-4A9B-BB41-108C14678353}"/>
              </a:ext>
            </a:extLst>
          </p:cNvPr>
          <p:cNvSpPr>
            <a:spLocks xmlns:a="http://schemas.openxmlformats.org/drawingml/2006/main" noGrp="1"/>
          </p:cNvSpPr>
          <p:nvPr/>
        </p:nvSpPr>
        <p:spPr>
          <a:xfrm xmlns:a="http://schemas.openxmlformats.org/drawingml/2006/main">
            <a:off x="6286500" y="1857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ST-07 교통데이터 제공·연계 지원</a:t>
            </a:r>
          </a:p>
        </p:txBody>
      </p:sp>
      <p:sp>
        <p:nvSpPr>
          <p:cNvPr id="13" name="">
            <a:extLst xmlns:a="http://schemas.openxmlformats.org/drawingml/2006/main">
              <a:ext uri="{FF2B5EF4-FFF2-40B4-BE49-F238E27FC236}">
                <a16:creationId xmlns:a16="http://schemas.microsoft.com/office/drawing/2014/main" id="{B736E51F-1F93-499E-B9A2-A887E1B7B122}"/>
              </a:ext>
            </a:extLst>
          </p:cNvPr>
          <p:cNvSpPr>
            <a:spLocks xmlns:a="http://schemas.openxmlformats.org/drawingml/2006/main" noGrp="1"/>
          </p:cNvSpPr>
          <p:nvPr/>
        </p:nvSpPr>
        <p:spPr>
          <a:xfrm xmlns:a="http://schemas.openxmlformats.org/drawingml/2006/main">
            <a:off x="6286500" y="2524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ST-08 자연어·음성 이동 서비스 접점</a:t>
            </a:r>
          </a:p>
        </p:txBody>
      </p:sp>
      <p:sp>
        <p:nvSpPr>
          <p:cNvPr id="14" name="">
            <a:extLst xmlns:a="http://schemas.openxmlformats.org/drawingml/2006/main">
              <a:ext uri="{FF2B5EF4-FFF2-40B4-BE49-F238E27FC236}">
                <a16:creationId xmlns:a16="http://schemas.microsoft.com/office/drawing/2014/main" id="{4C3701F0-2A18-4AC3-B4DD-E45C6EFBD3F4}"/>
              </a:ext>
            </a:extLst>
          </p:cNvPr>
          <p:cNvSpPr>
            <a:spLocks xmlns:a="http://schemas.openxmlformats.org/drawingml/2006/main" noGrp="1"/>
          </p:cNvSpPr>
          <p:nvPr/>
        </p:nvSpPr>
        <p:spPr>
          <a:xfrm xmlns:a="http://schemas.openxmlformats.org/drawingml/2006/main">
            <a:off x="6286500" y="31908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ST-09 지역·산업 지원 검토 근거</a:t>
            </a:r>
          </a:p>
        </p:txBody>
      </p:sp>
      <p:sp>
        <p:nvSpPr>
          <p:cNvPr id="15" name="">
            <a:extLst xmlns:a="http://schemas.openxmlformats.org/drawingml/2006/main">
              <a:ext uri="{FF2B5EF4-FFF2-40B4-BE49-F238E27FC236}">
                <a16:creationId xmlns:a16="http://schemas.microsoft.com/office/drawing/2014/main" id="{02FEB22A-DC31-4FD5-A9BB-3A7CD4ACE5B9}"/>
              </a:ext>
            </a:extLst>
          </p:cNvPr>
          <p:cNvSpPr>
            <a:spLocks xmlns:a="http://schemas.openxmlformats.org/drawingml/2006/main" noGrp="1"/>
          </p:cNvSpPr>
          <p:nvPr/>
        </p:nvSpPr>
        <p:spPr>
          <a:xfrm xmlns:a="http://schemas.openxmlformats.org/drawingml/2006/main">
            <a:off x="6286500" y="38576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ST-10 성과·경영 문서 검토 지원</a:t>
            </a:r>
          </a:p>
        </p:txBody>
      </p:sp>
      <p:sp>
        <p:nvSpPr>
          <p:cNvPr id="16" name="">
            <a:extLst xmlns:a="http://schemas.openxmlformats.org/drawingml/2006/main">
              <a:ext uri="{FF2B5EF4-FFF2-40B4-BE49-F238E27FC236}">
                <a16:creationId xmlns:a16="http://schemas.microsoft.com/office/drawing/2014/main" id="{E2492B58-272E-40BC-98AE-DB94C406015A}"/>
              </a:ext>
            </a:extLst>
          </p:cNvPr>
          <p:cNvSpPr>
            <a:spLocks xmlns:a="http://schemas.openxmlformats.org/drawingml/2006/main" noGrp="1"/>
          </p:cNvSpPr>
          <p:nvPr/>
        </p:nvSpPr>
        <p:spPr>
          <a:xfrm xmlns:a="http://schemas.openxmlformats.org/drawingml/2006/main">
            <a:off x="6286500" y="452437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ST-11 ESG 증빙·공시 검토 지원</a:t>
            </a:r>
          </a:p>
        </p:txBody>
      </p:sp>
      <p:sp>
        <p:nvSpPr>
          <p:cNvPr id="17" name="">
            <a:extLst xmlns:a="http://schemas.openxmlformats.org/drawingml/2006/main">
              <a:ext uri="{FF2B5EF4-FFF2-40B4-BE49-F238E27FC236}">
                <a16:creationId xmlns:a16="http://schemas.microsoft.com/office/drawing/2014/main" id="{201095FB-BC98-4526-8247-E5E223AF2F7A}"/>
              </a:ext>
            </a:extLst>
          </p:cNvPr>
          <p:cNvSpPr>
            <a:spLocks xmlns:a="http://schemas.openxmlformats.org/drawingml/2006/main" noGrp="1"/>
          </p:cNvSpPr>
          <p:nvPr/>
        </p:nvSpPr>
        <p:spPr>
          <a:xfrm xmlns:a="http://schemas.openxmlformats.org/drawingml/2006/main">
            <a:off x="62865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ST-12 조직 협업·참여·공정성 지원</a:t>
            </a:r>
          </a:p>
        </p:txBody>
      </p:sp>
    </p:spTree>
    <p:extLst>
      <p:ext uri="{BB962C8B-B14F-4D97-AF65-F5344CB8AC3E}">
        <p14:creationId xmlns:p14="http://schemas.microsoft.com/office/powerpoint/2010/main" val="10780477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2026-10-16T13:54:31.6260000Z</dcterms:created>
  <dcterms:modified xsi:type="dcterms:W3CDTF">2026-10-16T13:54:31.6260000Z</dcterms:modified>
</coreProperties>
</file>