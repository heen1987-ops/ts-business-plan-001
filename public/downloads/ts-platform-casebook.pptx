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4345e00dc144a0" /><Relationship Type="http://schemas.openxmlformats.org/officeDocument/2006/relationships/extended-properties" Target="/docProps/app.xml" Id="R43e89ef6737e4fa0" /><Relationship Type="http://schemas.openxmlformats.org/officeDocument/2006/relationships/officeDocument" Target="/ppt/presentation.xml" Id="R99f2034bfa964e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9d269f9146421b"/>
  </p:sldMasterIdLst>
  <p:notesMasterIdLst>
    <p:notesMasterId xmlns:r="http://schemas.openxmlformats.org/officeDocument/2006/relationships" r:id="R528354bee8584a4e"/>
  </p:notesMasterIdLst>
  <p:sldIdLst>
    <p:sldId xmlns:r="http://schemas.openxmlformats.org/officeDocument/2006/relationships" id="256" r:id="Radffd532e1a54b5c"/>
    <p:sldId xmlns:r="http://schemas.openxmlformats.org/officeDocument/2006/relationships" id="257" r:id="R46e06b903b8a4da3"/>
    <p:sldId xmlns:r="http://schemas.openxmlformats.org/officeDocument/2006/relationships" id="258" r:id="Rfcc1f3c975a84bcf"/>
    <p:sldId xmlns:r="http://schemas.openxmlformats.org/officeDocument/2006/relationships" id="259" r:id="R75a650cb0baf4f46"/>
    <p:sldId xmlns:r="http://schemas.openxmlformats.org/officeDocument/2006/relationships" id="260" r:id="R3c2419fa34ce430c"/>
    <p:sldId xmlns:r="http://schemas.openxmlformats.org/officeDocument/2006/relationships" id="261" r:id="R598631fadc374a32"/>
    <p:sldId xmlns:r="http://schemas.openxmlformats.org/officeDocument/2006/relationships" id="262" r:id="R7d9d0a4e53d34444"/>
    <p:sldId xmlns:r="http://schemas.openxmlformats.org/officeDocument/2006/relationships" id="263" r:id="R2c45211dc81d4900"/>
    <p:sldId xmlns:r="http://schemas.openxmlformats.org/officeDocument/2006/relationships" id="264" r:id="R8ee637c8b044460c"/>
    <p:sldId xmlns:r="http://schemas.openxmlformats.org/officeDocument/2006/relationships" id="265" r:id="R5c47678cc6fe4468"/>
    <p:sldId xmlns:r="http://schemas.openxmlformats.org/officeDocument/2006/relationships" id="266" r:id="Re3c317769c8d426e"/>
    <p:sldId xmlns:r="http://schemas.openxmlformats.org/officeDocument/2006/relationships" id="267" r:id="R0e1a914663194b4c"/>
    <p:sldId xmlns:r="http://schemas.openxmlformats.org/officeDocument/2006/relationships" id="268" r:id="Rb4db04db4cfa4f5f"/>
    <p:sldId xmlns:r="http://schemas.openxmlformats.org/officeDocument/2006/relationships" id="269" r:id="R8e3ffe39dee0497c"/>
    <p:sldId xmlns:r="http://schemas.openxmlformats.org/officeDocument/2006/relationships" id="270" r:id="R36b94a73c67c48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ab3e32181c4dcf" /><Relationship Type="http://schemas.openxmlformats.org/officeDocument/2006/relationships/slideMaster" Target="/ppt/slideMasters/slideMaster1.xml" Id="Rcd9d269f9146421b" /><Relationship Type="http://schemas.openxmlformats.org/officeDocument/2006/relationships/notesMaster" Target="/ppt/notesMasters/notesMaster1.xml" Id="R528354bee8584a4e" /><Relationship Type="http://schemas.openxmlformats.org/officeDocument/2006/relationships/presProps" Target="/ppt/presProps.xml" Id="R8d092acb25a24f7f" /><Relationship Type="http://schemas.openxmlformats.org/officeDocument/2006/relationships/tableStyles" Target="/ppt/tableStyles.xml" Id="R398548857ba9426d" /><Relationship Type="http://schemas.openxmlformats.org/officeDocument/2006/relationships/slide" Target="/ppt/slides/slide1.xml" Id="Radffd532e1a54b5c" /><Relationship Type="http://schemas.openxmlformats.org/officeDocument/2006/relationships/slide" Target="/ppt/slides/slide2.xml" Id="R46e06b903b8a4da3" /><Relationship Type="http://schemas.openxmlformats.org/officeDocument/2006/relationships/slide" Target="/ppt/slides/slide3.xml" Id="Rfcc1f3c975a84bcf" /><Relationship Type="http://schemas.openxmlformats.org/officeDocument/2006/relationships/slide" Target="/ppt/slides/slide4.xml" Id="R75a650cb0baf4f46" /><Relationship Type="http://schemas.openxmlformats.org/officeDocument/2006/relationships/slide" Target="/ppt/slides/slide5.xml" Id="R3c2419fa34ce430c" /><Relationship Type="http://schemas.openxmlformats.org/officeDocument/2006/relationships/slide" Target="/ppt/slides/slide6.xml" Id="R598631fadc374a32" /><Relationship Type="http://schemas.openxmlformats.org/officeDocument/2006/relationships/slide" Target="/ppt/slides/slide7.xml" Id="R7d9d0a4e53d34444" /><Relationship Type="http://schemas.openxmlformats.org/officeDocument/2006/relationships/slide" Target="/ppt/slides/slide8.xml" Id="R2c45211dc81d4900" /><Relationship Type="http://schemas.openxmlformats.org/officeDocument/2006/relationships/slide" Target="/ppt/slides/slide9.xml" Id="R8ee637c8b044460c" /><Relationship Type="http://schemas.openxmlformats.org/officeDocument/2006/relationships/slide" Target="/ppt/slides/slide10.xml" Id="R5c47678cc6fe4468" /><Relationship Type="http://schemas.openxmlformats.org/officeDocument/2006/relationships/slide" Target="/ppt/slides/slide11.xml" Id="Re3c317769c8d426e" /><Relationship Type="http://schemas.openxmlformats.org/officeDocument/2006/relationships/slide" Target="/ppt/slides/slide12.xml" Id="R0e1a914663194b4c" /><Relationship Type="http://schemas.openxmlformats.org/officeDocument/2006/relationships/slide" Target="/ppt/slides/slide13.xml" Id="Rb4db04db4cfa4f5f" /><Relationship Type="http://schemas.openxmlformats.org/officeDocument/2006/relationships/slide" Target="/ppt/slides/slide14.xml" Id="R8e3ffe39dee0497c" /><Relationship Type="http://schemas.openxmlformats.org/officeDocument/2006/relationships/slide" Target="/ppt/slides/slide15.xml" Id="R36b94a73c67c48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f02790fd1d48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retendard"/>
        <a:ea typeface=""/>
        <a:cs typeface=""/>
      </a:majorFont>
      <a:minorFont>
        <a:latin typeface="Pretendard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d3efef4ad54644" /><Relationship Type="http://schemas.openxmlformats.org/officeDocument/2006/relationships/notesMaster" Target="/ppt/notesMasters/notesMaster1.xml" Id="R89f687e45a3849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773f9e12194952" /><Relationship Type="http://schemas.openxmlformats.org/officeDocument/2006/relationships/notesMaster" Target="/ppt/notesMasters/notesMaster1.xml" Id="R001febcdf9cc483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787a8506a84682" /><Relationship Type="http://schemas.openxmlformats.org/officeDocument/2006/relationships/notesMaster" Target="/ppt/notesMasters/notesMaster1.xml" Id="Racf39bf8ccc24a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b35c65d02148a3" /><Relationship Type="http://schemas.openxmlformats.org/officeDocument/2006/relationships/notesMaster" Target="/ppt/notesMasters/notesMaster1.xml" Id="Rf5cf2fd3db744e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1683b74923c4914" /><Relationship Type="http://schemas.openxmlformats.org/officeDocument/2006/relationships/notesMaster" Target="/ppt/notesMasters/notesMaster1.xml" Id="R79d9861a0fe943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c7e2549f6148f2" /><Relationship Type="http://schemas.openxmlformats.org/officeDocument/2006/relationships/notesMaster" Target="/ppt/notesMasters/notesMaster1.xml" Id="Reebe8fcf2c30478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ba174e15d44c0f" /><Relationship Type="http://schemas.openxmlformats.org/officeDocument/2006/relationships/notesMaster" Target="/ppt/notesMasters/notesMaster1.xml" Id="R3a2245a39ecc49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5e688d53ab44df" /><Relationship Type="http://schemas.openxmlformats.org/officeDocument/2006/relationships/notesMaster" Target="/ppt/notesMasters/notesMaster1.xml" Id="R736fda585c1049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261436b49b947ea" /><Relationship Type="http://schemas.openxmlformats.org/officeDocument/2006/relationships/notesMaster" Target="/ppt/notesMasters/notesMaster1.xml" Id="Rcdda4582f60449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beb38a9e0d84df6" /><Relationship Type="http://schemas.openxmlformats.org/officeDocument/2006/relationships/notesMaster" Target="/ppt/notesMasters/notesMaster1.xml" Id="R34c17131f076418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d562634faf14842" /><Relationship Type="http://schemas.openxmlformats.org/officeDocument/2006/relationships/notesMaster" Target="/ppt/notesMasters/notesMaster1.xml" Id="R6244b45889a14d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673271bbadf4e83" /><Relationship Type="http://schemas.openxmlformats.org/officeDocument/2006/relationships/notesMaster" Target="/ppt/notesMasters/notesMaster1.xml" Id="Rb454ce27af7247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9b4e70a80e641a6" /><Relationship Type="http://schemas.openxmlformats.org/officeDocument/2006/relationships/notesMaster" Target="/ppt/notesMasters/notesMaster1.xml" Id="R167e9640823c4a5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70dacde13944ee7" /><Relationship Type="http://schemas.openxmlformats.org/officeDocument/2006/relationships/notesMaster" Target="/ppt/notesMasters/notesMaster1.xml" Id="R45aa32014442459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46b0a51253d45ec" /><Relationship Type="http://schemas.openxmlformats.org/officeDocument/2006/relationships/notesMaster" Target="/ppt/notesMasters/notesMaster1.xml" Id="R0372e85b13a842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전체 사례·출처·자료 내려받기: https://heen1987-ops.github.io/TS-business-Plan-001/index.html?view=platform-cases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"PF01",</a:t>
            </a:r>
          </a:p>
          <a:p xmlns:a="http://schemas.openxmlformats.org/drawingml/2006/main">
            <a:r>
              <a:t>  "sourceId": "A01",</a:t>
            </a:r>
          </a:p>
          <a:p xmlns:a="http://schemas.openxmlformats.org/drawingml/2006/main">
            <a:r>
              <a:t>  "title": "범정부 AI 공통기반·법령비서",</a:t>
            </a:r>
          </a:p>
          <a:p xmlns:a="http://schemas.openxmlformats.org/drawingml/2006/main">
            <a:r>
              <a:t>  "region": "국내",</a:t>
            </a:r>
          </a:p>
          <a:p xmlns:a="http://schemas.openxmlformats.org/drawingml/2006/main">
            <a:r>
              <a:t>  "owner": "행정안전부·법제처·과기정통부",</a:t>
            </a:r>
          </a:p>
          <a:p xmlns:a="http://schemas.openxmlformats.org/drawingml/2006/main">
            <a:r>
              <a:t>  "state": "공통기반 운영 / 업무 앱 시범",</a:t>
            </a:r>
          </a:p>
          <a:p xmlns:a="http://schemas.openxmlformats.org/drawingml/2006/main">
            <a:r>
              <a:t>  "period": "2025–2026",</a:t>
            </a:r>
          </a:p>
          <a:p xmlns:a="http://schemas.openxmlformats.org/drawingml/2006/main">
            <a:r>
              <a:t>  "fact": "공통 AI 이용환경에 법령·판례 지식을 결합한 법령비서 시범 서비스",</a:t>
            </a:r>
          </a:p>
          <a:p xmlns:a="http://schemas.openxmlformats.org/drawingml/2006/main">
            <a:r>
              <a:t>  "limit": "시범 개시와 범정부 확산 계획의 구분 · 업무시간 절감 실측 별도",</a:t>
            </a:r>
          </a:p>
          <a:p xmlns:a="http://schemas.openxmlformats.org/drawingml/2006/main">
            <a:r>
              <a:t>  "nodes": [</a:t>
            </a:r>
          </a:p>
          <a:p xmlns:a="http://schemas.openxmlformats.org/drawingml/2006/main">
            <a:r>
              <a:t>    "정부 공통 이용환경",</a:t>
            </a:r>
          </a:p>
          <a:p xmlns:a="http://schemas.openxmlformats.org/drawingml/2006/main">
            <a:r>
              <a:t>    "공통 모델·검색",</a:t>
            </a:r>
          </a:p>
          <a:p xmlns:a="http://schemas.openxmlformats.org/drawingml/2006/main">
            <a:r>
              <a:t>    "법령·판례 지식",</a:t>
            </a:r>
          </a:p>
          <a:p xmlns:a="http://schemas.openxmlformats.org/drawingml/2006/main">
            <a:r>
              <a:t>    "법령비서·직원 검토"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"apply": "기존 TS 공통 모델·검색 기반을 유지하고 부서별 업무 앱을 추가",</a:t>
            </a:r>
          </a:p>
          <a:p xmlns:a="http://schemas.openxmlformats.org/drawingml/2006/main">
            <a:r>
              <a:t>  "delta": "소관·직무·규정 판본 연결 및 부서별 정답셋",</a:t>
            </a:r>
          </a:p>
          <a:p xmlns:a="http://schemas.openxmlformats.org/drawingml/2006/main">
            <a:r>
              <a:t>  "test": "동일 규정 질의의 판본·출처·소관 일치 검증",</a:t>
            </a:r>
          </a:p>
          <a:p xmlns:a="http://schemas.openxmlformats.org/drawingml/2006/main">
            <a:r>
              <a:t>  "url": "https://www.mois.go.kr/frt/bbs/type010/commonSelectBoardArticle.do?bbsId=BBSMSTR_000000000008&amp;nttId=127770",</a:t>
            </a:r>
          </a:p>
          <a:p xmlns:a="http://schemas.openxmlformats.org/drawingml/2006/main">
            <a:r>
              <a:t>  "basis": "공식 시범 개시 발표",</a:t>
            </a:r>
          </a:p>
          <a:p xmlns:a="http://schemas.openxmlformats.org/drawingml/2006/main">
            <a:r>
              <a:t>  "checked": "2026-10-16",</a:t>
            </a:r>
          </a:p>
          <a:p xmlns:a="http://schemas.openxmlformats.org/drawingml/2006/main">
            <a:r>
              <a:t>  "diagramBasis": "공개 기능 설명 기반 서비스 흐름 재구성 · 실제 배치·비공개 인터페이스와 구분",</a:t>
            </a:r>
          </a:p>
          <a:p xmlns:a="http://schemas.openxmlformats.org/drawingml/2006/main">
            <a:r>
              <a:t>  "effect": "TS 업무 완료시간·오류·추가 구축 공수의 비교 평가",</a:t>
            </a:r>
          </a:p>
          <a:p xmlns:a="http://schemas.openxmlformats.org/drawingml/2006/main">
            <a:r>
              <a:t>  "group": "운영·실증",</a:t>
            </a:r>
          </a:p>
          <a:p xmlns:a="http://schemas.openxmlformats.org/drawingml/2006/main">
            <a:r>
              <a:t>  "urls": [</a:t>
            </a:r>
          </a:p>
          <a:p xmlns:a="http://schemas.openxmlformats.org/drawingml/2006/main">
            <a:r>
              <a:t>    "https://www.mois.go.kr/frt/bbs/type010/commonSelectBoardArticle.do?bbsId=BBSMSTR_000000000008&amp;nttId=127770",</a:t>
            </a:r>
          </a:p>
          <a:p xmlns:a="http://schemas.openxmlformats.org/drawingml/2006/main">
            <a:r>
              <a:t>    "https://mois.go.kr/frt/bbs/type002/commonSelectBoardArticle.do?bbsId=BBSMSTR_000000000010&amp;nttId=121989"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공식 시범 개시 발표 https://www.mois.go.kr/frt/bbs/type010/commonSelectBoardArticle.do?bbsId=BBSMSTR_000000000008&amp;nttId=127770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"PF02",</a:t>
            </a:r>
          </a:p>
          <a:p xmlns:a="http://schemas.openxmlformats.org/drawingml/2006/main">
            <a:r>
              <a:t>  "sourceId": "A02",</a:t>
            </a:r>
          </a:p>
          <a:p xmlns:a="http://schemas.openxmlformats.org/drawingml/2006/main">
            <a:r>
              <a:t>  "title": "한전 사내표준 AI 플랫폼",</a:t>
            </a:r>
          </a:p>
          <a:p xmlns:a="http://schemas.openxmlformats.org/drawingml/2006/main">
            <a:r>
              <a:t>  "region": "국내",</a:t>
            </a:r>
          </a:p>
          <a:p xmlns:a="http://schemas.openxmlformats.org/drawingml/2006/main">
            <a:r>
              <a:t>  "owner": "한국전력",</a:t>
            </a:r>
          </a:p>
          <a:p xmlns:a="http://schemas.openxmlformats.org/drawingml/2006/main">
            <a:r>
              <a:t>  "state": "정식 운영 · 기관 발표",</a:t>
            </a:r>
          </a:p>
          <a:p xmlns:a="http://schemas.openxmlformats.org/drawingml/2006/main">
            <a:r>
              <a:t>  "period": "2026.05 개시 / 09 소개",</a:t>
            </a:r>
          </a:p>
          <a:p xmlns:a="http://schemas.openxmlformats.org/drawingml/2006/main">
            <a:r>
              <a:t>  "fact": "사내표준 질의·근거 조문과 개정 검토·전자결재를 연결한 업무 플랫폼",</a:t>
            </a:r>
          </a:p>
          <a:p xmlns:a="http://schemas.openxmlformats.org/drawingml/2006/main">
            <a:r>
              <a:t>  "limit": "문서번호·답변 근거의 정비 부담 공개 · 제시된 절감 기대와 실측 성과의 구분",</a:t>
            </a:r>
          </a:p>
          <a:p xmlns:a="http://schemas.openxmlformats.org/drawingml/2006/main">
            <a:r>
              <a:t>  "nodes": [</a:t>
            </a:r>
          </a:p>
          <a:p xmlns:a="http://schemas.openxmlformats.org/drawingml/2006/main">
            <a:r>
              <a:t>    "사내표준 정비",</a:t>
            </a:r>
          </a:p>
          <a:p xmlns:a="http://schemas.openxmlformats.org/drawingml/2006/main">
            <a:r>
              <a:t>    "근거 질의·응답",</a:t>
            </a:r>
          </a:p>
          <a:p xmlns:a="http://schemas.openxmlformats.org/drawingml/2006/main">
            <a:r>
              <a:t>    "개정·오류 점검",</a:t>
            </a:r>
          </a:p>
          <a:p xmlns:a="http://schemas.openxmlformats.org/drawingml/2006/main">
            <a:r>
              <a:t>    "전자결재·담당 검토"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"apply": "TS 직제·업무분장·업무 규정과 문서 책임자를 함께 연결",</a:t>
            </a:r>
          </a:p>
          <a:p xmlns:a="http://schemas.openxmlformats.org/drawingml/2006/main">
            <a:r>
              <a:t>  "delta": "규정 개정 영향 업무 탐색 / 폐지 지식 차단 / 승인판본 배포",</a:t>
            </a:r>
          </a:p>
          <a:p xmlns:a="http://schemas.openxmlformats.org/drawingml/2006/main">
            <a:r>
              <a:t>  "test": "개정 전후 질문의 판본 일치 및 영향 업무 재평가",</a:t>
            </a:r>
          </a:p>
          <a:p xmlns:a="http://schemas.openxmlformats.org/drawingml/2006/main">
            <a:r>
              <a:t>  "url": "https://www.kepco.co.kr/KEPCO_FILE/html/2026_09/issue.html",</a:t>
            </a:r>
          </a:p>
          <a:p xmlns:a="http://schemas.openxmlformats.org/drawingml/2006/main">
            <a:r>
              <a:t>  "basis": "기관 사보 운영 소개",</a:t>
            </a:r>
          </a:p>
          <a:p xmlns:a="http://schemas.openxmlformats.org/drawingml/2006/main">
            <a:r>
              <a:t>  "checked": "2026-10-16",</a:t>
            </a:r>
          </a:p>
          <a:p xmlns:a="http://schemas.openxmlformats.org/drawingml/2006/main">
            <a:r>
              <a:t>  "diagramBasis": "공개 기능 설명 기반 서비스 흐름 재구성 · 실제 배치·비공개 인터페이스와 구분",</a:t>
            </a:r>
          </a:p>
          <a:p xmlns:a="http://schemas.openxmlformats.org/drawingml/2006/main">
            <a:r>
              <a:t>  "effect": "TS 업무 완료시간·오류·추가 구축 공수의 비교 평가",</a:t>
            </a:r>
          </a:p>
          <a:p xmlns:a="http://schemas.openxmlformats.org/drawingml/2006/main">
            <a:r>
              <a:t>  "group": "운영·실증",</a:t>
            </a:r>
          </a:p>
          <a:p xmlns:a="http://schemas.openxmlformats.org/drawingml/2006/main">
            <a:r>
              <a:t>  "urls": [</a:t>
            </a:r>
          </a:p>
          <a:p xmlns:a="http://schemas.openxmlformats.org/drawingml/2006/main">
            <a:r>
              <a:t>    "https://www.kepco.co.kr/KEPCO_FILE/html/2026_09/issue.html"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기관 사보 운영 소개 https://www.kepco.co.kr/KEPCO_FILE/html/2026_09/issue.html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"PF03",</a:t>
            </a:r>
          </a:p>
          <a:p xmlns:a="http://schemas.openxmlformats.org/drawingml/2006/main">
            <a:r>
              <a:t>  "sourceId": "A04",</a:t>
            </a:r>
          </a:p>
          <a:p xmlns:a="http://schemas.openxmlformats.org/drawingml/2006/main">
            <a:r>
              <a:t>  "title": "HRDKorea MCP",</a:t>
            </a:r>
          </a:p>
          <a:p xmlns:a="http://schemas.openxmlformats.org/drawingml/2006/main">
            <a:r>
              <a:t>  "region": "국내",</a:t>
            </a:r>
          </a:p>
          <a:p xmlns:a="http://schemas.openxmlformats.org/drawingml/2006/main">
            <a:r>
              <a:t>  "owner": "한국산업인력공단",</a:t>
            </a:r>
          </a:p>
          <a:p xmlns:a="http://schemas.openxmlformats.org/drawingml/2006/main">
            <a:r>
              <a:t>  "state": "공개 데이터 연계 서비스",</a:t>
            </a:r>
          </a:p>
          <a:p xmlns:a="http://schemas.openxmlformats.org/drawingml/2006/main">
            <a:r>
              <a:t>  "period": "2026.08 개시",</a:t>
            </a:r>
          </a:p>
          <a:p xmlns:a="http://schemas.openxmlformats.org/drawingml/2006/main">
            <a:r>
              <a:t>  "fact": "기존 공공 API를 MCP 도구로 제공하여 외부 AI의 공식 데이터 조회 지원",</a:t>
            </a:r>
          </a:p>
          <a:p xmlns:a="http://schemas.openxmlformats.org/drawingml/2006/main">
            <a:r>
              <a:t>  "limit": "공개 조회의 구축 사례 · 내부 결재·수정 실행의 검증과 별개",</a:t>
            </a:r>
          </a:p>
          <a:p xmlns:a="http://schemas.openxmlformats.org/drawingml/2006/main">
            <a:r>
              <a:t>  "nodes": [</a:t>
            </a:r>
          </a:p>
          <a:p xmlns:a="http://schemas.openxmlformats.org/drawingml/2006/main">
            <a:r>
              <a:t>    "외부 AI 요청",</a:t>
            </a:r>
          </a:p>
          <a:p xmlns:a="http://schemas.openxmlformats.org/drawingml/2006/main">
            <a:r>
              <a:t>    "MCP 도구 선택",</a:t>
            </a:r>
          </a:p>
          <a:p xmlns:a="http://schemas.openxmlformats.org/drawingml/2006/main">
            <a:r>
              <a:t>    "기존 공식 API",</a:t>
            </a:r>
          </a:p>
          <a:p xmlns:a="http://schemas.openxmlformats.org/drawingml/2006/main">
            <a:r>
              <a:t>    "최신 데이터 안내"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"apply": "TS 보유 API를 조회·신청·변경 유형별로 등록",</a:t>
            </a:r>
          </a:p>
          <a:p xmlns:a="http://schemas.openxmlformats.org/drawingml/2006/main">
            <a:r>
              <a:t>  "delta": "기관·직무별 도구 권한 / 요청키 / 오류·중복 처리",</a:t>
            </a:r>
          </a:p>
          <a:p xmlns:a="http://schemas.openxmlformats.org/drawingml/2006/main">
            <a:r>
              <a:t>  "test": "도구별 입력·응답·인증·오류 처리 계약 및 쓰기 요청 차단",</a:t>
            </a:r>
          </a:p>
          <a:p xmlns:a="http://schemas.openxmlformats.org/drawingml/2006/main">
            <a:r>
              <a:t>  "url": "https://www.moel.go.kr/news/enews/report/enewsView.do?news_seq=19787",</a:t>
            </a:r>
          </a:p>
          <a:p xmlns:a="http://schemas.openxmlformats.org/drawingml/2006/main">
            <a:r>
              <a:t>  "basis": "소관 부처 서비스 개시 발표",</a:t>
            </a:r>
          </a:p>
          <a:p xmlns:a="http://schemas.openxmlformats.org/drawingml/2006/main">
            <a:r>
              <a:t>  "checked": "2026-10-16",</a:t>
            </a:r>
          </a:p>
          <a:p xmlns:a="http://schemas.openxmlformats.org/drawingml/2006/main">
            <a:r>
              <a:t>  "diagramBasis": "공개 기능 설명 기반 서비스 흐름 재구성 · 실제 배치·비공개 인터페이스와 구분",</a:t>
            </a:r>
          </a:p>
          <a:p xmlns:a="http://schemas.openxmlformats.org/drawingml/2006/main">
            <a:r>
              <a:t>  "effect": "TS 업무 완료시간·오류·추가 구축 공수의 비교 평가",</a:t>
            </a:r>
          </a:p>
          <a:p xmlns:a="http://schemas.openxmlformats.org/drawingml/2006/main">
            <a:r>
              <a:t>  "group": "운영·실증",</a:t>
            </a:r>
          </a:p>
          <a:p xmlns:a="http://schemas.openxmlformats.org/drawingml/2006/main">
            <a:r>
              <a:t>  "urls": [</a:t>
            </a:r>
          </a:p>
          <a:p xmlns:a="http://schemas.openxmlformats.org/drawingml/2006/main">
            <a:r>
              <a:t>    "https://www.moel.go.kr/news/enews/report/enewsView.do?news_seq=19787"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소관 부처 서비스 개시 발표 https://www.moel.go.kr/news/enews/report/enewsView.do?news_seq=19787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"PF04",</a:t>
            </a:r>
          </a:p>
          <a:p xmlns:a="http://schemas.openxmlformats.org/drawingml/2006/main">
            <a:r>
              <a:t>  "sourceId": "A05",</a:t>
            </a:r>
          </a:p>
          <a:p xmlns:a="http://schemas.openxmlformats.org/drawingml/2006/main">
            <a:r>
              <a:t>  "title": "삼성SDS FabriX 업무 플랫폼",</a:t>
            </a:r>
          </a:p>
          <a:p xmlns:a="http://schemas.openxmlformats.org/drawingml/2006/main">
            <a:r>
              <a:t>  "region": "국내",</a:t>
            </a:r>
          </a:p>
          <a:p xmlns:a="http://schemas.openxmlformats.org/drawingml/2006/main">
            <a:r>
              <a:t>  "owner": "삼성SDS",</a:t>
            </a:r>
          </a:p>
          <a:p xmlns:a="http://schemas.openxmlformats.org/drawingml/2006/main">
            <a:r>
              <a:t>  "state": "사내 운영 · 자사 발표",</a:t>
            </a:r>
          </a:p>
          <a:p xmlns:a="http://schemas.openxmlformats.org/drawingml/2006/main">
            <a:r>
              <a:t>  "period": "2025.10 소개",</a:t>
            </a:r>
          </a:p>
          <a:p xmlns:a="http://schemas.openxmlformats.org/drawingml/2006/main">
            <a:r>
              <a:t>  "fact": "공통 AI와 사내 시스템 API·협업 도구·개발 접점을 결합한 전사 활용",</a:t>
            </a:r>
          </a:p>
          <a:p xmlns:a="http://schemas.openxmlformats.org/drawingml/2006/main">
            <a:r>
              <a:t>  "limit": "자사 발표 · 특정 직무 성과를 전사 생산성으로 일반화 불가",</a:t>
            </a:r>
          </a:p>
          <a:p xmlns:a="http://schemas.openxmlformats.org/drawingml/2006/main">
            <a:r>
              <a:t>  "nodes": [</a:t>
            </a:r>
          </a:p>
          <a:p xmlns:a="http://schemas.openxmlformats.org/drawingml/2006/main">
            <a:r>
              <a:t>    "공통 AI 접점",</a:t>
            </a:r>
          </a:p>
          <a:p xmlns:a="http://schemas.openxmlformats.org/drawingml/2006/main">
            <a:r>
              <a:t>    "FabriX·검색",</a:t>
            </a:r>
          </a:p>
          <a:p xmlns:a="http://schemas.openxmlformats.org/drawingml/2006/main">
            <a:r>
              <a:t>    "사내 시스템 API",</a:t>
            </a:r>
          </a:p>
          <a:p xmlns:a="http://schemas.openxmlformats.org/drawingml/2006/main">
            <a:r>
              <a:t>    "직무 도구·현업 피드백"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"apply": "CCK 공통 도구와 TS 기존 시스템의 업무별 접점 연결",</a:t>
            </a:r>
          </a:p>
          <a:p xmlns:a="http://schemas.openxmlformats.org/drawingml/2006/main">
            <a:r>
              <a:t>  "delta": "업무단위 연계 모듈 / 현업 교육 / 품질·비용 관측",</a:t>
            </a:r>
          </a:p>
          <a:p xmlns:a="http://schemas.openxmlformats.org/drawingml/2006/main">
            <a:r>
              <a:t>  "test": "업무 완료율·오실행·재작업·총소요시간 동시 평가",</a:t>
            </a:r>
          </a:p>
          <a:p xmlns:a="http://schemas.openxmlformats.org/drawingml/2006/main">
            <a:r>
              <a:t>  "url": "https://www.samsungsds.com/kr/insights/samsung-sds-ai-journey.html",</a:t>
            </a:r>
          </a:p>
          <a:p xmlns:a="http://schemas.openxmlformats.org/drawingml/2006/main">
            <a:r>
              <a:t>  "basis": "기업 기술·운영 소개",</a:t>
            </a:r>
          </a:p>
          <a:p xmlns:a="http://schemas.openxmlformats.org/drawingml/2006/main">
            <a:r>
              <a:t>  "checked": "2026-10-16",</a:t>
            </a:r>
          </a:p>
          <a:p xmlns:a="http://schemas.openxmlformats.org/drawingml/2006/main">
            <a:r>
              <a:t>  "diagramBasis": "공개 기능 설명 기반 서비스 흐름 재구성 · 실제 배치·비공개 인터페이스와 구분",</a:t>
            </a:r>
          </a:p>
          <a:p xmlns:a="http://schemas.openxmlformats.org/drawingml/2006/main">
            <a:r>
              <a:t>  "effect": "TS 업무 완료시간·오류·추가 구축 공수의 비교 평가",</a:t>
            </a:r>
          </a:p>
          <a:p xmlns:a="http://schemas.openxmlformats.org/drawingml/2006/main">
            <a:r>
              <a:t>  "group": "운영·실증",</a:t>
            </a:r>
          </a:p>
          <a:p xmlns:a="http://schemas.openxmlformats.org/drawingml/2006/main">
            <a:r>
              <a:t>  "urls": [</a:t>
            </a:r>
          </a:p>
          <a:p xmlns:a="http://schemas.openxmlformats.org/drawingml/2006/main">
            <a:r>
              <a:t>    "https://www.samsungsds.com/kr/insights/samsung-sds-ai-journey.html"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기업 기술·운영 소개 https://www.samsungsds.com/kr/insights/samsung-sds-ai-journey.html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"PF05",</a:t>
            </a:r>
          </a:p>
          <a:p xmlns:a="http://schemas.openxmlformats.org/drawingml/2006/main">
            <a:r>
              <a:t>  "sourceId": "A07",</a:t>
            </a:r>
          </a:p>
          <a:p xmlns:a="http://schemas.openxmlformats.org/drawingml/2006/main">
            <a:r>
              <a:t>  "title": "일본 정부 AI 源内",</a:t>
            </a:r>
          </a:p>
          <a:p xmlns:a="http://schemas.openxmlformats.org/drawingml/2006/main">
            <a:r>
              <a:t>  "region": "해외",</a:t>
            </a:r>
          </a:p>
          <a:p xmlns:a="http://schemas.openxmlformats.org/drawingml/2006/main">
            <a:r>
              <a:t>  "owner": "일본 디지털청",</a:t>
            </a:r>
          </a:p>
          <a:p xmlns:a="http://schemas.openxmlformats.org/drawingml/2006/main">
            <a:r>
              <a:t>  "state": "청내 운영 / 범정부 실증",</a:t>
            </a:r>
          </a:p>
          <a:p xmlns:a="http://schemas.openxmlformats.org/drawingml/2006/main">
            <a:r>
              <a:t>  "period": "2025 운영 / 2026 확산",</a:t>
            </a:r>
          </a:p>
          <a:p xmlns:a="http://schemas.openxmlformats.org/drawingml/2006/main">
            <a:r>
              <a:t>  "fact": "정부 공통 환경의 범용 AI와 업무별 앱·템플릿 구성",</a:t>
            </a:r>
          </a:p>
          <a:p xmlns:a="http://schemas.openxmlformats.org/drawingml/2006/main">
            <a:r>
              <a:t>  "limit": "청내 운영 실적과 범정부 실증 대상 규모의 분리 · 도입 인원과 생산성 구분",</a:t>
            </a:r>
          </a:p>
          <a:p xmlns:a="http://schemas.openxmlformats.org/drawingml/2006/main">
            <a:r>
              <a:t>  "nodes": [</a:t>
            </a:r>
          </a:p>
          <a:p xmlns:a="http://schemas.openxmlformats.org/drawingml/2006/main">
            <a:r>
              <a:t>    "정부 인증·접점",</a:t>
            </a:r>
          </a:p>
          <a:p xmlns:a="http://schemas.openxmlformats.org/drawingml/2006/main">
            <a:r>
              <a:t>    "공통 AI 환경",</a:t>
            </a:r>
          </a:p>
          <a:p xmlns:a="http://schemas.openxmlformats.org/drawingml/2006/main">
            <a:r>
              <a:t>    "법제·답변 업무 앱",</a:t>
            </a:r>
          </a:p>
          <a:p xmlns:a="http://schemas.openxmlformats.org/drawingml/2006/main">
            <a:r>
              <a:t>    "이용 관측·현업 개선"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"apply": "GROWTH AI 공통 기반과 기관별 업무 패키지의 분리",</a:t>
            </a:r>
          </a:p>
          <a:p xmlns:a="http://schemas.openxmlformats.org/drawingml/2006/main">
            <a:r>
              <a:t>  "delta": "기관 설정·조직 사전·업무 스킬·배포판본 관리",</a:t>
            </a:r>
          </a:p>
          <a:p xmlns:a="http://schemas.openxmlformats.org/drawingml/2006/main">
            <a:r>
              <a:t>  "test": "두 번째 부서 적용의 수정 범위·추가 공수·격리 평가",</a:t>
            </a:r>
          </a:p>
          <a:p xmlns:a="http://schemas.openxmlformats.org/drawingml/2006/main">
            <a:r>
              <a:t>  "url": "https://www.digital.go.jp/policies/genai",</a:t>
            </a:r>
          </a:p>
          <a:p xmlns:a="http://schemas.openxmlformats.org/drawingml/2006/main">
            <a:r>
              <a:t>  "basis": "운영기관 정책·서비스 공개",</a:t>
            </a:r>
          </a:p>
          <a:p xmlns:a="http://schemas.openxmlformats.org/drawingml/2006/main">
            <a:r>
              <a:t>  "checked": "2026-10-16",</a:t>
            </a:r>
          </a:p>
          <a:p xmlns:a="http://schemas.openxmlformats.org/drawingml/2006/main">
            <a:r>
              <a:t>  "diagramBasis": "공개 기능 설명 기반 서비스 흐름 재구성 · 실제 배치·비공개 인터페이스와 구분",</a:t>
            </a:r>
          </a:p>
          <a:p xmlns:a="http://schemas.openxmlformats.org/drawingml/2006/main">
            <a:r>
              <a:t>  "effect": "TS 업무 완료시간·오류·추가 구축 공수의 비교 평가",</a:t>
            </a:r>
          </a:p>
          <a:p xmlns:a="http://schemas.openxmlformats.org/drawingml/2006/main">
            <a:r>
              <a:t>  "group": "운영·실증",</a:t>
            </a:r>
          </a:p>
          <a:p xmlns:a="http://schemas.openxmlformats.org/drawingml/2006/main">
            <a:r>
              <a:t>  "urls": [</a:t>
            </a:r>
          </a:p>
          <a:p xmlns:a="http://schemas.openxmlformats.org/drawingml/2006/main">
            <a:r>
              <a:t>    "https://www.digital.go.jp/policies/genai",</a:t>
            </a:r>
          </a:p>
          <a:p xmlns:a="http://schemas.openxmlformats.org/drawingml/2006/main">
            <a:r>
              <a:t>    "https://www.digital.go.jp/en/news/907c8e5d-2f4f-4bd7-9400-37c9f4221d7d",</a:t>
            </a:r>
          </a:p>
          <a:p xmlns:a="http://schemas.openxmlformats.org/drawingml/2006/main">
            <a:r>
              <a:t>    "https://www.digital.go.jp/assets/contents/node/information/field_ref_resources/08ded405-ca03-48c7-9b92-6b8878854a74/5147384f/20250829_news_ai_usage_report_01.pdf"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운영기관 정책·서비스 공개 https://www.digital.go.jp/policies/genai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"PF06",</a:t>
            </a:r>
          </a:p>
          <a:p xmlns:a="http://schemas.openxmlformats.org/drawingml/2006/main">
            <a:r>
              <a:t>  "sourceId": "A10",</a:t>
            </a:r>
          </a:p>
          <a:p xmlns:a="http://schemas.openxmlformats.org/drawingml/2006/main">
            <a:r>
              <a:t>  "title": "프랑스 Albert API",</a:t>
            </a:r>
          </a:p>
          <a:p xmlns:a="http://schemas.openxmlformats.org/drawingml/2006/main">
            <a:r>
              <a:t>  "region": "해외",</a:t>
            </a:r>
          </a:p>
          <a:p xmlns:a="http://schemas.openxmlformats.org/drawingml/2006/main">
            <a:r>
              <a:t>  "owner": "DINUM",</a:t>
            </a:r>
          </a:p>
          <a:p xmlns:a="http://schemas.openxmlformats.org/drawingml/2006/main">
            <a:r>
              <a:t>  "state": "공통 API 운영",</a:t>
            </a:r>
          </a:p>
          <a:p xmlns:a="http://schemas.openxmlformats.org/drawingml/2006/main">
            <a:r>
              <a:t>  "period": "열람 2026.10",</a:t>
            </a:r>
          </a:p>
          <a:p xmlns:a="http://schemas.openxmlformats.org/drawingml/2006/main">
            <a:r>
              <a:t>  "fact": "모델·검색·OCR·음성전사 등 공통 AI 기능의 API 제공",</a:t>
            </a:r>
          </a:p>
          <a:p xmlns:a="http://schemas.openxmlformats.org/drawingml/2006/main">
            <a:r>
              <a:t>  "limit": "서비스 기능 확인 · 공개 이용 통계와 업무성과의 별도 평가",</a:t>
            </a:r>
          </a:p>
          <a:p xmlns:a="http://schemas.openxmlformats.org/drawingml/2006/main">
            <a:r>
              <a:t>  "nodes": [</a:t>
            </a:r>
          </a:p>
          <a:p xmlns:a="http://schemas.openxmlformats.org/drawingml/2006/main">
            <a:r>
              <a:t>    "업무 앱",</a:t>
            </a:r>
          </a:p>
          <a:p xmlns:a="http://schemas.openxmlformats.org/drawingml/2006/main">
            <a:r>
              <a:t>    "공통 API·접근관리",</a:t>
            </a:r>
          </a:p>
          <a:p xmlns:a="http://schemas.openxmlformats.org/drawingml/2006/main">
            <a:r>
              <a:t>    "모델·검색·문서·음성",</a:t>
            </a:r>
          </a:p>
          <a:p xmlns:a="http://schemas.openxmlformats.org/drawingml/2006/main">
            <a:r>
              <a:t>    "프로젝트·사용량 관리"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"apply": "CCK 재사용 기능을 공통 서비스로 제공하고 TS 업무 모듈을 분리",</a:t>
            </a:r>
          </a:p>
          <a:p xmlns:a="http://schemas.openxmlformats.org/drawingml/2006/main">
            <a:r>
              <a:t>  "delta": "API 계약·사용 정책·부서별 사용량·장애 격리",</a:t>
            </a:r>
          </a:p>
          <a:p xmlns:a="http://schemas.openxmlformats.org/drawingml/2006/main">
            <a:r>
              <a:t>  "test": "공통 기능 계약 시험 / 지연·실패·비용의 업무별 분리",</a:t>
            </a:r>
          </a:p>
          <a:p xmlns:a="http://schemas.openxmlformats.org/drawingml/2006/main">
            <a:r>
              <a:t>  "url": "https://ia.numerique.gouv.fr/outils-ia/albert-api/offre-de-services/",</a:t>
            </a:r>
          </a:p>
          <a:p xmlns:a="http://schemas.openxmlformats.org/drawingml/2006/main">
            <a:r>
              <a:t>  "basis": "운영기관 서비스·API 설명",</a:t>
            </a:r>
          </a:p>
          <a:p xmlns:a="http://schemas.openxmlformats.org/drawingml/2006/main">
            <a:r>
              <a:t>  "checked": "2026-10-16",</a:t>
            </a:r>
          </a:p>
          <a:p xmlns:a="http://schemas.openxmlformats.org/drawingml/2006/main">
            <a:r>
              <a:t>  "diagramBasis": "공개 기능 설명 기반 서비스 흐름 재구성 · 실제 배치·비공개 인터페이스와 구분",</a:t>
            </a:r>
          </a:p>
          <a:p xmlns:a="http://schemas.openxmlformats.org/drawingml/2006/main">
            <a:r>
              <a:t>  "effect": "TS 업무 완료시간·오류·추가 구축 공수의 비교 평가",</a:t>
            </a:r>
          </a:p>
          <a:p xmlns:a="http://schemas.openxmlformats.org/drawingml/2006/main">
            <a:r>
              <a:t>  "group": "운영·실증",</a:t>
            </a:r>
          </a:p>
          <a:p xmlns:a="http://schemas.openxmlformats.org/drawingml/2006/main">
            <a:r>
              <a:t>  "urls": [</a:t>
            </a:r>
          </a:p>
          <a:p xmlns:a="http://schemas.openxmlformats.org/drawingml/2006/main">
            <a:r>
              <a:t>    "https://ia.numerique.gouv.fr/outils-ia/albert-api/offre-de-services/",</a:t>
            </a:r>
          </a:p>
          <a:p xmlns:a="http://schemas.openxmlformats.org/drawingml/2006/main">
            <a:r>
              <a:t>    "https://www.numerique.gouv.fr/offre-accompagnement/expertise-albert-ia-etat/",</a:t>
            </a:r>
          </a:p>
          <a:p xmlns:a="http://schemas.openxmlformats.org/drawingml/2006/main">
            <a:r>
              <a:t>    "https://ia.numerique.gouv.fr/outils-ia/albert-api/statistiques/"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운영기관 서비스·API 설명 https://ia.numerique.gouv.fr/outils-ia/albert-api/offre-de-services/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"PF07",</a:t>
            </a:r>
          </a:p>
          <a:p xmlns:a="http://schemas.openxmlformats.org/drawingml/2006/main">
            <a:r>
              <a:t>  "sourceId": "A11",</a:t>
            </a:r>
          </a:p>
          <a:p xmlns:a="http://schemas.openxmlformats.org/drawingml/2006/main">
            <a:r>
              <a:t>  "title": "에스토니아 Bürokratt",</a:t>
            </a:r>
          </a:p>
          <a:p xmlns:a="http://schemas.openxmlformats.org/drawingml/2006/main">
            <a:r>
              <a:t>  "region": "해외",</a:t>
            </a:r>
          </a:p>
          <a:p xmlns:a="http://schemas.openxmlformats.org/drawingml/2006/main">
            <a:r>
              <a:t>  "owner": "RIA·참여 기관",</a:t>
            </a:r>
          </a:p>
          <a:p xmlns:a="http://schemas.openxmlformats.org/drawingml/2006/main">
            <a:r>
              <a:t>  "state": "다기관 안내 운영",</a:t>
            </a:r>
          </a:p>
          <a:p xmlns:a="http://schemas.openxmlformats.org/drawingml/2006/main">
            <a:r>
              <a:t>  "period": "열람 2026.10",</a:t>
            </a:r>
          </a:p>
          <a:p xmlns:a="http://schemas.openxmlformats.org/drawingml/2006/main">
            <a:r>
              <a:t>  "fact": "기관별 안내 지식과 상담원 연결을 공동 기반으로 제공",</a:t>
            </a:r>
          </a:p>
          <a:p xmlns:a="http://schemas.openxmlformats.org/drawingml/2006/main">
            <a:r>
              <a:t>  "limit": "운영기관 목록 확인 · 자율 행정 처리나 최신 LLM 스택의 근거와 구분",</a:t>
            </a:r>
          </a:p>
          <a:p xmlns:a="http://schemas.openxmlformats.org/drawingml/2006/main">
            <a:r>
              <a:t>  "nodes": [</a:t>
            </a:r>
          </a:p>
          <a:p xmlns:a="http://schemas.openxmlformats.org/drawingml/2006/main">
            <a:r>
              <a:t>    "자연어 질문",</a:t>
            </a:r>
          </a:p>
          <a:p xmlns:a="http://schemas.openxmlformats.org/drawingml/2006/main">
            <a:r>
              <a:t>    "기관별 안내 지식",</a:t>
            </a:r>
          </a:p>
          <a:p xmlns:a="http://schemas.openxmlformats.org/drawingml/2006/main">
            <a:r>
              <a:t>    "공통 대화 서비스",</a:t>
            </a:r>
          </a:p>
          <a:p xmlns:a="http://schemas.openxmlformats.org/drawingml/2006/main">
            <a:r>
              <a:t>    "해결·상담원 연결"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"apply": "TS 서비스별 담당 조직과 국민 문의의 인계 경로 연결",</a:t>
            </a:r>
          </a:p>
          <a:p xmlns:a="http://schemas.openxmlformats.org/drawingml/2006/main">
            <a:r>
              <a:t>  "delta": "관할·복수부서·개인정보 경계 및 인계 수락 상태",</a:t>
            </a:r>
          </a:p>
          <a:p xmlns:a="http://schemas.openxmlformats.org/drawingml/2006/main">
            <a:r>
              <a:t>  "test": "미해결·관할외·복수부서 문의의 상담 전환 완료 검증",</a:t>
            </a:r>
          </a:p>
          <a:p xmlns:a="http://schemas.openxmlformats.org/drawingml/2006/main">
            <a:r>
              <a:t>  "url": "https://ria.ee/en/state-information-system/artificial-intelligence/burokratt",</a:t>
            </a:r>
          </a:p>
          <a:p xmlns:a="http://schemas.openxmlformats.org/drawingml/2006/main">
            <a:r>
              <a:t>  "basis": "운영기관 서비스 소개",</a:t>
            </a:r>
          </a:p>
          <a:p xmlns:a="http://schemas.openxmlformats.org/drawingml/2006/main">
            <a:r>
              <a:t>  "checked": "2026-10-16",</a:t>
            </a:r>
          </a:p>
          <a:p xmlns:a="http://schemas.openxmlformats.org/drawingml/2006/main">
            <a:r>
              <a:t>  "diagramBasis": "공개 기능 설명 기반 서비스 흐름 재구성 · 실제 배치·비공개 인터페이스와 구분",</a:t>
            </a:r>
          </a:p>
          <a:p xmlns:a="http://schemas.openxmlformats.org/drawingml/2006/main">
            <a:r>
              <a:t>  "effect": "TS 업무 완료시간·오류·추가 구축 공수의 비교 평가",</a:t>
            </a:r>
          </a:p>
          <a:p xmlns:a="http://schemas.openxmlformats.org/drawingml/2006/main">
            <a:r>
              <a:t>  "group": "운영·실증",</a:t>
            </a:r>
          </a:p>
          <a:p xmlns:a="http://schemas.openxmlformats.org/drawingml/2006/main">
            <a:r>
              <a:t>  "urls": [</a:t>
            </a:r>
          </a:p>
          <a:p xmlns:a="http://schemas.openxmlformats.org/drawingml/2006/main">
            <a:r>
              <a:t>    "https://ria.ee/en/state-information-system/artificial-intelligence/burokratt"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운영기관 서비스 소개 https://ria.ee/en/state-information-system/artificial-intelligence/burokratt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"PF08",</a:t>
            </a:r>
          </a:p>
          <a:p xmlns:a="http://schemas.openxmlformats.org/drawingml/2006/main">
            <a:r>
              <a:t>  "sourceId": "A17",</a:t>
            </a:r>
          </a:p>
          <a:p xmlns:a="http://schemas.openxmlformats.org/drawingml/2006/main">
            <a:r>
              <a:t>  "title": "Morgan Stanley Assistant·Debrief",</a:t>
            </a:r>
          </a:p>
          <a:p xmlns:a="http://schemas.openxmlformats.org/drawingml/2006/main">
            <a:r>
              <a:t>  "region": "해외",</a:t>
            </a:r>
          </a:p>
          <a:p xmlns:a="http://schemas.openxmlformats.org/drawingml/2006/main">
            <a:r>
              <a:t>  "owner": "Morgan Stanley",</a:t>
            </a:r>
          </a:p>
          <a:p xmlns:a="http://schemas.openxmlformats.org/drawingml/2006/main">
            <a:r>
              <a:t>  "state": "업무 도구 운영 · 기업 발표",</a:t>
            </a:r>
          </a:p>
          <a:p xmlns:a="http://schemas.openxmlformats.org/drawingml/2006/main">
            <a:r>
              <a:t>  "period": "2023 Assistant / 2024 Debrief",</a:t>
            </a:r>
          </a:p>
          <a:p xmlns:a="http://schemas.openxmlformats.org/drawingml/2006/main">
            <a:r>
              <a:t>  "fact": "사내 지식 검색과 동의받은 회의 요약·후속조치·CRM 기록의 업무 흐름 결합",</a:t>
            </a:r>
          </a:p>
          <a:p xmlns:a="http://schemas.openxmlformats.org/drawingml/2006/main">
            <a:r>
              <a:t>  "limit": "Assistant 채택률과 Debrief 시간절감의 구분 · 사용자 동의·편집 판단 포함",</a:t>
            </a:r>
          </a:p>
          <a:p xmlns:a="http://schemas.openxmlformats.org/drawingml/2006/main">
            <a:r>
              <a:t>  "nodes": [</a:t>
            </a:r>
          </a:p>
          <a:p xmlns:a="http://schemas.openxmlformats.org/drawingml/2006/main">
            <a:r>
              <a:t>    "동의받은 회의",</a:t>
            </a:r>
          </a:p>
          <a:p xmlns:a="http://schemas.openxmlformats.org/drawingml/2006/main">
            <a:r>
              <a:t>    "요약·후속조치 초안",</a:t>
            </a:r>
          </a:p>
          <a:p xmlns:a="http://schemas.openxmlformats.org/drawingml/2006/main">
            <a:r>
              <a:t>    "자문가 편집·확인",</a:t>
            </a:r>
          </a:p>
          <a:p xmlns:a="http://schemas.openxmlformats.org/drawingml/2006/main">
            <a:r>
              <a:t>    "CRM·이메일 업무"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"apply": "회의 결과를 담당·기한·업무건과 연결한 CCK 후속조치 스킬",</a:t>
            </a:r>
          </a:p>
          <a:p xmlns:a="http://schemas.openxmlformats.org/drawingml/2006/main">
            <a:r>
              <a:t>  "delta": "전결·발송 확인 / 원문 근거 / 진행상태·인사이동 인계",</a:t>
            </a:r>
          </a:p>
          <a:p xmlns:a="http://schemas.openxmlformats.org/drawingml/2006/main">
            <a:r>
              <a:t>  "test": "발송 전 확인·판본 변경 재승인·담당 변경 후 인계 대사",</a:t>
            </a:r>
          </a:p>
          <a:p xmlns:a="http://schemas.openxmlformats.org/drawingml/2006/main">
            <a:r>
              <a:t>  "url": "https://www.morganstanley.com/press-releases/ai-at-morgan-stanley-debrief-launch",</a:t>
            </a:r>
          </a:p>
          <a:p xmlns:a="http://schemas.openxmlformats.org/drawingml/2006/main">
            <a:r>
              <a:t>  "basis": "도입기업 공식 서비스 발표",</a:t>
            </a:r>
          </a:p>
          <a:p xmlns:a="http://schemas.openxmlformats.org/drawingml/2006/main">
            <a:r>
              <a:t>  "checked": "2026-10-16",</a:t>
            </a:r>
          </a:p>
          <a:p xmlns:a="http://schemas.openxmlformats.org/drawingml/2006/main">
            <a:r>
              <a:t>  "diagramBasis": "공개 기능 설명 기반 서비스 흐름 재구성 · 실제 배치·비공개 인터페이스와 구분",</a:t>
            </a:r>
          </a:p>
          <a:p xmlns:a="http://schemas.openxmlformats.org/drawingml/2006/main">
            <a:r>
              <a:t>  "effect": "TS 업무 완료시간·오류·추가 구축 공수의 비교 평가",</a:t>
            </a:r>
          </a:p>
          <a:p xmlns:a="http://schemas.openxmlformats.org/drawingml/2006/main">
            <a:r>
              <a:t>  "group": "운영·실증",</a:t>
            </a:r>
          </a:p>
          <a:p xmlns:a="http://schemas.openxmlformats.org/drawingml/2006/main">
            <a:r>
              <a:t>  "urls": [</a:t>
            </a:r>
          </a:p>
          <a:p xmlns:a="http://schemas.openxmlformats.org/drawingml/2006/main">
            <a:r>
              <a:t>    "https://www.morganstanley.com/press-releases/ai-at-morgan-stanley-debrief-launch"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도입기업 공식 서비스 발표 https://www.morganstanley.com/press-releases/ai-at-morgan-stanley-debrief-launch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"PF-A08",</a:t>
            </a:r>
          </a:p>
          <a:p xmlns:a="http://schemas.openxmlformats.org/drawingml/2006/main">
            <a:r>
              <a:t>  "sourceId": "A08",</a:t>
            </a:r>
          </a:p>
          <a:p xmlns:a="http://schemas.openxmlformats.org/drawingml/2006/main">
            <a:r>
              <a:t>  "title": "싱가포르 AIBots·Desk",</a:t>
            </a:r>
          </a:p>
          <a:p xmlns:a="http://schemas.openxmlformats.org/drawingml/2006/main">
            <a:r>
              <a:t>  "region": "해외",</a:t>
            </a:r>
          </a:p>
          <a:p xmlns:a="http://schemas.openxmlformats.org/drawingml/2006/main">
            <a:r>
              <a:t>  "owner": "GovTech / AIBots→Desk",</a:t>
            </a:r>
          </a:p>
          <a:p xmlns:a="http://schemas.openxmlformats.org/drawingml/2006/main">
            <a:r>
              <a:t>  "state": "AIBots 사용 실적 / 현재 카탈로그 Desk 통합·POV",</a:t>
            </a:r>
          </a:p>
          <a:p xmlns:a="http://schemas.openxmlformats.org/drawingml/2006/main">
            <a:r>
              <a:t>  "period": "기존 원장 확인 2026.10.16",</a:t>
            </a:r>
          </a:p>
          <a:p xmlns:a="http://schemas.openxmlformats.org/drawingml/2006/main">
            <a:r>
              <a:t>  "fact": "정부 셀프서비스 AI 플랫폼",</a:t>
            </a:r>
          </a:p>
          <a:p xmlns:a="http://schemas.openxmlformats.org/drawingml/2006/main">
            <a:r>
              <a:t>  "limit": "봇 개수·사용량이 업무성과는 아님. 2025 AIBots와 2026 Desk를 독립 실적으로 합산하지 않음",</a:t>
            </a:r>
          </a:p>
          <a:p xmlns:a="http://schemas.openxmlformats.org/drawingml/2006/main">
            <a:r>
              <a:t>  "nodes": [</a:t>
            </a:r>
          </a:p>
          <a:p xmlns:a="http://schemas.openxmlformats.org/drawingml/2006/main">
            <a:r>
              <a:t>    "부서 문서",</a:t>
            </a:r>
          </a:p>
          <a:p xmlns:a="http://schemas.openxmlformats.org/drawingml/2006/main">
            <a:r>
              <a:t>    "RAG·업무 봇",</a:t>
            </a:r>
          </a:p>
          <a:p xmlns:a="http://schemas.openxmlformats.org/drawingml/2006/main">
            <a:r>
              <a:t>    "공유·이용 통제",</a:t>
            </a:r>
          </a:p>
          <a:p xmlns:a="http://schemas.openxmlformats.org/drawingml/2006/main">
            <a:r>
              <a:t>    "업무 접점"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"apply": "담당·승인판본·배포·폐기 조건",</a:t>
            </a:r>
          </a:p>
          <a:p xmlns:a="http://schemas.openxmlformats.org/drawingml/2006/main">
            <a:r>
              <a:t>  "delta": "담당·승인판본·배포·폐기 조건",</a:t>
            </a:r>
          </a:p>
          <a:p xmlns:a="http://schemas.openxmlformats.org/drawingml/2006/main">
            <a:r>
              <a:t>  "test": "중복 도구·갱신 공수의 기준선·비교 평가",</a:t>
            </a:r>
          </a:p>
          <a:p xmlns:a="http://schemas.openxmlformats.org/drawingml/2006/main">
            <a:r>
              <a:t>  "url": "https://www.tech.gov.sg/products-and-services/for-government-agencies/productivity-and-marketing/aibots/",</a:t>
            </a:r>
          </a:p>
          <a:p xmlns:a="http://schemas.openxmlformats.org/drawingml/2006/main">
            <a:r>
              <a:t>  "urls": [</a:t>
            </a:r>
          </a:p>
          <a:p xmlns:a="http://schemas.openxmlformats.org/drawingml/2006/main">
            <a:r>
              <a:t>    "https://www.tech.gov.sg/products-and-services/for-government-agencies/productivity-and-marketing/aibots/",</a:t>
            </a:r>
          </a:p>
          <a:p xmlns:a="http://schemas.openxmlformats.org/drawingml/2006/main">
            <a:r>
              <a:t>    "https://v2.developer.tech.gov.sg/products/categories/productivity-tools/aibots/features-roadmap",</a:t>
            </a:r>
          </a:p>
          <a:p xmlns:a="http://schemas.openxmlformats.org/drawingml/2006/main">
            <a:r>
              <a:t>    "https://products.tech.gov.sg/products?category=all&amp;status=ga"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"basis": "T053 / 부서지식·셀프서비스·운영 통제",</a:t>
            </a:r>
          </a:p>
          <a:p xmlns:a="http://schemas.openxmlformats.org/drawingml/2006/main">
            <a:r>
              <a:t>  "checked": "2026-10-16",</a:t>
            </a:r>
          </a:p>
          <a:p xmlns:a="http://schemas.openxmlformats.org/drawingml/2006/main">
            <a:r>
              <a:t>  "diagramBasis": "공개 기능 설명 기반 흐름 재구성 · 실제 구현·비공개 배치와 구분",</a:t>
            </a:r>
          </a:p>
          <a:p xmlns:a="http://schemas.openxmlformats.org/drawingml/2006/main">
            <a:r>
              <a:t>  "effect": "중복 도구·갱신 공수",</a:t>
            </a:r>
          </a:p>
          <a:p xmlns:a="http://schemas.openxmlformats.org/drawingml/2006/main">
            <a:r>
              <a:t>  "group": "운영·실증",</a:t>
            </a:r>
          </a:p>
          <a:p xmlns:a="http://schemas.openxmlformats.org/drawingml/2006/main">
            <a:r>
              <a:t>  "sourceDetail": "문서 업로드·RAG·시스템프롬프트·팀 공유. Desk는 업무시스템 탐색·이해·실행 지향\nRestricted/Sensitive Normal 범위, 고위험 용도 승인. 최신 카탈로그의 성숙도 확인",</a:t>
            </a:r>
          </a:p>
          <a:p xmlns:a="http://schemas.openxmlformats.org/drawingml/2006/main">
            <a:r>
              <a:t>  "evidenceScope": "원장에 기록된 출처·단계 기준"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T053 / 부서지식·셀프서비스·운영 통제 https://www.tech.gov.sg/products-and-services/for-government-agencies/productivity-and-marketing/aibots/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"PF-A15",</a:t>
            </a:r>
          </a:p>
          <a:p xmlns:a="http://schemas.openxmlformats.org/drawingml/2006/main">
            <a:r>
              <a:t>  "sourceId": "A15",</a:t>
            </a:r>
          </a:p>
          <a:p xmlns:a="http://schemas.openxmlformats.org/drawingml/2006/main">
            <a:r>
              <a:t>  "title": "호주 APS Copilot 평가",</a:t>
            </a:r>
          </a:p>
          <a:p xmlns:a="http://schemas.openxmlformats.org/drawingml/2006/main">
            <a:r>
              <a:t>  "region": "해외",</a:t>
            </a:r>
          </a:p>
          <a:p xmlns:a="http://schemas.openxmlformats.org/drawingml/2006/main">
            <a:r>
              <a:t>  "owner": "DTA / APS M365 Copilot 평가",</a:t>
            </a:r>
          </a:p>
          <a:p xmlns:a="http://schemas.openxmlformats.org/drawingml/2006/main">
            <a:r>
              <a:t>  "state": "2024-01~06 정부 실험·평가",</a:t>
            </a:r>
          </a:p>
          <a:p xmlns:a="http://schemas.openxmlformats.org/drawingml/2006/main">
            <a:r>
              <a:t>  "period": "기존 원장 확인 2026.10.16",</a:t>
            </a:r>
          </a:p>
          <a:p xmlns:a="http://schemas.openxmlformats.org/drawingml/2006/main">
            <a:r>
              <a:t>  "fact": "기존 협업 플랫폼 AI 적용",</a:t>
            </a:r>
          </a:p>
          <a:p xmlns:a="http://schemas.openxmlformats.org/drawingml/2006/main">
            <a:r>
              <a:t>  "limit": "무작위 실험 아님. 일부 업무 하루1시간 체감 절감을 전직원 실측값으로 사용 금지",</a:t>
            </a:r>
          </a:p>
          <a:p xmlns:a="http://schemas.openxmlformats.org/drawingml/2006/main">
            <a:r>
              <a:t>  "nodes": [</a:t>
            </a:r>
          </a:p>
          <a:p xmlns:a="http://schemas.openxmlformats.org/drawingml/2006/main">
            <a:r>
              <a:t>    "참여 기관",</a:t>
            </a:r>
          </a:p>
          <a:p xmlns:a="http://schemas.openxmlformats.org/drawingml/2006/main">
            <a:r>
              <a:t>    "협업 AI 도구",</a:t>
            </a:r>
          </a:p>
          <a:p xmlns:a="http://schemas.openxmlformats.org/drawingml/2006/main">
            <a:r>
              <a:t>    "교육·업무 활용",</a:t>
            </a:r>
          </a:p>
          <a:p xmlns:a="http://schemas.openxmlformats.org/drawingml/2006/main">
            <a:r>
              <a:t>    "전후 설문 평가"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"apply": "부서·직무·권한·변경 교차 평가",</a:t>
            </a:r>
          </a:p>
          <a:p xmlns:a="http://schemas.openxmlformats.org/drawingml/2006/main">
            <a:r>
              <a:t>  "delta": "부서·직무·권한·변경 교차 평가",</a:t>
            </a:r>
          </a:p>
          <a:p xmlns:a="http://schemas.openxmlformats.org/drawingml/2006/main">
            <a:r>
              <a:t>  "test": "완료시간·오류·총비용의 기준선·비교 평가",</a:t>
            </a:r>
          </a:p>
          <a:p xmlns:a="http://schemas.openxmlformats.org/drawingml/2006/main">
            <a:r>
              <a:t>  "url": "https://www.digital.gov.au/initiatives/copilot-trial/microsoft-365-copilot-evaluation-report-full/executive-summary-glossary",</a:t>
            </a:r>
          </a:p>
          <a:p xmlns:a="http://schemas.openxmlformats.org/drawingml/2006/main">
            <a:r>
              <a:t>  "urls": [</a:t>
            </a:r>
          </a:p>
          <a:p xmlns:a="http://schemas.openxmlformats.org/drawingml/2006/main">
            <a:r>
              <a:t>    "https://www.digital.gov.au/initiatives/copilot-trial/microsoft-365-copilot-evaluation-report-full/executive-summary-glossary",</a:t>
            </a:r>
          </a:p>
          <a:p xmlns:a="http://schemas.openxmlformats.org/drawingml/2006/main">
            <a:r>
              <a:t>    "https://www.digital.gov.au/initiatives/copilot-trial/microsoft-365-copilot-evaluation-report-full/productivity"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"basis": "P139 / 교육·도입 정착·평가 한계",</a:t>
            </a:r>
          </a:p>
          <a:p xmlns:a="http://schemas.openxmlformats.org/drawingml/2006/main">
            <a:r>
              <a:t>  "checked": "2026-10-16",</a:t>
            </a:r>
          </a:p>
          <a:p xmlns:a="http://schemas.openxmlformats.org/drawingml/2006/main">
            <a:r>
              <a:t>  "diagramBasis": "공개 기능 설명 기반 흐름 재구성 · 실제 구현·비공개 배치와 구분",</a:t>
            </a:r>
          </a:p>
          <a:p xmlns:a="http://schemas.openxmlformats.org/drawingml/2006/main">
            <a:r>
              <a:t>  "effect": "완료시간·오류·총비용",</a:t>
            </a:r>
          </a:p>
          <a:p xmlns:a="http://schemas.openxmlformats.org/drawingml/2006/main">
            <a:r>
              <a:t>  "group": "운영·실증",</a:t>
            </a:r>
          </a:p>
          <a:p xmlns:a="http://schemas.openxmlformats.org/drawingml/2006/main">
            <a:r>
              <a:t>  "sourceDetail": "5,765개 이상 라이선스, 기관 지명 방식 참여, 설문·기관 평가\n기관 맥락에 맞는 교육·활용 사례가 확산 요인. Nous 외부 평가 지원",</a:t>
            </a:r>
          </a:p>
          <a:p xmlns:a="http://schemas.openxmlformats.org/drawingml/2006/main">
            <a:r>
              <a:t>  "evidenceScope": "원장에 기록된 출처·단계 기준"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P139 / 교육·도입 정착·평가 한계 https://www.digital.gov.au/initiatives/copilot-trial/microsoft-365-copilot-evaluation-report-full/executive-summary-glossary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"PF-C02",</a:t>
            </a:r>
          </a:p>
          <a:p xmlns:a="http://schemas.openxmlformats.org/drawingml/2006/main">
            <a:r>
              <a:t>  "sourceId": "C02",</a:t>
            </a:r>
          </a:p>
          <a:p xmlns:a="http://schemas.openxmlformats.org/drawingml/2006/main">
            <a:r>
              <a:t>  "title": "Glean People connector",</a:t>
            </a:r>
          </a:p>
          <a:p xmlns:a="http://schemas.openxmlformats.org/drawingml/2006/main">
            <a:r>
              <a:t>  "region": "해외",</a:t>
            </a:r>
          </a:p>
          <a:p xmlns:a="http://schemas.openxmlformats.org/drawingml/2006/main">
            <a:r>
              <a:t>  "owner": "Glean / People connector",</a:t>
            </a:r>
          </a:p>
          <a:p xmlns:a="http://schemas.openxmlformats.org/drawingml/2006/main">
            <a:r>
              <a:t>  "state": "공식 기능 문서 / 2026-10-16 확인",</a:t>
            </a:r>
          </a:p>
          <a:p xmlns:a="http://schemas.openxmlformats.org/drawingml/2006/main">
            <a:r>
              <a:t>  "period": "기존 원장 확인 2026.10.16",</a:t>
            </a:r>
          </a:p>
          <a:p xmlns:a="http://schemas.openxmlformats.org/drawingml/2006/main">
            <a:r>
              <a:t>  "fact": "제품 기능 비교 / 기관 도입 성과 아님",</a:t>
            </a:r>
          </a:p>
          <a:p xmlns:a="http://schemas.openxmlformats.org/drawingml/2006/main">
            <a:r>
              <a:t>  "limit": "CSV 방식은 인사 변경마다 재업로드 필요. 자동 커넥터도 제공. 동기화·조직 맥락 자체는 CCK 독점 기능 아님",</a:t>
            </a:r>
          </a:p>
          <a:p xmlns:a="http://schemas.openxmlformats.org/drawingml/2006/main">
            <a:r>
              <a:t>  "nodes": [</a:t>
            </a:r>
          </a:p>
          <a:p xmlns:a="http://schemas.openxmlformats.org/drawingml/2006/main">
            <a:r>
              <a:t>    "직원 디렉터리",</a:t>
            </a:r>
          </a:p>
          <a:p xmlns:a="http://schemas.openxmlformats.org/drawingml/2006/main">
            <a:r>
              <a:t>    "동기화·필드 매핑",</a:t>
            </a:r>
          </a:p>
          <a:p xmlns:a="http://schemas.openxmlformats.org/drawingml/2006/main">
            <a:r>
              <a:t>    "권한별 검색",</a:t>
            </a:r>
          </a:p>
          <a:p xmlns:a="http://schemas.openxmlformats.org/drawingml/2006/main">
            <a:r>
              <a:t>    "직원 정보 활용"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"apply": "전보·퇴직·겸직 이후 검색·인계·캐시 회수",</a:t>
            </a:r>
          </a:p>
          <a:p xmlns:a="http://schemas.openxmlformats.org/drawingml/2006/main">
            <a:r>
              <a:t>  "delta": "전보·퇴직·겸직 이후 검색·인계·캐시 회수",</a:t>
            </a:r>
          </a:p>
          <a:p xmlns:a="http://schemas.openxmlformats.org/drawingml/2006/main">
            <a:r>
              <a:t>  "test": "오노출 건수·변경 반영 지연의 기준선·비교 평가",</a:t>
            </a:r>
          </a:p>
          <a:p xmlns:a="http://schemas.openxmlformats.org/drawingml/2006/main">
            <a:r>
              <a:t>  "url": "https://docs.glean.com/get-started/setup/sync-people-data",</a:t>
            </a:r>
          </a:p>
          <a:p xmlns:a="http://schemas.openxmlformats.org/drawingml/2006/main">
            <a:r>
              <a:t>  "urls": [</a:t>
            </a:r>
          </a:p>
          <a:p xmlns:a="http://schemas.openxmlformats.org/drawingml/2006/main">
            <a:r>
              <a:t>    "https://docs.glean.com/get-started/setup/sync-people-data"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"basis": "Select people connector / Manual upload / CSV format",</a:t>
            </a:r>
          </a:p>
          <a:p xmlns:a="http://schemas.openxmlformats.org/drawingml/2006/main">
            <a:r>
              <a:t>  "checked": "2026-10-16",</a:t>
            </a:r>
          </a:p>
          <a:p xmlns:a="http://schemas.openxmlformats.org/drawingml/2006/main">
            <a:r>
              <a:t>  "diagramBasis": "공개 기능 설명 기반 흐름 재구성 · 실제 구현·비공개 배치와 구분",</a:t>
            </a:r>
          </a:p>
          <a:p xmlns:a="http://schemas.openxmlformats.org/drawingml/2006/main">
            <a:r>
              <a:t>  "effect": "오노출 건수·변경 반영 지연",</a:t>
            </a:r>
          </a:p>
          <a:p xmlns:a="http://schemas.openxmlformats.org/drawingml/2006/main">
            <a:r>
              <a:t>  "group": "제품 비교",</a:t>
            </a:r>
          </a:p>
          <a:p xmlns:a="http://schemas.openxmlformats.org/drawingml/2006/main">
            <a:r>
              <a:t>  "sourceDetail": "직원 디렉터리 동기화, 권한 적용·역할 기반 접근 및 검색 개인화. 부서·직책·상사 등 필드 매핑",</a:t>
            </a:r>
          </a:p>
          <a:p xmlns:a="http://schemas.openxmlformats.org/drawingml/2006/main">
            <a:r>
              <a:t>  "evidenceScope": "원장에 기록된 출처·단계 기준"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Select people connector / Manual upload / CSV format https://docs.glean.com/get-started/setup/sync-people-data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"PF31",</a:t>
            </a:r>
          </a:p>
          <a:p xmlns:a="http://schemas.openxmlformats.org/drawingml/2006/main">
            <a:r>
              <a:t>  "sourceId": "AX13",</a:t>
            </a:r>
          </a:p>
          <a:p xmlns:a="http://schemas.openxmlformats.org/drawingml/2006/main">
            <a:r>
              <a:t>  "title": "뉴욕 MyCity 챗봇 감사",</a:t>
            </a:r>
          </a:p>
          <a:p xmlns:a="http://schemas.openxmlformats.org/drawingml/2006/main">
            <a:r>
              <a:t>  "region": "해외",</a:t>
            </a:r>
          </a:p>
          <a:p xmlns:a="http://schemas.openxmlformats.org/drawingml/2006/main">
            <a:r>
              <a:t>  "owner": "뉴욕시 / 감사기관",</a:t>
            </a:r>
          </a:p>
          <a:p xmlns:a="http://schemas.openxmlformats.org/drawingml/2006/main">
            <a:r>
              <a:t>  "state": "감사 지적·개선",</a:t>
            </a:r>
          </a:p>
          <a:p xmlns:a="http://schemas.openxmlformats.org/drawingml/2006/main">
            <a:r>
              <a:t>  "period": "2025 감사 / 2026 갱신",</a:t>
            </a:r>
          </a:p>
          <a:p xmlns:a="http://schemas.openxmlformats.org/drawingml/2006/main">
            <a:r>
              <a:t>  "fact": "부정확·비일관 답변과 사업관리·통합서비스 미비에 대한 감사 지적",</a:t>
            </a:r>
          </a:p>
          <a:p xmlns:a="http://schemas.openxmlformats.org/drawingml/2006/main">
            <a:r>
              <a:t>  "limit": "운영기관의 정확도 주장과 감사 판단의 차이 존재 · 개별 질의·평가 방식 대조 필요",</a:t>
            </a:r>
          </a:p>
          <a:p xmlns:a="http://schemas.openxmlformats.org/drawingml/2006/main">
            <a:r>
              <a:t>  "nodes": [</a:t>
            </a:r>
          </a:p>
          <a:p xmlns:a="http://schemas.openxmlformats.org/drawingml/2006/main">
            <a:r>
              <a:t>    "공공 안내 자료",</a:t>
            </a:r>
          </a:p>
          <a:p xmlns:a="http://schemas.openxmlformats.org/drawingml/2006/main">
            <a:r>
              <a:t>    "AI 챗봇",</a:t>
            </a:r>
          </a:p>
          <a:p xmlns:a="http://schemas.openxmlformats.org/drawingml/2006/main">
            <a:r>
              <a:t>    "사업자 안내",</a:t>
            </a:r>
          </a:p>
          <a:p xmlns:a="http://schemas.openxmlformats.org/drawingml/2006/main">
            <a:r>
              <a:t>    "감사·개선 요청"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"apply": "TS 대민 안내의 근거·소관·신청 완료까지 검수",</a:t>
            </a:r>
          </a:p>
          <a:p xmlns:a="http://schemas.openxmlformats.org/drawingml/2006/main">
            <a:r>
              <a:t>  "delta": "반례 정답셋·오안내 신고·책임부서 인계",</a:t>
            </a:r>
          </a:p>
          <a:p xmlns:a="http://schemas.openxmlformats.org/drawingml/2006/main">
            <a:r>
              <a:t>  "test": "규정과 상충하는 안내 및 미완료 신청 재현",</a:t>
            </a:r>
          </a:p>
          <a:p xmlns:a="http://schemas.openxmlformats.org/drawingml/2006/main">
            <a:r>
              <a:t>  "url": "https://comptroller.nyc.gov/reports/audit-report-on-the-new-york-city-office-of-technology-and-innovations-mycity-system/",</a:t>
            </a:r>
          </a:p>
          <a:p xmlns:a="http://schemas.openxmlformats.org/drawingml/2006/main">
            <a:r>
              <a:t>  "basis": "뉴욕시 감사 보고서",</a:t>
            </a:r>
          </a:p>
          <a:p xmlns:a="http://schemas.openxmlformats.org/drawingml/2006/main">
            <a:r>
              <a:t>  "checked": "2026-10-16",</a:t>
            </a:r>
          </a:p>
          <a:p xmlns:a="http://schemas.openxmlformats.org/drawingml/2006/main">
            <a:r>
              <a:t>  "diagramBasis": "공개 업무 흐름의 요약·재구성 / 내부 배치 구조 추정 제외",</a:t>
            </a:r>
          </a:p>
          <a:p xmlns:a="http://schemas.openxmlformats.org/drawingml/2006/main">
            <a:r>
              <a:t>  "effect": "오안내율 / 신청 완료율 / 재접촉률",</a:t>
            </a:r>
          </a:p>
          <a:p xmlns:a="http://schemas.openxmlformats.org/drawingml/2006/main">
            <a:r>
              <a:t>  "group": "감사·개선"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뉴욕시 감사 보고서 https://comptroller.nyc.gov/reports/audit-report-on-the-new-york-city-office-of-technology-and-innovations-mycity-system/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[{"id":"B01","title":"공통 모델·서비스","caseIds":["PF01","PF05","PF06"],"reuse":"공통 모델·검색·문서 기능 재사용","delta":"기관·직무별 설정과 품질 기준","kpi":"신규 연결 공수·요청당 비용","relation":"설계 요소 비교 · 해당 사례의 TS 조직 인식 구현을 의미하지 않음"},{"id":"B02","title":"지식·개정 관리","caseIds":["PF02"],"reuse":"문서 검색·근거 응답","delta":"업무분장·판본·책임자·개정 영향 연결","kpi":"구버전 인용률·반영 지연","relation":"설계 요소 비교 · 해당 사례의 TS 조직 인식 구현을 의미하지 않음"},{"id":"B03","title":"조직·직무 인식","caseIds":["PF01","PF05"],"reuse":"기존 로그인·직원 정보 연계 후보","delta":"사번·직무·별칭·겸직·책임업무 매핑","kpi":"인물 식별·직무 매핑 정확도","relation":"설계 요소 비교 · 해당 사례의 TS 조직 인식 구현을 의미하지 않음"},{"id":"B04","title":"권한·인사변경","caseIds":["PF01","PF08"],"reuse":"인증·접근정책 연계 후보","delta":"전보·퇴직·겸직 이후 검색·인계·캐시 회수","kpi":"오노출 건수·변경 반영 지연","relation":"설계 요소 비교 · 해당 사례의 TS 조직 인식 구현을 의미하지 않음"},{"id":"B05","title":"업무 목적·실행","caseIds":["PF04","PF08"],"reuse":"스킬·검토·구조화 입력 명세","delta":"필수 항목·담당자·승인·API 처리 연결","kpi":"완료율·재작업·중복 처리","relation":"설계 요소 비교 · 해당 사례의 TS 조직 인식 구현을 의미하지 않음"},{"id":"B06","title":"기간계 연계","caseIds":["PF03","PF04"],"reuse":"보유 API·어댑터 후보","delta":"읽기·쓰기 권한·멱등성·원천 대사","kpi":"연결 공수·호출 성공률","relation":"설계 요소 비교 · 해당 사례의 TS 조직 인식 구현을 의미하지 않음"},{"id":"B07","title":"민원·책임부서","caseIds":["PF07"],"reuse":"질의 분류·요약 후보","delta":"업무분장·관할·복수부서 배정","kpi":"재배정률·최종 해결시간","relation":"설계 요소 비교 · 해당 사례의 TS 조직 인식 구현을 의미하지 않음"},{"id":"B08","title":"대민 안내·인계","caseIds":["PF07"],"reuse":"공개 지식 검색·대화","delta":"발화 확인·준비서류·공식 메뉴·상담 연결","kpi":"서비스 도달률·포기율","relation":"설계 요소 비교 · 해당 사례의 TS 조직 인식 구현을 의미하지 않음"},{"id":"B09","title":"전문 업무 모듈","caseIds":["PF02","PF08"],"reuse":"근거 검토·절차 실행 스킬 명세","delta":"교통 업무별 지식·서식·예외·검증 세트","kpi":"현업 수용률·증거 누락률","relation":"설계 요소 비교 · 해당 사례의 TS 조직 인식 구현을 의미하지 않음"},{"id":"B10","title":"현업 제작·공유","caseIds":["PF05"],"reuse":"스킬·프리셋·부서 지식 후보","delta":"담당·승인판본·배포·폐기 조건","kpi":"중복 도구·갱신 공수","relation":"설계 요소 비교 · 해당 사례의 TS 조직 인식 구현을 의미하지 않음"},{"id":"B11","title":"평가·효과 검증","caseIds":["PF02","PF04","PF08"],"reuse":"테스트·로그·검토 명세","delta":"부서·직무·권한·변경 교차 평가","kpi":"완료시간·오류·총비용","relation":"설계 요소 비교 · 해당 사례의 TS 조직 인식 구현을 의미하지 않음"},{"id":"B12","title":"운영·교육·확산","caseIds":["PF04","PF05","PF06"],"reuse":"운영 로그·개발/운영 경계 명세","delta":"기관 설정·회귀 평가·두 번째 부서 적용","kpi":"도입기간·유지비·교육 부담","relation":"설계 요소 비교 · 해당 사례의 TS 조직 인식 구현을 의미하지 않음"}]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배포 https://bigdata.dongjak.go.kr/board/viewArticle?articleNo=954&amp;boardId=4</a:t>
            </a:r>
          </a:p>
          <a:p xmlns:a="http://schemas.openxmlformats.org/drawingml/2006/main">
            <a:r>
              <a:t>전체 웹 사례집 https://heen1987-ops.github.io/TS-business-Plan-001/index.html?view=platform-cases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040ad6ddcd4c6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2d91dbdad944f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4e7cb9b8a347f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bff9ad2dcb411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3c7a974a8e4ac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9ea81dfb1d4f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CA61571-B0D9-48B7-B816-D85093B0FF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BF2DCBF-B867-4AD9-ACD1-BDC94A881FC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7D33E4B-89C2-4D32-B0EE-E0FED30696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ABFA0E-D6CC-4258-8F50-8EA9E4B6DB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1B308C8-39E5-4B5A-A084-B3ACFCD89A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943D0B2-B648-43DE-87E1-611300DA45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78F1DE1-F949-49AF-ADB5-01FA3481A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8AE0E44-3F58-42BF-976E-E39E48F7E8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231D81-0395-473D-80CF-C0360F493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02362C2-13CE-45BB-94B1-8EC1C29B74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9bab353baa49b8" /><Relationship Type="http://schemas.openxmlformats.org/officeDocument/2006/relationships/slideLayout" Target="/ppt/slideLayouts/slideLayout1.xml" Id="R3660063768904da2" /><Relationship Type="http://schemas.openxmlformats.org/officeDocument/2006/relationships/slideLayout" Target="/ppt/slideLayouts/slideLayout2.xml" Id="R6a10f6efd5894079" /><Relationship Type="http://schemas.openxmlformats.org/officeDocument/2006/relationships/slideLayout" Target="/ppt/slideLayouts/slideLayout3.xml" Id="R901c22e0ef1e44c6" /><Relationship Type="http://schemas.openxmlformats.org/officeDocument/2006/relationships/slideLayout" Target="/ppt/slideLayouts/slideLayout4.xml" Id="Rcef6703693104373" /><Relationship Type="http://schemas.openxmlformats.org/officeDocument/2006/relationships/slideLayout" Target="/ppt/slideLayouts/slideLayout5.xml" Id="R1c518123e3a94237" /><Relationship Type="http://schemas.openxmlformats.org/officeDocument/2006/relationships/slideLayout" Target="/ppt/slideLayouts/slideLayout6.xml" Id="R26e94798ac6f44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60063768904da2"/>
    <p:sldLayoutId xmlns:r="http://schemas.openxmlformats.org/officeDocument/2006/relationships" id="2147483650" r:id="R6a10f6efd5894079"/>
    <p:sldLayoutId xmlns:r="http://schemas.openxmlformats.org/officeDocument/2006/relationships" id="2147483651" r:id="R901c22e0ef1e44c6"/>
    <p:sldLayoutId xmlns:r="http://schemas.openxmlformats.org/officeDocument/2006/relationships" id="2147483652" r:id="Rcef6703693104373"/>
    <p:sldLayoutId xmlns:r="http://schemas.openxmlformats.org/officeDocument/2006/relationships" id="2147483653" r:id="R1c518123e3a94237"/>
    <p:sldLayoutId xmlns:r="http://schemas.openxmlformats.org/officeDocument/2006/relationships" id="2147483654" r:id="R26e94798ac6f44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retendard"/>
        <a:ea typeface=""/>
        <a:cs typeface=""/>
      </a:majorFont>
      <a:minorFont>
        <a:latin typeface="Pretendard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a146d4d8cb478f" /><Relationship Type="http://schemas.openxmlformats.org/officeDocument/2006/relationships/notesSlide" Target="/ppt/notesSlides/notesSlide1.xml" Id="R9c46deb58a9f43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517fddde4848ad" /><Relationship Type="http://schemas.openxmlformats.org/officeDocument/2006/relationships/notesSlide" Target="/ppt/notesSlides/notesSlide2.xml" Id="Ra2bfd9af8ba848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228447989f4eb6" /><Relationship Type="http://schemas.openxmlformats.org/officeDocument/2006/relationships/notesSlide" Target="/ppt/notesSlides/notesSlide3.xml" Id="R001d654058d548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141b5b22894b1d" /><Relationship Type="http://schemas.openxmlformats.org/officeDocument/2006/relationships/notesSlide" Target="/ppt/notesSlides/notesSlide4.xml" Id="Reb009ff18454475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be11365dfd45e6" /><Relationship Type="http://schemas.openxmlformats.org/officeDocument/2006/relationships/notesSlide" Target="/ppt/notesSlides/notesSlide5.xml" Id="Rdb6fc51f193042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2c861e46d04059" /><Relationship Type="http://schemas.openxmlformats.org/officeDocument/2006/relationships/notesSlide" Target="/ppt/notesSlides/notesSlide6.xml" Id="R539098de9be24a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3fc15010cc42f5" /><Relationship Type="http://schemas.openxmlformats.org/officeDocument/2006/relationships/notesSlide" Target="/ppt/notesSlides/notesSlide7.xml" Id="Rb7b734acac5349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c838246e6041fc" /><Relationship Type="http://schemas.openxmlformats.org/officeDocument/2006/relationships/notesSlide" Target="/ppt/notesSlides/notesSlide8.xml" Id="R9a8e113a99ce47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3943f6166c42ae" /><Relationship Type="http://schemas.openxmlformats.org/officeDocument/2006/relationships/notesSlide" Target="/ppt/notesSlides/notesSlide9.xml" Id="Rc8349a267dd24c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c09e0bfb124012" /><Relationship Type="http://schemas.openxmlformats.org/officeDocument/2006/relationships/notesSlide" Target="/ppt/notesSlides/notesSlide10.xml" Id="R46a20c6309c8440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5fae52458e424f" /><Relationship Type="http://schemas.openxmlformats.org/officeDocument/2006/relationships/notesSlide" Target="/ppt/notesSlides/notesSlide11.xml" Id="Rc120183a19e247b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b3e37826d44225" /><Relationship Type="http://schemas.openxmlformats.org/officeDocument/2006/relationships/notesSlide" Target="/ppt/notesSlides/notesSlide12.xml" Id="Rceeb44e16c56464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a083f4058e4d04" /><Relationship Type="http://schemas.openxmlformats.org/officeDocument/2006/relationships/notesSlide" Target="/ppt/notesSlides/notesSlide13.xml" Id="R3754ce75e202453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1b7ddf134d459d" /><Relationship Type="http://schemas.openxmlformats.org/officeDocument/2006/relationships/notesSlide" Target="/ppt/notesSlides/notesSlide14.xml" Id="Ra41a75cd2d9e467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5a0f93e7e948de" /><Relationship Type="http://schemas.openxmlformats.org/officeDocument/2006/relationships/notesSlide" Target="/ppt/notesSlides/notesSlide15.xml" Id="Re81f53c5aee04a9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0AA5D9-4E01-4ADE-AC34-49AC00307695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91575" y="35623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58A0ED-15CC-4074-93E9-D973BCF4FC38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62650" y="35623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C10413-CABB-4803-8E43-6A61254BF521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33725" y="35623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837093-EDD6-45A4-86FD-61553934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GROWTH AI · ORGANIZATION-NATIVE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A22C3E-5022-4B1D-843D-2D33F0A5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AI 플랫폼 구축 사례집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74C8FA-F49E-4EB7-B0C0-033F7693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88D8A0-B594-47F5-A901-36365DC3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6C86E-47A1-4ADC-AAE3-02FC98D1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98F8B3-723C-4866-B225-1D42072F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공통 기반 → 업무 실행 → 운영·검증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C2FADA-9891-4BDF-A8EE-4AD5FB30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EA10A-9032-4325-AF2D-C2A7BC31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28612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공통 지식·모델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36424-A629-4BE2-A125-5844E40E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14325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616B2-52C5-472D-8ADD-E1A07D35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8612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조직·직무·권한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77527-6AE2-4FCF-8134-3505ABC5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4325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A7C7AF-653A-451C-AB80-26E49B05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8612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업무·기간계 연계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3F6F83-3D18-4E3D-8C48-A5D087CC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14325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9FE822-2ACB-4546-9378-F882F166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28612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평가·감사·운영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056865-5766-42B4-8AC9-04371FD0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005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수록 범위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55BDA2-774A-41A8-9A45-963770C4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핵심 시각화 12건 / 웹 상세 31건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운영·실증·구축요구·제품·감사 구분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019CCC-9307-46D4-8A78-5DC17AC9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005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전체 조사원장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88DC47-319A-4D9C-A2CC-97AB9603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00600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국내 110건 / 해외 42개국 2,527건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원장 전수 색인 · 최신 성과 검증과 별도</a:t>
            </a:r>
          </a:p>
        </p:txBody>
      </p:sp>
    </p:spTree>
    <p:extLst>
      <p:ext uri="{BB962C8B-B14F-4D97-AF65-F5344CB8AC3E}">
        <p14:creationId xmlns:p14="http://schemas.microsoft.com/office/powerpoint/2010/main" val="13550883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F4FC0-71D5-4E24-B31E-4C7513188FA7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9157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E5BB8A-2544-45A1-908A-F73F00F5AE3A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62650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6EC3D2-8DEE-44C1-A9C6-FA5626A968D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3372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4BD343-7EA1-4381-ADD6-D79D62A3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공통기반 운영 / 업무 앱 시범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0A9B65-1E69-4781-A54B-5A7A96C2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범정부 AI 공통기반·법령비서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61F9EA-4DC4-49F6-BFEC-D75CE656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839C8E-2237-40F7-8242-DD126D3B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821416-DB43-4F45-B9EB-F9B9BE55B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01403F-012A-4BD9-83E3-F2EC2942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공통 AI 이용환경에 법령·판례 지식을 결합한 법령비서 시범 서비스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03E5A3-0B02-4C33-8786-211392D1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F000F-659E-49A2-9A3E-860D94895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정부 공통 이용환경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7ADF11-6454-433F-B7C0-A50E74E6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565ADF-C249-4AB8-8F50-43012180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공통 모델·검색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D0BA7E-07FB-42E8-AC71-22CCE1A7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1E69EC-2977-457B-9B8A-D04622D9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법령·판례 지식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6604F7-9323-4E19-B7D9-43365F308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519AA4-FA8F-4590-B606-23BCAE6E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법령비서·직원 검토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3532E7-724C-44A1-B210-0394AB1E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00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CCK 현지화·추가 개발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297BC-4BD3-4F06-A4E8-16E71B01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소관·직무·규정 판본 연결 및 부서별 정답셋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C74776-E676-4448-BD5B-EC1A5308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100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검수·기대효과 지표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5F00FB-C8A7-4EE5-B6AA-037B1C12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0075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동일 규정 질의의 판본·출처·소관 일치 검증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TS 업무 완료시간·오류·추가 구축 공수의 비교 평가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109F14-8044-44FA-8EA1-1F278CBC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시범 개시와 범정부 확산 계획의 구분 · 업무시간 절감 실측 별도</a:t>
            </a:r>
          </a:p>
        </p:txBody>
      </p:sp>
    </p:spTree>
    <p:extLst>
      <p:ext uri="{BB962C8B-B14F-4D97-AF65-F5344CB8AC3E}">
        <p14:creationId xmlns:p14="http://schemas.microsoft.com/office/powerpoint/2010/main" val="6435757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24A78E-480B-4224-8D98-0F35E991636F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9157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CA49D5-F5AA-4CA7-BA70-4A508A079075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62650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FE04BE-D650-41BF-BC38-7F1D49FEAA1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3372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54620E-40DE-4568-9CF7-C5DC3C34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정식 운영 · 기관 발표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7B1839-173C-491E-B6AA-5E7B9B08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한전 사내표준 AI 플랫폼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BD5096-B619-4F39-A2C9-AD0DF3C8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E4B2AE-8A43-47B9-BEBA-7937D7C3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466C82-6967-4293-9417-E47FCAAB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70A0F2-7FD0-47CB-835D-AADBF68E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사내표준 질의·근거 조문과 개정 검토·전자결재를 연결한 업무 플랫폼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B5639B-2108-4D81-9F6E-9F285424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9C91A-970E-4726-8A65-36BFCB68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사내표준 정비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E0146-A806-41BF-8182-35CFA77F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8C6675-929D-41D0-9303-89C6BDD5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근거 질의·응답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950783-9A5F-468D-85BF-3C307324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37A6E6-2615-429D-865D-EC7316C8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개정·오류 점검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1EEF1F-6B39-493A-BC13-DBC8ACC4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FCB7EC-70A9-4D03-B906-0E1B7BB0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전자결재·담당 검토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163B09-6362-4C5D-9131-4B5E5D7E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00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CCK 현지화·추가 개발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9068AE-FF2F-4A79-AB91-0A681E5D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규정 개정 영향 업무 탐색 / 폐지 지식 차단 / 승인판본 배포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D91581-287F-4895-AA7C-F34013BF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100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검수·기대효과 지표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B38061-A9A5-4C36-BA4E-31F9C656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0075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개정 전후 질문의 판본 일치 및 영향 업무 재평가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TS 업무 완료시간·오류·추가 구축 공수의 비교 평가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13477B-C6C9-4986-AF0D-BD736FAA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문서번호·답변 근거의 정비 부담 공개 · 제시된 절감 기대와 실측 성과의 구분</a:t>
            </a:r>
          </a:p>
        </p:txBody>
      </p:sp>
    </p:spTree>
    <p:extLst>
      <p:ext uri="{BB962C8B-B14F-4D97-AF65-F5344CB8AC3E}">
        <p14:creationId xmlns:p14="http://schemas.microsoft.com/office/powerpoint/2010/main" val="10248646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E1DFBA-B4D6-45A7-BAC8-719BDDF7EE3B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9157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3CD77A-3E29-425C-B0E1-B95D28EB29A9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62650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EB2A3D-5318-4010-9243-CF39182C5A4A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3372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FE2B17-2498-4DC7-828C-7C08CBF2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공개 데이터 연계 서비스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E96495-8C85-42D8-A9B9-CB0DF0F5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HRDKorea MCP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3DA242-3234-4EA2-B637-6E6CC6D9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780FF9-9BFB-46E3-8C24-5691C528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E781DB-E486-45B9-B699-9709373D4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E84628-DBAC-46D4-9E98-3BD50326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기존 공공 API를 MCP 도구로 제공하여 외부 AI의 공식 데이터 조회 지원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31C28-36F9-4961-A679-0C263367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991E36-D674-46BF-8087-E05FE495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외부 AI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9C8ADD-ED0A-4F75-8F03-D73D182C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093F26-03F5-4485-9BB4-E9A2A78C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MCP 도구 선택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B91EA4-0AA3-4163-AFE3-B6456431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7042CC-6D08-4DA0-95C0-56EF18A2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기존 공식 API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D641EB-674B-43F2-8702-4C61DE4E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795CC3-D0AF-40AD-8B45-389A1AA5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최신 데이터 안내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77A6DD-27FE-4281-8046-B1D24C67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00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CCK 현지화·추가 개발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3DAFEB-BFC0-4549-8F5A-3260CF1A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기관·직무별 도구 권한 / 요청키 / 오류·중복 처리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776824-A948-44C7-9B26-F4717ABE3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100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검수·기대효과 지표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D79A4D-4A6A-4701-9CA1-60C59AD8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0075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도구별 입력·응답·인증·오류 처리 계약 및 쓰기 요청 차단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TS 업무 완료시간·오류·추가 구축 공수의 비교 평가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68E1FB-5C11-486C-88FD-A3809EE6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공개 조회의 구축 사례 · 내부 결재·수정 실행의 검증과 별개</a:t>
            </a:r>
          </a:p>
        </p:txBody>
      </p:sp>
    </p:spTree>
    <p:extLst>
      <p:ext uri="{BB962C8B-B14F-4D97-AF65-F5344CB8AC3E}">
        <p14:creationId xmlns:p14="http://schemas.microsoft.com/office/powerpoint/2010/main" val="16878494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0C121F-77AF-4D04-BFE0-EB9103BF9024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9157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CEA8AC-7E93-4FDC-AF8A-B0AFAF93B522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62650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7C2EBC-4C2A-4B58-9293-9E7EE185DFE4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3372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26202B-2286-46FF-9C44-CF9CB982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사내 운영 · 자사 발표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995941-92B5-4114-B4B7-740E052F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삼성SDS FabriX 업무 플랫폼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9B408-04E9-4FA4-B341-756F90F0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12B816-A233-407F-A939-FD10B929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B06CC3-783D-4065-A282-03D78581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46BF9-B539-408B-A506-BF1B203C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공통 AI와 사내 시스템 API·협업 도구·개발 접점을 결합한 전사 활용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A08EDE-6604-4EA0-B1BE-BFA01B15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7EE9F5-3F9A-4320-B82F-3D59D694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공통 AI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FE41C9-73B2-428D-8AAD-4AD8D5DF4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D270F5-6443-417D-87D9-758CC577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FabriX·검색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2DF657-2B3A-4879-AD69-A5B15C5F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F1F361-78E8-4742-9AB5-216294FC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사내 시스템 API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B770F-0974-40D9-B0CD-095AF2D6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84F173-BF17-4847-98CC-97FF8EA1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직무 도구·현업 피드백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5EDBAE-1607-4AC5-A9E9-6AA73BFE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00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CCK 현지화·추가 개발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777277-BD95-4C57-851A-C06947B9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업무단위 연계 모듈 / 현업 교육 / 품질·비용 관측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39B113-24A9-4508-8F6A-6E1AB7EA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100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검수·기대효과 지표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3BA59A-840B-47EA-9EF8-9ACF51EE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0075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업무 완료율·오실행·재작업·총소요시간 동시 평가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TS 업무 완료시간·오류·추가 구축 공수의 비교 평가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C3D588-16F2-41D5-BF04-873554A5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자사 발표 · 특정 직무 성과를 전사 생산성으로 일반화 불가</a:t>
            </a:r>
          </a:p>
        </p:txBody>
      </p:sp>
    </p:spTree>
    <p:extLst>
      <p:ext uri="{BB962C8B-B14F-4D97-AF65-F5344CB8AC3E}">
        <p14:creationId xmlns:p14="http://schemas.microsoft.com/office/powerpoint/2010/main" val="21521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DFD6F7-91D9-40E8-82A5-47DB4EA512D7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9157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CB2CB3-98CC-4FFA-A8FE-2BA32AF15B3C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62650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6ADAE7-AFCD-4F04-8D06-A4B7413E31CF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3372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1AFDC-10D3-47E6-A1F8-3E047440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청내 운영 / 범정부 실증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2927B-BF31-4D35-963D-022F05F1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일본 정부 AI 源内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65F8F-DD21-4609-8304-74F750FB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C8030B-6A0D-4567-8817-B372D4B9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C939B2-B648-4D08-8915-F399F8D6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014D63-5847-469C-B8A5-CD8A3572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정부 공통 환경의 범용 AI와 업무별 앱·템플릿 구성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148B24-02DB-43EE-843F-C33A6EFD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FED48-CA0E-4C87-BEF8-56404698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정부 인증·접점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297BBF-FBB7-46E6-8E55-5C971032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EDCACE-057C-4D86-96CE-E728F887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공통 AI 환경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250962-2AB4-4285-9726-C5A4BC57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453462-0C7D-4800-92E0-6AC4A14B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법제·답변 업무 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3F0B63-618F-44D0-8769-40AC415D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1822F0-4E86-4807-BB3E-075212FF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이용 관측·현업 개선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325A1A-5421-4F8C-AA19-CCC4AFAD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00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CCK 현지화·추가 개발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B0A057-689E-4F12-9EC8-9AFBDBA9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기관 설정·조직 사전·업무 스킬·배포판본 관리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09BC78-ACD5-4ACE-BB0B-D858F27B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100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검수·기대효과 지표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7EB88A-247C-4850-AC87-8935E1A7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0075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두 번째 부서 적용의 수정 범위·추가 공수·격리 평가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TS 업무 완료시간·오류·추가 구축 공수의 비교 평가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7A8907-2DF2-42B6-A904-A4237D7D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청내 운영 실적과 범정부 실증 대상 규모의 분리 · 도입 인원과 생산성 구분</a:t>
            </a:r>
          </a:p>
        </p:txBody>
      </p:sp>
    </p:spTree>
    <p:extLst>
      <p:ext uri="{BB962C8B-B14F-4D97-AF65-F5344CB8AC3E}">
        <p14:creationId xmlns:p14="http://schemas.microsoft.com/office/powerpoint/2010/main" val="10179081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5E6F60-EF2D-4375-9EDD-0287A16259C6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9157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688397-2A9F-4B9E-9834-3F0BCF0472C3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62650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9EFF4F-D745-4100-9700-B370E35D18C8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3372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B5D5E1-BC76-4995-B8F7-03CB642C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공통 API 운영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9D1FF0-9289-4F60-93AF-A2652264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프랑스 Albert API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974E7F-B2DC-4E06-BC39-869A1032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5A3BB5-43B8-46B3-875B-1C05E401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0DDF8D-CDD1-4157-B83B-2C511A8B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B21FA5-DD9B-4170-A1ED-DEE555EF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모델·검색·OCR·음성전사 등 공통 AI 기능의 API 제공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167B77-5957-40B6-B7C5-143CE5E6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579000-1455-43DB-9608-3A416C06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업무 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4814A9-97C6-45FD-96B2-6B4602C1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734BA1-8C07-4DED-9052-1A4BF793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공통 API·접근관리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22B0B5-5F72-4299-ABF7-AEFBE0E3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76E3FA-320A-466D-A04C-5596F092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모델·검색·문서·음성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F5B034-0479-42D2-93BE-649E4848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FDA51B-D502-430A-A8EE-B9F5A58C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프로젝트·사용량 관리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D2F29C-A7A7-4845-8638-4D3B48F6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00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CCK 현지화·추가 개발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0E4609-D03F-4ABA-90C1-D8FF52CC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API 계약·사용 정책·부서별 사용량·장애 격리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EF48AF-BA3D-4F8B-870B-13EB49A7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100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검수·기대효과 지표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AFA11F-48BB-42CB-AAED-5A88D7B0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0075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공통 기능 계약 시험 / 지연·실패·비용의 업무별 분리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TS 업무 완료시간·오류·추가 구축 공수의 비교 평가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BC6B18-8052-4614-969A-D1E00F3F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서비스 기능 확인 · 공개 이용 통계와 업무성과의 별도 평가</a:t>
            </a:r>
          </a:p>
        </p:txBody>
      </p:sp>
    </p:spTree>
    <p:extLst>
      <p:ext uri="{BB962C8B-B14F-4D97-AF65-F5344CB8AC3E}">
        <p14:creationId xmlns:p14="http://schemas.microsoft.com/office/powerpoint/2010/main" val="9393162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C247BF-4D74-4821-B043-B5AA8D97E22B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9157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71BE50-C8BB-495C-94C1-B486E2CD0A3F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62650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46DCB0-849E-4344-AC6F-C7FCDBD020F6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3372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48091E-4A2B-49C6-99C0-3F77CB9D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다기관 안내 운영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224B9E-4C8C-4108-9300-24D31503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에스토니아 Bürokratt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562668-7AC7-46D6-95EE-0E5FCCF5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ABF31C-99B4-4C4B-BA30-95A8B155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0B6611-1FD9-4D76-952E-D03BFACA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A9DEBB-6ACA-491F-B467-50387264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기관별 안내 지식과 상담원 연결을 공동 기반으로 제공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03CF96-E3F2-48DD-810B-6AA82250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89E2D0-03A8-4C14-9339-D5A5B9B1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자연어 질문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85D556-1B2E-44BA-874F-3D08D206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D507DA-B399-4128-9677-35AF4E4E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기관별 안내 지식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61501B-0E5E-465A-A3D0-40DA226A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BB25F-FA04-4EE7-B328-DDD7217D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공통 대화 서비스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8E1AF8-F4BF-48DB-BE05-2CDB4655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0B96D9-9033-4609-AE53-7ADDD1CB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해결·상담원 연결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63C7A4-566A-4F03-A56C-2C9BBE55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00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CCK 현지화·추가 개발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B22CF8-DC17-4498-9F21-B87D14EC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관할·복수부서·개인정보 경계 및 인계 수락 상태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26F752-2E3E-485F-9DC7-CC5FAD06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100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검수·기대효과 지표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9AA1D9-DB4B-42C2-83A7-4A61A636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0075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미해결·관할외·복수부서 문의의 상담 전환 완료 검증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TS 업무 완료시간·오류·추가 구축 공수의 비교 평가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769D94-ED87-4D4D-9F9C-F3F10DF4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운영기관 목록 확인 · 자율 행정 처리나 최신 LLM 스택의 근거와 구분</a:t>
            </a:r>
          </a:p>
        </p:txBody>
      </p:sp>
    </p:spTree>
    <p:extLst>
      <p:ext uri="{BB962C8B-B14F-4D97-AF65-F5344CB8AC3E}">
        <p14:creationId xmlns:p14="http://schemas.microsoft.com/office/powerpoint/2010/main" val="15908090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4DC9B0-3F62-429B-8579-CFB096E80650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9157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9FCB1E-6855-4122-8693-0A7F2C2EF8D0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62650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2CD0FF-64FC-4605-8171-258DB6BC6E91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3372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367021-7EB1-4067-A941-BF79B4D5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업무 도구 운영 · 기업 발표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B7F5D1-6194-4546-9B25-A5309351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Morgan Stanley Assistant·Debrief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FDF069-E0B0-4575-BC83-139A82868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CAE100-D204-4609-B5F7-612FFB43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14060-6922-44B8-A172-CE414B8A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441B9-4909-49D2-B4E8-27B7021C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사내 지식 검색과 동의받은 회의 요약·후속조치·CRM 기록의 업무 흐름 결합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5B0012-C424-4499-B1B0-78751AB8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7EC338-7A5E-4977-9E53-555753B7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동의받은 회의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F53767-6CCA-4FF2-99F0-97A11954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EC172C-32F5-4CF3-8373-1FF97540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요약·후속조치 초안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FA67FB-ADD0-4291-A201-0385EC7C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A75EF7-E729-4B4A-8521-512E3046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자문가 편집·확인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37C132-CA07-4056-8B0C-1E5812A3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586182-86C6-41F7-B245-8262CF0C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CRM·이메일 업무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ACFE11-484D-40C5-82D0-88A672B2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00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CCK 현지화·추가 개발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86B1B6-7483-45F2-8CAC-64EE0FE6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전결·발송 확인 / 원문 근거 / 진행상태·인사이동 인계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13218E-EF9D-4F22-B648-8FEBF024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100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검수·기대효과 지표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ECE6A4-1642-4D51-95EB-7AB69998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0075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발송 전 확인·판본 변경 재승인·담당 변경 후 인계 대사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TS 업무 완료시간·오류·추가 구축 공수의 비교 평가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DC975D-7FC7-4269-A616-9DD3CB7B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Assistant 채택률과 Debrief 시간절감의 구분 · 사용자 동의·편집 판단 포함</a:t>
            </a:r>
          </a:p>
        </p:txBody>
      </p:sp>
    </p:spTree>
    <p:extLst>
      <p:ext uri="{BB962C8B-B14F-4D97-AF65-F5344CB8AC3E}">
        <p14:creationId xmlns:p14="http://schemas.microsoft.com/office/powerpoint/2010/main" val="2412443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7C7C2F-F92C-4A4E-9C8B-50928C5F9EC6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9157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7F11CB-37C3-440E-82CC-95E6B4AD2B35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62650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12CC9A-097B-47A5-AB03-447331C78598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3372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B64FA5-57FD-4534-B837-9C31B397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AIBots 사용 실적 / 현재 카탈로그 Desk 통합·POV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92007D-6BEB-4A87-AD31-1FA22BFE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싱가포르 AIBots·Desk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7243AB-4DAC-43D5-A6FC-0A1E17ED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4E3951-9455-4FF1-ABB2-659B3671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78111E-29B0-4C9E-84BB-82077BF1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17503A-9476-4E7D-8B2A-2DA7819F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정부 셀프서비스 AI 플랫폼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467E02-0CBE-4ED2-A7DE-696D1DFE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5EE8B9-9234-4567-80B0-5BE849B9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부서 문서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7F8B8C-F6A4-4520-AFBE-08E72FD8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804371-4DC7-4E8F-989A-04C411E7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RAG·업무 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C3B394-E18D-4FA9-83D4-ECCEC05C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B6ECDD-7D5E-4725-9FC9-FB3F0459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공유·이용 통제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70D5CB-BC26-443F-8BEC-10CDBDB3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222CAB-871B-44DC-AD0D-94CB0BC0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업무 접점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CFEEFC-2510-44FE-864B-C03F5796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00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CCK 현지화·추가 개발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4BF1C5-C3EF-45F2-9667-FDAF543C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담당·승인판본·배포·폐기 조건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5D8060-E399-4A8B-B137-053B58C4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100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검수·기대효과 지표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5DF9B3-F4F0-4DE7-A9AB-B8E186BB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0075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중복 도구·갱신 공수의 기준선·비교 평가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중복 도구·갱신 공수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B1789E-574F-477D-9DB3-2E7D182A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봇 개수·사용량이 업무성과는 아님. 2025 AIBots와 2026 Desk를 독립 실적으로 합산하지 않음</a:t>
            </a:r>
          </a:p>
        </p:txBody>
      </p:sp>
    </p:spTree>
    <p:extLst>
      <p:ext uri="{BB962C8B-B14F-4D97-AF65-F5344CB8AC3E}">
        <p14:creationId xmlns:p14="http://schemas.microsoft.com/office/powerpoint/2010/main" val="5404548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6D9CFF-8FF8-40BA-882C-459EF6B8918C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9157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7398FB-76BB-4453-825D-256606E52B38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62650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9306D0-932F-4366-BD50-B552E0940610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3372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4C5E20-E759-421C-8623-B8B31468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2024-01~06 정부 실험·평가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B29906-DFAA-4214-AE01-D7DCE69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호주 APS Copilot 평가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47C503-10E6-48D3-A1A4-4C041F70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1F1058-3969-4B05-A281-6C5CBD95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4509DC-C305-4A32-8B17-D5B4A648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6ED860-FD14-44C5-8AE6-870AB3CC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기존 협업 플랫폼 AI 적용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0445AA-7516-4C68-B917-59DD3390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F510C-9706-47F4-BB4D-32F0AD99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참여 기관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C40C1-7477-4571-8FC1-631CD352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E745C3-B23F-475B-A1C0-70C6FEF8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협업 AI 도구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CAE0D5-2692-4A1A-BC68-EBDF8D7B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B21873-B84F-4A7F-8923-A1C69F05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교육·업무 활용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ED3504-0335-46E5-8474-6EE739DF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C2A58A-873D-4663-A01D-F80D5266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전후 설문 평가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D48EE7-B597-4643-8DAD-AA3227CD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00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CCK 현지화·추가 개발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DE7793-DF60-49C2-A4D9-12040EE5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부서·직무·권한·변경 교차 평가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22B8D0-3F9F-4188-B895-31D701FB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100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검수·기대효과 지표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CB2372-2EC0-460D-936E-D69D8CF51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0075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완료시간·오류·총비용의 기준선·비교 평가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완료시간·오류·총비용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F66522-1864-4CC1-95E9-7CA4E6D1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무작위 실험 아님. 일부 업무 하루1시간 체감 절감을 전직원 실측값으로 사용 금지</a:t>
            </a:r>
          </a:p>
        </p:txBody>
      </p:sp>
    </p:spTree>
    <p:extLst>
      <p:ext uri="{BB962C8B-B14F-4D97-AF65-F5344CB8AC3E}">
        <p14:creationId xmlns:p14="http://schemas.microsoft.com/office/powerpoint/2010/main" val="12391510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AC44B5-6CA6-4509-A812-47EFFE0C1AA3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9157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94A83F-E1E6-44ED-A38F-A35106D05671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62650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49462F-99B6-4B4E-B300-E222DFC4281F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3372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9DB31C-371A-40FC-93B4-06CE052A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공식 기능 문서 / 2026-10-16 확인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1EE874-2560-48AB-8CE9-D6AC154E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Glean People connector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23C635-701A-436E-8069-D9B2508B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9F061-12BC-47AA-A256-013D94A1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91166-5A96-4E68-A46F-59AE8BAA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DED3F4-1BE0-4A23-BDD8-AC019673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제품 기능 비교 / 기관 도입 성과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760C9-7DEC-4650-B481-5130E4EF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DDCCCF-4A26-453D-85D4-56DABDB1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직원 디렉터리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8D6042-9D92-4890-BD0D-8D29CFAA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257C8D-C611-402E-A0E1-73DA4C83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동기화·필드 매핑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135C8A-8B27-4655-B550-F9D29D04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3279C3-10A0-40C3-BC1A-9BBF8DA8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권한별 검색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598CFD-CB92-4E0C-8150-9B16ED8A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71216D-1E45-48E6-9731-F36352F44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직원 정보 활용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86C3F6-0B77-454B-9A62-AC5FFAD8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00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CCK 현지화·추가 개발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7CAAAE-8670-4E32-96A6-5250C4F9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전보·퇴직·겸직 이후 검색·인계·캐시 회수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179CCA-F2D0-4E7B-BC3D-EA1CA4981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100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검수·기대효과 지표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D140A8-499F-4AEC-BE54-5DFC61CB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0075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오노출 건수·변경 반영 지연의 기준선·비교 평가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오노출 건수·변경 반영 지연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22C59C-C7E4-40E5-963E-DB0205D8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CSV 방식은 인사 변경마다 재업로드 필요. 자동 커넥터도 제공. 동기화·조직 맥락 자체는 CCK 독점 기능 아님</a:t>
            </a:r>
          </a:p>
        </p:txBody>
      </p:sp>
    </p:spTree>
    <p:extLst>
      <p:ext uri="{BB962C8B-B14F-4D97-AF65-F5344CB8AC3E}">
        <p14:creationId xmlns:p14="http://schemas.microsoft.com/office/powerpoint/2010/main" val="11505646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495D4D-9C86-442B-8355-C125104ABD53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9157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4B0CDC-837D-4B8B-86D3-61640A639B27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62650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8030C3-DC11-4A08-BF58-6348CA536757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33725" y="32766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65A752-7CE9-45C7-846F-F0B1EA70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감사 지적·개선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63D83A-9F83-4C38-AE26-FF3FFAE6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뉴욕 MyCity 챗봇 감사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5C6EFD-4FB5-4C1B-8A42-1943BC37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9F4D22-8E8B-42B4-8554-B6AFECDD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437500-0D22-44E9-A5D4-2BF8D48A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144E2E-B10C-4070-8D1C-87430EC1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부정확·비일관 답변과 사업관리·통합서비스 미비에 대한 감사 지적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A63670-D749-4764-BC89-B6AFB708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03A19-7B70-4613-95FF-2734D656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공공 안내 자료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07DE78-B260-48CE-96C5-E85714F9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65B57-170E-4C81-BACB-D5A517FE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AI 챗봇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789CEB-2B68-4E7B-A10A-FB2DDA15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DCEA61-F15A-412D-A61E-9CF98DB8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사업자 안내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1BCE7E-7F00-4148-A4DD-9E8652C30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5750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3E38F7-758D-4DCF-8EE7-7349BFAC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037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감사·개선 요청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848B47-E4C6-4855-888D-40AE502F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100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CCK 현지화·추가 개발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D6CAD5-5096-42D8-8A32-5B201C66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반례 정답셋·오안내 신고·책임부서 인계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091392-3AC5-4E2E-A904-A83EF73D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100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검수·기대효과 지표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EAAFBE-6A95-421A-AF41-6D7E7369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0075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규정과 상충하는 안내 및 미완료 신청 재현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오안내율 / 신청 완료율 / 재접촉률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B37034-8060-45DE-9416-47BB753A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운영기관의 정확도 주장과 감사 판단의 차이 존재 · 개별 질의·평가 방식 대조 필요</a:t>
            </a:r>
          </a:p>
        </p:txBody>
      </p:sp>
    </p:spTree>
    <p:extLst>
      <p:ext uri="{BB962C8B-B14F-4D97-AF65-F5344CB8AC3E}">
        <p14:creationId xmlns:p14="http://schemas.microsoft.com/office/powerpoint/2010/main" val="117112104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D80BAB-9376-4E3F-82C4-8111212E8F2B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791575" y="2609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0B3CF3-2FC8-442B-BD62-998D8CBA3407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962650" y="2609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C3A43-F87E-44F3-9C2C-E7B2225F0B96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133725" y="2609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D6D3C"/>
            </a:solidFill>
            <a:prstDash val="solid"/>
            <a:tailEnd type="arrow" w="med" len="me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580D47-DDF7-4773-88B7-52DD5A9B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적용 설계 / 사례 구조의 현지화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9C31E3-1B34-42CA-AA55-840CBA03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TS 공통 기반의 우선 구축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8185C-EA02-4617-9E0C-C2E6AFA4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C899FD-B96D-4E5B-BDC1-9ED3CBAA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879306-FC17-4D7A-B279-E2CCE243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521083-AC02-4CC4-A700-48F078C5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2A61C-ADA3-4EDA-86EC-9DFFE49D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3362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공식 조직·직무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988131-7472-48F3-904D-1C7B3143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19075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944C92-2682-482D-9172-8F04679D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3362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권한·변경 처리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55F697-A0F3-4C62-9BD3-234313A6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9075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E428D4-511C-4ED7-BA64-0BBC2191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3362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업무 실행·연계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5921A9-4CC5-4A98-85A1-4219D06C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190750"/>
            <a:ext cx="25622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8"/>
          </a:solidFill>
          <a:ln xmlns:a="http://schemas.openxmlformats.org/drawingml/2006/main" w="9525">
            <a:solidFill>
              <a:srgbClr val="D5DDC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0231E8-4AA6-461A-A83D-FAD113DE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333625"/>
            <a:ext cx="23145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평가·운영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AEE4AA-1CF9-45F9-B4C2-42950ED4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재사용 후보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0B934F-A664-41A5-B472-C0DCE753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0050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NOA 대화·검색·요약·서식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검토·절차·로그 명세의 적용 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A7CD73-D94C-428B-ADDA-4401308D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100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추가 개발·검수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A32E72-36B5-45EB-A2C0-8379DD73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10050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공식 ID·효력일·역할·업무 매핑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전보·겸직·권한 회수의 교차 시험</a:t>
            </a:r>
          </a:p>
        </p:txBody>
      </p:sp>
    </p:spTree>
    <p:extLst>
      <p:ext uri="{BB962C8B-B14F-4D97-AF65-F5344CB8AC3E}">
        <p14:creationId xmlns:p14="http://schemas.microsoft.com/office/powerpoint/2010/main" val="16010787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0859C3-9F12-42AE-895E-2AC90F9F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공식·1차 출처 우선 / 제안과 구현 성과의 분리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1AD947-25C3-4370-9FF7-D35B5C23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전체 원장과 상세 사례의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DA57C6-226E-43D2-BB82-3CC0B4BD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C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ABF84A-409E-4F25-BA68-C2CA23BC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981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CCK · TS 2027 제안 검토 ·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F787D-7997-4181-B863-79698D51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2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B6269-B568-4098-AE1B-45E92649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1104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2,637행 전체 색인 → 상세 사례 → TS 적용·검수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8572B2-0CD7-456D-8CF7-462A4FD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원장 검색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70E1EB-2989-4402-9697-1DB81EC8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5238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국가·기능·사례명·기관 검색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통합플랫폼 분류 276건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전략 키워드 연결 후보 제공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0C8C35-14EE-47BD-84D7-6BF1C279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D6D3C"/>
                </a:solidFill>
                <a:latin typeface="Pretendard"/>
                <a:ea typeface="Pretendard"/>
                <a:cs typeface="Pretendard"/>
              </a:rPr>
              <a:t>해석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DAD758-AF70-4FD9-8CED-6CF881BA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86175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성공·실패·시범·계획의 구분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공급사 발표와 독립 평가의 구분</a:t>
            </a:r>
          </a:p>
          <a:p xmlns:a="http://schemas.openxmlformats.org/drawingml/2006/main">
            <a:pPr>
              <a:def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TS 기대효과의 별도 기준선·비교 평가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0ED7D1-5F62-49DE-98C3-C1318C7C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F3C29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F3C29"/>
                </a:solidFill>
                <a:latin typeface="Pretendard"/>
                <a:ea typeface="Pretendard"/>
                <a:cs typeface="Pretendard"/>
              </a:rPr>
              <a:t>전체 사례·출처·CSV·Markdown: 홈페이지 좌측 사례집 메뉴</a:t>
            </a:r>
          </a:p>
        </p:txBody>
      </p:sp>
    </p:spTree>
    <p:extLst>
      <p:ext uri="{BB962C8B-B14F-4D97-AF65-F5344CB8AC3E}">
        <p14:creationId xmlns:p14="http://schemas.microsoft.com/office/powerpoint/2010/main" val="6782206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retendard"/>
        <a:ea typeface=""/>
        <a:cs typeface=""/>
      </a:majorFont>
      <a:minorFont>
        <a:latin typeface="Pretendard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2026-10-16T05:32:20.2640000Z</dcterms:created>
  <dcterms:modified xsi:type="dcterms:W3CDTF">2026-10-16T05:32:20.2640000Z</dcterms:modified>
</coreProperties>
</file>