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3ee4d5efb294597" /><Relationship Type="http://schemas.openxmlformats.org/officeDocument/2006/relationships/extended-properties" Target="/docProps/app.xml" Id="Rbfda8c1702cd4c14" /><Relationship Type="http://schemas.openxmlformats.org/officeDocument/2006/relationships/officeDocument" Target="/ppt/presentation.xml" Id="Rdd24e12c568a4e6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b4e820ce87e420f"/>
  </p:sldMasterIdLst>
  <p:notesMasterIdLst>
    <p:notesMasterId xmlns:r="http://schemas.openxmlformats.org/officeDocument/2006/relationships" r:id="Rff5c697d9a614d25"/>
  </p:notesMasterIdLst>
  <p:sldIdLst>
    <p:sldId xmlns:r="http://schemas.openxmlformats.org/officeDocument/2006/relationships" id="256" r:id="R22c1759867464b8a"/>
    <p:sldId xmlns:r="http://schemas.openxmlformats.org/officeDocument/2006/relationships" id="257" r:id="R8148e5e124ce48bb"/>
    <p:sldId xmlns:r="http://schemas.openxmlformats.org/officeDocument/2006/relationships" id="258" r:id="Rf686783df3464a87"/>
    <p:sldId xmlns:r="http://schemas.openxmlformats.org/officeDocument/2006/relationships" id="259" r:id="R944476a002ec40ea"/>
    <p:sldId xmlns:r="http://schemas.openxmlformats.org/officeDocument/2006/relationships" id="260" r:id="Rae5b707f042148d1"/>
    <p:sldId xmlns:r="http://schemas.openxmlformats.org/officeDocument/2006/relationships" id="261" r:id="R9145064abc534809"/>
    <p:sldId xmlns:r="http://schemas.openxmlformats.org/officeDocument/2006/relationships" id="262" r:id="R8dfec440a2704d69"/>
    <p:sldId xmlns:r="http://schemas.openxmlformats.org/officeDocument/2006/relationships" id="263" r:id="R669cd97652c44f32"/>
    <p:sldId xmlns:r="http://schemas.openxmlformats.org/officeDocument/2006/relationships" id="264" r:id="R06d6793619c44cf2"/>
    <p:sldId xmlns:r="http://schemas.openxmlformats.org/officeDocument/2006/relationships" id="265" r:id="Rd90bc974787f4e61"/>
    <p:sldId xmlns:r="http://schemas.openxmlformats.org/officeDocument/2006/relationships" id="266" r:id="Re8549bd54f9548f3"/>
    <p:sldId xmlns:r="http://schemas.openxmlformats.org/officeDocument/2006/relationships" id="267" r:id="R7f05d72a14f542e6"/>
    <p:sldId xmlns:r="http://schemas.openxmlformats.org/officeDocument/2006/relationships" id="268" r:id="Rbb9e52d3187e4b77"/>
    <p:sldId xmlns:r="http://schemas.openxmlformats.org/officeDocument/2006/relationships" id="269" r:id="Rc9c7f625bdbc4bc9"/>
    <p:sldId xmlns:r="http://schemas.openxmlformats.org/officeDocument/2006/relationships" id="270" r:id="Rc6b1561ee54e482c"/>
    <p:sldId xmlns:r="http://schemas.openxmlformats.org/officeDocument/2006/relationships" id="271" r:id="R8411f33babbc4f3b"/>
    <p:sldId xmlns:r="http://schemas.openxmlformats.org/officeDocument/2006/relationships" id="272" r:id="Rc442c10aa19f4654"/>
    <p:sldId xmlns:r="http://schemas.openxmlformats.org/officeDocument/2006/relationships" id="273" r:id="Rc867e1f282494013"/>
    <p:sldId xmlns:r="http://schemas.openxmlformats.org/officeDocument/2006/relationships" id="274" r:id="R3703f77ecaf441f1"/>
    <p:sldId xmlns:r="http://schemas.openxmlformats.org/officeDocument/2006/relationships" id="275" r:id="R7b42003058454d4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94be308a0b84c3d" /><Relationship Type="http://schemas.openxmlformats.org/officeDocument/2006/relationships/slideMaster" Target="/ppt/slideMasters/slideMaster1.xml" Id="R7b4e820ce87e420f" /><Relationship Type="http://schemas.openxmlformats.org/officeDocument/2006/relationships/notesMaster" Target="/ppt/notesMasters/notesMaster1.xml" Id="Rff5c697d9a614d25" /><Relationship Type="http://schemas.openxmlformats.org/officeDocument/2006/relationships/presProps" Target="/ppt/presProps.xml" Id="R8eb9830df3b0441f" /><Relationship Type="http://schemas.openxmlformats.org/officeDocument/2006/relationships/tableStyles" Target="/ppt/tableStyles.xml" Id="R7c76029de7914eb0" /><Relationship Type="http://schemas.openxmlformats.org/officeDocument/2006/relationships/slide" Target="/ppt/slides/slide1.xml" Id="R22c1759867464b8a" /><Relationship Type="http://schemas.openxmlformats.org/officeDocument/2006/relationships/slide" Target="/ppt/slides/slide2.xml" Id="R8148e5e124ce48bb" /><Relationship Type="http://schemas.openxmlformats.org/officeDocument/2006/relationships/slide" Target="/ppt/slides/slide3.xml" Id="Rf686783df3464a87" /><Relationship Type="http://schemas.openxmlformats.org/officeDocument/2006/relationships/slide" Target="/ppt/slides/slide4.xml" Id="R944476a002ec40ea" /><Relationship Type="http://schemas.openxmlformats.org/officeDocument/2006/relationships/slide" Target="/ppt/slides/slide5.xml" Id="Rae5b707f042148d1" /><Relationship Type="http://schemas.openxmlformats.org/officeDocument/2006/relationships/slide" Target="/ppt/slides/slide6.xml" Id="R9145064abc534809" /><Relationship Type="http://schemas.openxmlformats.org/officeDocument/2006/relationships/slide" Target="/ppt/slides/slide7.xml" Id="R8dfec440a2704d69" /><Relationship Type="http://schemas.openxmlformats.org/officeDocument/2006/relationships/slide" Target="/ppt/slides/slide8.xml" Id="R669cd97652c44f32" /><Relationship Type="http://schemas.openxmlformats.org/officeDocument/2006/relationships/slide" Target="/ppt/slides/slide9.xml" Id="R06d6793619c44cf2" /><Relationship Type="http://schemas.openxmlformats.org/officeDocument/2006/relationships/slide" Target="/ppt/slides/slide10.xml" Id="Rd90bc974787f4e61" /><Relationship Type="http://schemas.openxmlformats.org/officeDocument/2006/relationships/slide" Target="/ppt/slides/slide11.xml" Id="Re8549bd54f9548f3" /><Relationship Type="http://schemas.openxmlformats.org/officeDocument/2006/relationships/slide" Target="/ppt/slides/slide12.xml" Id="R7f05d72a14f542e6" /><Relationship Type="http://schemas.openxmlformats.org/officeDocument/2006/relationships/slide" Target="/ppt/slides/slide13.xml" Id="Rbb9e52d3187e4b77" /><Relationship Type="http://schemas.openxmlformats.org/officeDocument/2006/relationships/slide" Target="/ppt/slides/slide14.xml" Id="Rc9c7f625bdbc4bc9" /><Relationship Type="http://schemas.openxmlformats.org/officeDocument/2006/relationships/slide" Target="/ppt/slides/slide15.xml" Id="Rc6b1561ee54e482c" /><Relationship Type="http://schemas.openxmlformats.org/officeDocument/2006/relationships/slide" Target="/ppt/slides/slide16.xml" Id="R8411f33babbc4f3b" /><Relationship Type="http://schemas.openxmlformats.org/officeDocument/2006/relationships/slide" Target="/ppt/slides/slide17.xml" Id="Rc442c10aa19f4654" /><Relationship Type="http://schemas.openxmlformats.org/officeDocument/2006/relationships/slide" Target="/ppt/slides/slide18.xml" Id="Rc867e1f282494013" /><Relationship Type="http://schemas.openxmlformats.org/officeDocument/2006/relationships/slide" Target="/ppt/slides/slide19.xml" Id="R3703f77ecaf441f1" /><Relationship Type="http://schemas.openxmlformats.org/officeDocument/2006/relationships/slide" Target="/ppt/slides/slide20.xml" Id="R7b42003058454d4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d37033e70ec41e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e550300d7de4b54" /><Relationship Type="http://schemas.openxmlformats.org/officeDocument/2006/relationships/notesMaster" Target="/ppt/notesMasters/notesMaster1.xml" Id="R4798d3139e06430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0fe169bae8e47ac" /><Relationship Type="http://schemas.openxmlformats.org/officeDocument/2006/relationships/notesMaster" Target="/ppt/notesMasters/notesMaster1.xml" Id="Rcf42495301544ee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8ee83eb92ab41bb" /><Relationship Type="http://schemas.openxmlformats.org/officeDocument/2006/relationships/notesMaster" Target="/ppt/notesMasters/notesMaster1.xml" Id="Rd676223e035a440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42d9e17d78145c9" /><Relationship Type="http://schemas.openxmlformats.org/officeDocument/2006/relationships/notesMaster" Target="/ppt/notesMasters/notesMaster1.xml" Id="R08b37f6082f0406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9cb5f58c3514560" /><Relationship Type="http://schemas.openxmlformats.org/officeDocument/2006/relationships/notesMaster" Target="/ppt/notesMasters/notesMaster1.xml" Id="R90c074d1c408481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e02bc495c734096" /><Relationship Type="http://schemas.openxmlformats.org/officeDocument/2006/relationships/notesMaster" Target="/ppt/notesMasters/notesMaster1.xml" Id="R50502fc1123e4c4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f31e4316fbd4aa0" /><Relationship Type="http://schemas.openxmlformats.org/officeDocument/2006/relationships/notesMaster" Target="/ppt/notesMasters/notesMaster1.xml" Id="Raffd7c39ed60479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876050c2aa24435" /><Relationship Type="http://schemas.openxmlformats.org/officeDocument/2006/relationships/notesMaster" Target="/ppt/notesMasters/notesMaster1.xml" Id="R112f8cb2ca5a4a2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076e75b984e4937" /><Relationship Type="http://schemas.openxmlformats.org/officeDocument/2006/relationships/notesMaster" Target="/ppt/notesMasters/notesMaster1.xml" Id="Rd03af3a68c8d4dd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f03992ab0a94995" /><Relationship Type="http://schemas.openxmlformats.org/officeDocument/2006/relationships/notesMaster" Target="/ppt/notesMasters/notesMaster1.xml" Id="Ree99acff91a149f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35fbdb68f854927" /><Relationship Type="http://schemas.openxmlformats.org/officeDocument/2006/relationships/notesMaster" Target="/ppt/notesMasters/notesMaster1.xml" Id="Rd2827471913f4a3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1e1afafbec14ef3" /><Relationship Type="http://schemas.openxmlformats.org/officeDocument/2006/relationships/notesMaster" Target="/ppt/notesMasters/notesMaster1.xml" Id="Rb4ed88e206bf459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39d462b52ac498e" /><Relationship Type="http://schemas.openxmlformats.org/officeDocument/2006/relationships/notesMaster" Target="/ppt/notesMasters/notesMaster1.xml" Id="R6519c38746a845c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6d823657f1b4031" /><Relationship Type="http://schemas.openxmlformats.org/officeDocument/2006/relationships/notesMaster" Target="/ppt/notesMasters/notesMaster1.xml" Id="R266fa8610f904e9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a71241f4b004182" /><Relationship Type="http://schemas.openxmlformats.org/officeDocument/2006/relationships/notesMaster" Target="/ppt/notesMasters/notesMaster1.xml" Id="Rad89f2e01beb491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3ede1f1d2214028" /><Relationship Type="http://schemas.openxmlformats.org/officeDocument/2006/relationships/notesMaster" Target="/ppt/notesMasters/notesMaster1.xml" Id="R4f61c3c81a20479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c48c5140b574696" /><Relationship Type="http://schemas.openxmlformats.org/officeDocument/2006/relationships/notesMaster" Target="/ppt/notesMasters/notesMaster1.xml" Id="R0f483850a887431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4bad32e7d0d4c87" /><Relationship Type="http://schemas.openxmlformats.org/officeDocument/2006/relationships/notesMaster" Target="/ppt/notesMasters/notesMaster1.xml" Id="R2a69aecf52484ad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4ed1b51187545fd" /><Relationship Type="http://schemas.openxmlformats.org/officeDocument/2006/relationships/notesMaster" Target="/ppt/notesMasters/notesMaster1.xml" Id="R8b36a8181c8d423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83c6537af4544e2" /><Relationship Type="http://schemas.openxmlformats.org/officeDocument/2006/relationships/notesMaster" Target="/ppt/notesMasters/notesMaster1.xml" Id="R053cfba760c8483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TS 정책·사업 기획지원 플랫폼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이 자료는 한국교통안전공단(TS)의 여러 부서가 정책 의제를 검토하고 사업·예산·발주 초안을 함께 만드는 P23 추가 후보의 설명자료다. TS의 공식 23번째 업무분류나 확정 도입사업을 뜻하지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표지와 3장의 그림은 이미지 생성 모델로 만든 설명용 컨셉이다. 실제 TS 시설·직원·운영 시스템의 사진이 아니다. 제품의 입력 범위는 허용된 텍스트와 구조화 데이터이며 비전·OCR·영상처리 기능을 제안하지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CCK의 주관 수행을 전제로 하는 기획안이다. 실제 NOA 인터페이스와 이용권, 기존 서버 여력 확인 후 범위와 비용을 확정한다.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참조: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자료가 많을수록 판단의 연결이 중요해진다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자료량과 재작성 시간이 실제로 어느 정도인지는 확인 전이다. 착수 인터뷰와 대표 의제의 현행 처리과정 관찰로 빈도·소요시간·누락 사례를 측정한다.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보고서 생성량이나 처리시간 절감을 교통사고 감소의 직접 증거로 사용하지 않는다. 국민 불편·위험의 개선은 선택한 정책사업에서 별도 성과지표와 비교 기준으로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참조: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전체 서비스 컨셉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입력: 공개·이용 권한을 확인한 뉴스, 정책보고서, 공개 국민제안과 내부 민원·현황자료. 원문과 수집일, 접근정책, 출처를 함께 기록한다.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처리: 로컬 LLM의 근거 검색·요약·초안 후보, 일반 프로그램의 계산·필드 검사·버전 관리, 담당자의 검토 결정을 결합한다.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출력: 문제정의, 대안 비교, 사업설명·예산요구, 발주기관 RFP·공고 인계 초안. 실제 공식 제출과 공고는 담당자의 별도 절차다.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참조: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부서가 함께 쓰는 서비스 모델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부서 명칭은 기능별 역할을 설명한 것이다. 실제 TS 조직명과 전결 권한은 착수 때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최소 관리 단위는 원문 파일뿐 아니라 근거, 사업원장, 검토 결정이다. 문서들은 같은 원장 버전을 다른 목적의 양식으로 보는 출력물이다.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원장 핵심 필드: 의제 ID, 대상자·문제, 근거 링크와 상태, 원인 가설, 반대 근거, TS 소관, 대안, 선택 사유, 사업범위, 성과지표, 비용·재원, 검토자·결정·시각, 문서 프로필·버전.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참조: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서비스 흐름과 부서별 인계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기본 흐름: 자료 등록 → 근거 검토 → 문제정의 → TS 소관과 현행사업 확인 → 대안 비교 → 사업범위·성과 설계 → 예산요구와 보완 → 발주 초안 → 담당자 인계 → 실행·성과 환류.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자료 부족 시 추가 조사로, 소관 외이면 협업·이관 검토로, 감액 시 범위·일정 재설계로 돌아간다. 계약·예산 단계의 제품 상태를 기관의 공식 승인과 동일시하지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참조: ../시각설계_v1.2/01_서비스_흐름도.html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문제정의 예시: 자동차검사 예약 탐색 불편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문제 카드 P-001의 예시다. 실제 예약 데이터 갱신 장애나 시스템 전체의 공통 결함으로 단정하지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확인된 출발점은 제공된 대화의 사용자 경험이다. 원인 후보는 상태 표시·화면 흐름, 조회 연계, 실제 공급 부족으로 나누고 각각 필요한 증거를 지정한다.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실제 공개 국민제안의 존재와 처리 결과는 기존 조사자료를 다시 확인해야 한다. 이 슬라이드의 가상 사례에는 민원 건수나 효과 수치를 부여하지 않았다.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대상자, 경험한 상황, 불이익, 현상, 가설, 반대 근거, 조사 공백, 검토자를 문제 카드의 필수 필드로 설계한다.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참조: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정책 수단과 솔루션 도입 대안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P23 플랫폼과 P23로 기획하는 자동차검사 예약 개선사업을 구분한다. 예약 탐색 불편 자체는 UI·조회 연계 SI가 직접 해결 후보일 수 있다. LLM 도입을 사전 결론으로 두지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이미 구축된 사업에도 AI를 적용할 수 있다. 다만 동일 계약의 같은 납품 결과를 다시 산정하지 않고 재사용 기능과 추가 수행분을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TS 소관·개입 가능성·법정 요구·사업 중복·재사용성을 먼저 확인한다. AI의 유사사업 검색은 공식 중복검토나 정부 협의 절차를 대체하지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참조: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 화면과 작업 방식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사용자 유스케이스: 업무담당자가 의제를 등록하고 접근 가능한 근거를 검토한다. 기획담당자는 가설·반대 근거·대안 비교를 수정한다. 예산담당자는 확정되지 않은 필드를 확인하고 산식·재원을 검토한다. 계약담당자는 RFP의 요구사항과 공개 가능 범위를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화면별 공통 상태: 대기, 처리 중, 빈 결과, 부분 성공, 입력 오류, 권한 부족, 연결 실패·시간 초과, 재시도, 검토 요청, 재검토 필요. 오류가 나도 입력 조건과 저장된 사업 버전을 유지한다.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근거 부족은 빈칸을 추측으로 채우는 대신 담당자·기한이 있는 조사 과제로 남긴다. 키보드 접근·명확한 포커스·상태 문구·모바일 상세 목록을 설계 요구에 포함한다.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참조: ../시각설계_v1.2/06_사용자화면_시연.html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AI, 규칙 프로그램, 담당자의 역할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LLM의 유창한 문장이나 자동 점수는 원인의 확정이나 정책의 객관성을 보장하지 않는다. 반대 근거와 누락 정보를 함께 보여준다.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금액 계산은 구조화된 단가·수량·기간·세율·가정으로 재현한다. AI가 작성한 수치를 승인 없이 확정값으로 저장하지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외부 자료의 명령문을 실행 지시로 취급하지 않고, 자료에서 나온 내용과 사용자의 업무 지시를 구분한다. 실행 가능한 도구는 승인된 읽기·내부 초안 기능으로 제한하는 설계다.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참조: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전체 아키텍처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개념상 흐름: 담당자 요청 → NOA 서비스·접근제어 → 검색 컨텍스트 구성 → 로컬 LLM 응답 → 규칙 검사·사업원장 저장 → 사람 검토 → 문서 초안. 생성 결과를 화면과 원장으로 되돌리는 응답 경로가 필요하다.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외부 자료 수집망과 내부 추론망의 실제 망 구성·반입 승인 방식은 TS 환경에 따라 정한다. 이 그림은 인터넷 수집을 내부 서버에서 자유롭게 허용한다는 뜻이 아니다.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공식 제출 이후 확인된 심의·발주·실행 결과를 담당자가 등록하면 원장의 새 버전과 후속 평가에 연결한다. 외부 시스템 자동 제출 API는 초기 범위 밖이다.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기존 서버 성능·사용권·NOA API·SSO·문서 라이브러리·백업 운영은 미검증이다. 근거 접근 권한과 생성 문서의 공개 권한을 별도로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참조: ../시각설계_v1.2/02_전체_아키텍처.html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데이터 흐름과 근거 추적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연결키 예시: source_id, evidence_id, issue_id, project_id, project_version, budget_version, template_id, template_version, document_version, review_id. ID 예시는 설계안이다.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데이터 처리: 승인된 자료 반입 → 텍스트·표 구조화 → 출처 메타데이터와 접근정책 등록 → 근거 단위 연결 → 가설·문제 검토 → 사업·비용 원장 → 양식별 초안. 스캔·음성·영상 인식은 제안 범위에 포함하지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검색은 권한 필터를 적용하고, 요약·생성문서도 사용한 보호 근거에 맞는 접근 수준을 유지한다. 내부 열람 권한이 외부 공개 권한을 의미하지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원문 정정·철회가 발생하면 파생 주장과 영향을 받은 문서를 재검토 대상으로 표시한다. 이전 버전은 승인된 보존정책에 따라 유지하며 삭제·보존기간은 TS가 정한다.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참조: ../시각설계_v1.2/03_데이터_흐름도.html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판단 로직과 예외 처리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 추천 상태와 기관 공식 상태는 별도 필드다. 문제 검토 완료·내부 초안 완료가 예산 승인·공고 게시를 의미하지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근거 부족·소관 외·감액·철회·권한 제한·연계 실패 등 정상 흐름 외의 복귀 지점을 설계한다. 실패한 작업을 다시 실행해도 동일 문서가 중복 확정되지 않도록 작업 ID와 버전 조건을 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자동 검증은 누락값·산식·양식버전·접근·상태를 검사한다. 정책 적절성·인과성·법적 적용·예산 결정은 담당자 판단 대상으로 남긴다.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참조: ../시각설계_v1.2/04_판단과_예외.html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같은 사업원장을 목적별 문서로 변환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F01 문제정의·정책사업 검토서, F02 예산요구·사업설명자료, F03 신규사업 리스트, F04 발주기관 RFP 초안, F05 공고작성 인계서, F06 심의질의·답변보완표. 실제 제출서식과 전결 규칙에 맞추어 프로필을 확정해야 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출력 범위 가정: HTML·MD 6종과 발주처가 제공한 고정 HWPX 2종. 임의 HWP·PDF를 자동으로 이해해 모든 양식으로 바꾸는 기능이 아니다.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문서 변환 후보는 TA18 docsmith/python-hwpx 계열의 고정 서식 채움 방식이다. python-hwpx는 외부 공개 소프트웨어이며 CCK 고유 엔진으로 표기하지 않는다. 안정적 필드 주소·표 병합·페이지 나눔·반복 생성의 실제 렌더 품질은 검증 과제다.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v1.1 양식 프로필과 F01–F06 초안. F03은 2027 예산요구 지침의 신규사업 목록 필드를 참고한 초안이며 TS가 확정한 공식 제출서식은 아니다.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참조: ../서식/F01_문제정의_정책사업_검토서.html</a:t>
            </a:r>
          </a:p>
          <a:p xmlns:a="http://schemas.openxmlformats.org/drawingml/2006/main">
            <a:r>
              <a:t>../03_양식과_필드매핑.html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예산 경로와 공식 처리 상태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TS가 중앙 예산기관에 언제나 직접 제출한다고 가정하지 않는다. 자체예산, 정부예산 연계, 다른 재원에 따라 접수 기관·부서와 검토 절차를 설정한다.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2027 예산요구 세부지침은 기획예산처 공식 공지에서 확인된 자료다. 문서의 수신기관과 연도는 양식 프로필에서 관리한다. 사용자의 기재부 제출 취지는 중앙 예산심의용 설명자료 초안 지원으로 반영했다.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공식 지침에서 정보화 사업의 총사업비와 구축 후 5개년 운영·유지관리·추가 구축·이용료 등 비용정보가 요구될 수 있으므로 해당 여부와 실제 제출양식을 확인한다. 일반화된 법률 적합성 판정은 제공하지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https://www.mpb.go.kr/web/main/bbs/b_0005/2225 (2027 세부지침, 기존 조사 확인). 각 사업의 ISP/ISMP·협의·예비타당성 등 적용 판단은 별도 검토다.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참조: ../02_사업과_예산요구.html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사업범위를 RFP의 검수 조건으로 연결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RFP는 발주기관이 요구하는 과업·성과·검수·계약 조건의 초안이다. 수행사가 제출할 제안서와 구분한다. P23의 기획지원 요구사항과 P23가 출력할 개별사업의 요구사항 ID도 서로 분리한다.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수량·처리시간·접근성·보안·오류 처리 등 수용기준은 확보한 기준선과 실제 연계 계약에 맞추어 정한다. 근거 없는 지연시간·효과 수치를 제시하지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CCK 주관 수행을 검토한다는 사실로 특정 업체만 충족하는 입찰규격을 자동 작성하지 않는다. 실제 계약방식·평가기준·공고조건·법규 적용은 계약담당자가 검토한다.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공고 전환은 내부 승인본에서 공개 가능 필드를 추출하고 필요한 첨부·미확정 필드를 인계하는 기능이다. 나라장터 자동 공고 게시나 대외 전송 기능은 초기 범위에 포함하지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참조: ../05_RFP와_공고전환.html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변경이 생기면 관련 문서를 다시 검토한다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원장 변경이 모든 문서를 무조건 덮어쓰게 하지 않는다. 영향받은 필드·근거·문서·검토자를 식별하고 재검토 필요 상태와 변경 비교를 표시한다.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실제 심의 결과를 등록한 경우에도 사업 범위와 요구사항이 같은 금액에 수행 가능한지는 담당자가 재판단한다. 근거 철회가 사업 취소를 자동 확정하는 것도 아니다.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실행 후에는 실제 비용·범위·성과 측정 결과를 해당 사업원장에 연결하고 차기 의제의 근거로 사용한다. 공식 실행 결과의 등록은 권한과 출처 증빙을 남긴다.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참조: ../시각설계_v1.2/05_변경과_문서추적.html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CCK의 수행 범위와 도입 순서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16주는 시범 의제 1개와 부서 2개, 재사용 자산 확보를 전제로 한 계획 가정이다. 기관 예산심의·발주 행정기간은 포함하지 않는다. 기반 미확보·양식 제공 지연·서버 여력 부족 시 범위와 일정을 다시 산정한다.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CCK 주관 수행분은 업무분석, NOA 연계, 근거·사업원장, 규칙 엔진, 고정 양식 어댑터, UI, 검증·교육·인수다. 기존 시스템 담당자와 데이터 제공부서의 협업이 필요하다.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TA01 Argus·TA02 Keeper·TA03 Nexus·TA20 RAG는 문서상 재사용 검토 후보이며 P23 통합 제품의 기능 검증이 아니다. TA23 NL2SQL·EvidenceTrail은 계획·미구축 항목으로 기반 기능에 포함하지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단계 간 작업 중단·재개, 검토 상태, 권한 상속, 변경 영향은 추가 SI 범위로 명시한다. 기존 인프라 구매 없이 사용 가능한 처리 규모를 부하 시험으로 정한다.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참조: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P23 플랫폼 개발비의 조건별 산정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정확한 금액(VAT 포함): 기존 P23 기능 구현 완료의 확장분 67,609,987 / 91,381,506 / 115,153,025원. 공통 C00만 준비된 경우 126,543,457 / 169,420,614 / 212,297,771원. 신규 도입 164,543,667 / 220,087,560 / 275,631,454원. 표는 억 원 단위 소수 둘째 자리로 반올림했다.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직접인건비 = 작업별 인일 × 직무별 가중 일단가. 제경비 = 직접인건비 × 144%. 기술료 = (직접인건비+제경비) × 20%. 총액 = (인건비+제경비+기술료+별도 이용권·직접경비) × 1.10. 별도 FP 이윤을 중복 가산하지 않았다.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이용권·직접경비의 추가금액 0은 비교를 위한 가정이며 무료 확인이 아니다. 운영유지·백업·자료 갱신·연간 양식 개정 비용은 별도다. 완전한 생애주기 총비용으로 표현하지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확장분 WBS: X01 업무·예산경로·양식분석 6–10인일, X02 원장·필드매핑 8–14, X03 출력·HWPX어댑터 12–20, X04 산식·단위·연차검증 6–10, X05 검토·변경영향 8–14, X06 RFP·공고초안 6–10, X07 통합검증·인수 8–14. 중간값 합 73인일.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전체 TS AX 사업의 1차 7억·2차 추가 5억은 과거 논의한 목표 상한이며 확정 배정액이 아니다. P23 채택 시 다른 업무와 공통 비용을 조정하며 단순 추가하지 않는다. P23를 이용해 기획할 개별 정책사업 예산도 별도 원장이다.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산정 출처: 기존 v1.1 비용원장과 2026 적용 SW 평균임금, 2025 개정 SW사업 대가산정 가이드. https://www.swai.or.kr/site/sw/ex/board/View.do?bcIdx=64717&amp;cbIdx=304 ; https://www.swai.or.kr/site/sw/ex/board/View.do?bcIdx=63607&amp;cbIdx=276&amp;searchExt1=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참조: ../07_비용과_도입계획.html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검증 기준과 국민 성과의 연결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100%와 0건은 합의된 시험 묶음에 대한 인수 기준 제안이며 운영환경 전체의 무오류 보장이 아니다. 시험집합·권한 행렬·양식 버전과 합격 기준을 계약 단계에서 확정한다.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제품 품질: 검토한 문장·필드의 출처 추적, 산식 재현, 권한 차단, 수정 영향 감지, 출력 품질, 재시도·오류 복구. 작업시간·초안 수정량은 동일 의제·같은 입력 조건에서 현행 방식과 비교한다.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국민 성과: 예약 사례라면 후보 탐색 시간·화면 왕복·조건 재입력 등을 기준선과 비교한다. 위험·사고 관련 의제는 노출량·기간·교란요인·관측 자료를 고려하는 별도 평가계획을 세운다.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시각 자료 자체의 링크·레이아웃 검사는 제품 인수시험과 별개다. 이 자료는 서비스와 검증 설계를 전달하며 실제 TS 운영을 검증한 결과가 아니다.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참조: ../06_요구사항과_검증.html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초기 도입 범위와 확장 조건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1차 시범에서 근거·사업원장·검토·변경·양식의 공통 기능을 검증한다. 다른 22개 업무 또는 타기관 확장은 신규 데이터 연계·소관 규칙·양식·권한을 추가 설정하고 추가 공수만 산정하는 방식이다.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도입 대안: A 고정 양식 기반 텍스트 중심 시범을 우선 권고한다. B 다부서·다양식 동시 확대는 권한·통합·운영 부담이 커진다. C 기관 간 연계·자동 제출은 별도의 제도·보안·운영 검토 이후 후보로 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핵심 가치 가설은 문제정의의 근거 누락 감소와 실행 가능한 사업 선택 지원이다. 도입 또는 예산 확보 자체를 성과로 삼지 않고, 시범 평가 결과에 따라 확대·보완·보류를 결정한다.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참조: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586993327842d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777d06337384c77" /><Relationship Type="http://schemas.openxmlformats.org/officeDocument/2006/relationships/slideLayout" Target="/ppt/slideLayouts/slideLayout1.xml" Id="Rfc0b0da1729245d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c0b0da1729245d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ae35d0a56b48df" /><Relationship Type="http://schemas.openxmlformats.org/officeDocument/2006/relationships/image" Target="/ppt/media/image.png" Id="Raa8df16d6121458c" /><Relationship Type="http://schemas.openxmlformats.org/officeDocument/2006/relationships/notesSlide" Target="/ppt/notesSlides/notesSlide1.xml" Id="Rabb4a779e431447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afb5fe0385430b" /><Relationship Type="http://schemas.openxmlformats.org/officeDocument/2006/relationships/notesSlide" Target="/ppt/notesSlides/notesSlide2.xml" Id="R126735bd21604dc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a7dc8769c841b9" /><Relationship Type="http://schemas.openxmlformats.org/officeDocument/2006/relationships/image" Target="/ppt/media/image2.png" Id="R6aca0a318dd642f9" /><Relationship Type="http://schemas.openxmlformats.org/officeDocument/2006/relationships/notesSlide" Target="/ppt/notesSlides/notesSlide3.xml" Id="R6f3f679717ff434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49ea0b5ee34520" /><Relationship Type="http://schemas.openxmlformats.org/officeDocument/2006/relationships/notesSlide" Target="/ppt/notesSlides/notesSlide4.xml" Id="Rdd35c956b29c4ef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d37f37d84247c7" /><Relationship Type="http://schemas.openxmlformats.org/officeDocument/2006/relationships/notesSlide" Target="/ppt/notesSlides/notesSlide5.xml" Id="R354d01f07d2c41c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fb58273c52462c" /><Relationship Type="http://schemas.openxmlformats.org/officeDocument/2006/relationships/notesSlide" Target="/ppt/notesSlides/notesSlide6.xml" Id="R3e9a51bf0ff6457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2b55c9d7fb4839" /><Relationship Type="http://schemas.openxmlformats.org/officeDocument/2006/relationships/notesSlide" Target="/ppt/notesSlides/notesSlide7.xml" Id="R060d6dd4c0fd4e3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8572513ef04b91" /><Relationship Type="http://schemas.openxmlformats.org/officeDocument/2006/relationships/notesSlide" Target="/ppt/notesSlides/notesSlide8.xml" Id="Ra7578c9210714ab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8db61535184dcd" /><Relationship Type="http://schemas.openxmlformats.org/officeDocument/2006/relationships/notesSlide" Target="/ppt/notesSlides/notesSlide9.xml" Id="Rf6299765c43a409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e973fe413d4702" /><Relationship Type="http://schemas.openxmlformats.org/officeDocument/2006/relationships/notesSlide" Target="/ppt/notesSlides/notesSlide10.xml" Id="R33d29331d042457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19f1f6c230492f" /><Relationship Type="http://schemas.openxmlformats.org/officeDocument/2006/relationships/notesSlide" Target="/ppt/notesSlides/notesSlide11.xml" Id="R2362107b1d174dc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68c43a56c04545" /><Relationship Type="http://schemas.openxmlformats.org/officeDocument/2006/relationships/notesSlide" Target="/ppt/notesSlides/notesSlide12.xml" Id="R6c96374ad848491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64fe03d79f4d78" /><Relationship Type="http://schemas.openxmlformats.org/officeDocument/2006/relationships/notesSlide" Target="/ppt/notesSlides/notesSlide13.xml" Id="Re7e37d08a59b47e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5557fc80084b64" /><Relationship Type="http://schemas.openxmlformats.org/officeDocument/2006/relationships/notesSlide" Target="/ppt/notesSlides/notesSlide14.xml" Id="Rf0760b450a884ec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25cd225db14a23" /><Relationship Type="http://schemas.openxmlformats.org/officeDocument/2006/relationships/notesSlide" Target="/ppt/notesSlides/notesSlide15.xml" Id="R0c36684a599c419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90f33d96a5494e" /><Relationship Type="http://schemas.openxmlformats.org/officeDocument/2006/relationships/notesSlide" Target="/ppt/notesSlides/notesSlide16.xml" Id="Rc1d22b9edf7449c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d0c59dd2a343a0" /><Relationship Type="http://schemas.openxmlformats.org/officeDocument/2006/relationships/notesSlide" Target="/ppt/notesSlides/notesSlide17.xml" Id="R7f04cad224c34d2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2cf514659047bc" /><Relationship Type="http://schemas.openxmlformats.org/officeDocument/2006/relationships/notesSlide" Target="/ppt/notesSlides/notesSlide18.xml" Id="R2681e782ea6b42f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eab8c3ec0f4795" /><Relationship Type="http://schemas.openxmlformats.org/officeDocument/2006/relationships/notesSlide" Target="/ppt/notesSlides/notesSlide19.xml" Id="R4b5cfe183f6c4ce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0d01e6ea61417b" /><Relationship Type="http://schemas.openxmlformats.org/officeDocument/2006/relationships/notesSlide" Target="/ppt/notesSlides/notesSlide20.xml" Id="R08c48a5a93934d1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3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8df16d6121458c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s1_2">
            <a:extLst xmlns:a="http://schemas.openxmlformats.org/drawingml/2006/main">
              <a:ext uri="{FF2B5EF4-FFF2-40B4-BE49-F238E27FC236}">
                <a16:creationId xmlns:a16="http://schemas.microsoft.com/office/drawing/2014/main" id="{2B0CE9B8-3A80-44B6-878C-BE8D0DC87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52500"/>
            <a:ext cx="6334125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425" b="1">
                <a:solidFill>
                  <a:srgbClr val="143747"/>
                </a:solidFill>
                <a:latin typeface="Malgun Gothic"/>
                <a:ea typeface="Malgun Gothic"/>
                <a:cs typeface="Malgun Gothic"/>
              </a:defRPr>
            </a:pPr>
            <a:r>
              <a:rPr sz="4425" b="1">
                <a:solidFill>
                  <a:srgbClr val="143747"/>
                </a:solidFill>
                <a:latin typeface="Malgun Gothic"/>
                <a:ea typeface="Malgun Gothic"/>
                <a:cs typeface="Malgun Gothic"/>
              </a:rPr>
              <a:t>TS 정책·사업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4425" b="1">
                <a:solidFill>
                  <a:srgbClr val="143747"/>
                </a:solidFill>
                <a:latin typeface="Malgun Gothic"/>
                <a:ea typeface="Malgun Gothic"/>
                <a:cs typeface="Malgun Gothic"/>
              </a:defRPr>
            </a:pPr>
            <a:r>
              <a:rPr sz="4425" b="1">
                <a:solidFill>
                  <a:srgbClr val="143747"/>
                </a:solidFill>
                <a:latin typeface="Malgun Gothic"/>
                <a:ea typeface="Malgun Gothic"/>
                <a:cs typeface="Malgun Gothic"/>
              </a:rPr>
              <a:t>기획지원 플랫폼</a:t>
            </a:r>
          </a:p>
        </p:txBody>
      </p:sp>
      <p:sp>
        <p:nvSpPr>
          <p:cNvPr id="3" name="s1_3">
            <a:extLst xmlns:a="http://schemas.openxmlformats.org/drawingml/2006/main">
              <a:ext uri="{FF2B5EF4-FFF2-40B4-BE49-F238E27FC236}">
                <a16:creationId xmlns:a16="http://schemas.microsoft.com/office/drawing/2014/main" id="{C6F5596B-6181-49A4-8F24-06A2067A6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576262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066F64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066F64"/>
                </a:solidFill>
                <a:latin typeface="Malgun Gothic"/>
                <a:ea typeface="Malgun Gothic"/>
                <a:cs typeface="Malgun Gothic"/>
              </a:rPr>
              <a:t>근거를 검토하고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066F64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066F64"/>
                </a:solidFill>
                <a:latin typeface="Malgun Gothic"/>
                <a:ea typeface="Malgun Gothic"/>
                <a:cs typeface="Malgun Gothic"/>
              </a:rPr>
              <a:t>사업과 예산을 설계하는 공동 작업대</a:t>
            </a:r>
          </a:p>
        </p:txBody>
      </p:sp>
      <p:sp>
        <p:nvSpPr>
          <p:cNvPr id="4" name="s1_4">
            <a:extLst xmlns:a="http://schemas.openxmlformats.org/drawingml/2006/main">
              <a:ext uri="{FF2B5EF4-FFF2-40B4-BE49-F238E27FC236}">
                <a16:creationId xmlns:a16="http://schemas.microsoft.com/office/drawing/2014/main" id="{55EC331C-CA8A-40D2-946B-C5CEC3B02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8625"/>
            <a:ext cx="5715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4D626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D626B"/>
                </a:solidFill>
                <a:latin typeface="Malgun Gothic"/>
                <a:ea typeface="Malgun Gothic"/>
                <a:cs typeface="Malgun Gothic"/>
              </a:rPr>
              <a:t>CCK NOA + 로컬 LLM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4D626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D626B"/>
                </a:solidFill>
                <a:latin typeface="Malgun Gothic"/>
                <a:ea typeface="Malgun Gothic"/>
                <a:cs typeface="Malgun Gothic"/>
              </a:rPr>
              <a:t>기존 서버 활용 · 신규 인프라 투자 0원</a:t>
            </a:r>
          </a:p>
        </p:txBody>
      </p:sp>
      <p:sp>
        <p:nvSpPr>
          <p:cNvPr id="5" name="s1_5">
            <a:extLst xmlns:a="http://schemas.openxmlformats.org/drawingml/2006/main">
              <a:ext uri="{FF2B5EF4-FFF2-40B4-BE49-F238E27FC236}">
                <a16:creationId xmlns:a16="http://schemas.microsoft.com/office/drawing/2014/main" id="{862296EB-D84C-4263-9BAB-3450E5BF1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581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4D626B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4D626B"/>
                </a:solidFill>
                <a:latin typeface="Malgun Gothic"/>
                <a:ea typeface="Malgun Gothic"/>
                <a:cs typeface="Malgun Gothic"/>
              </a:rPr>
              <a:t>P23 서비스 기획안 v1.3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4D626B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4D626B"/>
                </a:solidFill>
                <a:latin typeface="Malgun Gothic"/>
                <a:ea typeface="Malgun Gothic"/>
                <a:cs typeface="Malgun Gothic"/>
              </a:rPr>
              <a:t>한국교통안전공단 대상 제안 · 2026.09.15</a:t>
            </a:r>
          </a:p>
        </p:txBody>
      </p:sp>
    </p:spTree>
    <p:extLst>
      <p:ext uri="{BB962C8B-B14F-4D97-AF65-F5344CB8AC3E}">
        <p14:creationId xmlns:p14="http://schemas.microsoft.com/office/powerpoint/2010/main" val="135290376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2_1">
            <a:extLst xmlns:a="http://schemas.openxmlformats.org/drawingml/2006/main">
              <a:ext uri="{FF2B5EF4-FFF2-40B4-BE49-F238E27FC236}">
                <a16:creationId xmlns:a16="http://schemas.microsoft.com/office/drawing/2014/main" id="{A9ECD5E9-80C2-4368-B687-7269F273E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150" b="1">
                <a:solidFill>
                  <a:srgbClr val="143747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43747"/>
                </a:solidFill>
                <a:latin typeface="Malgun Gothic"/>
                <a:ea typeface="Malgun Gothic"/>
                <a:cs typeface="Malgun Gothic"/>
              </a:rPr>
              <a:t>자료가 많을수록 판단의 연결이 중요해진다</a:t>
            </a:r>
          </a:p>
        </p:txBody>
      </p:sp>
      <p:sp>
        <p:nvSpPr>
          <p:cNvPr id="2" name="s2_2">
            <a:extLst xmlns:a="http://schemas.openxmlformats.org/drawingml/2006/main">
              <a:ext uri="{FF2B5EF4-FFF2-40B4-BE49-F238E27FC236}">
                <a16:creationId xmlns:a16="http://schemas.microsoft.com/office/drawing/2014/main" id="{1E870684-BE9E-4BA1-8C5A-9B4ADC07B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4D626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D626B"/>
                </a:solidFill>
                <a:latin typeface="Malgun Gothic"/>
                <a:ea typeface="Malgun Gothic"/>
                <a:cs typeface="Malgun Gothic"/>
              </a:rPr>
              <a:t>부서마다 근거를 다시 찾고 문서를 다시 쓰는 부담이 있다는 업무 가설</a:t>
            </a:r>
          </a:p>
        </p:txBody>
      </p:sp>
      <p:sp>
        <p:nvSpPr>
          <p:cNvPr id="3" name="s2_3">
            <a:extLst xmlns:a="http://schemas.openxmlformats.org/drawingml/2006/main">
              <a:ext uri="{FF2B5EF4-FFF2-40B4-BE49-F238E27FC236}">
                <a16:creationId xmlns:a16="http://schemas.microsoft.com/office/drawing/2014/main" id="{48DE219D-C895-42C2-8F9F-4D16D2E5A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09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4D626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4D626B"/>
                </a:solidFill>
                <a:latin typeface="Malgun Gothic"/>
                <a:ea typeface="Malgun Gothic"/>
                <a:cs typeface="Malgun Gothic"/>
              </a:rPr>
              <a:t>P23 기획 제안 v1.3 · 2026.09.15</a:t>
            </a:r>
          </a:p>
        </p:txBody>
      </p:sp>
      <p:sp>
        <p:nvSpPr>
          <p:cNvPr id="4" name="s2_4">
            <a:extLst xmlns:a="http://schemas.openxmlformats.org/drawingml/2006/main">
              <a:ext uri="{FF2B5EF4-FFF2-40B4-BE49-F238E27FC236}">
                <a16:creationId xmlns:a16="http://schemas.microsoft.com/office/drawing/2014/main" id="{DE19F65F-5380-4D7D-AEF4-DC6D9A5AD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3912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500" b="1">
                <a:solidFill>
                  <a:srgbClr val="066F6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66F64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5" name="s2_5">
            <a:extLst xmlns:a="http://schemas.openxmlformats.org/drawingml/2006/main">
              <a:ext uri="{FF2B5EF4-FFF2-40B4-BE49-F238E27FC236}">
                <a16:creationId xmlns:a16="http://schemas.microsoft.com/office/drawing/2014/main" id="{8AEB4B9A-CBF6-49DA-885B-D1E06C725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066F64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066F64"/>
                </a:solidFill>
                <a:latin typeface="Malgun Gothic"/>
                <a:ea typeface="Malgun Gothic"/>
                <a:cs typeface="Malgun Gothic"/>
              </a:rPr>
              <a:t>흩어진 자료</a:t>
            </a:r>
          </a:p>
        </p:txBody>
      </p:sp>
      <p:sp>
        <p:nvSpPr>
          <p:cNvPr id="6" name="s2_6">
            <a:extLst xmlns:a="http://schemas.openxmlformats.org/drawingml/2006/main">
              <a:ext uri="{FF2B5EF4-FFF2-40B4-BE49-F238E27FC236}">
                <a16:creationId xmlns:a16="http://schemas.microsoft.com/office/drawing/2014/main" id="{3212F572-D75F-4DBB-BB4D-0F6BBC81A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9875"/>
            <a:ext cx="31432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0">
                <a:solidFill>
                  <a:srgbClr val="193744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193744"/>
                </a:solidFill>
                <a:latin typeface="Malgun Gothic"/>
                <a:ea typeface="Malgun Gothic"/>
                <a:cs typeface="Malgun Gothic"/>
              </a:rPr>
              <a:t>민원과 국민제안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175" b="0">
                <a:solidFill>
                  <a:srgbClr val="193744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193744"/>
                </a:solidFill>
                <a:latin typeface="Malgun Gothic"/>
                <a:ea typeface="Malgun Gothic"/>
                <a:cs typeface="Malgun Gothic"/>
              </a:rPr>
              <a:t>뉴스와 정책보고서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175" b="0">
                <a:solidFill>
                  <a:srgbClr val="193744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193744"/>
                </a:solidFill>
                <a:latin typeface="Malgun Gothic"/>
                <a:ea typeface="Malgun Gothic"/>
                <a:cs typeface="Malgun Gothic"/>
              </a:rPr>
              <a:t>업무 현황과 운영자료</a:t>
            </a:r>
          </a:p>
        </p:txBody>
      </p:sp>
      <p:sp>
        <p:nvSpPr>
          <p:cNvPr id="7" name="s2_7">
            <a:extLst xmlns:a="http://schemas.openxmlformats.org/drawingml/2006/main">
              <a:ext uri="{FF2B5EF4-FFF2-40B4-BE49-F238E27FC236}">
                <a16:creationId xmlns:a16="http://schemas.microsoft.com/office/drawing/2014/main" id="{318259EB-2DF3-4843-8A23-7870673A7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19075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066F64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066F64"/>
                </a:solidFill>
                <a:latin typeface="Malgun Gothic"/>
                <a:ea typeface="Malgun Gothic"/>
                <a:cs typeface="Malgun Gothic"/>
              </a:rPr>
              <a:t>반복되는 검토</a:t>
            </a:r>
          </a:p>
        </p:txBody>
      </p:sp>
      <p:sp>
        <p:nvSpPr>
          <p:cNvPr id="8" name="s2_8">
            <a:extLst xmlns:a="http://schemas.openxmlformats.org/drawingml/2006/main">
              <a:ext uri="{FF2B5EF4-FFF2-40B4-BE49-F238E27FC236}">
                <a16:creationId xmlns:a16="http://schemas.microsoft.com/office/drawing/2014/main" id="{201E050D-F5E0-4F3D-853D-A41171CFE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809875"/>
            <a:ext cx="3238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0">
                <a:solidFill>
                  <a:srgbClr val="193744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193744"/>
                </a:solidFill>
                <a:latin typeface="Malgun Gothic"/>
                <a:ea typeface="Malgun Gothic"/>
                <a:cs typeface="Malgun Gothic"/>
              </a:rPr>
              <a:t>문제와 원인을 재해석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175" b="0">
                <a:solidFill>
                  <a:srgbClr val="193744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193744"/>
                </a:solidFill>
                <a:latin typeface="Malgun Gothic"/>
                <a:ea typeface="Malgun Gothic"/>
                <a:cs typeface="Malgun Gothic"/>
              </a:rPr>
              <a:t>기존 사업과 중복 확인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175" b="0">
                <a:solidFill>
                  <a:srgbClr val="193744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193744"/>
                </a:solidFill>
                <a:latin typeface="Malgun Gothic"/>
                <a:ea typeface="Malgun Gothic"/>
                <a:cs typeface="Malgun Gothic"/>
              </a:rPr>
              <a:t>범위·금액·설명 다시 작성</a:t>
            </a:r>
          </a:p>
        </p:txBody>
      </p:sp>
      <p:sp>
        <p:nvSpPr>
          <p:cNvPr id="9" name="s2_9">
            <a:extLst xmlns:a="http://schemas.openxmlformats.org/drawingml/2006/main">
              <a:ext uri="{FF2B5EF4-FFF2-40B4-BE49-F238E27FC236}">
                <a16:creationId xmlns:a16="http://schemas.microsoft.com/office/drawing/2014/main" id="{B64EE4E9-2653-45B1-84B9-A291A0342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19075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50" b="1">
                <a:solidFill>
                  <a:srgbClr val="066F6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066F64"/>
                </a:solidFill>
                <a:latin typeface="Malgun Gothic"/>
                <a:ea typeface="Malgun Gothic"/>
                <a:cs typeface="Malgun Gothic"/>
              </a:rPr>
              <a:t>국민에게 필요한 결과</a:t>
            </a:r>
          </a:p>
        </p:txBody>
      </p:sp>
      <p:sp>
        <p:nvSpPr>
          <p:cNvPr id="10" name="s2_10">
            <a:extLst xmlns:a="http://schemas.openxmlformats.org/drawingml/2006/main">
              <a:ext uri="{FF2B5EF4-FFF2-40B4-BE49-F238E27FC236}">
                <a16:creationId xmlns:a16="http://schemas.microsoft.com/office/drawing/2014/main" id="{77D240F9-ABC5-4984-AF3F-E8C6C76F4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809875"/>
            <a:ext cx="30289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193744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93744"/>
                </a:solidFill>
                <a:latin typeface="Malgun Gothic"/>
                <a:ea typeface="Malgun Gothic"/>
                <a:cs typeface="Malgun Gothic"/>
              </a:rPr>
              <a:t>미해결 불편과 위험 발견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193744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93744"/>
                </a:solidFill>
                <a:latin typeface="Malgun Gothic"/>
                <a:ea typeface="Malgun Gothic"/>
                <a:cs typeface="Malgun Gothic"/>
              </a:rPr>
              <a:t>실행 가능한 개선 선택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193744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93744"/>
                </a:solidFill>
                <a:latin typeface="Malgun Gothic"/>
                <a:ea typeface="Malgun Gothic"/>
                <a:cs typeface="Malgun Gothic"/>
              </a:rPr>
              <a:t>개선 후 효과 재확인</a:t>
            </a:r>
          </a:p>
        </p:txBody>
      </p:sp>
      <p:sp>
        <p:nvSpPr>
          <p:cNvPr id="11" name="s2_11">
            <a:extLst xmlns:a="http://schemas.openxmlformats.org/drawingml/2006/main">
              <a:ext uri="{FF2B5EF4-FFF2-40B4-BE49-F238E27FC236}">
                <a16:creationId xmlns:a16="http://schemas.microsoft.com/office/drawing/2014/main" id="{5AF153C1-9BEB-46F9-8A31-B86E5DF24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43350" y="3267075"/>
            <a:ext cx="3619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66F64"/>
          </a:solidFill>
          <a:ln xmlns:a="http://schemas.openxmlformats.org/drawingml/2006/main" w="0">
            <a:noFill/>
          </a:ln>
        </p:spPr>
      </p:sp>
      <p:sp>
        <p:nvSpPr>
          <p:cNvPr id="12" name="s2_12">
            <a:extLst xmlns:a="http://schemas.openxmlformats.org/drawingml/2006/main">
              <a:ext uri="{FF2B5EF4-FFF2-40B4-BE49-F238E27FC236}">
                <a16:creationId xmlns:a16="http://schemas.microsoft.com/office/drawing/2014/main" id="{CD8BC356-4E8C-4493-95F1-58C3B6DF1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81950" y="3267075"/>
            <a:ext cx="3619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66F64"/>
          </a:solidFill>
          <a:ln xmlns:a="http://schemas.openxmlformats.org/drawingml/2006/main" w="0">
            <a:noFill/>
          </a:ln>
        </p:spPr>
      </p:sp>
      <p:sp>
        <p:nvSpPr>
          <p:cNvPr id="13" name="s2_13">
            <a:extLst xmlns:a="http://schemas.openxmlformats.org/drawingml/2006/main">
              <a:ext uri="{FF2B5EF4-FFF2-40B4-BE49-F238E27FC236}">
                <a16:creationId xmlns:a16="http://schemas.microsoft.com/office/drawing/2014/main" id="{AE89CEDF-2A73-4174-B49B-F6E0D7E2D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BD5D2"/>
            </a:solidFill>
          </a:ln>
        </p:spPr>
      </p:sp>
      <p:sp>
        <p:nvSpPr>
          <p:cNvPr id="14" name="s2_14">
            <a:extLst xmlns:a="http://schemas.openxmlformats.org/drawingml/2006/main">
              <a:ext uri="{FF2B5EF4-FFF2-40B4-BE49-F238E27FC236}">
                <a16:creationId xmlns:a16="http://schemas.microsoft.com/office/drawing/2014/main" id="{1848D1FF-1938-4AB7-9DA1-AF3913DF2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1492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14374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3747"/>
                </a:solidFill>
                <a:latin typeface="Malgun Gothic"/>
                <a:ea typeface="Malgun Gothic"/>
                <a:cs typeface="Malgun Gothic"/>
              </a:rPr>
              <a:t>플랫폼의 목표</a:t>
            </a:r>
          </a:p>
        </p:txBody>
      </p:sp>
      <p:sp>
        <p:nvSpPr>
          <p:cNvPr id="15" name="s2_15">
            <a:extLst xmlns:a="http://schemas.openxmlformats.org/drawingml/2006/main">
              <a:ext uri="{FF2B5EF4-FFF2-40B4-BE49-F238E27FC236}">
                <a16:creationId xmlns:a16="http://schemas.microsoft.com/office/drawing/2014/main" id="{371E7171-C520-4E24-B2FA-5DB42806D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057775"/>
            <a:ext cx="82391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1">
                <a:solidFill>
                  <a:srgbClr val="143747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43747"/>
                </a:solidFill>
                <a:latin typeface="Malgun Gothic"/>
                <a:ea typeface="Malgun Gothic"/>
                <a:cs typeface="Malgun Gothic"/>
              </a:rPr>
              <a:t>근거·판단·사업범위·비용의 연결을 유지해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175" b="1">
                <a:solidFill>
                  <a:srgbClr val="143747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43747"/>
                </a:solidFill>
                <a:latin typeface="Malgun Gothic"/>
                <a:ea typeface="Malgun Gothic"/>
                <a:cs typeface="Malgun Gothic"/>
              </a:rPr>
              <a:t>실제 서비스 개선을 준비한다.</a:t>
            </a:r>
          </a:p>
        </p:txBody>
      </p:sp>
    </p:spTree>
    <p:extLst>
      <p:ext uri="{BB962C8B-B14F-4D97-AF65-F5344CB8AC3E}">
        <p14:creationId xmlns:p14="http://schemas.microsoft.com/office/powerpoint/2010/main" val="138501898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ca0a318dd642f9"/>
          <a:srcRect xmlns:a="http://schemas.openxmlformats.org/drawingml/2006/main" l="0" t="17031" r="0" b="170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666875"/>
            <a:ext cx="12192000" cy="4524375"/>
          </a:xfrm>
          <a:prstGeom xmlns:a="http://schemas.openxmlformats.org/drawingml/2006/main" prst="rect">
            <a:avLst/>
          </a:prstGeom>
        </p:spPr>
      </p:pic>
      <p:sp>
        <p:nvSpPr>
          <p:cNvPr id="2" name="s3_2">
            <a:extLst xmlns:a="http://schemas.openxmlformats.org/drawingml/2006/main">
              <a:ext uri="{FF2B5EF4-FFF2-40B4-BE49-F238E27FC236}">
                <a16:creationId xmlns:a16="http://schemas.microsoft.com/office/drawing/2014/main" id="{33C8C204-DBFE-4A51-9DD5-73DA23865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150" b="1">
                <a:solidFill>
                  <a:srgbClr val="143747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43747"/>
                </a:solidFill>
                <a:latin typeface="Malgun Gothic"/>
                <a:ea typeface="Malgun Gothic"/>
                <a:cs typeface="Malgun Gothic"/>
              </a:rPr>
              <a:t>전체 서비스 컨셉</a:t>
            </a:r>
          </a:p>
        </p:txBody>
      </p:sp>
      <p:sp>
        <p:nvSpPr>
          <p:cNvPr id="3" name="s3_3">
            <a:extLst xmlns:a="http://schemas.openxmlformats.org/drawingml/2006/main">
              <a:ext uri="{FF2B5EF4-FFF2-40B4-BE49-F238E27FC236}">
                <a16:creationId xmlns:a16="http://schemas.microsoft.com/office/drawing/2014/main" id="{8E17FAD5-9FC9-46C1-8349-D7CB4CCEE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4D626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D626B"/>
                </a:solidFill>
                <a:latin typeface="Malgun Gothic"/>
                <a:ea typeface="Malgun Gothic"/>
                <a:cs typeface="Malgun Gothic"/>
              </a:rPr>
              <a:t>허용 자료와 담당자의 판단을 연결해 목적별 문서 초안을 만든다.</a:t>
            </a:r>
          </a:p>
        </p:txBody>
      </p:sp>
      <p:sp>
        <p:nvSpPr>
          <p:cNvPr id="4" name="s3_4">
            <a:extLst xmlns:a="http://schemas.openxmlformats.org/drawingml/2006/main">
              <a:ext uri="{FF2B5EF4-FFF2-40B4-BE49-F238E27FC236}">
                <a16:creationId xmlns:a16="http://schemas.microsoft.com/office/drawing/2014/main" id="{9A80FC1B-CB9D-4C0B-93E2-2CA7E171A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09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4D626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4D626B"/>
                </a:solidFill>
                <a:latin typeface="Malgun Gothic"/>
                <a:ea typeface="Malgun Gothic"/>
                <a:cs typeface="Malgun Gothic"/>
              </a:rPr>
              <a:t>이미지 모델로 제작한 설명용 컨셉 · 한글 제목은 편집 가능 · 상세 관계는 후속 도식에서 설명</a:t>
            </a:r>
          </a:p>
        </p:txBody>
      </p:sp>
      <p:sp>
        <p:nvSpPr>
          <p:cNvPr id="5" name="s3_5">
            <a:extLst xmlns:a="http://schemas.openxmlformats.org/drawingml/2006/main">
              <a:ext uri="{FF2B5EF4-FFF2-40B4-BE49-F238E27FC236}">
                <a16:creationId xmlns:a16="http://schemas.microsoft.com/office/drawing/2014/main" id="{66F45910-7565-4D6D-AC74-338F39B5F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3912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500" b="1">
                <a:solidFill>
                  <a:srgbClr val="066F6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66F64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6" name="s3_6">
            <a:extLst xmlns:a="http://schemas.openxmlformats.org/drawingml/2006/main">
              <a:ext uri="{FF2B5EF4-FFF2-40B4-BE49-F238E27FC236}">
                <a16:creationId xmlns:a16="http://schemas.microsoft.com/office/drawing/2014/main" id="{E0AC085B-98D6-47A4-93EF-3D0AE40B5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43100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50" b="1">
                <a:solidFill>
                  <a:srgbClr val="143747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43747"/>
                </a:solidFill>
                <a:latin typeface="Malgun Gothic"/>
                <a:ea typeface="Malgun Gothic"/>
                <a:cs typeface="Malgun Gothic"/>
              </a:rPr>
              <a:t>자료와 국민 의견</a:t>
            </a:r>
          </a:p>
        </p:txBody>
      </p:sp>
      <p:sp>
        <p:nvSpPr>
          <p:cNvPr id="7" name="s3_7">
            <a:extLst xmlns:a="http://schemas.openxmlformats.org/drawingml/2006/main">
              <a:ext uri="{FF2B5EF4-FFF2-40B4-BE49-F238E27FC236}">
                <a16:creationId xmlns:a16="http://schemas.microsoft.com/office/drawing/2014/main" id="{D9554007-435D-4670-93CF-C78AC9F47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943100"/>
            <a:ext cx="35528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50" b="1">
                <a:solidFill>
                  <a:srgbClr val="143747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43747"/>
                </a:solidFill>
                <a:latin typeface="Malgun Gothic"/>
                <a:ea typeface="Malgun Gothic"/>
                <a:cs typeface="Malgun Gothic"/>
              </a:rPr>
              <a:t>NOA 공동 기획 작업대</a:t>
            </a:r>
          </a:p>
        </p:txBody>
      </p:sp>
      <p:sp>
        <p:nvSpPr>
          <p:cNvPr id="8" name="s3_8">
            <a:extLst xmlns:a="http://schemas.openxmlformats.org/drawingml/2006/main">
              <a:ext uri="{FF2B5EF4-FFF2-40B4-BE49-F238E27FC236}">
                <a16:creationId xmlns:a16="http://schemas.microsoft.com/office/drawing/2014/main" id="{9DF49EFE-FD79-46A8-9A03-C1810AB59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19431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14374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3747"/>
                </a:solidFill>
                <a:latin typeface="Malgun Gothic"/>
                <a:ea typeface="Malgun Gothic"/>
                <a:cs typeface="Malgun Gothic"/>
              </a:rPr>
              <a:t>검토할 문서와 실행안</a:t>
            </a:r>
          </a:p>
        </p:txBody>
      </p:sp>
    </p:spTree>
    <p:extLst>
      <p:ext uri="{BB962C8B-B14F-4D97-AF65-F5344CB8AC3E}">
        <p14:creationId xmlns:p14="http://schemas.microsoft.com/office/powerpoint/2010/main" val="159136428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s4_1">
            <a:extLst xmlns:a="http://schemas.openxmlformats.org/drawingml/2006/main">
              <a:ext uri="{FF2B5EF4-FFF2-40B4-BE49-F238E27FC236}">
                <a16:creationId xmlns:a16="http://schemas.microsoft.com/office/drawing/2014/main" id="{750944C9-408C-4A12-8D50-C3818648F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150" b="1">
                <a:solidFill>
                  <a:srgbClr val="143747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43747"/>
                </a:solidFill>
                <a:latin typeface="Malgun Gothic"/>
                <a:ea typeface="Malgun Gothic"/>
                <a:cs typeface="Malgun Gothic"/>
              </a:rPr>
              <a:t>부서가 함께 쓰는 서비스 모델</a:t>
            </a:r>
          </a:p>
        </p:txBody>
      </p:sp>
      <p:sp>
        <p:nvSpPr>
          <p:cNvPr id="2" name="s4_2">
            <a:extLst xmlns:a="http://schemas.openxmlformats.org/drawingml/2006/main">
              <a:ext uri="{FF2B5EF4-FFF2-40B4-BE49-F238E27FC236}">
                <a16:creationId xmlns:a16="http://schemas.microsoft.com/office/drawing/2014/main" id="{291DD1AC-A355-4CAD-B71F-CFB50E985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4D626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D626B"/>
                </a:solidFill>
                <a:latin typeface="Malgun Gothic"/>
                <a:ea typeface="Malgun Gothic"/>
                <a:cs typeface="Malgun Gothic"/>
              </a:rPr>
              <a:t>하나의 사업원장을 중심으로 근거 작업대와 사업·예산 작업대를 연결한다.</a:t>
            </a:r>
          </a:p>
        </p:txBody>
      </p:sp>
      <p:sp>
        <p:nvSpPr>
          <p:cNvPr id="3" name="s4_3">
            <a:extLst xmlns:a="http://schemas.openxmlformats.org/drawingml/2006/main">
              <a:ext uri="{FF2B5EF4-FFF2-40B4-BE49-F238E27FC236}">
                <a16:creationId xmlns:a16="http://schemas.microsoft.com/office/drawing/2014/main" id="{92267E5F-3D9E-456D-A2E0-F6D82F7FB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09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4D626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4D626B"/>
                </a:solidFill>
                <a:latin typeface="Malgun Gothic"/>
                <a:ea typeface="Malgun Gothic"/>
                <a:cs typeface="Malgun Gothic"/>
              </a:rPr>
              <a:t>P23 기획 제안 v1.3 · 2026.09.15</a:t>
            </a:r>
          </a:p>
        </p:txBody>
      </p:sp>
      <p:sp>
        <p:nvSpPr>
          <p:cNvPr id="4" name="s4_4">
            <a:extLst xmlns:a="http://schemas.openxmlformats.org/drawingml/2006/main">
              <a:ext uri="{FF2B5EF4-FFF2-40B4-BE49-F238E27FC236}">
                <a16:creationId xmlns:a16="http://schemas.microsoft.com/office/drawing/2014/main" id="{AEE9F602-6E22-4B97-B7E3-F145C1FB8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3912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500" b="1">
                <a:solidFill>
                  <a:srgbClr val="066F6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66F64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5" name="s4_5">
            <a:extLst xmlns:a="http://schemas.openxmlformats.org/drawingml/2006/main">
              <a:ext uri="{FF2B5EF4-FFF2-40B4-BE49-F238E27FC236}">
                <a16:creationId xmlns:a16="http://schemas.microsoft.com/office/drawing/2014/main" id="{D6AB24C6-6284-4B34-A40F-0C65B737C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2143125"/>
            <a:ext cx="3333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EEA"/>
          </a:solidFill>
          <a:ln xmlns:a="http://schemas.openxmlformats.org/drawingml/2006/main" w="0">
            <a:noFill/>
          </a:ln>
        </p:spPr>
      </p:sp>
      <p:sp>
        <p:nvSpPr>
          <p:cNvPr id="6" name="s4_6">
            <a:extLst xmlns:a="http://schemas.openxmlformats.org/drawingml/2006/main">
              <a:ext uri="{FF2B5EF4-FFF2-40B4-BE49-F238E27FC236}">
                <a16:creationId xmlns:a16="http://schemas.microsoft.com/office/drawing/2014/main" id="{8BF4C422-070C-4D67-B18A-6134F57C4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95525"/>
            <a:ext cx="2990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14374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3747"/>
                </a:solidFill>
                <a:latin typeface="Malgun Gothic"/>
                <a:ea typeface="Malgun Gothic"/>
                <a:cs typeface="Malgun Gothic"/>
              </a:rPr>
              <a:t>근거 작업대</a:t>
            </a:r>
          </a:p>
        </p:txBody>
      </p:sp>
      <p:sp>
        <p:nvSpPr>
          <p:cNvPr id="7" name="s4_7">
            <a:extLst xmlns:a="http://schemas.openxmlformats.org/drawingml/2006/main">
              <a:ext uri="{FF2B5EF4-FFF2-40B4-BE49-F238E27FC236}">
                <a16:creationId xmlns:a16="http://schemas.microsoft.com/office/drawing/2014/main" id="{BA732FBF-73CA-42AB-AED1-3D4D986A2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57475"/>
            <a:ext cx="2990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4D626B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4D626B"/>
                </a:solidFill>
                <a:latin typeface="Malgun Gothic"/>
                <a:ea typeface="Malgun Gothic"/>
                <a:cs typeface="Malgun Gothic"/>
              </a:rPr>
              <a:t>자료 정리 · 주장 검토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4D626B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4D626B"/>
                </a:solidFill>
                <a:latin typeface="Malgun Gothic"/>
                <a:ea typeface="Malgun Gothic"/>
                <a:cs typeface="Malgun Gothic"/>
              </a:rPr>
              <a:t>문제와 원인 가설</a:t>
            </a:r>
          </a:p>
        </p:txBody>
      </p:sp>
      <p:sp>
        <p:nvSpPr>
          <p:cNvPr id="8" name="s4_8">
            <a:extLst xmlns:a="http://schemas.openxmlformats.org/drawingml/2006/main">
              <a:ext uri="{FF2B5EF4-FFF2-40B4-BE49-F238E27FC236}">
                <a16:creationId xmlns:a16="http://schemas.microsoft.com/office/drawing/2014/main" id="{FD87B9C8-5045-4B06-88EA-A65A6B804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29125" y="2143125"/>
            <a:ext cx="3333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EEA"/>
          </a:solidFill>
          <a:ln xmlns:a="http://schemas.openxmlformats.org/drawingml/2006/main" w="0">
            <a:noFill/>
          </a:ln>
        </p:spPr>
      </p:sp>
      <p:sp>
        <p:nvSpPr>
          <p:cNvPr id="9" name="s4_9">
            <a:extLst xmlns:a="http://schemas.openxmlformats.org/drawingml/2006/main">
              <a:ext uri="{FF2B5EF4-FFF2-40B4-BE49-F238E27FC236}">
                <a16:creationId xmlns:a16="http://schemas.microsoft.com/office/drawing/2014/main" id="{BD69C5D8-EFAD-4F88-BCF9-9B6F6E5A0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295525"/>
            <a:ext cx="2990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14374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3747"/>
                </a:solidFill>
                <a:latin typeface="Malgun Gothic"/>
                <a:ea typeface="Malgun Gothic"/>
                <a:cs typeface="Malgun Gothic"/>
              </a:rPr>
              <a:t>사업 설계 작업대</a:t>
            </a:r>
          </a:p>
        </p:txBody>
      </p:sp>
      <p:sp>
        <p:nvSpPr>
          <p:cNvPr id="10" name="s4_10">
            <a:extLst xmlns:a="http://schemas.openxmlformats.org/drawingml/2006/main">
              <a:ext uri="{FF2B5EF4-FFF2-40B4-BE49-F238E27FC236}">
                <a16:creationId xmlns:a16="http://schemas.microsoft.com/office/drawing/2014/main" id="{F4101D35-85DC-4246-89D7-A6175F0FB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657475"/>
            <a:ext cx="2990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4D626B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4D626B"/>
                </a:solidFill>
                <a:latin typeface="Malgun Gothic"/>
                <a:ea typeface="Malgun Gothic"/>
                <a:cs typeface="Malgun Gothic"/>
              </a:rPr>
              <a:t>TS 소관 · 대안 비교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4D626B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4D626B"/>
                </a:solidFill>
                <a:latin typeface="Malgun Gothic"/>
                <a:ea typeface="Malgun Gothic"/>
                <a:cs typeface="Malgun Gothic"/>
              </a:rPr>
              <a:t>범위와 성과 설계</a:t>
            </a:r>
          </a:p>
        </p:txBody>
      </p:sp>
      <p:sp>
        <p:nvSpPr>
          <p:cNvPr id="11" name="s4_11">
            <a:extLst xmlns:a="http://schemas.openxmlformats.org/drawingml/2006/main">
              <a:ext uri="{FF2B5EF4-FFF2-40B4-BE49-F238E27FC236}">
                <a16:creationId xmlns:a16="http://schemas.microsoft.com/office/drawing/2014/main" id="{1C847637-BABE-40DA-B38A-5BB2B0990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48650" y="2143125"/>
            <a:ext cx="3333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EEA"/>
          </a:solidFill>
          <a:ln xmlns:a="http://schemas.openxmlformats.org/drawingml/2006/main" w="0">
            <a:noFill/>
          </a:ln>
        </p:spPr>
      </p:sp>
      <p:sp>
        <p:nvSpPr>
          <p:cNvPr id="12" name="s4_12">
            <a:extLst xmlns:a="http://schemas.openxmlformats.org/drawingml/2006/main">
              <a:ext uri="{FF2B5EF4-FFF2-40B4-BE49-F238E27FC236}">
                <a16:creationId xmlns:a16="http://schemas.microsoft.com/office/drawing/2014/main" id="{6CB5F4D0-DC48-42C1-9162-211DC5EF1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295525"/>
            <a:ext cx="2990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14374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3747"/>
                </a:solidFill>
                <a:latin typeface="Malgun Gothic"/>
                <a:ea typeface="Malgun Gothic"/>
                <a:cs typeface="Malgun Gothic"/>
              </a:rPr>
              <a:t>예산·문서 작업대</a:t>
            </a:r>
          </a:p>
        </p:txBody>
      </p:sp>
      <p:sp>
        <p:nvSpPr>
          <p:cNvPr id="13" name="s4_13">
            <a:extLst xmlns:a="http://schemas.openxmlformats.org/drawingml/2006/main">
              <a:ext uri="{FF2B5EF4-FFF2-40B4-BE49-F238E27FC236}">
                <a16:creationId xmlns:a16="http://schemas.microsoft.com/office/drawing/2014/main" id="{DBDC927B-6225-433E-802B-1047B7E2B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57475"/>
            <a:ext cx="2990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4D626B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4D626B"/>
                </a:solidFill>
                <a:latin typeface="Malgun Gothic"/>
                <a:ea typeface="Malgun Gothic"/>
                <a:cs typeface="Malgun Gothic"/>
              </a:rPr>
              <a:t>산정 · 양식별 초안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4D626B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4D626B"/>
                </a:solidFill>
                <a:latin typeface="Malgun Gothic"/>
                <a:ea typeface="Malgun Gothic"/>
                <a:cs typeface="Malgun Gothic"/>
              </a:rPr>
              <a:t>심의 보완 · 발주 준비</a:t>
            </a:r>
          </a:p>
        </p:txBody>
      </p:sp>
      <p:sp>
        <p:nvSpPr>
          <p:cNvPr id="14" name="s4_14">
            <a:extLst xmlns:a="http://schemas.openxmlformats.org/drawingml/2006/main">
              <a:ext uri="{FF2B5EF4-FFF2-40B4-BE49-F238E27FC236}">
                <a16:creationId xmlns:a16="http://schemas.microsoft.com/office/drawing/2014/main" id="{F6DFE9D5-2C17-4A1E-9787-A903533F5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00500" y="2647950"/>
            <a:ext cx="3619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66F64"/>
          </a:solidFill>
          <a:ln xmlns:a="http://schemas.openxmlformats.org/drawingml/2006/main" w="0">
            <a:noFill/>
          </a:ln>
        </p:spPr>
      </p:sp>
      <p:sp>
        <p:nvSpPr>
          <p:cNvPr id="15" name="s4_15">
            <a:extLst xmlns:a="http://schemas.openxmlformats.org/drawingml/2006/main">
              <a:ext uri="{FF2B5EF4-FFF2-40B4-BE49-F238E27FC236}">
                <a16:creationId xmlns:a16="http://schemas.microsoft.com/office/drawing/2014/main" id="{6B3270E9-49E4-4E85-BB38-672006155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20025" y="2647950"/>
            <a:ext cx="3619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66F64"/>
          </a:solidFill>
          <a:ln xmlns:a="http://schemas.openxmlformats.org/drawingml/2006/main" w="0">
            <a:noFill/>
          </a:ln>
        </p:spPr>
      </p:sp>
      <p:sp>
        <p:nvSpPr>
          <p:cNvPr id="16" name="s4_16">
            <a:extLst xmlns:a="http://schemas.openxmlformats.org/drawingml/2006/main">
              <a:ext uri="{FF2B5EF4-FFF2-40B4-BE49-F238E27FC236}">
                <a16:creationId xmlns:a16="http://schemas.microsoft.com/office/drawing/2014/main" id="{34A05A51-BEA7-4B2D-A43E-3980F8C3F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3781425"/>
            <a:ext cx="109728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747"/>
          </a:solidFill>
          <a:ln xmlns:a="http://schemas.openxmlformats.org/drawingml/2006/main" w="0">
            <a:noFill/>
          </a:ln>
        </p:spPr>
      </p:sp>
      <p:sp>
        <p:nvSpPr>
          <p:cNvPr id="17" name="s4_17">
            <a:extLst xmlns:a="http://schemas.openxmlformats.org/drawingml/2006/main">
              <a:ext uri="{FF2B5EF4-FFF2-40B4-BE49-F238E27FC236}">
                <a16:creationId xmlns:a16="http://schemas.microsoft.com/office/drawing/2014/main" id="{48E27458-9311-4943-BF07-995195AA7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990975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공통 사업원장</a:t>
            </a:r>
          </a:p>
        </p:txBody>
      </p:sp>
      <p:sp>
        <p:nvSpPr>
          <p:cNvPr id="18" name="s4_18">
            <a:extLst xmlns:a="http://schemas.openxmlformats.org/drawingml/2006/main">
              <a:ext uri="{FF2B5EF4-FFF2-40B4-BE49-F238E27FC236}">
                <a16:creationId xmlns:a16="http://schemas.microsoft.com/office/drawing/2014/main" id="{04AE8C0A-CBA9-4CFC-9B3E-9F07D7966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010025"/>
            <a:ext cx="7620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근거 ID   사업 버전   비용 산식   검토 결정   문서 상태</a:t>
            </a:r>
          </a:p>
        </p:txBody>
      </p:sp>
      <p:sp>
        <p:nvSpPr>
          <p:cNvPr id="19" name="s4_19">
            <a:extLst xmlns:a="http://schemas.openxmlformats.org/drawingml/2006/main">
              <a:ext uri="{FF2B5EF4-FFF2-40B4-BE49-F238E27FC236}">
                <a16:creationId xmlns:a16="http://schemas.microsoft.com/office/drawing/2014/main" id="{9F96E5ED-ADA2-4B14-87B0-B3808E93C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4562475"/>
            <a:ext cx="0" cy="314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66F64"/>
            </a:solidFill>
          </a:ln>
        </p:spPr>
      </p:sp>
      <p:sp>
        <p:nvSpPr>
          <p:cNvPr id="20" name="s4_20">
            <a:extLst xmlns:a="http://schemas.openxmlformats.org/drawingml/2006/main">
              <a:ext uri="{FF2B5EF4-FFF2-40B4-BE49-F238E27FC236}">
                <a16:creationId xmlns:a16="http://schemas.microsoft.com/office/drawing/2014/main" id="{207D7E82-0030-4331-9F9F-3519B71C5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14925"/>
            <a:ext cx="21050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800" b="1">
                <a:solidFill>
                  <a:srgbClr val="14374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43747"/>
                </a:solidFill>
                <a:latin typeface="Malgun Gothic"/>
                <a:ea typeface="Malgun Gothic"/>
                <a:cs typeface="Malgun Gothic"/>
              </a:rPr>
              <a:t>업무 담당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800" b="1">
                <a:solidFill>
                  <a:srgbClr val="14374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43747"/>
                </a:solidFill>
                <a:latin typeface="Malgun Gothic"/>
                <a:ea typeface="Malgun Gothic"/>
                <a:cs typeface="Malgun Gothic"/>
              </a:rPr>
              <a:t>현상·원인 확인</a:t>
            </a:r>
          </a:p>
        </p:txBody>
      </p:sp>
      <p:sp>
        <p:nvSpPr>
          <p:cNvPr id="21" name="s4_21">
            <a:extLst xmlns:a="http://schemas.openxmlformats.org/drawingml/2006/main">
              <a:ext uri="{FF2B5EF4-FFF2-40B4-BE49-F238E27FC236}">
                <a16:creationId xmlns:a16="http://schemas.microsoft.com/office/drawing/2014/main" id="{B4512371-7FD5-445F-9776-FA2DB1BA6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562475"/>
            <a:ext cx="0" cy="314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66F64"/>
            </a:solidFill>
          </a:ln>
        </p:spPr>
      </p:sp>
      <p:sp>
        <p:nvSpPr>
          <p:cNvPr id="22" name="s4_22">
            <a:extLst xmlns:a="http://schemas.openxmlformats.org/drawingml/2006/main">
              <a:ext uri="{FF2B5EF4-FFF2-40B4-BE49-F238E27FC236}">
                <a16:creationId xmlns:a16="http://schemas.microsoft.com/office/drawing/2014/main" id="{7E6D26D7-D9A7-488B-AF5A-BCE75A3E3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114925"/>
            <a:ext cx="21050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800" b="1">
                <a:solidFill>
                  <a:srgbClr val="14374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43747"/>
                </a:solidFill>
                <a:latin typeface="Malgun Gothic"/>
                <a:ea typeface="Malgun Gothic"/>
                <a:cs typeface="Malgun Gothic"/>
              </a:rPr>
              <a:t>기획·혁신 담당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800" b="1">
                <a:solidFill>
                  <a:srgbClr val="14374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43747"/>
                </a:solidFill>
                <a:latin typeface="Malgun Gothic"/>
                <a:ea typeface="Malgun Gothic"/>
                <a:cs typeface="Malgun Gothic"/>
              </a:rPr>
              <a:t>대안·우선순위</a:t>
            </a:r>
          </a:p>
        </p:txBody>
      </p:sp>
      <p:sp>
        <p:nvSpPr>
          <p:cNvPr id="23" name="s4_23">
            <a:extLst xmlns:a="http://schemas.openxmlformats.org/drawingml/2006/main">
              <a:ext uri="{FF2B5EF4-FFF2-40B4-BE49-F238E27FC236}">
                <a16:creationId xmlns:a16="http://schemas.microsoft.com/office/drawing/2014/main" id="{BEB36962-4427-40C6-AAAD-73BC39605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562475"/>
            <a:ext cx="0" cy="314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66F64"/>
            </a:solidFill>
          </a:ln>
        </p:spPr>
      </p:sp>
      <p:sp>
        <p:nvSpPr>
          <p:cNvPr id="24" name="s4_24">
            <a:extLst xmlns:a="http://schemas.openxmlformats.org/drawingml/2006/main">
              <a:ext uri="{FF2B5EF4-FFF2-40B4-BE49-F238E27FC236}">
                <a16:creationId xmlns:a16="http://schemas.microsoft.com/office/drawing/2014/main" id="{72E00C8D-E7F3-422F-B811-45219D0D2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114925"/>
            <a:ext cx="21050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800" b="1">
                <a:solidFill>
                  <a:srgbClr val="14374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43747"/>
                </a:solidFill>
                <a:latin typeface="Malgun Gothic"/>
                <a:ea typeface="Malgun Gothic"/>
                <a:cs typeface="Malgun Gothic"/>
              </a:rPr>
              <a:t>예산 담당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800" b="1">
                <a:solidFill>
                  <a:srgbClr val="14374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43747"/>
                </a:solidFill>
                <a:latin typeface="Malgun Gothic"/>
                <a:ea typeface="Malgun Gothic"/>
                <a:cs typeface="Malgun Gothic"/>
              </a:rPr>
              <a:t>재원·금액·심의</a:t>
            </a:r>
          </a:p>
        </p:txBody>
      </p:sp>
      <p:sp>
        <p:nvSpPr>
          <p:cNvPr id="25" name="s4_25">
            <a:extLst xmlns:a="http://schemas.openxmlformats.org/drawingml/2006/main">
              <a:ext uri="{FF2B5EF4-FFF2-40B4-BE49-F238E27FC236}">
                <a16:creationId xmlns:a16="http://schemas.microsoft.com/office/drawing/2014/main" id="{F330FA3F-E82C-48C4-AC32-CF4D685B3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562475"/>
            <a:ext cx="0" cy="314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66F64"/>
            </a:solidFill>
          </a:ln>
        </p:spPr>
      </p:sp>
      <p:sp>
        <p:nvSpPr>
          <p:cNvPr id="26" name="s4_26">
            <a:extLst xmlns:a="http://schemas.openxmlformats.org/drawingml/2006/main">
              <a:ext uri="{FF2B5EF4-FFF2-40B4-BE49-F238E27FC236}">
                <a16:creationId xmlns:a16="http://schemas.microsoft.com/office/drawing/2014/main" id="{3330C239-390C-4FF3-82EF-05FF21019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114925"/>
            <a:ext cx="21050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800" b="1">
                <a:solidFill>
                  <a:srgbClr val="14374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43747"/>
                </a:solidFill>
                <a:latin typeface="Malgun Gothic"/>
                <a:ea typeface="Malgun Gothic"/>
                <a:cs typeface="Malgun Gothic"/>
              </a:rPr>
              <a:t>정보화 담당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800" b="1">
                <a:solidFill>
                  <a:srgbClr val="14374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43747"/>
                </a:solidFill>
                <a:latin typeface="Malgun Gothic"/>
                <a:ea typeface="Malgun Gothic"/>
                <a:cs typeface="Malgun Gothic"/>
              </a:rPr>
              <a:t>재사용·연계·보안</a:t>
            </a:r>
          </a:p>
        </p:txBody>
      </p:sp>
      <p:sp>
        <p:nvSpPr>
          <p:cNvPr id="27" name="s4_27">
            <a:extLst xmlns:a="http://schemas.openxmlformats.org/drawingml/2006/main">
              <a:ext uri="{FF2B5EF4-FFF2-40B4-BE49-F238E27FC236}">
                <a16:creationId xmlns:a16="http://schemas.microsoft.com/office/drawing/2014/main" id="{D78CD01D-828E-49B4-BD5C-77EBE9A12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8475" y="4562475"/>
            <a:ext cx="0" cy="314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66F64"/>
            </a:solidFill>
          </a:ln>
        </p:spPr>
      </p:sp>
      <p:sp>
        <p:nvSpPr>
          <p:cNvPr id="28" name="s4_28">
            <a:extLst xmlns:a="http://schemas.openxmlformats.org/drawingml/2006/main">
              <a:ext uri="{FF2B5EF4-FFF2-40B4-BE49-F238E27FC236}">
                <a16:creationId xmlns:a16="http://schemas.microsoft.com/office/drawing/2014/main" id="{3190D89A-9D0F-460E-93AB-B85BD46D0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5114925"/>
            <a:ext cx="21050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800" b="1">
                <a:solidFill>
                  <a:srgbClr val="14374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43747"/>
                </a:solidFill>
                <a:latin typeface="Malgun Gothic"/>
                <a:ea typeface="Malgun Gothic"/>
                <a:cs typeface="Malgun Gothic"/>
              </a:rPr>
              <a:t>계약 담당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800" b="1">
                <a:solidFill>
                  <a:srgbClr val="14374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43747"/>
                </a:solidFill>
                <a:latin typeface="Malgun Gothic"/>
                <a:ea typeface="Malgun Gothic"/>
                <a:cs typeface="Malgun Gothic"/>
              </a:rPr>
              <a:t>요구·검수·공개</a:t>
            </a:r>
          </a:p>
        </p:txBody>
      </p:sp>
    </p:spTree>
    <p:extLst>
      <p:ext uri="{BB962C8B-B14F-4D97-AF65-F5344CB8AC3E}">
        <p14:creationId xmlns:p14="http://schemas.microsoft.com/office/powerpoint/2010/main" val="134059021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5_1">
            <a:extLst xmlns:a="http://schemas.openxmlformats.org/drawingml/2006/main">
              <a:ext uri="{FF2B5EF4-FFF2-40B4-BE49-F238E27FC236}">
                <a16:creationId xmlns:a16="http://schemas.microsoft.com/office/drawing/2014/main" id="{87BF5551-CF14-4E17-B7A0-608E1835C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150" b="1">
                <a:solidFill>
                  <a:srgbClr val="143747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43747"/>
                </a:solidFill>
                <a:latin typeface="Malgun Gothic"/>
                <a:ea typeface="Malgun Gothic"/>
                <a:cs typeface="Malgun Gothic"/>
              </a:rPr>
              <a:t>서비스 흐름과 부서별 인계</a:t>
            </a:r>
          </a:p>
        </p:txBody>
      </p:sp>
      <p:sp>
        <p:nvSpPr>
          <p:cNvPr id="2" name="s5_2">
            <a:extLst xmlns:a="http://schemas.openxmlformats.org/drawingml/2006/main">
              <a:ext uri="{FF2B5EF4-FFF2-40B4-BE49-F238E27FC236}">
                <a16:creationId xmlns:a16="http://schemas.microsoft.com/office/drawing/2014/main" id="{EDD7F009-DDF0-43F9-96D6-967EE8F98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4D626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D626B"/>
                </a:solidFill>
                <a:latin typeface="Malgun Gothic"/>
                <a:ea typeface="Malgun Gothic"/>
                <a:cs typeface="Malgun Gothic"/>
              </a:rPr>
              <a:t>각 단계는 다음 담당자가 판단할 수 있는 산출물을 남긴다.</a:t>
            </a:r>
          </a:p>
        </p:txBody>
      </p:sp>
      <p:sp>
        <p:nvSpPr>
          <p:cNvPr id="3" name="s5_3">
            <a:extLst xmlns:a="http://schemas.openxmlformats.org/drawingml/2006/main">
              <a:ext uri="{FF2B5EF4-FFF2-40B4-BE49-F238E27FC236}">
                <a16:creationId xmlns:a16="http://schemas.microsoft.com/office/drawing/2014/main" id="{F23CBD99-4D93-4131-9D10-4E1C75D87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09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4D626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4D626B"/>
                </a:solidFill>
                <a:latin typeface="Malgun Gothic"/>
                <a:ea typeface="Malgun Gothic"/>
                <a:cs typeface="Malgun Gothic"/>
              </a:rPr>
              <a:t>P23 기획 제안 v1.3 · 2026.09.15</a:t>
            </a:r>
          </a:p>
        </p:txBody>
      </p:sp>
      <p:sp>
        <p:nvSpPr>
          <p:cNvPr id="4" name="s5_4">
            <a:extLst xmlns:a="http://schemas.openxmlformats.org/drawingml/2006/main">
              <a:ext uri="{FF2B5EF4-FFF2-40B4-BE49-F238E27FC236}">
                <a16:creationId xmlns:a16="http://schemas.microsoft.com/office/drawing/2014/main" id="{8AE5420B-8812-4F42-8290-9783DCF06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3912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500" b="1">
                <a:solidFill>
                  <a:srgbClr val="066F6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66F64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038350"/>
          <a:ext xmlns:a="http://schemas.openxmlformats.org/drawingml/2006/main" cx="109728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38250"/>
                <a:gridCol w="2428875"/>
                <a:gridCol w="2428875"/>
                <a:gridCol w="2428875"/>
                <a:gridCol w="2447925"/>
              </a:tblGrid>
              <a:tr h="723900"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6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단계</a:t>
                      </a:r>
                    </a:p>
                  </a:txBody>
                  <a:tcPr marL="91440" marR="91440" marT="45720" marB="45720" anchor="ctr">
                    <a:solidFill>
                      <a:srgbClr val="143747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6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자료·문제</a:t>
                      </a:r>
                    </a:p>
                  </a:txBody>
                  <a:tcPr marL="91440" marR="91440" marT="45720" marB="45720" anchor="ctr">
                    <a:solidFill>
                      <a:srgbClr val="143747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6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대안·사업</a:t>
                      </a:r>
                    </a:p>
                  </a:txBody>
                  <a:tcPr marL="91440" marR="91440" marT="45720" marB="45720" anchor="ctr">
                    <a:solidFill>
                      <a:srgbClr val="143747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6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예산·보완</a:t>
                      </a:r>
                    </a:p>
                  </a:txBody>
                  <a:tcPr marL="91440" marR="91440" marT="45720" marB="45720" anchor="ctr">
                    <a:solidFill>
                      <a:srgbClr val="143747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6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발주·평가</a:t>
                      </a:r>
                    </a:p>
                  </a:txBody>
                  <a:tcPr marL="91440" marR="91440" marT="45720" marB="45720" anchor="ctr">
                    <a:solidFill>
                      <a:srgbClr val="143747"/>
                    </a:solidFill>
                  </a:tcPr>
                </a:tc>
              </a:tr>
              <a:tr h="723900"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650" b="0">
                          <a:solidFill>
                            <a:srgbClr val="19374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담당자 행동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650" b="0">
                          <a:solidFill>
                            <a:srgbClr val="19374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자료 등록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650" b="0">
                          <a:solidFill>
                            <a:srgbClr val="19374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문제 검토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650" b="0">
                          <a:solidFill>
                            <a:srgbClr val="19374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대안 비교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650" b="0">
                          <a:solidFill>
                            <a:srgbClr val="19374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사업 범위 선택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650" b="0">
                          <a:solidFill>
                            <a:srgbClr val="19374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요구액 검토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650" b="0">
                          <a:solidFill>
                            <a:srgbClr val="19374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심의 결과 등록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650" b="0">
                          <a:solidFill>
                            <a:srgbClr val="19374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RFP 검토·인계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650" b="0">
                          <a:solidFill>
                            <a:srgbClr val="19374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 결과 등록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650" b="0">
                          <a:solidFill>
                            <a:srgbClr val="19374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AI·규칙</a:t>
                      </a:r>
                    </a:p>
                  </a:txBody>
                  <a:tcPr marL="91440" marR="91440" marT="45720" marB="45720" anchor="ctr">
                    <a:solidFill>
                      <a:srgbClr val="EDF3F0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650" b="0">
                          <a:solidFill>
                            <a:srgbClr val="19374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근거 묶음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650" b="0">
                          <a:solidFill>
                            <a:srgbClr val="19374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가설·조사 공백</a:t>
                      </a:r>
                    </a:p>
                  </a:txBody>
                  <a:tcPr marL="91440" marR="91440" marT="45720" marB="45720" anchor="ctr">
                    <a:solidFill>
                      <a:srgbClr val="EDF3F0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650" b="0">
                          <a:solidFill>
                            <a:srgbClr val="19374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소관·중복 후보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650" b="0">
                          <a:solidFill>
                            <a:srgbClr val="19374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범위·KPI 초안</a:t>
                      </a:r>
                    </a:p>
                  </a:txBody>
                  <a:tcPr marL="91440" marR="91440" marT="45720" marB="45720" anchor="ctr">
                    <a:solidFill>
                      <a:srgbClr val="EDF3F0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650" b="0">
                          <a:solidFill>
                            <a:srgbClr val="19374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산식·단위 검사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650" b="0">
                          <a:solidFill>
                            <a:srgbClr val="19374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문서·보완 초안</a:t>
                      </a:r>
                    </a:p>
                  </a:txBody>
                  <a:tcPr marL="91440" marR="91440" marT="45720" marB="45720" anchor="ctr">
                    <a:solidFill>
                      <a:srgbClr val="EDF3F0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650" b="0">
                          <a:solidFill>
                            <a:srgbClr val="19374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요구·검수 연결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650" b="0">
                          <a:solidFill>
                            <a:srgbClr val="19374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성과 대비 분석</a:t>
                      </a:r>
                    </a:p>
                  </a:txBody>
                  <a:tcPr marL="91440" marR="91440" marT="45720" marB="45720" anchor="ctr">
                    <a:solidFill>
                      <a:srgbClr val="EDF3F0"/>
                    </a:solidFill>
                  </a:tcPr>
                </a:tc>
              </a:tr>
              <a:tr h="723900"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650" b="0">
                          <a:solidFill>
                            <a:srgbClr val="19374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산출물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650" b="0">
                          <a:solidFill>
                            <a:srgbClr val="19374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근거 묶음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650" b="0">
                          <a:solidFill>
                            <a:srgbClr val="19374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문제 카드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650" b="0">
                          <a:solidFill>
                            <a:srgbClr val="19374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선택 사유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650" b="0">
                          <a:solidFill>
                            <a:srgbClr val="19374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사업 버전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650" b="0">
                          <a:solidFill>
                            <a:srgbClr val="19374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예산요구안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650" b="0">
                          <a:solidFill>
                            <a:srgbClr val="19374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보완 이력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650" b="0">
                          <a:solidFill>
                            <a:srgbClr val="19374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발주 초안 묶음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650" b="0">
                          <a:solidFill>
                            <a:srgbClr val="19374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후속 평가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650" b="0">
                          <a:solidFill>
                            <a:srgbClr val="19374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다음 단계 조건</a:t>
                      </a:r>
                    </a:p>
                  </a:txBody>
                  <a:tcPr marL="91440" marR="91440" marT="45720" marB="45720" anchor="ctr">
                    <a:solidFill>
                      <a:srgbClr val="EDF3F0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650" b="0">
                          <a:solidFill>
                            <a:srgbClr val="19374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근거 검토 완료</a:t>
                      </a:r>
                    </a:p>
                  </a:txBody>
                  <a:tcPr marL="91440" marR="91440" marT="45720" marB="45720" anchor="ctr">
                    <a:solidFill>
                      <a:srgbClr val="EDF3F0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650" b="0">
                          <a:solidFill>
                            <a:srgbClr val="19374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대안·범위 검토</a:t>
                      </a:r>
                    </a:p>
                  </a:txBody>
                  <a:tcPr marL="91440" marR="91440" marT="45720" marB="45720" anchor="ctr">
                    <a:solidFill>
                      <a:srgbClr val="EDF3F0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650" b="0">
                          <a:solidFill>
                            <a:srgbClr val="19374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확정 범위 확인*</a:t>
                      </a:r>
                    </a:p>
                  </a:txBody>
                  <a:tcPr marL="91440" marR="91440" marT="45720" marB="45720" anchor="ctr">
                    <a:solidFill>
                      <a:srgbClr val="EDF3F0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650" b="0">
                          <a:solidFill>
                            <a:srgbClr val="19374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계약·공개 검토</a:t>
                      </a:r>
                    </a:p>
                  </a:txBody>
                  <a:tcPr marL="91440" marR="91440" marT="45720" marB="45720" anchor="ctr">
                    <a:solidFill>
                      <a:srgbClr val="EDF3F0"/>
                    </a:solidFill>
                  </a:tcPr>
                </a:tc>
              </a:tr>
            </a:tbl>
          </a:graphicData>
        </a:graphic>
      </p:graphicFrame>
      <p:sp>
        <p:nvSpPr>
          <p:cNvPr id="6" name="s5_6">
            <a:extLst xmlns:a="http://schemas.openxmlformats.org/drawingml/2006/main">
              <a:ext uri="{FF2B5EF4-FFF2-40B4-BE49-F238E27FC236}">
                <a16:creationId xmlns:a16="http://schemas.microsoft.com/office/drawing/2014/main" id="{82CC95FC-9FE3-423D-9087-1BD9EDB1E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857875"/>
            <a:ext cx="1085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A44F2C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A44F2C"/>
                </a:solidFill>
                <a:latin typeface="Malgun Gothic"/>
                <a:ea typeface="Malgun Gothic"/>
                <a:cs typeface="Malgun Gothic"/>
              </a:rPr>
              <a:t>*미확정 상태에서도 초안 작성 가능. 공식 인계 전에는 실제 승인 범위와 절차 확인.</a:t>
            </a:r>
          </a:p>
        </p:txBody>
      </p:sp>
    </p:spTree>
    <p:extLst>
      <p:ext uri="{BB962C8B-B14F-4D97-AF65-F5344CB8AC3E}">
        <p14:creationId xmlns:p14="http://schemas.microsoft.com/office/powerpoint/2010/main" val="112845533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6_1">
            <a:extLst xmlns:a="http://schemas.openxmlformats.org/drawingml/2006/main">
              <a:ext uri="{FF2B5EF4-FFF2-40B4-BE49-F238E27FC236}">
                <a16:creationId xmlns:a16="http://schemas.microsoft.com/office/drawing/2014/main" id="{6A0EBBD7-7757-4671-96CD-79D2AE5BE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150" b="1">
                <a:solidFill>
                  <a:srgbClr val="143747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43747"/>
                </a:solidFill>
                <a:latin typeface="Malgun Gothic"/>
                <a:ea typeface="Malgun Gothic"/>
                <a:cs typeface="Malgun Gothic"/>
              </a:rPr>
              <a:t>문제정의 예시: 자동차검사 예약 탐색 불편</a:t>
            </a:r>
          </a:p>
        </p:txBody>
      </p:sp>
      <p:sp>
        <p:nvSpPr>
          <p:cNvPr id="2" name="s6_2">
            <a:extLst xmlns:a="http://schemas.openxmlformats.org/drawingml/2006/main">
              <a:ext uri="{FF2B5EF4-FFF2-40B4-BE49-F238E27FC236}">
                <a16:creationId xmlns:a16="http://schemas.microsoft.com/office/drawing/2014/main" id="{336C983F-ACD6-4C02-AD0F-0BCEABA67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4D626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D626B"/>
                </a:solidFill>
                <a:latin typeface="Malgun Gothic"/>
                <a:ea typeface="Malgun Gothic"/>
                <a:cs typeface="Malgun Gothic"/>
              </a:rPr>
              <a:t>사용자의 경험을 출발점으로 확인된 사실과 추가 조사 항목을 나눈다.</a:t>
            </a:r>
          </a:p>
        </p:txBody>
      </p:sp>
      <p:sp>
        <p:nvSpPr>
          <p:cNvPr id="3" name="s6_3">
            <a:extLst xmlns:a="http://schemas.openxmlformats.org/drawingml/2006/main">
              <a:ext uri="{FF2B5EF4-FFF2-40B4-BE49-F238E27FC236}">
                <a16:creationId xmlns:a16="http://schemas.microsoft.com/office/drawing/2014/main" id="{0BA82775-E2A2-44D0-B851-37367C78C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09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4D626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4D626B"/>
                </a:solidFill>
                <a:latin typeface="Malgun Gothic"/>
                <a:ea typeface="Malgun Gothic"/>
                <a:cs typeface="Malgun Gothic"/>
              </a:rPr>
              <a:t>설명용 사례 · 실제 TS 민원량·로그 분석 결과와 개선 효과는 미확인</a:t>
            </a:r>
          </a:p>
        </p:txBody>
      </p:sp>
      <p:sp>
        <p:nvSpPr>
          <p:cNvPr id="4" name="s6_4">
            <a:extLst xmlns:a="http://schemas.openxmlformats.org/drawingml/2006/main">
              <a:ext uri="{FF2B5EF4-FFF2-40B4-BE49-F238E27FC236}">
                <a16:creationId xmlns:a16="http://schemas.microsoft.com/office/drawing/2014/main" id="{A50718D9-B650-4508-A139-1FC86DBAE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3912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500" b="1">
                <a:solidFill>
                  <a:srgbClr val="066F6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66F64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5" name="s6_5">
            <a:extLst xmlns:a="http://schemas.openxmlformats.org/drawingml/2006/main">
              <a:ext uri="{FF2B5EF4-FFF2-40B4-BE49-F238E27FC236}">
                <a16:creationId xmlns:a16="http://schemas.microsoft.com/office/drawing/2014/main" id="{F5C6ADAD-5F00-4555-A360-72CC770EE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5143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700" b="1">
                <a:solidFill>
                  <a:srgbClr val="066F64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066F64"/>
                </a:solidFill>
                <a:latin typeface="Malgun Gothic"/>
                <a:ea typeface="Malgun Gothic"/>
                <a:cs typeface="Malgun Gothic"/>
              </a:rPr>
              <a:t>“마감인지 확인하려고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700" b="1">
                <a:solidFill>
                  <a:srgbClr val="066F64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066F64"/>
                </a:solidFill>
                <a:latin typeface="Malgun Gothic"/>
                <a:ea typeface="Malgun Gothic"/>
                <a:cs typeface="Malgun Gothic"/>
              </a:rPr>
              <a:t>날짜와 검사소를 계속 오간다.”</a:t>
            </a:r>
          </a:p>
        </p:txBody>
      </p:sp>
      <p:sp>
        <p:nvSpPr>
          <p:cNvPr id="6" name="s6_6">
            <a:extLst xmlns:a="http://schemas.openxmlformats.org/drawingml/2006/main">
              <a:ext uri="{FF2B5EF4-FFF2-40B4-BE49-F238E27FC236}">
                <a16:creationId xmlns:a16="http://schemas.microsoft.com/office/drawing/2014/main" id="{7FB93E5A-53E4-45AF-82DA-6AE51428D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76675"/>
            <a:ext cx="466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14374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3747"/>
                </a:solidFill>
                <a:latin typeface="Malgun Gothic"/>
                <a:ea typeface="Malgun Gothic"/>
                <a:cs typeface="Malgun Gothic"/>
              </a:rPr>
              <a:t>국민이 겪는 부담</a:t>
            </a:r>
          </a:p>
        </p:txBody>
      </p:sp>
      <p:sp>
        <p:nvSpPr>
          <p:cNvPr id="7" name="s6_7">
            <a:extLst xmlns:a="http://schemas.openxmlformats.org/drawingml/2006/main">
              <a:ext uri="{FF2B5EF4-FFF2-40B4-BE49-F238E27FC236}">
                <a16:creationId xmlns:a16="http://schemas.microsoft.com/office/drawing/2014/main" id="{B77F50AE-64B3-4D37-B62C-14D8A0E7F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8650"/>
            <a:ext cx="452437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0">
                <a:solidFill>
                  <a:srgbClr val="193744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193744"/>
                </a:solidFill>
                <a:latin typeface="Malgun Gothic"/>
                <a:ea typeface="Malgun Gothic"/>
                <a:cs typeface="Malgun Gothic"/>
              </a:rPr>
              <a:t>가능한 선택지를 찾는 데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175" b="0">
                <a:solidFill>
                  <a:srgbClr val="193744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193744"/>
                </a:solidFill>
                <a:latin typeface="Malgun Gothic"/>
                <a:ea typeface="Malgun Gothic"/>
                <a:cs typeface="Malgun Gothic"/>
              </a:rPr>
              <a:t>화면 왕복과 반복 조작 발생</a:t>
            </a:r>
          </a:p>
        </p:txBody>
      </p:sp>
      <p:sp>
        <p:nvSpPr>
          <p:cNvPr id="8" name="s6_8">
            <a:extLst xmlns:a="http://schemas.openxmlformats.org/drawingml/2006/main">
              <a:ext uri="{FF2B5EF4-FFF2-40B4-BE49-F238E27FC236}">
                <a16:creationId xmlns:a16="http://schemas.microsoft.com/office/drawing/2014/main" id="{05643BFD-D3B2-44DA-B25C-7A02890FE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095500"/>
            <a:ext cx="0" cy="381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BD5D2"/>
            </a:solidFill>
          </a:ln>
        </p:spPr>
      </p:sp>
      <p:sp>
        <p:nvSpPr>
          <p:cNvPr id="9" name="s6_9">
            <a:extLst xmlns:a="http://schemas.openxmlformats.org/drawingml/2006/main">
              <a:ext uri="{FF2B5EF4-FFF2-40B4-BE49-F238E27FC236}">
                <a16:creationId xmlns:a16="http://schemas.microsoft.com/office/drawing/2014/main" id="{BBFAEFD7-A33F-4630-8880-197C8BEA4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181225"/>
            <a:ext cx="1381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43747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43747"/>
                </a:solidFill>
                <a:latin typeface="Malgun Gothic"/>
                <a:ea typeface="Malgun Gothic"/>
                <a:cs typeface="Malgun Gothic"/>
              </a:rPr>
              <a:t>현상</a:t>
            </a:r>
          </a:p>
        </p:txBody>
      </p:sp>
      <p:sp>
        <p:nvSpPr>
          <p:cNvPr id="10" name="s6_10">
            <a:extLst xmlns:a="http://schemas.openxmlformats.org/drawingml/2006/main">
              <a:ext uri="{FF2B5EF4-FFF2-40B4-BE49-F238E27FC236}">
                <a16:creationId xmlns:a16="http://schemas.microsoft.com/office/drawing/2014/main" id="{223FEA85-4536-49F2-9178-9DB7863D5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181225"/>
            <a:ext cx="3619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193744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93744"/>
                </a:solidFill>
                <a:latin typeface="Malgun Gothic"/>
                <a:ea typeface="Malgun Gothic"/>
                <a:cs typeface="Malgun Gothic"/>
              </a:rPr>
              <a:t>마감 여부를 앞 화면에서 비교하기 어려움</a:t>
            </a:r>
          </a:p>
        </p:txBody>
      </p:sp>
      <p:sp>
        <p:nvSpPr>
          <p:cNvPr id="11" name="s6_11">
            <a:extLst xmlns:a="http://schemas.openxmlformats.org/drawingml/2006/main">
              <a:ext uri="{FF2B5EF4-FFF2-40B4-BE49-F238E27FC236}">
                <a16:creationId xmlns:a16="http://schemas.microsoft.com/office/drawing/2014/main" id="{3EC4810C-CBDC-40D7-8A35-CE75B6873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295650"/>
            <a:ext cx="1381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43747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43747"/>
                </a:solidFill>
                <a:latin typeface="Malgun Gothic"/>
                <a:ea typeface="Malgun Gothic"/>
                <a:cs typeface="Malgun Gothic"/>
              </a:rPr>
              <a:t>원인 가설</a:t>
            </a:r>
          </a:p>
        </p:txBody>
      </p:sp>
      <p:sp>
        <p:nvSpPr>
          <p:cNvPr id="12" name="s6_12">
            <a:extLst xmlns:a="http://schemas.openxmlformats.org/drawingml/2006/main">
              <a:ext uri="{FF2B5EF4-FFF2-40B4-BE49-F238E27FC236}">
                <a16:creationId xmlns:a16="http://schemas.microsoft.com/office/drawing/2014/main" id="{3C64214F-7A75-43FC-89D2-BD33D3E43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295650"/>
            <a:ext cx="3619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193744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93744"/>
                </a:solidFill>
                <a:latin typeface="Malgun Gothic"/>
                <a:ea typeface="Malgun Gothic"/>
                <a:cs typeface="Malgun Gothic"/>
              </a:rPr>
              <a:t>정보 표시·조회 흐름의 불일치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193744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93744"/>
                </a:solidFill>
                <a:latin typeface="Malgun Gothic"/>
                <a:ea typeface="Malgun Gothic"/>
                <a:cs typeface="Malgun Gothic"/>
              </a:rPr>
              <a:t>또는 실제 예약 공급 부족</a:t>
            </a:r>
          </a:p>
        </p:txBody>
      </p:sp>
      <p:sp>
        <p:nvSpPr>
          <p:cNvPr id="13" name="s6_13">
            <a:extLst xmlns:a="http://schemas.openxmlformats.org/drawingml/2006/main">
              <a:ext uri="{FF2B5EF4-FFF2-40B4-BE49-F238E27FC236}">
                <a16:creationId xmlns:a16="http://schemas.microsoft.com/office/drawing/2014/main" id="{23F384AD-9EDE-4AA7-ACB9-2EE8996C2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476750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43747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43747"/>
                </a:solidFill>
                <a:latin typeface="Malgun Gothic"/>
                <a:ea typeface="Malgun Gothic"/>
                <a:cs typeface="Malgun Gothic"/>
              </a:rPr>
              <a:t>확인할 근거</a:t>
            </a:r>
          </a:p>
        </p:txBody>
      </p:sp>
      <p:sp>
        <p:nvSpPr>
          <p:cNvPr id="14" name="s6_14">
            <a:extLst xmlns:a="http://schemas.openxmlformats.org/drawingml/2006/main">
              <a:ext uri="{FF2B5EF4-FFF2-40B4-BE49-F238E27FC236}">
                <a16:creationId xmlns:a16="http://schemas.microsoft.com/office/drawing/2014/main" id="{4E1C1F95-2329-41F9-9A92-CCACC6AB2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476750"/>
            <a:ext cx="3619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193744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93744"/>
                </a:solidFill>
                <a:latin typeface="Malgun Gothic"/>
                <a:ea typeface="Malgun Gothic"/>
                <a:cs typeface="Malgun Gothic"/>
              </a:rPr>
              <a:t>탐색 로그 · 화면 동선 · 슬롯 현황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193744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93744"/>
                </a:solidFill>
                <a:latin typeface="Malgun Gothic"/>
                <a:ea typeface="Malgun Gothic"/>
                <a:cs typeface="Malgun Gothic"/>
              </a:rPr>
              <a:t>이용자 관찰 · 기존 개선 범위</a:t>
            </a:r>
          </a:p>
        </p:txBody>
      </p:sp>
      <p:sp>
        <p:nvSpPr>
          <p:cNvPr id="15" name="s6_15">
            <a:extLst xmlns:a="http://schemas.openxmlformats.org/drawingml/2006/main">
              <a:ext uri="{FF2B5EF4-FFF2-40B4-BE49-F238E27FC236}">
                <a16:creationId xmlns:a16="http://schemas.microsoft.com/office/drawing/2014/main" id="{90604877-E8BF-4F62-B713-FECBD7907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561975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43747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43747"/>
                </a:solidFill>
                <a:latin typeface="Malgun Gothic"/>
                <a:ea typeface="Malgun Gothic"/>
                <a:cs typeface="Malgun Gothic"/>
              </a:rPr>
              <a:t>확인 질문</a:t>
            </a:r>
          </a:p>
        </p:txBody>
      </p:sp>
      <p:sp>
        <p:nvSpPr>
          <p:cNvPr id="16" name="s6_16">
            <a:extLst xmlns:a="http://schemas.openxmlformats.org/drawingml/2006/main">
              <a:ext uri="{FF2B5EF4-FFF2-40B4-BE49-F238E27FC236}">
                <a16:creationId xmlns:a16="http://schemas.microsoft.com/office/drawing/2014/main" id="{121D01EB-69E4-4CC9-B008-5F0F175D4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610225"/>
            <a:ext cx="3695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A44F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A44F2C"/>
                </a:solidFill>
                <a:latin typeface="Malgun Gothic"/>
                <a:ea typeface="Malgun Gothic"/>
                <a:cs typeface="Malgun Gothic"/>
              </a:rPr>
              <a:t>희망 범위에 실제 빈 슬롯이 존재하는가?</a:t>
            </a:r>
          </a:p>
        </p:txBody>
      </p:sp>
    </p:spTree>
    <p:extLst>
      <p:ext uri="{BB962C8B-B14F-4D97-AF65-F5344CB8AC3E}">
        <p14:creationId xmlns:p14="http://schemas.microsoft.com/office/powerpoint/2010/main" val="189804287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3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7_1">
            <a:extLst xmlns:a="http://schemas.openxmlformats.org/drawingml/2006/main">
              <a:ext uri="{FF2B5EF4-FFF2-40B4-BE49-F238E27FC236}">
                <a16:creationId xmlns:a16="http://schemas.microsoft.com/office/drawing/2014/main" id="{2DC1C3B4-C48B-4A04-AF99-1BAEDD4E8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150" b="1">
                <a:solidFill>
                  <a:srgbClr val="143747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43747"/>
                </a:solidFill>
                <a:latin typeface="Malgun Gothic"/>
                <a:ea typeface="Malgun Gothic"/>
                <a:cs typeface="Malgun Gothic"/>
              </a:rPr>
              <a:t>정책 수단과 솔루션 도입 대안</a:t>
            </a:r>
          </a:p>
        </p:txBody>
      </p:sp>
      <p:sp>
        <p:nvSpPr>
          <p:cNvPr id="2" name="s7_2">
            <a:extLst xmlns:a="http://schemas.openxmlformats.org/drawingml/2006/main">
              <a:ext uri="{FF2B5EF4-FFF2-40B4-BE49-F238E27FC236}">
                <a16:creationId xmlns:a16="http://schemas.microsoft.com/office/drawing/2014/main" id="{1FB6CEEE-062D-4C32-B3E8-DA71C4B4A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4D626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D626B"/>
                </a:solidFill>
                <a:latin typeface="Malgun Gothic"/>
                <a:ea typeface="Malgun Gothic"/>
                <a:cs typeface="Malgun Gothic"/>
              </a:rPr>
              <a:t>문제의 원인과 현행 기능을 확인한 뒤 적합한 개선 수단을 선택한다.</a:t>
            </a:r>
          </a:p>
        </p:txBody>
      </p:sp>
      <p:sp>
        <p:nvSpPr>
          <p:cNvPr id="3" name="s7_3">
            <a:extLst xmlns:a="http://schemas.openxmlformats.org/drawingml/2006/main">
              <a:ext uri="{FF2B5EF4-FFF2-40B4-BE49-F238E27FC236}">
                <a16:creationId xmlns:a16="http://schemas.microsoft.com/office/drawing/2014/main" id="{FDCB3401-DF61-4F05-AB22-75A63D7CA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09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4D626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4D626B"/>
                </a:solidFill>
                <a:latin typeface="Malgun Gothic"/>
                <a:ea typeface="Malgun Gothic"/>
                <a:cs typeface="Malgun Gothic"/>
              </a:rPr>
              <a:t>P23 기획 제안 v1.3 · 2026.09.15</a:t>
            </a:r>
          </a:p>
        </p:txBody>
      </p:sp>
      <p:sp>
        <p:nvSpPr>
          <p:cNvPr id="4" name="s7_4">
            <a:extLst xmlns:a="http://schemas.openxmlformats.org/drawingml/2006/main">
              <a:ext uri="{FF2B5EF4-FFF2-40B4-BE49-F238E27FC236}">
                <a16:creationId xmlns:a16="http://schemas.microsoft.com/office/drawing/2014/main" id="{47D01E77-0F55-43FF-89FF-535FA9432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3912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500" b="1">
                <a:solidFill>
                  <a:srgbClr val="066F6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66F64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2085975"/>
          <a:ext xmlns:a="http://schemas.openxmlformats.org/drawingml/2006/main" cx="10972800" cy="3276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47875"/>
                <a:gridCol w="3190875"/>
                <a:gridCol w="3048000"/>
                <a:gridCol w="2686050"/>
              </a:tblGrid>
              <a:tr h="819150"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대안</a:t>
                      </a:r>
                    </a:p>
                  </a:txBody>
                  <a:tcPr marL="91440" marR="91440" marT="45720" marB="45720" anchor="ctr">
                    <a:solidFill>
                      <a:srgbClr val="143747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해결하려는 부분</a:t>
                      </a:r>
                    </a:p>
                  </a:txBody>
                  <a:tcPr marL="91440" marR="91440" marT="45720" marB="45720" anchor="ctr">
                    <a:solidFill>
                      <a:srgbClr val="143747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필요한 전제</a:t>
                      </a:r>
                    </a:p>
                  </a:txBody>
                  <a:tcPr marL="91440" marR="91440" marT="45720" marB="45720" anchor="ctr">
                    <a:solidFill>
                      <a:srgbClr val="143747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판단</a:t>
                      </a:r>
                    </a:p>
                  </a:txBody>
                  <a:tcPr marL="91440" marR="91440" marT="45720" marB="45720" anchor="ctr">
                    <a:solidFill>
                      <a:srgbClr val="143747"/>
                    </a:solidFill>
                  </a:tcPr>
                </a:tc>
              </a:tr>
              <a:tr h="819150"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19374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운영·안내 개선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19374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이용 절차·대안 안내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19374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문의·안내 오류 근거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19374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작은 변경으로 개선 가능?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19150"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19374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기구축 기능 활용</a:t>
                      </a:r>
                    </a:p>
                  </a:txBody>
                  <a:tcPr marL="91440" marR="91440" marT="45720" marB="45720" anchor="ctr">
                    <a:solidFill>
                      <a:srgbClr val="EDF3F0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19374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이미 있는 기능의 이용</a:t>
                      </a:r>
                    </a:p>
                  </a:txBody>
                  <a:tcPr marL="91440" marR="91440" marT="45720" marB="45720" anchor="ctr">
                    <a:solidFill>
                      <a:srgbClr val="EDF3F0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19374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기능·계약·운영 확인</a:t>
                      </a:r>
                    </a:p>
                  </a:txBody>
                  <a:tcPr marL="91440" marR="91440" marT="45720" marB="45720" anchor="ctr">
                    <a:solidFill>
                      <a:srgbClr val="EDF3F0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19374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현재 범위와 중복되는가?</a:t>
                      </a:r>
                    </a:p>
                  </a:txBody>
                  <a:tcPr marL="91440" marR="91440" marT="45720" marB="45720" anchor="ctr">
                    <a:solidFill>
                      <a:srgbClr val="EDF3F0"/>
                    </a:solidFill>
                  </a:tcPr>
                </a:tc>
              </a:tr>
              <a:tr h="819150"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19374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화면·조회 SI 개선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19374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가능 상태 비교와 동선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19374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슬롯 데이터와 연계 권한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19374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사례의 직접 개선 후보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7_6">
            <a:extLst xmlns:a="http://schemas.openxmlformats.org/drawingml/2006/main">
              <a:ext uri="{FF2B5EF4-FFF2-40B4-BE49-F238E27FC236}">
                <a16:creationId xmlns:a16="http://schemas.microsoft.com/office/drawing/2014/main" id="{60B0D312-E505-4678-8BEC-7A2558140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066F64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066F64"/>
                </a:solidFill>
                <a:latin typeface="Malgun Gothic"/>
                <a:ea typeface="Malgun Gothic"/>
                <a:cs typeface="Malgun Gothic"/>
              </a:rPr>
              <a:t>P23의 역할</a:t>
            </a:r>
          </a:p>
        </p:txBody>
      </p:sp>
      <p:sp>
        <p:nvSpPr>
          <p:cNvPr id="7" name="s7_7">
            <a:extLst xmlns:a="http://schemas.openxmlformats.org/drawingml/2006/main">
              <a:ext uri="{FF2B5EF4-FFF2-40B4-BE49-F238E27FC236}">
                <a16:creationId xmlns:a16="http://schemas.microsoft.com/office/drawing/2014/main" id="{C715122B-E348-44A3-97F3-68FB03444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5553075"/>
            <a:ext cx="857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14374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43747"/>
                </a:solidFill>
                <a:latin typeface="Malgun Gothic"/>
                <a:ea typeface="Malgun Gothic"/>
                <a:cs typeface="Malgun Gothic"/>
              </a:rPr>
              <a:t>대안을 비교하고 선택 사유를 남긴다.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14374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43747"/>
                </a:solidFill>
                <a:latin typeface="Malgun Gothic"/>
                <a:ea typeface="Malgun Gothic"/>
                <a:cs typeface="Malgun Gothic"/>
              </a:rPr>
              <a:t>예약 서비스 개선 사업의 범위와 예산은 별도로 설계한다.</a:t>
            </a:r>
          </a:p>
        </p:txBody>
      </p:sp>
    </p:spTree>
    <p:extLst>
      <p:ext uri="{BB962C8B-B14F-4D97-AF65-F5344CB8AC3E}">
        <p14:creationId xmlns:p14="http://schemas.microsoft.com/office/powerpoint/2010/main" val="142447610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3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8_1">
            <a:extLst xmlns:a="http://schemas.openxmlformats.org/drawingml/2006/main">
              <a:ext uri="{FF2B5EF4-FFF2-40B4-BE49-F238E27FC236}">
                <a16:creationId xmlns:a16="http://schemas.microsoft.com/office/drawing/2014/main" id="{FC3C9E20-4AE8-4E69-A65E-2D50391DD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150" b="1">
                <a:solidFill>
                  <a:srgbClr val="143747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43747"/>
                </a:solidFill>
                <a:latin typeface="Malgun Gothic"/>
                <a:ea typeface="Malgun Gothic"/>
                <a:cs typeface="Malgun Gothic"/>
              </a:rPr>
              <a:t>사용자 화면과 작업 방식</a:t>
            </a:r>
          </a:p>
        </p:txBody>
      </p:sp>
      <p:sp>
        <p:nvSpPr>
          <p:cNvPr id="2" name="s8_2">
            <a:extLst xmlns:a="http://schemas.openxmlformats.org/drawingml/2006/main">
              <a:ext uri="{FF2B5EF4-FFF2-40B4-BE49-F238E27FC236}">
                <a16:creationId xmlns:a16="http://schemas.microsoft.com/office/drawing/2014/main" id="{534546AE-553C-4D67-BFD6-AEFD21A52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4D626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D626B"/>
                </a:solidFill>
                <a:latin typeface="Malgun Gothic"/>
                <a:ea typeface="Malgun Gothic"/>
                <a:cs typeface="Malgun Gothic"/>
              </a:rPr>
              <a:t>의제 하나를 열면 근거, 선택한 대안, 예산, 문서를 같은 맥락에서 확인한다.</a:t>
            </a:r>
          </a:p>
        </p:txBody>
      </p:sp>
      <p:sp>
        <p:nvSpPr>
          <p:cNvPr id="3" name="s8_3">
            <a:extLst xmlns:a="http://schemas.openxmlformats.org/drawingml/2006/main">
              <a:ext uri="{FF2B5EF4-FFF2-40B4-BE49-F238E27FC236}">
                <a16:creationId xmlns:a16="http://schemas.microsoft.com/office/drawing/2014/main" id="{32EB3AA3-1F66-4EFA-9DFC-F60A4B5AD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09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4D626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4D626B"/>
                </a:solidFill>
                <a:latin typeface="Malgun Gothic"/>
                <a:ea typeface="Malgun Gothic"/>
                <a:cs typeface="Malgun Gothic"/>
              </a:rPr>
              <a:t>화면 설계 예시 · 실제 TS·NOA 시스템에 연결되지 않은 설명 화면</a:t>
            </a:r>
          </a:p>
        </p:txBody>
      </p:sp>
      <p:sp>
        <p:nvSpPr>
          <p:cNvPr id="4" name="s8_4">
            <a:extLst xmlns:a="http://schemas.openxmlformats.org/drawingml/2006/main">
              <a:ext uri="{FF2B5EF4-FFF2-40B4-BE49-F238E27FC236}">
                <a16:creationId xmlns:a16="http://schemas.microsoft.com/office/drawing/2014/main" id="{9058DC6E-9966-4F42-BB52-21EB239A3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3912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500" b="1">
                <a:solidFill>
                  <a:srgbClr val="066F6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66F64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5" name="s8_5">
            <a:extLst xmlns:a="http://schemas.openxmlformats.org/drawingml/2006/main">
              <a:ext uri="{FF2B5EF4-FFF2-40B4-BE49-F238E27FC236}">
                <a16:creationId xmlns:a16="http://schemas.microsoft.com/office/drawing/2014/main" id="{F988957A-F414-4930-A051-C9DE4FE1D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2076450"/>
            <a:ext cx="10972800" cy="3781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2"/>
            </a:solidFill>
          </a:ln>
        </p:spPr>
      </p:sp>
      <p:sp>
        <p:nvSpPr>
          <p:cNvPr id="6" name="s8_6">
            <a:extLst xmlns:a="http://schemas.openxmlformats.org/drawingml/2006/main">
              <a:ext uri="{FF2B5EF4-FFF2-40B4-BE49-F238E27FC236}">
                <a16:creationId xmlns:a16="http://schemas.microsoft.com/office/drawing/2014/main" id="{37B7E5CD-27AF-4416-B19F-BEE401EF9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2076450"/>
            <a:ext cx="2238375" cy="3781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747"/>
          </a:solidFill>
          <a:ln xmlns:a="http://schemas.openxmlformats.org/drawingml/2006/main" w="0">
            <a:noFill/>
          </a:ln>
        </p:spPr>
      </p:sp>
      <p:sp>
        <p:nvSpPr>
          <p:cNvPr id="7" name="s8_7">
            <a:extLst xmlns:a="http://schemas.openxmlformats.org/drawingml/2006/main">
              <a:ext uri="{FF2B5EF4-FFF2-40B4-BE49-F238E27FC236}">
                <a16:creationId xmlns:a16="http://schemas.microsoft.com/office/drawing/2014/main" id="{F28F2605-3549-42DF-8132-D03363651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43150"/>
            <a:ext cx="17526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P-001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예약 탐색 불편</a:t>
            </a:r>
          </a:p>
        </p:txBody>
      </p:sp>
      <p:sp>
        <p:nvSpPr>
          <p:cNvPr id="8" name="s8_8">
            <a:extLst xmlns:a="http://schemas.openxmlformats.org/drawingml/2006/main">
              <a:ext uri="{FF2B5EF4-FFF2-40B4-BE49-F238E27FC236}">
                <a16:creationId xmlns:a16="http://schemas.microsoft.com/office/drawing/2014/main" id="{DF28EF51-EBA0-47D2-959B-89D465BE3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48050"/>
            <a:ext cx="1809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01 근거 검토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02 문제·대안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03 사업·예산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04 문서·검토</a:t>
            </a:r>
          </a:p>
        </p:txBody>
      </p:sp>
      <p:sp>
        <p:nvSpPr>
          <p:cNvPr id="9" name="s8_9">
            <a:extLst xmlns:a="http://schemas.openxmlformats.org/drawingml/2006/main">
              <a:ext uri="{FF2B5EF4-FFF2-40B4-BE49-F238E27FC236}">
                <a16:creationId xmlns:a16="http://schemas.microsoft.com/office/drawing/2014/main" id="{B75562AF-8FA6-4269-8B6C-9A9BE3898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2324100"/>
            <a:ext cx="50768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1">
                <a:solidFill>
                  <a:srgbClr val="143747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43747"/>
                </a:solidFill>
                <a:latin typeface="Malgun Gothic"/>
                <a:ea typeface="Malgun Gothic"/>
                <a:cs typeface="Malgun Gothic"/>
              </a:rPr>
              <a:t>문제·대안 작업대</a:t>
            </a:r>
          </a:p>
        </p:txBody>
      </p:sp>
      <p:sp>
        <p:nvSpPr>
          <p:cNvPr id="10" name="s8_10">
            <a:extLst xmlns:a="http://schemas.openxmlformats.org/drawingml/2006/main">
              <a:ext uri="{FF2B5EF4-FFF2-40B4-BE49-F238E27FC236}">
                <a16:creationId xmlns:a16="http://schemas.microsoft.com/office/drawing/2014/main" id="{DA54487B-D618-4D0A-B101-415A89200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409825"/>
            <a:ext cx="2076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725" b="1">
                <a:solidFill>
                  <a:srgbClr val="066F64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66F64"/>
                </a:solidFill>
                <a:latin typeface="Malgun Gothic"/>
                <a:ea typeface="Malgun Gothic"/>
                <a:cs typeface="Malgun Gothic"/>
              </a:rPr>
              <a:t>사업 버전 v0.3</a:t>
            </a:r>
          </a:p>
        </p:txBody>
      </p:sp>
      <p:sp>
        <p:nvSpPr>
          <p:cNvPr id="11" name="s8_11">
            <a:extLst xmlns:a="http://schemas.openxmlformats.org/drawingml/2006/main">
              <a:ext uri="{FF2B5EF4-FFF2-40B4-BE49-F238E27FC236}">
                <a16:creationId xmlns:a16="http://schemas.microsoft.com/office/drawing/2014/main" id="{39F7803A-252B-475C-8E0B-AFFD2A7F3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895600"/>
            <a:ext cx="8220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BD5D2"/>
            </a:solidFill>
          </a:ln>
        </p:spPr>
      </p:sp>
      <p:sp>
        <p:nvSpPr>
          <p:cNvPr id="12" name="s8_12">
            <a:extLst xmlns:a="http://schemas.openxmlformats.org/drawingml/2006/main">
              <a:ext uri="{FF2B5EF4-FFF2-40B4-BE49-F238E27FC236}">
                <a16:creationId xmlns:a16="http://schemas.microsoft.com/office/drawing/2014/main" id="{698CBB3E-5ED3-46F1-8FF3-AE34542A4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3171825"/>
            <a:ext cx="1733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066F64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066F64"/>
                </a:solidFill>
                <a:latin typeface="Malgun Gothic"/>
                <a:ea typeface="Malgun Gothic"/>
                <a:cs typeface="Malgun Gothic"/>
              </a:rPr>
              <a:t>현재 판단</a:t>
            </a:r>
          </a:p>
        </p:txBody>
      </p:sp>
      <p:sp>
        <p:nvSpPr>
          <p:cNvPr id="13" name="s8_13">
            <a:extLst xmlns:a="http://schemas.openxmlformats.org/drawingml/2006/main">
              <a:ext uri="{FF2B5EF4-FFF2-40B4-BE49-F238E27FC236}">
                <a16:creationId xmlns:a16="http://schemas.microsoft.com/office/drawing/2014/main" id="{C0B59B8F-78C0-4593-911C-1054BF4AC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171825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43747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43747"/>
                </a:solidFill>
                <a:latin typeface="Malgun Gothic"/>
                <a:ea typeface="Malgun Gothic"/>
                <a:cs typeface="Malgun Gothic"/>
              </a:rPr>
              <a:t>상태 표시·동선 문제를 우선 확인</a:t>
            </a:r>
          </a:p>
        </p:txBody>
      </p:sp>
      <p:sp>
        <p:nvSpPr>
          <p:cNvPr id="14" name="s8_14">
            <a:extLst xmlns:a="http://schemas.openxmlformats.org/drawingml/2006/main">
              <a:ext uri="{FF2B5EF4-FFF2-40B4-BE49-F238E27FC236}">
                <a16:creationId xmlns:a16="http://schemas.microsoft.com/office/drawing/2014/main" id="{67371B1B-7294-4B93-996C-A74279462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3800475"/>
            <a:ext cx="1733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066F64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066F64"/>
                </a:solidFill>
                <a:latin typeface="Malgun Gothic"/>
                <a:ea typeface="Malgun Gothic"/>
                <a:cs typeface="Malgun Gothic"/>
              </a:rPr>
              <a:t>근거</a:t>
            </a:r>
          </a:p>
        </p:txBody>
      </p:sp>
      <p:sp>
        <p:nvSpPr>
          <p:cNvPr id="15" name="s8_15">
            <a:extLst xmlns:a="http://schemas.openxmlformats.org/drawingml/2006/main">
              <a:ext uri="{FF2B5EF4-FFF2-40B4-BE49-F238E27FC236}">
                <a16:creationId xmlns:a16="http://schemas.microsoft.com/office/drawing/2014/main" id="{14BDB721-08CB-4972-950B-433A733D2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762375"/>
            <a:ext cx="60960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193744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93744"/>
                </a:solidFill>
                <a:latin typeface="Malgun Gothic"/>
                <a:ea typeface="Malgun Gothic"/>
                <a:cs typeface="Malgun Gothic"/>
              </a:rPr>
              <a:t>사용자 경험 1건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193744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93744"/>
                </a:solidFill>
                <a:latin typeface="Malgun Gothic"/>
                <a:ea typeface="Malgun Gothic"/>
                <a:cs typeface="Malgun Gothic"/>
              </a:rPr>
              <a:t>로그·슬롯 자료는 추가 확인 필요</a:t>
            </a:r>
          </a:p>
        </p:txBody>
      </p:sp>
      <p:sp>
        <p:nvSpPr>
          <p:cNvPr id="16" name="s8_16">
            <a:extLst xmlns:a="http://schemas.openxmlformats.org/drawingml/2006/main">
              <a:ext uri="{FF2B5EF4-FFF2-40B4-BE49-F238E27FC236}">
                <a16:creationId xmlns:a16="http://schemas.microsoft.com/office/drawing/2014/main" id="{25625201-825B-4ABB-84F6-157F5812E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4724400"/>
            <a:ext cx="1733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066F64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066F64"/>
                </a:solidFill>
                <a:latin typeface="Malgun Gothic"/>
                <a:ea typeface="Malgun Gothic"/>
                <a:cs typeface="Malgun Gothic"/>
              </a:rPr>
              <a:t>선택 후보</a:t>
            </a:r>
          </a:p>
        </p:txBody>
      </p:sp>
      <p:sp>
        <p:nvSpPr>
          <p:cNvPr id="17" name="s8_17">
            <a:extLst xmlns:a="http://schemas.openxmlformats.org/drawingml/2006/main">
              <a:ext uri="{FF2B5EF4-FFF2-40B4-BE49-F238E27FC236}">
                <a16:creationId xmlns:a16="http://schemas.microsoft.com/office/drawing/2014/main" id="{DE50E277-26AA-4065-98B2-F77FA63AD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724400"/>
            <a:ext cx="61817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193744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93744"/>
                </a:solidFill>
                <a:latin typeface="Malgun Gothic"/>
                <a:ea typeface="Malgun Gothic"/>
                <a:cs typeface="Malgun Gothic"/>
              </a:rPr>
              <a:t>기구축 화면·조회 흐름 개선</a:t>
            </a:r>
          </a:p>
        </p:txBody>
      </p:sp>
      <p:sp>
        <p:nvSpPr>
          <p:cNvPr id="18" name="s8_18">
            <a:extLst xmlns:a="http://schemas.openxmlformats.org/drawingml/2006/main">
              <a:ext uri="{FF2B5EF4-FFF2-40B4-BE49-F238E27FC236}">
                <a16:creationId xmlns:a16="http://schemas.microsoft.com/office/drawing/2014/main" id="{A2F5D718-818E-4299-8FDA-E7658E04A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5334000"/>
            <a:ext cx="1733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066F64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066F64"/>
                </a:solidFill>
                <a:latin typeface="Malgun Gothic"/>
                <a:ea typeface="Malgun Gothic"/>
                <a:cs typeface="Malgun Gothic"/>
              </a:rPr>
              <a:t>다음 행동</a:t>
            </a:r>
          </a:p>
        </p:txBody>
      </p:sp>
      <p:sp>
        <p:nvSpPr>
          <p:cNvPr id="19" name="s8_19">
            <a:extLst xmlns:a="http://schemas.openxmlformats.org/drawingml/2006/main">
              <a:ext uri="{FF2B5EF4-FFF2-40B4-BE49-F238E27FC236}">
                <a16:creationId xmlns:a16="http://schemas.microsoft.com/office/drawing/2014/main" id="{B4A06FAF-966C-44FC-A44F-7CD7FE90E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334000"/>
            <a:ext cx="6334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193744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93744"/>
                </a:solidFill>
                <a:latin typeface="Malgun Gothic"/>
                <a:ea typeface="Malgun Gothic"/>
                <a:cs typeface="Malgun Gothic"/>
              </a:rPr>
              <a:t>담당자에게 추가 자료 확인 요청 초안</a:t>
            </a:r>
          </a:p>
        </p:txBody>
      </p:sp>
    </p:spTree>
    <p:extLst>
      <p:ext uri="{BB962C8B-B14F-4D97-AF65-F5344CB8AC3E}">
        <p14:creationId xmlns:p14="http://schemas.microsoft.com/office/powerpoint/2010/main" val="75107329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3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9_1">
            <a:extLst xmlns:a="http://schemas.openxmlformats.org/drawingml/2006/main">
              <a:ext uri="{FF2B5EF4-FFF2-40B4-BE49-F238E27FC236}">
                <a16:creationId xmlns:a16="http://schemas.microsoft.com/office/drawing/2014/main" id="{65C7C58A-E6AF-4EC8-870C-499979454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150" b="1">
                <a:solidFill>
                  <a:srgbClr val="143747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43747"/>
                </a:solidFill>
                <a:latin typeface="Malgun Gothic"/>
                <a:ea typeface="Malgun Gothic"/>
                <a:cs typeface="Malgun Gothic"/>
              </a:rPr>
              <a:t>AI, 규칙 프로그램, 담당자의 역할</a:t>
            </a:r>
          </a:p>
        </p:txBody>
      </p:sp>
      <p:sp>
        <p:nvSpPr>
          <p:cNvPr id="2" name="s9_2">
            <a:extLst xmlns:a="http://schemas.openxmlformats.org/drawingml/2006/main">
              <a:ext uri="{FF2B5EF4-FFF2-40B4-BE49-F238E27FC236}">
                <a16:creationId xmlns:a16="http://schemas.microsoft.com/office/drawing/2014/main" id="{C00DE752-34BC-48A7-851A-C1006AEF8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4D626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D626B"/>
                </a:solidFill>
                <a:latin typeface="Malgun Gothic"/>
                <a:ea typeface="Malgun Gothic"/>
                <a:cs typeface="Malgun Gothic"/>
              </a:rPr>
              <a:t>서술과 계산, 공식 판단을 분리해 검토 가능한 결과를 만든다.</a:t>
            </a:r>
          </a:p>
        </p:txBody>
      </p:sp>
      <p:sp>
        <p:nvSpPr>
          <p:cNvPr id="3" name="s9_3">
            <a:extLst xmlns:a="http://schemas.openxmlformats.org/drawingml/2006/main">
              <a:ext uri="{FF2B5EF4-FFF2-40B4-BE49-F238E27FC236}">
                <a16:creationId xmlns:a16="http://schemas.microsoft.com/office/drawing/2014/main" id="{62D1F16C-11A8-437D-9B7B-55AF08874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09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4D626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4D626B"/>
                </a:solidFill>
                <a:latin typeface="Malgun Gothic"/>
                <a:ea typeface="Malgun Gothic"/>
                <a:cs typeface="Malgun Gothic"/>
              </a:rPr>
              <a:t>P23 기획 제안 v1.3 · 2026.09.15</a:t>
            </a:r>
          </a:p>
        </p:txBody>
      </p:sp>
      <p:sp>
        <p:nvSpPr>
          <p:cNvPr id="4" name="s9_4">
            <a:extLst xmlns:a="http://schemas.openxmlformats.org/drawingml/2006/main">
              <a:ext uri="{FF2B5EF4-FFF2-40B4-BE49-F238E27FC236}">
                <a16:creationId xmlns:a16="http://schemas.microsoft.com/office/drawing/2014/main" id="{94F921B8-79C8-46D3-974B-E73F02140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3912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500" b="1">
                <a:solidFill>
                  <a:srgbClr val="066F6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66F64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sp>
        <p:nvSpPr>
          <p:cNvPr id="5" name="s9_5">
            <a:extLst xmlns:a="http://schemas.openxmlformats.org/drawingml/2006/main">
              <a:ext uri="{FF2B5EF4-FFF2-40B4-BE49-F238E27FC236}">
                <a16:creationId xmlns:a16="http://schemas.microsoft.com/office/drawing/2014/main" id="{CD7D9B2D-5790-4599-A3EB-4C36E8091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76475"/>
            <a:ext cx="3286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625" b="1">
                <a:solidFill>
                  <a:srgbClr val="066F64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066F64"/>
                </a:solidFill>
                <a:latin typeface="Malgun Gothic"/>
                <a:ea typeface="Malgun Gothic"/>
                <a:cs typeface="Malgun Gothic"/>
              </a:rPr>
              <a:t>로컬 LLM</a:t>
            </a:r>
          </a:p>
        </p:txBody>
      </p:sp>
      <p:sp>
        <p:nvSpPr>
          <p:cNvPr id="6" name="s9_6">
            <a:extLst xmlns:a="http://schemas.openxmlformats.org/drawingml/2006/main">
              <a:ext uri="{FF2B5EF4-FFF2-40B4-BE49-F238E27FC236}">
                <a16:creationId xmlns:a16="http://schemas.microsoft.com/office/drawing/2014/main" id="{55AC905F-9891-4C71-B786-6388685C8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00375"/>
            <a:ext cx="32861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0">
                <a:solidFill>
                  <a:srgbClr val="193744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193744"/>
                </a:solidFill>
                <a:latin typeface="Malgun Gothic"/>
                <a:ea typeface="Malgun Gothic"/>
                <a:cs typeface="Malgun Gothic"/>
              </a:rPr>
              <a:t>근거 검색 보조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175" b="0">
                <a:solidFill>
                  <a:srgbClr val="193744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193744"/>
                </a:solidFill>
                <a:latin typeface="Malgun Gothic"/>
                <a:ea typeface="Malgun Gothic"/>
                <a:cs typeface="Malgun Gothic"/>
              </a:rPr>
              <a:t>쟁점·가설·대안 후보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175" b="0">
                <a:solidFill>
                  <a:srgbClr val="193744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193744"/>
                </a:solidFill>
                <a:latin typeface="Malgun Gothic"/>
                <a:ea typeface="Malgun Gothic"/>
                <a:cs typeface="Malgun Gothic"/>
              </a:rPr>
              <a:t>설명문과 문서 초안</a:t>
            </a:r>
          </a:p>
        </p:txBody>
      </p:sp>
      <p:sp>
        <p:nvSpPr>
          <p:cNvPr id="7" name="s9_7">
            <a:extLst xmlns:a="http://schemas.openxmlformats.org/drawingml/2006/main">
              <a:ext uri="{FF2B5EF4-FFF2-40B4-BE49-F238E27FC236}">
                <a16:creationId xmlns:a16="http://schemas.microsoft.com/office/drawing/2014/main" id="{1507CC27-D5E9-42A9-A54D-D292D30BF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276475"/>
            <a:ext cx="3314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625" b="1">
                <a:solidFill>
                  <a:srgbClr val="066F64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066F64"/>
                </a:solidFill>
                <a:latin typeface="Malgun Gothic"/>
                <a:ea typeface="Malgun Gothic"/>
                <a:cs typeface="Malgun Gothic"/>
              </a:rPr>
              <a:t>규칙 프로그램</a:t>
            </a:r>
          </a:p>
        </p:txBody>
      </p:sp>
      <p:sp>
        <p:nvSpPr>
          <p:cNvPr id="8" name="s9_8">
            <a:extLst xmlns:a="http://schemas.openxmlformats.org/drawingml/2006/main">
              <a:ext uri="{FF2B5EF4-FFF2-40B4-BE49-F238E27FC236}">
                <a16:creationId xmlns:a16="http://schemas.microsoft.com/office/drawing/2014/main" id="{F5CD0757-71C7-430B-B6A1-FF3EFE545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000375"/>
            <a:ext cx="3333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0">
                <a:solidFill>
                  <a:srgbClr val="193744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193744"/>
                </a:solidFill>
                <a:latin typeface="Malgun Gothic"/>
                <a:ea typeface="Malgun Gothic"/>
                <a:cs typeface="Malgun Gothic"/>
              </a:rPr>
              <a:t>금액·단위·합계 계산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175" b="0">
                <a:solidFill>
                  <a:srgbClr val="193744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193744"/>
                </a:solidFill>
                <a:latin typeface="Malgun Gothic"/>
                <a:ea typeface="Malgun Gothic"/>
                <a:cs typeface="Malgun Gothic"/>
              </a:rPr>
              <a:t>필수값·권한·상태 검사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175" b="0">
                <a:solidFill>
                  <a:srgbClr val="193744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193744"/>
                </a:solidFill>
                <a:latin typeface="Malgun Gothic"/>
                <a:ea typeface="Malgun Gothic"/>
                <a:cs typeface="Malgun Gothic"/>
              </a:rPr>
              <a:t>양식 매핑·변경 영향</a:t>
            </a:r>
          </a:p>
        </p:txBody>
      </p:sp>
      <p:sp>
        <p:nvSpPr>
          <p:cNvPr id="9" name="s9_9">
            <a:extLst xmlns:a="http://schemas.openxmlformats.org/drawingml/2006/main">
              <a:ext uri="{FF2B5EF4-FFF2-40B4-BE49-F238E27FC236}">
                <a16:creationId xmlns:a16="http://schemas.microsoft.com/office/drawing/2014/main" id="{EEFD08A4-108B-4979-BF86-43F4A3B0D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76475"/>
            <a:ext cx="3314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625" b="1">
                <a:solidFill>
                  <a:srgbClr val="066F64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066F64"/>
                </a:solidFill>
                <a:latin typeface="Malgun Gothic"/>
                <a:ea typeface="Malgun Gothic"/>
                <a:cs typeface="Malgun Gothic"/>
              </a:rPr>
              <a:t>담당자</a:t>
            </a:r>
          </a:p>
        </p:txBody>
      </p:sp>
      <p:sp>
        <p:nvSpPr>
          <p:cNvPr id="10" name="s9_10">
            <a:extLst xmlns:a="http://schemas.openxmlformats.org/drawingml/2006/main">
              <a:ext uri="{FF2B5EF4-FFF2-40B4-BE49-F238E27FC236}">
                <a16:creationId xmlns:a16="http://schemas.microsoft.com/office/drawing/2014/main" id="{A7A4F6AF-AAD9-48F4-BA00-B48B6A158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000375"/>
            <a:ext cx="32861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0">
                <a:solidFill>
                  <a:srgbClr val="193744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193744"/>
                </a:solidFill>
                <a:latin typeface="Malgun Gothic"/>
                <a:ea typeface="Malgun Gothic"/>
                <a:cs typeface="Malgun Gothic"/>
              </a:rPr>
              <a:t>문제와 대안 채택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175" b="0">
                <a:solidFill>
                  <a:srgbClr val="193744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193744"/>
                </a:solidFill>
                <a:latin typeface="Malgun Gothic"/>
                <a:ea typeface="Malgun Gothic"/>
                <a:cs typeface="Malgun Gothic"/>
              </a:rPr>
              <a:t>재원·범위·예산 확인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175" b="0">
                <a:solidFill>
                  <a:srgbClr val="193744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193744"/>
                </a:solidFill>
                <a:latin typeface="Malgun Gothic"/>
                <a:ea typeface="Malgun Gothic"/>
                <a:cs typeface="Malgun Gothic"/>
              </a:rPr>
              <a:t>공개·발주·공식 인계</a:t>
            </a:r>
          </a:p>
        </p:txBody>
      </p:sp>
      <p:sp>
        <p:nvSpPr>
          <p:cNvPr id="11" name="s9_11">
            <a:extLst xmlns:a="http://schemas.openxmlformats.org/drawingml/2006/main">
              <a:ext uri="{FF2B5EF4-FFF2-40B4-BE49-F238E27FC236}">
                <a16:creationId xmlns:a16="http://schemas.microsoft.com/office/drawing/2014/main" id="{71F7A320-CCEB-413D-851B-16DA70912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209800"/>
            <a:ext cx="0" cy="2562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BD5D2"/>
            </a:solidFill>
          </a:ln>
        </p:spPr>
      </p:sp>
      <p:sp>
        <p:nvSpPr>
          <p:cNvPr id="12" name="s9_12">
            <a:extLst xmlns:a="http://schemas.openxmlformats.org/drawingml/2006/main">
              <a:ext uri="{FF2B5EF4-FFF2-40B4-BE49-F238E27FC236}">
                <a16:creationId xmlns:a16="http://schemas.microsoft.com/office/drawing/2014/main" id="{408BB74C-8512-470A-A757-340752247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209800"/>
            <a:ext cx="0" cy="2562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BD5D2"/>
            </a:solidFill>
          </a:ln>
        </p:spPr>
      </p:sp>
      <p:sp>
        <p:nvSpPr>
          <p:cNvPr id="13" name="s9_13">
            <a:extLst xmlns:a="http://schemas.openxmlformats.org/drawingml/2006/main">
              <a:ext uri="{FF2B5EF4-FFF2-40B4-BE49-F238E27FC236}">
                <a16:creationId xmlns:a16="http://schemas.microsoft.com/office/drawing/2014/main" id="{D4144334-E1ED-403D-8837-F81CB8155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5276850"/>
            <a:ext cx="1097280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747"/>
          </a:solidFill>
          <a:ln xmlns:a="http://schemas.openxmlformats.org/drawingml/2006/main" w="0">
            <a:noFill/>
          </a:ln>
        </p:spPr>
      </p:sp>
      <p:sp>
        <p:nvSpPr>
          <p:cNvPr id="14" name="s9_14">
            <a:extLst xmlns:a="http://schemas.openxmlformats.org/drawingml/2006/main">
              <a:ext uri="{FF2B5EF4-FFF2-40B4-BE49-F238E27FC236}">
                <a16:creationId xmlns:a16="http://schemas.microsoft.com/office/drawing/2014/main" id="{C4485C6B-868D-4D9E-8864-1B68BBDD9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476875"/>
            <a:ext cx="10572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각 결과에 사용한 근거·규칙·버전·검토자를 연결</a:t>
            </a:r>
          </a:p>
        </p:txBody>
      </p:sp>
    </p:spTree>
    <p:extLst>
      <p:ext uri="{BB962C8B-B14F-4D97-AF65-F5344CB8AC3E}">
        <p14:creationId xmlns:p14="http://schemas.microsoft.com/office/powerpoint/2010/main" val="31513467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3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s10_1">
            <a:extLst xmlns:a="http://schemas.openxmlformats.org/drawingml/2006/main">
              <a:ext uri="{FF2B5EF4-FFF2-40B4-BE49-F238E27FC236}">
                <a16:creationId xmlns:a16="http://schemas.microsoft.com/office/drawing/2014/main" id="{174504FC-F85E-4ABE-9B3C-FC75212CC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150" b="1">
                <a:solidFill>
                  <a:srgbClr val="143747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43747"/>
                </a:solidFill>
                <a:latin typeface="Malgun Gothic"/>
                <a:ea typeface="Malgun Gothic"/>
                <a:cs typeface="Malgun Gothic"/>
              </a:rPr>
              <a:t>전체 아키텍처</a:t>
            </a:r>
          </a:p>
        </p:txBody>
      </p:sp>
      <p:sp>
        <p:nvSpPr>
          <p:cNvPr id="2" name="s10_2">
            <a:extLst xmlns:a="http://schemas.openxmlformats.org/drawingml/2006/main">
              <a:ext uri="{FF2B5EF4-FFF2-40B4-BE49-F238E27FC236}">
                <a16:creationId xmlns:a16="http://schemas.microsoft.com/office/drawing/2014/main" id="{9A2F984E-CDBC-4849-B57C-8C8D7106D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4D626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D626B"/>
                </a:solidFill>
                <a:latin typeface="Malgun Gothic"/>
                <a:ea typeface="Malgun Gothic"/>
                <a:cs typeface="Malgun Gothic"/>
              </a:rPr>
              <a:t>기존 기관 서버 안에서 NOA와 추가 SI를 연결하는 제안 구조</a:t>
            </a:r>
          </a:p>
        </p:txBody>
      </p:sp>
      <p:sp>
        <p:nvSpPr>
          <p:cNvPr id="3" name="s10_3">
            <a:extLst xmlns:a="http://schemas.openxmlformats.org/drawingml/2006/main">
              <a:ext uri="{FF2B5EF4-FFF2-40B4-BE49-F238E27FC236}">
                <a16:creationId xmlns:a16="http://schemas.microsoft.com/office/drawing/2014/main" id="{41E9244E-F19F-4F80-8DB1-70F0C9422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09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4D626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4D626B"/>
                </a:solidFill>
                <a:latin typeface="Malgun Gothic"/>
                <a:ea typeface="Malgun Gothic"/>
                <a:cs typeface="Malgun Gothic"/>
              </a:rPr>
              <a:t>P23 기획 제안 v1.3 · 2026.09.15</a:t>
            </a:r>
          </a:p>
        </p:txBody>
      </p:sp>
      <p:sp>
        <p:nvSpPr>
          <p:cNvPr id="4" name="s10_4">
            <a:extLst xmlns:a="http://schemas.openxmlformats.org/drawingml/2006/main">
              <a:ext uri="{FF2B5EF4-FFF2-40B4-BE49-F238E27FC236}">
                <a16:creationId xmlns:a16="http://schemas.microsoft.com/office/drawing/2014/main" id="{CBBCB61D-4301-44B8-AF52-E7AA81BCE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3912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500" b="1">
                <a:solidFill>
                  <a:srgbClr val="066F6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66F64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5" name="s10_5">
            <a:extLst xmlns:a="http://schemas.openxmlformats.org/drawingml/2006/main">
              <a:ext uri="{FF2B5EF4-FFF2-40B4-BE49-F238E27FC236}">
                <a16:creationId xmlns:a16="http://schemas.microsoft.com/office/drawing/2014/main" id="{5690FFDD-FE4F-4C37-8275-B7EEBF4B3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66925"/>
            <a:ext cx="10906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4D626B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4D626B"/>
                </a:solidFill>
                <a:latin typeface="Malgun Gothic"/>
                <a:ea typeface="Malgun Gothic"/>
                <a:cs typeface="Malgun Gothic"/>
              </a:rPr>
              <a:t>허용된 외부·내부 자료</a:t>
            </a:r>
          </a:p>
        </p:txBody>
      </p:sp>
      <p:sp>
        <p:nvSpPr>
          <p:cNvPr id="6" name="s10_6">
            <a:extLst xmlns:a="http://schemas.openxmlformats.org/drawingml/2006/main">
              <a:ext uri="{FF2B5EF4-FFF2-40B4-BE49-F238E27FC236}">
                <a16:creationId xmlns:a16="http://schemas.microsoft.com/office/drawing/2014/main" id="{03CAE23D-41E5-4741-AEDF-B3E155735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2505075"/>
            <a:ext cx="25336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s10_7">
            <a:extLst xmlns:a="http://schemas.openxmlformats.org/drawingml/2006/main">
              <a:ext uri="{FF2B5EF4-FFF2-40B4-BE49-F238E27FC236}">
                <a16:creationId xmlns:a16="http://schemas.microsoft.com/office/drawing/2014/main" id="{353A1DF2-5FBC-4682-A833-6BC064353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57475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14374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3747"/>
                </a:solidFill>
                <a:latin typeface="Malgun Gothic"/>
                <a:ea typeface="Malgun Gothic"/>
                <a:cs typeface="Malgun Gothic"/>
              </a:rPr>
              <a:t>자료 반입·연계</a:t>
            </a:r>
          </a:p>
        </p:txBody>
      </p:sp>
      <p:sp>
        <p:nvSpPr>
          <p:cNvPr id="8" name="s10_8">
            <a:extLst xmlns:a="http://schemas.openxmlformats.org/drawingml/2006/main">
              <a:ext uri="{FF2B5EF4-FFF2-40B4-BE49-F238E27FC236}">
                <a16:creationId xmlns:a16="http://schemas.microsoft.com/office/drawing/2014/main" id="{EE4BA8F8-8828-438C-A4C3-9EF08483B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19425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4D626B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4D626B"/>
                </a:solidFill>
                <a:latin typeface="Malgun Gothic"/>
                <a:ea typeface="Malgun Gothic"/>
                <a:cs typeface="Malgun Gothic"/>
              </a:rPr>
              <a:t>승인 API·파일 반입</a:t>
            </a:r>
          </a:p>
        </p:txBody>
      </p:sp>
      <p:sp>
        <p:nvSpPr>
          <p:cNvPr id="9" name="s10_9">
            <a:extLst xmlns:a="http://schemas.openxmlformats.org/drawingml/2006/main">
              <a:ext uri="{FF2B5EF4-FFF2-40B4-BE49-F238E27FC236}">
                <a16:creationId xmlns:a16="http://schemas.microsoft.com/office/drawing/2014/main" id="{F07030BB-8631-4BE9-AC3F-1379C9984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67075" y="2943225"/>
            <a:ext cx="33337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66F64"/>
          </a:solidFill>
          <a:ln xmlns:a="http://schemas.openxmlformats.org/drawingml/2006/main" w="0">
            <a:noFill/>
          </a:ln>
        </p:spPr>
      </p:sp>
      <p:sp>
        <p:nvSpPr>
          <p:cNvPr id="10" name="s10_10">
            <a:extLst xmlns:a="http://schemas.openxmlformats.org/drawingml/2006/main">
              <a:ext uri="{FF2B5EF4-FFF2-40B4-BE49-F238E27FC236}">
                <a16:creationId xmlns:a16="http://schemas.microsoft.com/office/drawing/2014/main" id="{A8300860-91E5-4D9E-A7DD-E75414524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10000" y="2047875"/>
            <a:ext cx="7772400" cy="3800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EEA"/>
          </a:solidFill>
          <a:ln xmlns:a="http://schemas.openxmlformats.org/drawingml/2006/main" w="9525">
            <a:solidFill>
              <a:srgbClr val="066F64"/>
            </a:solidFill>
          </a:ln>
        </p:spPr>
      </p:sp>
      <p:sp>
        <p:nvSpPr>
          <p:cNvPr id="11" name="s10_11">
            <a:extLst xmlns:a="http://schemas.openxmlformats.org/drawingml/2006/main">
              <a:ext uri="{FF2B5EF4-FFF2-40B4-BE49-F238E27FC236}">
                <a16:creationId xmlns:a16="http://schemas.microsoft.com/office/drawing/2014/main" id="{47213436-4BD7-48FC-A249-11191D06B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2181225"/>
            <a:ext cx="695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066F64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066F64"/>
                </a:solidFill>
                <a:latin typeface="Malgun Gothic"/>
                <a:ea typeface="Malgun Gothic"/>
                <a:cs typeface="Malgun Gothic"/>
              </a:rPr>
              <a:t>TS 기존 로컬 운영환경</a:t>
            </a:r>
          </a:p>
        </p:txBody>
      </p:sp>
      <p:sp>
        <p:nvSpPr>
          <p:cNvPr id="12" name="s10_12">
            <a:extLst xmlns:a="http://schemas.openxmlformats.org/drawingml/2006/main">
              <a:ext uri="{FF2B5EF4-FFF2-40B4-BE49-F238E27FC236}">
                <a16:creationId xmlns:a16="http://schemas.microsoft.com/office/drawing/2014/main" id="{29DD9DC2-E56E-455B-9071-C02C9F592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67175" y="2705100"/>
            <a:ext cx="72485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3" name="s10_13">
            <a:extLst xmlns:a="http://schemas.openxmlformats.org/drawingml/2006/main">
              <a:ext uri="{FF2B5EF4-FFF2-40B4-BE49-F238E27FC236}">
                <a16:creationId xmlns:a16="http://schemas.microsoft.com/office/drawing/2014/main" id="{4BD2F996-9444-4122-B0FD-B6B9F7072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857500"/>
            <a:ext cx="6905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14374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3747"/>
                </a:solidFill>
                <a:latin typeface="Malgun Gothic"/>
                <a:ea typeface="Malgun Gothic"/>
                <a:cs typeface="Malgun Gothic"/>
              </a:rPr>
              <a:t>NOA 서비스·권한 연계</a:t>
            </a:r>
          </a:p>
        </p:txBody>
      </p:sp>
      <p:sp>
        <p:nvSpPr>
          <p:cNvPr id="14" name="s10_14">
            <a:extLst xmlns:a="http://schemas.openxmlformats.org/drawingml/2006/main">
              <a:ext uri="{FF2B5EF4-FFF2-40B4-BE49-F238E27FC236}">
                <a16:creationId xmlns:a16="http://schemas.microsoft.com/office/drawing/2014/main" id="{E668CA4F-D585-4790-ACE1-6643B8A6E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219450"/>
            <a:ext cx="6905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4D626B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4D626B"/>
                </a:solidFill>
                <a:latin typeface="Malgun Gothic"/>
                <a:ea typeface="Malgun Gothic"/>
                <a:cs typeface="Malgun Gothic"/>
              </a:rPr>
              <a:t>근거·사업·예산·문서 화면</a:t>
            </a:r>
          </a:p>
        </p:txBody>
      </p:sp>
      <p:sp>
        <p:nvSpPr>
          <p:cNvPr id="15" name="s10_15">
            <a:extLst xmlns:a="http://schemas.openxmlformats.org/drawingml/2006/main">
              <a:ext uri="{FF2B5EF4-FFF2-40B4-BE49-F238E27FC236}">
                <a16:creationId xmlns:a16="http://schemas.microsoft.com/office/drawing/2014/main" id="{A7F064B2-15F2-476C-A2AF-1EC6CACEB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515225" y="3571875"/>
            <a:ext cx="2476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66F64"/>
          </a:solidFill>
          <a:ln xmlns:a="http://schemas.openxmlformats.org/drawingml/2006/main" w="0">
            <a:noFill/>
          </a:ln>
        </p:spPr>
      </p:sp>
      <p:sp>
        <p:nvSpPr>
          <p:cNvPr id="16" name="s10_16">
            <a:extLst xmlns:a="http://schemas.openxmlformats.org/drawingml/2006/main">
              <a:ext uri="{FF2B5EF4-FFF2-40B4-BE49-F238E27FC236}">
                <a16:creationId xmlns:a16="http://schemas.microsoft.com/office/drawing/2014/main" id="{53FA0307-AB51-487F-906C-57F5B82FB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67175" y="3962400"/>
            <a:ext cx="3238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7" name="s10_17">
            <a:extLst xmlns:a="http://schemas.openxmlformats.org/drawingml/2006/main">
              <a:ext uri="{FF2B5EF4-FFF2-40B4-BE49-F238E27FC236}">
                <a16:creationId xmlns:a16="http://schemas.microsoft.com/office/drawing/2014/main" id="{2EC20516-2E5D-4F5B-9005-01215BC5B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114800"/>
            <a:ext cx="2895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14374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3747"/>
                </a:solidFill>
                <a:latin typeface="Malgun Gothic"/>
                <a:ea typeface="Malgun Gothic"/>
                <a:cs typeface="Malgun Gothic"/>
              </a:rPr>
              <a:t>로컬 LLM·RAG</a:t>
            </a:r>
          </a:p>
        </p:txBody>
      </p:sp>
      <p:sp>
        <p:nvSpPr>
          <p:cNvPr id="18" name="s10_18">
            <a:extLst xmlns:a="http://schemas.openxmlformats.org/drawingml/2006/main">
              <a:ext uri="{FF2B5EF4-FFF2-40B4-BE49-F238E27FC236}">
                <a16:creationId xmlns:a16="http://schemas.microsoft.com/office/drawing/2014/main" id="{53968009-725B-4AEE-9A58-64051AEF3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476750"/>
            <a:ext cx="2895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4D626B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4D626B"/>
                </a:solidFill>
                <a:latin typeface="Malgun Gothic"/>
                <a:ea typeface="Malgun Gothic"/>
                <a:cs typeface="Malgun Gothic"/>
              </a:rPr>
              <a:t>검색 · 서술 초안</a:t>
            </a:r>
          </a:p>
        </p:txBody>
      </p:sp>
      <p:sp>
        <p:nvSpPr>
          <p:cNvPr id="19" name="s10_19">
            <a:extLst xmlns:a="http://schemas.openxmlformats.org/drawingml/2006/main">
              <a:ext uri="{FF2B5EF4-FFF2-40B4-BE49-F238E27FC236}">
                <a16:creationId xmlns:a16="http://schemas.microsoft.com/office/drawing/2014/main" id="{AE8E4293-A9B4-4F1D-AB5C-D96BEEFDD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00950" y="3962400"/>
            <a:ext cx="3714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0" name="s10_20">
            <a:extLst xmlns:a="http://schemas.openxmlformats.org/drawingml/2006/main">
              <a:ext uri="{FF2B5EF4-FFF2-40B4-BE49-F238E27FC236}">
                <a16:creationId xmlns:a16="http://schemas.microsoft.com/office/drawing/2014/main" id="{79158E63-0766-4951-9ED6-42D98511C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114800"/>
            <a:ext cx="3371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14374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3747"/>
                </a:solidFill>
                <a:latin typeface="Malgun Gothic"/>
                <a:ea typeface="Malgun Gothic"/>
                <a:cs typeface="Malgun Gothic"/>
              </a:rPr>
              <a:t>추가 SI·규칙 처리</a:t>
            </a:r>
          </a:p>
        </p:txBody>
      </p:sp>
      <p:sp>
        <p:nvSpPr>
          <p:cNvPr id="21" name="s10_21">
            <a:extLst xmlns:a="http://schemas.openxmlformats.org/drawingml/2006/main">
              <a:ext uri="{FF2B5EF4-FFF2-40B4-BE49-F238E27FC236}">
                <a16:creationId xmlns:a16="http://schemas.microsoft.com/office/drawing/2014/main" id="{FCA5DD2D-3C7C-4994-84FD-46413F8C8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476750"/>
            <a:ext cx="3371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4D626B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4D626B"/>
                </a:solidFill>
                <a:latin typeface="Malgun Gothic"/>
                <a:ea typeface="Malgun Gothic"/>
                <a:cs typeface="Malgun Gothic"/>
              </a:rPr>
              <a:t>산식 · 상태 · 양식 · 이력</a:t>
            </a:r>
          </a:p>
        </p:txBody>
      </p:sp>
      <p:sp>
        <p:nvSpPr>
          <p:cNvPr id="22" name="s10_22">
            <a:extLst xmlns:a="http://schemas.openxmlformats.org/drawingml/2006/main">
              <a:ext uri="{FF2B5EF4-FFF2-40B4-BE49-F238E27FC236}">
                <a16:creationId xmlns:a16="http://schemas.microsoft.com/office/drawing/2014/main" id="{33C35D22-E53A-47B4-80D5-BE00B177E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67575" y="4381500"/>
            <a:ext cx="31432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66F64"/>
          </a:solidFill>
          <a:ln xmlns:a="http://schemas.openxmlformats.org/drawingml/2006/main" w="0">
            <a:noFill/>
          </a:ln>
        </p:spPr>
      </p:sp>
      <p:sp>
        <p:nvSpPr>
          <p:cNvPr id="23" name="s10_23">
            <a:extLst xmlns:a="http://schemas.openxmlformats.org/drawingml/2006/main">
              <a:ext uri="{FF2B5EF4-FFF2-40B4-BE49-F238E27FC236}">
                <a16:creationId xmlns:a16="http://schemas.microsoft.com/office/drawing/2014/main" id="{85935370-874E-4EA5-8866-0FAF0283F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3714750"/>
            <a:ext cx="2381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4D626B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4D626B"/>
                </a:solidFill>
                <a:latin typeface="Malgun Gothic"/>
                <a:ea typeface="Malgun Gothic"/>
                <a:cs typeface="Malgun Gothic"/>
              </a:rPr>
              <a:t>입출력 교환</a:t>
            </a:r>
          </a:p>
        </p:txBody>
      </p:sp>
      <p:sp>
        <p:nvSpPr>
          <p:cNvPr id="24" name="s10_24">
            <a:extLst xmlns:a="http://schemas.openxmlformats.org/drawingml/2006/main">
              <a:ext uri="{FF2B5EF4-FFF2-40B4-BE49-F238E27FC236}">
                <a16:creationId xmlns:a16="http://schemas.microsoft.com/office/drawing/2014/main" id="{F4678BE9-1F3C-4EBA-AAA5-E1D64C8BF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76700" y="5295900"/>
            <a:ext cx="72390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747"/>
          </a:solidFill>
          <a:ln xmlns:a="http://schemas.openxmlformats.org/drawingml/2006/main" w="0">
            <a:noFill/>
          </a:ln>
        </p:spPr>
      </p:sp>
      <p:sp>
        <p:nvSpPr>
          <p:cNvPr id="25" name="s10_25">
            <a:extLst xmlns:a="http://schemas.openxmlformats.org/drawingml/2006/main">
              <a:ext uri="{FF2B5EF4-FFF2-40B4-BE49-F238E27FC236}">
                <a16:creationId xmlns:a16="http://schemas.microsoft.com/office/drawing/2014/main" id="{A9964C3A-2CE2-4774-969E-07F7AF397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353050"/>
            <a:ext cx="695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원문 저장소  /  사업원장  /  문서 버전  /  접근·감사 기록</a:t>
            </a:r>
          </a:p>
        </p:txBody>
      </p:sp>
      <p:sp>
        <p:nvSpPr>
          <p:cNvPr id="26" name="s10_26">
            <a:extLst xmlns:a="http://schemas.openxmlformats.org/drawingml/2006/main">
              <a:ext uri="{FF2B5EF4-FFF2-40B4-BE49-F238E27FC236}">
                <a16:creationId xmlns:a16="http://schemas.microsoft.com/office/drawing/2014/main" id="{07AA0CCF-05CB-4955-A19F-0A2AC0915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81450"/>
            <a:ext cx="2495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1">
                <a:solidFill>
                  <a:srgbClr val="143747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43747"/>
                </a:solidFill>
                <a:latin typeface="Malgun Gothic"/>
                <a:ea typeface="Malgun Gothic"/>
                <a:cs typeface="Malgun Gothic"/>
              </a:rPr>
              <a:t>담당자</a:t>
            </a:r>
          </a:p>
        </p:txBody>
      </p:sp>
      <p:sp>
        <p:nvSpPr>
          <p:cNvPr id="27" name="s10_27">
            <a:extLst xmlns:a="http://schemas.openxmlformats.org/drawingml/2006/main">
              <a:ext uri="{FF2B5EF4-FFF2-40B4-BE49-F238E27FC236}">
                <a16:creationId xmlns:a16="http://schemas.microsoft.com/office/drawing/2014/main" id="{A10334CB-EBF0-439A-A2E5-AB7BED6CA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05325"/>
            <a:ext cx="27051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193744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93744"/>
                </a:solidFill>
                <a:latin typeface="Malgun Gothic"/>
                <a:ea typeface="Malgun Gothic"/>
                <a:cs typeface="Malgun Gothic"/>
              </a:rPr>
              <a:t>검토·공식 인계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193744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93744"/>
                </a:solidFill>
                <a:latin typeface="Malgun Gothic"/>
                <a:ea typeface="Malgun Gothic"/>
                <a:cs typeface="Malgun Gothic"/>
              </a:rPr>
              <a:t>심의·발주 결과 등록</a:t>
            </a:r>
          </a:p>
        </p:txBody>
      </p:sp>
      <p:sp>
        <p:nvSpPr>
          <p:cNvPr id="28" name="s10_28">
            <a:extLst xmlns:a="http://schemas.openxmlformats.org/drawingml/2006/main">
              <a:ext uri="{FF2B5EF4-FFF2-40B4-BE49-F238E27FC236}">
                <a16:creationId xmlns:a16="http://schemas.microsoft.com/office/drawing/2014/main" id="{ADF09B3F-57AD-4D1C-9841-50BF0DDB2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67075" y="4543425"/>
            <a:ext cx="33337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66F64"/>
          </a:solidFill>
          <a:ln xmlns:a="http://schemas.openxmlformats.org/drawingml/2006/main" w="0">
            <a:noFill/>
          </a:ln>
        </p:spPr>
      </p:sp>
      <p:sp>
        <p:nvSpPr>
          <p:cNvPr id="29" name="s10_29">
            <a:extLst xmlns:a="http://schemas.openxmlformats.org/drawingml/2006/main">
              <a:ext uri="{FF2B5EF4-FFF2-40B4-BE49-F238E27FC236}">
                <a16:creationId xmlns:a16="http://schemas.microsoft.com/office/drawing/2014/main" id="{7A7BD40B-E51E-477E-8D3E-F1B57A1BE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98170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A44F2C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A44F2C"/>
                </a:solidFill>
                <a:latin typeface="Malgun Gothic"/>
                <a:ea typeface="Malgun Gothic"/>
                <a:cs typeface="Malgun Gothic"/>
              </a:rPr>
              <a:t>공식 결과를 원장과 후속 평가에 반영</a:t>
            </a:r>
          </a:p>
        </p:txBody>
      </p:sp>
      <p:sp>
        <p:nvSpPr>
          <p:cNvPr id="30" name="s10_30">
            <a:extLst xmlns:a="http://schemas.openxmlformats.org/drawingml/2006/main">
              <a:ext uri="{FF2B5EF4-FFF2-40B4-BE49-F238E27FC236}">
                <a16:creationId xmlns:a16="http://schemas.microsoft.com/office/drawing/2014/main" id="{42B357D4-62F4-436C-995D-909766FB9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5076825"/>
            <a:ext cx="0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66F64"/>
            </a:solidFill>
          </a:ln>
        </p:spPr>
      </p:sp>
      <p:sp>
        <p:nvSpPr>
          <p:cNvPr id="31" name="s10_31">
            <a:extLst xmlns:a="http://schemas.openxmlformats.org/drawingml/2006/main">
              <a:ext uri="{FF2B5EF4-FFF2-40B4-BE49-F238E27FC236}">
                <a16:creationId xmlns:a16="http://schemas.microsoft.com/office/drawing/2014/main" id="{884CE9AA-E0BE-418D-B6EE-42E3938C7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344025" y="5162550"/>
            <a:ext cx="2286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66F64"/>
          </a:solidFill>
          <a:ln xmlns:a="http://schemas.openxmlformats.org/drawingml/2006/main" w="0">
            <a:noFill/>
          </a:ln>
        </p:spPr>
      </p:sp>
      <p:sp>
        <p:nvSpPr>
          <p:cNvPr id="32" name="s10_32">
            <a:extLst xmlns:a="http://schemas.openxmlformats.org/drawingml/2006/main">
              <a:ext uri="{FF2B5EF4-FFF2-40B4-BE49-F238E27FC236}">
                <a16:creationId xmlns:a16="http://schemas.microsoft.com/office/drawing/2014/main" id="{D02F4FA0-C658-4BE6-9D5E-EB4026054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7877175" y="3571875"/>
            <a:ext cx="2476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66F64"/>
          </a:solidFill>
          <a:ln xmlns:a="http://schemas.openxmlformats.org/drawingml/2006/main" w="0">
            <a:noFill/>
          </a:ln>
        </p:spPr>
      </p:sp>
      <p:sp>
        <p:nvSpPr>
          <p:cNvPr id="33" name="s10_33">
            <a:extLst xmlns:a="http://schemas.openxmlformats.org/drawingml/2006/main">
              <a:ext uri="{FF2B5EF4-FFF2-40B4-BE49-F238E27FC236}">
                <a16:creationId xmlns:a16="http://schemas.microsoft.com/office/drawing/2014/main" id="{FB141B87-C1C3-49D2-B159-27501A0B0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3267075" y="4943475"/>
            <a:ext cx="33337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66F64"/>
          </a:solidFill>
          <a:ln xmlns:a="http://schemas.openxmlformats.org/drawingml/2006/main" w="0">
            <a:noFill/>
          </a:ln>
        </p:spPr>
      </p:sp>
      <p:sp>
        <p:nvSpPr>
          <p:cNvPr id="34" name="s10_34">
            <a:extLst xmlns:a="http://schemas.openxmlformats.org/drawingml/2006/main">
              <a:ext uri="{FF2B5EF4-FFF2-40B4-BE49-F238E27FC236}">
                <a16:creationId xmlns:a16="http://schemas.microsoft.com/office/drawing/2014/main" id="{F99168BC-7E58-4EC1-82FC-24B6F879F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4864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4D626B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4D626B"/>
                </a:solidFill>
                <a:latin typeface="Malgun Gothic"/>
                <a:ea typeface="Malgun Gothic"/>
                <a:cs typeface="Malgun Gothic"/>
              </a:rPr>
              <a:t>검토 요청·결과 등록</a:t>
            </a:r>
          </a:p>
        </p:txBody>
      </p:sp>
    </p:spTree>
    <p:extLst>
      <p:ext uri="{BB962C8B-B14F-4D97-AF65-F5344CB8AC3E}">
        <p14:creationId xmlns:p14="http://schemas.microsoft.com/office/powerpoint/2010/main" val="86542722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3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s11_1">
            <a:extLst xmlns:a="http://schemas.openxmlformats.org/drawingml/2006/main">
              <a:ext uri="{FF2B5EF4-FFF2-40B4-BE49-F238E27FC236}">
                <a16:creationId xmlns:a16="http://schemas.microsoft.com/office/drawing/2014/main" id="{2D5CDB2C-FB72-49B1-9934-D36BBC3C6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150" b="1">
                <a:solidFill>
                  <a:srgbClr val="143747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43747"/>
                </a:solidFill>
                <a:latin typeface="Malgun Gothic"/>
                <a:ea typeface="Malgun Gothic"/>
                <a:cs typeface="Malgun Gothic"/>
              </a:rPr>
              <a:t>데이터 흐름과 근거 추적</a:t>
            </a:r>
          </a:p>
        </p:txBody>
      </p:sp>
      <p:sp>
        <p:nvSpPr>
          <p:cNvPr id="2" name="s11_2">
            <a:extLst xmlns:a="http://schemas.openxmlformats.org/drawingml/2006/main">
              <a:ext uri="{FF2B5EF4-FFF2-40B4-BE49-F238E27FC236}">
                <a16:creationId xmlns:a16="http://schemas.microsoft.com/office/drawing/2014/main" id="{32230093-E2B2-4EE8-AB39-D46E38589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4D626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D626B"/>
                </a:solidFill>
                <a:latin typeface="Malgun Gothic"/>
                <a:ea typeface="Malgun Gothic"/>
                <a:cs typeface="Malgun Gothic"/>
              </a:rPr>
              <a:t>원문에서 출발해 각 판단과 문서가 어떤 버전을 사용했는지 기록한다.</a:t>
            </a:r>
          </a:p>
        </p:txBody>
      </p:sp>
      <p:sp>
        <p:nvSpPr>
          <p:cNvPr id="3" name="s11_3">
            <a:extLst xmlns:a="http://schemas.openxmlformats.org/drawingml/2006/main">
              <a:ext uri="{FF2B5EF4-FFF2-40B4-BE49-F238E27FC236}">
                <a16:creationId xmlns:a16="http://schemas.microsoft.com/office/drawing/2014/main" id="{8BE845F0-0C1C-405A-AF83-E2E5A87E1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09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4D626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4D626B"/>
                </a:solidFill>
                <a:latin typeface="Malgun Gothic"/>
                <a:ea typeface="Malgun Gothic"/>
                <a:cs typeface="Malgun Gothic"/>
              </a:rPr>
              <a:t>P23 기획 제안 v1.3 · 2026.09.15</a:t>
            </a:r>
          </a:p>
        </p:txBody>
      </p:sp>
      <p:sp>
        <p:nvSpPr>
          <p:cNvPr id="4" name="s11_4">
            <a:extLst xmlns:a="http://schemas.openxmlformats.org/drawingml/2006/main">
              <a:ext uri="{FF2B5EF4-FFF2-40B4-BE49-F238E27FC236}">
                <a16:creationId xmlns:a16="http://schemas.microsoft.com/office/drawing/2014/main" id="{5E2FC289-AE75-4E17-8C2F-FDD884057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3912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500" b="1">
                <a:solidFill>
                  <a:srgbClr val="066F6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66F64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5" name="s11_5">
            <a:extLst xmlns:a="http://schemas.openxmlformats.org/drawingml/2006/main">
              <a:ext uri="{FF2B5EF4-FFF2-40B4-BE49-F238E27FC236}">
                <a16:creationId xmlns:a16="http://schemas.microsoft.com/office/drawing/2014/main" id="{28AE818E-A06F-4AA9-BF75-2B4118BC8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2419350"/>
            <a:ext cx="1981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s11_6">
            <a:extLst xmlns:a="http://schemas.openxmlformats.org/drawingml/2006/main">
              <a:ext uri="{FF2B5EF4-FFF2-40B4-BE49-F238E27FC236}">
                <a16:creationId xmlns:a16="http://schemas.microsoft.com/office/drawing/2014/main" id="{F833910E-3E2F-4222-902A-31772459D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71750"/>
            <a:ext cx="1638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14374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3747"/>
                </a:solidFill>
                <a:latin typeface="Malgun Gothic"/>
                <a:ea typeface="Malgun Gothic"/>
                <a:cs typeface="Malgun Gothic"/>
              </a:rPr>
              <a:t>원문 D1</a:t>
            </a:r>
          </a:p>
        </p:txBody>
      </p:sp>
      <p:sp>
        <p:nvSpPr>
          <p:cNvPr id="7" name="s11_7">
            <a:extLst xmlns:a="http://schemas.openxmlformats.org/drawingml/2006/main">
              <a:ext uri="{FF2B5EF4-FFF2-40B4-BE49-F238E27FC236}">
                <a16:creationId xmlns:a16="http://schemas.microsoft.com/office/drawing/2014/main" id="{3132B591-6FC7-4582-B2CF-F6AB7C601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33700"/>
            <a:ext cx="16383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4D626B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4D626B"/>
                </a:solidFill>
                <a:latin typeface="Malgun Gothic"/>
                <a:ea typeface="Malgun Gothic"/>
                <a:cs typeface="Malgun Gothic"/>
              </a:rPr>
              <a:t>출처·수집일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4D626B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4D626B"/>
                </a:solidFill>
                <a:latin typeface="Malgun Gothic"/>
                <a:ea typeface="Malgun Gothic"/>
                <a:cs typeface="Malgun Gothic"/>
              </a:rPr>
              <a:t>권리·접근정책</a:t>
            </a:r>
          </a:p>
        </p:txBody>
      </p:sp>
      <p:sp>
        <p:nvSpPr>
          <p:cNvPr id="8" name="s11_8">
            <a:extLst xmlns:a="http://schemas.openxmlformats.org/drawingml/2006/main">
              <a:ext uri="{FF2B5EF4-FFF2-40B4-BE49-F238E27FC236}">
                <a16:creationId xmlns:a16="http://schemas.microsoft.com/office/drawing/2014/main" id="{70AC77A8-F041-45C6-821A-2EE22B4CE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28900" y="2952750"/>
            <a:ext cx="190500" cy="1619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66F64"/>
          </a:solidFill>
          <a:ln xmlns:a="http://schemas.openxmlformats.org/drawingml/2006/main" w="0">
            <a:noFill/>
          </a:ln>
        </p:spPr>
      </p:sp>
      <p:sp>
        <p:nvSpPr>
          <p:cNvPr id="9" name="s11_9">
            <a:extLst xmlns:a="http://schemas.openxmlformats.org/drawingml/2006/main">
              <a:ext uri="{FF2B5EF4-FFF2-40B4-BE49-F238E27FC236}">
                <a16:creationId xmlns:a16="http://schemas.microsoft.com/office/drawing/2014/main" id="{7B356CFF-2543-4192-AA62-9C1A21323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57500" y="2419350"/>
            <a:ext cx="1981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0" name="s11_10">
            <a:extLst xmlns:a="http://schemas.openxmlformats.org/drawingml/2006/main">
              <a:ext uri="{FF2B5EF4-FFF2-40B4-BE49-F238E27FC236}">
                <a16:creationId xmlns:a16="http://schemas.microsoft.com/office/drawing/2014/main" id="{C99197A3-E54E-43D6-9145-C8A2BC110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571750"/>
            <a:ext cx="1638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14374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3747"/>
                </a:solidFill>
                <a:latin typeface="Malgun Gothic"/>
                <a:ea typeface="Malgun Gothic"/>
                <a:cs typeface="Malgun Gothic"/>
              </a:rPr>
              <a:t>근거 D2</a:t>
            </a:r>
          </a:p>
        </p:txBody>
      </p:sp>
      <p:sp>
        <p:nvSpPr>
          <p:cNvPr id="11" name="s11_11">
            <a:extLst xmlns:a="http://schemas.openxmlformats.org/drawingml/2006/main">
              <a:ext uri="{FF2B5EF4-FFF2-40B4-BE49-F238E27FC236}">
                <a16:creationId xmlns:a16="http://schemas.microsoft.com/office/drawing/2014/main" id="{D60A8143-2707-4FA4-B912-89A9C9CA5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933700"/>
            <a:ext cx="16383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4D626B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4D626B"/>
                </a:solidFill>
                <a:latin typeface="Malgun Gothic"/>
                <a:ea typeface="Malgun Gothic"/>
                <a:cs typeface="Malgun Gothic"/>
              </a:rPr>
              <a:t>주장·위치·인용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4D626B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4D626B"/>
                </a:solidFill>
                <a:latin typeface="Malgun Gothic"/>
                <a:ea typeface="Malgun Gothic"/>
                <a:cs typeface="Malgun Gothic"/>
              </a:rPr>
              <a:t>확인·철회 상태</a:t>
            </a:r>
          </a:p>
        </p:txBody>
      </p:sp>
      <p:sp>
        <p:nvSpPr>
          <p:cNvPr id="12" name="s11_12">
            <a:extLst xmlns:a="http://schemas.openxmlformats.org/drawingml/2006/main">
              <a:ext uri="{FF2B5EF4-FFF2-40B4-BE49-F238E27FC236}">
                <a16:creationId xmlns:a16="http://schemas.microsoft.com/office/drawing/2014/main" id="{266B73DA-2094-42C6-8041-F1F0DCA9F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76800" y="2952750"/>
            <a:ext cx="190500" cy="1619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66F64"/>
          </a:solidFill>
          <a:ln xmlns:a="http://schemas.openxmlformats.org/drawingml/2006/main" w="0">
            <a:noFill/>
          </a:ln>
        </p:spPr>
      </p:sp>
      <p:sp>
        <p:nvSpPr>
          <p:cNvPr id="13" name="s11_13">
            <a:extLst xmlns:a="http://schemas.openxmlformats.org/drawingml/2006/main">
              <a:ext uri="{FF2B5EF4-FFF2-40B4-BE49-F238E27FC236}">
                <a16:creationId xmlns:a16="http://schemas.microsoft.com/office/drawing/2014/main" id="{507DABF3-AA01-4123-8D1D-4DF36F239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05400" y="2419350"/>
            <a:ext cx="1981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4" name="s11_14">
            <a:extLst xmlns:a="http://schemas.openxmlformats.org/drawingml/2006/main">
              <a:ext uri="{FF2B5EF4-FFF2-40B4-BE49-F238E27FC236}">
                <a16:creationId xmlns:a16="http://schemas.microsoft.com/office/drawing/2014/main" id="{954B9A39-EE3B-4BB1-B02F-F9FD6EED6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571750"/>
            <a:ext cx="1638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14374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3747"/>
                </a:solidFill>
                <a:latin typeface="Malgun Gothic"/>
                <a:ea typeface="Malgun Gothic"/>
                <a:cs typeface="Malgun Gothic"/>
              </a:rPr>
              <a:t>문제 D3</a:t>
            </a:r>
          </a:p>
        </p:txBody>
      </p:sp>
      <p:sp>
        <p:nvSpPr>
          <p:cNvPr id="15" name="s11_15">
            <a:extLst xmlns:a="http://schemas.openxmlformats.org/drawingml/2006/main">
              <a:ext uri="{FF2B5EF4-FFF2-40B4-BE49-F238E27FC236}">
                <a16:creationId xmlns:a16="http://schemas.microsoft.com/office/drawing/2014/main" id="{62C2798A-16B8-4689-A7F5-962667BB5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933700"/>
            <a:ext cx="16383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4D626B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4D626B"/>
                </a:solidFill>
                <a:latin typeface="Malgun Gothic"/>
                <a:ea typeface="Malgun Gothic"/>
                <a:cs typeface="Malgun Gothic"/>
              </a:rPr>
              <a:t>현상·가설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4D626B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4D626B"/>
                </a:solidFill>
                <a:latin typeface="Malgun Gothic"/>
                <a:ea typeface="Malgun Gothic"/>
                <a:cs typeface="Malgun Gothic"/>
              </a:rPr>
              <a:t>반대 근거·공백</a:t>
            </a:r>
          </a:p>
        </p:txBody>
      </p:sp>
      <p:sp>
        <p:nvSpPr>
          <p:cNvPr id="16" name="s11_16">
            <a:extLst xmlns:a="http://schemas.openxmlformats.org/drawingml/2006/main">
              <a:ext uri="{FF2B5EF4-FFF2-40B4-BE49-F238E27FC236}">
                <a16:creationId xmlns:a16="http://schemas.microsoft.com/office/drawing/2014/main" id="{50419B45-6E03-4600-BC36-7333AD0B0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24700" y="2952750"/>
            <a:ext cx="190500" cy="1619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66F64"/>
          </a:solidFill>
          <a:ln xmlns:a="http://schemas.openxmlformats.org/drawingml/2006/main" w="0">
            <a:noFill/>
          </a:ln>
        </p:spPr>
      </p:sp>
      <p:sp>
        <p:nvSpPr>
          <p:cNvPr id="17" name="s11_17">
            <a:extLst xmlns:a="http://schemas.openxmlformats.org/drawingml/2006/main">
              <a:ext uri="{FF2B5EF4-FFF2-40B4-BE49-F238E27FC236}">
                <a16:creationId xmlns:a16="http://schemas.microsoft.com/office/drawing/2014/main" id="{EEB6D6BB-5342-4C4C-B199-BA75D023C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53300" y="2419350"/>
            <a:ext cx="1981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EEA"/>
          </a:solidFill>
          <a:ln xmlns:a="http://schemas.openxmlformats.org/drawingml/2006/main" w="0">
            <a:noFill/>
          </a:ln>
        </p:spPr>
      </p:sp>
      <p:sp>
        <p:nvSpPr>
          <p:cNvPr id="18" name="s11_18">
            <a:extLst xmlns:a="http://schemas.openxmlformats.org/drawingml/2006/main">
              <a:ext uri="{FF2B5EF4-FFF2-40B4-BE49-F238E27FC236}">
                <a16:creationId xmlns:a16="http://schemas.microsoft.com/office/drawing/2014/main" id="{190AE7AA-A46C-4890-A8F2-2DA300E8B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571750"/>
            <a:ext cx="1638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14374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3747"/>
                </a:solidFill>
                <a:latin typeface="Malgun Gothic"/>
                <a:ea typeface="Malgun Gothic"/>
                <a:cs typeface="Malgun Gothic"/>
              </a:rPr>
              <a:t>사업 D4</a:t>
            </a:r>
          </a:p>
        </p:txBody>
      </p:sp>
      <p:sp>
        <p:nvSpPr>
          <p:cNvPr id="19" name="s11_19">
            <a:extLst xmlns:a="http://schemas.openxmlformats.org/drawingml/2006/main">
              <a:ext uri="{FF2B5EF4-FFF2-40B4-BE49-F238E27FC236}">
                <a16:creationId xmlns:a16="http://schemas.microsoft.com/office/drawing/2014/main" id="{349B7AB7-2A16-4A99-8F05-3D4689FD6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933700"/>
            <a:ext cx="16383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4D626B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4D626B"/>
                </a:solidFill>
                <a:latin typeface="Malgun Gothic"/>
                <a:ea typeface="Malgun Gothic"/>
                <a:cs typeface="Malgun Gothic"/>
              </a:rPr>
              <a:t>범위·재원·산식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4D626B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4D626B"/>
                </a:solidFill>
                <a:latin typeface="Malgun Gothic"/>
                <a:ea typeface="Malgun Gothic"/>
                <a:cs typeface="Malgun Gothic"/>
              </a:rPr>
              <a:t>담당자 결정</a:t>
            </a:r>
          </a:p>
        </p:txBody>
      </p:sp>
      <p:sp>
        <p:nvSpPr>
          <p:cNvPr id="20" name="s11_20">
            <a:extLst xmlns:a="http://schemas.openxmlformats.org/drawingml/2006/main">
              <a:ext uri="{FF2B5EF4-FFF2-40B4-BE49-F238E27FC236}">
                <a16:creationId xmlns:a16="http://schemas.microsoft.com/office/drawing/2014/main" id="{FE646E06-1858-4AA5-B691-6670B0883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72600" y="2952750"/>
            <a:ext cx="190500" cy="1619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66F64"/>
          </a:solidFill>
          <a:ln xmlns:a="http://schemas.openxmlformats.org/drawingml/2006/main" w="0">
            <a:noFill/>
          </a:ln>
        </p:spPr>
      </p:sp>
      <p:sp>
        <p:nvSpPr>
          <p:cNvPr id="21" name="s11_21">
            <a:extLst xmlns:a="http://schemas.openxmlformats.org/drawingml/2006/main">
              <a:ext uri="{FF2B5EF4-FFF2-40B4-BE49-F238E27FC236}">
                <a16:creationId xmlns:a16="http://schemas.microsoft.com/office/drawing/2014/main" id="{1550EAF5-21F3-4592-8B4D-37C4F7665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01200" y="2419350"/>
            <a:ext cx="1981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2" name="s11_22">
            <a:extLst xmlns:a="http://schemas.openxmlformats.org/drawingml/2006/main">
              <a:ext uri="{FF2B5EF4-FFF2-40B4-BE49-F238E27FC236}">
                <a16:creationId xmlns:a16="http://schemas.microsoft.com/office/drawing/2014/main" id="{05B1277E-5F7D-4DFA-81FD-1368B084E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571750"/>
            <a:ext cx="1638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14374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3747"/>
                </a:solidFill>
                <a:latin typeface="Malgun Gothic"/>
                <a:ea typeface="Malgun Gothic"/>
                <a:cs typeface="Malgun Gothic"/>
              </a:rPr>
              <a:t>문서 D5</a:t>
            </a:r>
          </a:p>
        </p:txBody>
      </p:sp>
      <p:sp>
        <p:nvSpPr>
          <p:cNvPr id="23" name="s11_23">
            <a:extLst xmlns:a="http://schemas.openxmlformats.org/drawingml/2006/main">
              <a:ext uri="{FF2B5EF4-FFF2-40B4-BE49-F238E27FC236}">
                <a16:creationId xmlns:a16="http://schemas.microsoft.com/office/drawing/2014/main" id="{E4D2A173-6D77-481E-948C-68364C49F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933700"/>
            <a:ext cx="16383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4D626B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4D626B"/>
                </a:solidFill>
                <a:latin typeface="Malgun Gothic"/>
                <a:ea typeface="Malgun Gothic"/>
                <a:cs typeface="Malgun Gothic"/>
              </a:rPr>
              <a:t>양식·버전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4D626B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4D626B"/>
                </a:solidFill>
                <a:latin typeface="Malgun Gothic"/>
                <a:ea typeface="Malgun Gothic"/>
                <a:cs typeface="Malgun Gothic"/>
              </a:rPr>
              <a:t>검토·공개 상태</a:t>
            </a:r>
          </a:p>
        </p:txBody>
      </p:sp>
      <p:sp>
        <p:nvSpPr>
          <p:cNvPr id="24" name="s11_24">
            <a:extLst xmlns:a="http://schemas.openxmlformats.org/drawingml/2006/main">
              <a:ext uri="{FF2B5EF4-FFF2-40B4-BE49-F238E27FC236}">
                <a16:creationId xmlns:a16="http://schemas.microsoft.com/office/drawing/2014/main" id="{EA21EFC9-4962-4A96-BB43-6022052A9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276725"/>
            <a:ext cx="8991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66F64"/>
            </a:solidFill>
          </a:ln>
        </p:spPr>
      </p:sp>
      <p:sp>
        <p:nvSpPr>
          <p:cNvPr id="25" name="s11_25">
            <a:extLst xmlns:a="http://schemas.openxmlformats.org/drawingml/2006/main">
              <a:ext uri="{FF2B5EF4-FFF2-40B4-BE49-F238E27FC236}">
                <a16:creationId xmlns:a16="http://schemas.microsoft.com/office/drawing/2014/main" id="{7FAE9C5C-BD77-4FC7-8D23-DA16F7BA1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800475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66F64"/>
            </a:solidFill>
          </a:ln>
        </p:spPr>
      </p:sp>
      <p:sp>
        <p:nvSpPr>
          <p:cNvPr id="26" name="s11_26">
            <a:extLst xmlns:a="http://schemas.openxmlformats.org/drawingml/2006/main">
              <a:ext uri="{FF2B5EF4-FFF2-40B4-BE49-F238E27FC236}">
                <a16:creationId xmlns:a16="http://schemas.microsoft.com/office/drawing/2014/main" id="{5F55365A-3B41-4AB1-ADFE-CB658F85F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800475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66F64"/>
            </a:solidFill>
          </a:ln>
        </p:spPr>
      </p:sp>
      <p:sp>
        <p:nvSpPr>
          <p:cNvPr id="27" name="s11_27">
            <a:extLst xmlns:a="http://schemas.openxmlformats.org/drawingml/2006/main">
              <a:ext uri="{FF2B5EF4-FFF2-40B4-BE49-F238E27FC236}">
                <a16:creationId xmlns:a16="http://schemas.microsoft.com/office/drawing/2014/main" id="{F27CCFCD-F9EF-4AFE-8F14-434E94BD8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00475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66F64"/>
            </a:solidFill>
          </a:ln>
        </p:spPr>
      </p:sp>
      <p:sp>
        <p:nvSpPr>
          <p:cNvPr id="28" name="s11_28">
            <a:extLst xmlns:a="http://schemas.openxmlformats.org/drawingml/2006/main">
              <a:ext uri="{FF2B5EF4-FFF2-40B4-BE49-F238E27FC236}">
                <a16:creationId xmlns:a16="http://schemas.microsoft.com/office/drawing/2014/main" id="{5DF1F78C-E181-4D10-996A-725900F59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800475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66F64"/>
            </a:solidFill>
          </a:ln>
        </p:spPr>
      </p:sp>
      <p:sp>
        <p:nvSpPr>
          <p:cNvPr id="29" name="s11_29">
            <a:extLst xmlns:a="http://schemas.openxmlformats.org/drawingml/2006/main">
              <a:ext uri="{FF2B5EF4-FFF2-40B4-BE49-F238E27FC236}">
                <a16:creationId xmlns:a16="http://schemas.microsoft.com/office/drawing/2014/main" id="{BC9F5A8C-92E0-4BA5-B67D-395589F73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3800475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66F64"/>
            </a:solidFill>
          </a:ln>
        </p:spPr>
      </p:sp>
      <p:sp>
        <p:nvSpPr>
          <p:cNvPr id="30" name="s11_30">
            <a:extLst xmlns:a="http://schemas.openxmlformats.org/drawingml/2006/main">
              <a:ext uri="{FF2B5EF4-FFF2-40B4-BE49-F238E27FC236}">
                <a16:creationId xmlns:a16="http://schemas.microsoft.com/office/drawing/2014/main" id="{4878FAE4-8CAD-4D71-9A21-FA90D5EE6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875" b="1">
                <a:solidFill>
                  <a:srgbClr val="14374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43747"/>
                </a:solidFill>
                <a:latin typeface="Malgun Gothic"/>
                <a:ea typeface="Malgun Gothic"/>
                <a:cs typeface="Malgun Gothic"/>
              </a:rPr>
              <a:t>공통 연결키: 근거 ID · 의제 ID · 사업 버전 · 문서 버전</a:t>
            </a:r>
          </a:p>
        </p:txBody>
      </p:sp>
      <p:sp>
        <p:nvSpPr>
          <p:cNvPr id="31" name="s11_31">
            <a:extLst xmlns:a="http://schemas.openxmlformats.org/drawingml/2006/main">
              <a:ext uri="{FF2B5EF4-FFF2-40B4-BE49-F238E27FC236}">
                <a16:creationId xmlns:a16="http://schemas.microsoft.com/office/drawing/2014/main" id="{6E37F6E0-3BA4-4476-879C-4BCF15CF7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51339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066F64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66F64"/>
                </a:solidFill>
                <a:latin typeface="Malgun Gothic"/>
                <a:ea typeface="Malgun Gothic"/>
                <a:cs typeface="Malgun Gothic"/>
              </a:rPr>
              <a:t>원문 접근정책은 검색·초안에 상속</a:t>
            </a:r>
          </a:p>
        </p:txBody>
      </p:sp>
      <p:sp>
        <p:nvSpPr>
          <p:cNvPr id="32" name="s11_32">
            <a:extLst xmlns:a="http://schemas.openxmlformats.org/drawingml/2006/main">
              <a:ext uri="{FF2B5EF4-FFF2-40B4-BE49-F238E27FC236}">
                <a16:creationId xmlns:a16="http://schemas.microsoft.com/office/drawing/2014/main" id="{4563A366-1AD6-441D-BBFE-83E5E7EF8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181600"/>
            <a:ext cx="49434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A44F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A44F2C"/>
                </a:solidFill>
                <a:latin typeface="Malgun Gothic"/>
                <a:ea typeface="Malgun Gothic"/>
                <a:cs typeface="Malgun Gothic"/>
              </a:rPr>
              <a:t>공개본은 별도 검토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A44F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A44F2C"/>
                </a:solidFill>
                <a:latin typeface="Malgun Gothic"/>
                <a:ea typeface="Malgun Gothic"/>
                <a:cs typeface="Malgun Gothic"/>
              </a:rPr>
              <a:t>보호정보·이용조건 확인</a:t>
            </a:r>
          </a:p>
        </p:txBody>
      </p:sp>
    </p:spTree>
    <p:extLst>
      <p:ext uri="{BB962C8B-B14F-4D97-AF65-F5344CB8AC3E}">
        <p14:creationId xmlns:p14="http://schemas.microsoft.com/office/powerpoint/2010/main" val="47461746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3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12_1">
            <a:extLst xmlns:a="http://schemas.openxmlformats.org/drawingml/2006/main">
              <a:ext uri="{FF2B5EF4-FFF2-40B4-BE49-F238E27FC236}">
                <a16:creationId xmlns:a16="http://schemas.microsoft.com/office/drawing/2014/main" id="{C1D5D3A2-7750-4E72-8032-330684802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150" b="1">
                <a:solidFill>
                  <a:srgbClr val="143747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43747"/>
                </a:solidFill>
                <a:latin typeface="Malgun Gothic"/>
                <a:ea typeface="Malgun Gothic"/>
                <a:cs typeface="Malgun Gothic"/>
              </a:rPr>
              <a:t>판단 로직과 예외 처리</a:t>
            </a:r>
          </a:p>
        </p:txBody>
      </p:sp>
      <p:sp>
        <p:nvSpPr>
          <p:cNvPr id="2" name="s12_2">
            <a:extLst xmlns:a="http://schemas.openxmlformats.org/drawingml/2006/main">
              <a:ext uri="{FF2B5EF4-FFF2-40B4-BE49-F238E27FC236}">
                <a16:creationId xmlns:a16="http://schemas.microsoft.com/office/drawing/2014/main" id="{35E22931-B05E-443D-9F29-F929A0A9C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4D626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D626B"/>
                </a:solidFill>
                <a:latin typeface="Malgun Gothic"/>
                <a:ea typeface="Malgun Gothic"/>
                <a:cs typeface="Malgun Gothic"/>
              </a:rPr>
              <a:t>자료가 부족하거나 조건이 바뀌면 다음에 해야 할 검토를 표시한다.</a:t>
            </a:r>
          </a:p>
        </p:txBody>
      </p:sp>
      <p:sp>
        <p:nvSpPr>
          <p:cNvPr id="3" name="s12_3">
            <a:extLst xmlns:a="http://schemas.openxmlformats.org/drawingml/2006/main">
              <a:ext uri="{FF2B5EF4-FFF2-40B4-BE49-F238E27FC236}">
                <a16:creationId xmlns:a16="http://schemas.microsoft.com/office/drawing/2014/main" id="{3FD964C8-C9C1-48D9-B5DA-F97BE690B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09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4D626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4D626B"/>
                </a:solidFill>
                <a:latin typeface="Malgun Gothic"/>
                <a:ea typeface="Malgun Gothic"/>
                <a:cs typeface="Malgun Gothic"/>
              </a:rPr>
              <a:t>P23 기획 제안 v1.3 · 2026.09.15</a:t>
            </a:r>
          </a:p>
        </p:txBody>
      </p:sp>
      <p:sp>
        <p:nvSpPr>
          <p:cNvPr id="4" name="s12_4">
            <a:extLst xmlns:a="http://schemas.openxmlformats.org/drawingml/2006/main">
              <a:ext uri="{FF2B5EF4-FFF2-40B4-BE49-F238E27FC236}">
                <a16:creationId xmlns:a16="http://schemas.microsoft.com/office/drawing/2014/main" id="{295B9AFE-1E7B-4542-873C-6EEEF22D7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3912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500" b="1">
                <a:solidFill>
                  <a:srgbClr val="066F6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66F64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057400"/>
          <a:ext xmlns:a="http://schemas.openxmlformats.org/drawingml/2006/main" cx="10972800" cy="3543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3895725"/>
                <a:gridCol w="4029075"/>
              </a:tblGrid>
              <a:tr h="590550"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6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판단 질문</a:t>
                      </a:r>
                    </a:p>
                  </a:txBody>
                  <a:tcPr marL="91440" marR="91440" marT="45720" marB="45720" anchor="ctr">
                    <a:solidFill>
                      <a:srgbClr val="143747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6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진행할 조건</a:t>
                      </a:r>
                    </a:p>
                  </a:txBody>
                  <a:tcPr marL="91440" marR="91440" marT="45720" marB="45720" anchor="ctr">
                    <a:solidFill>
                      <a:srgbClr val="143747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6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조건을 충족하지 못하면</a:t>
                      </a:r>
                    </a:p>
                  </a:txBody>
                  <a:tcPr marL="91440" marR="91440" marT="45720" marB="45720" anchor="ctr">
                    <a:solidFill>
                      <a:srgbClr val="143747"/>
                    </a:solidFill>
                  </a:tcPr>
                </a:tc>
              </a:tr>
              <a:tr h="590550"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650" b="0">
                          <a:solidFill>
                            <a:srgbClr val="19374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문제의 근거가 있는가?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650" b="0">
                          <a:solidFill>
                            <a:srgbClr val="19374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출처·대상·현상을 확인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650" b="0">
                          <a:solidFill>
                            <a:srgbClr val="19374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추가 조사 과제와 미확정 초안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650" b="0">
                          <a:solidFill>
                            <a:srgbClr val="19374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TS가 개입할 수 있는가?</a:t>
                      </a:r>
                    </a:p>
                  </a:txBody>
                  <a:tcPr marL="91440" marR="91440" marT="45720" marB="45720" anchor="ctr">
                    <a:solidFill>
                      <a:srgbClr val="EDF3F0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650" b="0">
                          <a:solidFill>
                            <a:srgbClr val="19374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소관·역할·협업 범위 확인</a:t>
                      </a:r>
                    </a:p>
                  </a:txBody>
                  <a:tcPr marL="91440" marR="91440" marT="45720" marB="45720" anchor="ctr">
                    <a:solidFill>
                      <a:srgbClr val="EDF3F0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650" b="0">
                          <a:solidFill>
                            <a:srgbClr val="19374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타기관 협업·이관 검토</a:t>
                      </a:r>
                    </a:p>
                  </a:txBody>
                  <a:tcPr marL="91440" marR="91440" marT="45720" marB="45720" anchor="ctr">
                    <a:solidFill>
                      <a:srgbClr val="EDF3F0"/>
                    </a:solidFill>
                  </a:tcPr>
                </a:tc>
              </a:tr>
              <a:tr h="590550"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650" b="0">
                          <a:solidFill>
                            <a:srgbClr val="19374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추가 수행이 필요한가?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650" b="0">
                          <a:solidFill>
                            <a:srgbClr val="19374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대안·계약 중복 검토 후 추가분 확인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650" b="0">
                          <a:solidFill>
                            <a:srgbClr val="19374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운영 개선·기존 기능 활용·추가 조사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650" b="0">
                          <a:solidFill>
                            <a:srgbClr val="19374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재원·범위가 확인됐는가?</a:t>
                      </a:r>
                    </a:p>
                  </a:txBody>
                  <a:tcPr marL="91440" marR="91440" marT="45720" marB="45720" anchor="ctr">
                    <a:solidFill>
                      <a:srgbClr val="EDF3F0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650" b="0">
                          <a:solidFill>
                            <a:srgbClr val="19374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실제 심의 결과와 범위 일치</a:t>
                      </a:r>
                    </a:p>
                  </a:txBody>
                  <a:tcPr marL="91440" marR="91440" marT="45720" marB="45720" anchor="ctr">
                    <a:solidFill>
                      <a:srgbClr val="EDF3F0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650" b="0">
                          <a:solidFill>
                            <a:srgbClr val="19374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감액 시 일정·기능·검수 재설계</a:t>
                      </a:r>
                    </a:p>
                  </a:txBody>
                  <a:tcPr marL="91440" marR="91440" marT="45720" marB="45720" anchor="ctr">
                    <a:solidFill>
                      <a:srgbClr val="EDF3F0"/>
                    </a:solidFill>
                  </a:tcPr>
                </a:tc>
              </a:tr>
              <a:tr h="590550"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650" b="0">
                          <a:solidFill>
                            <a:srgbClr val="19374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외부 인계할 수 있는가?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650" b="0">
                          <a:solidFill>
                            <a:srgbClr val="19374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양식·권리·공개·계약 검토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650" b="0">
                          <a:solidFill>
                            <a:srgbClr val="19374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보완 사유와 책임자 표시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12_6">
            <a:extLst xmlns:a="http://schemas.openxmlformats.org/drawingml/2006/main">
              <a:ext uri="{FF2B5EF4-FFF2-40B4-BE49-F238E27FC236}">
                <a16:creationId xmlns:a16="http://schemas.microsoft.com/office/drawing/2014/main" id="{A177488A-B2D7-4630-A032-BB08790B2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9347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1">
                <a:solidFill>
                  <a:srgbClr val="066F64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066F64"/>
                </a:solidFill>
                <a:latin typeface="Malgun Gothic"/>
                <a:ea typeface="Malgun Gothic"/>
                <a:cs typeface="Malgun Gothic"/>
              </a:rPr>
              <a:t>상태 전환은 담당자의 근거 있는 결정으로 기록</a:t>
            </a:r>
          </a:p>
        </p:txBody>
      </p:sp>
    </p:spTree>
    <p:extLst>
      <p:ext uri="{BB962C8B-B14F-4D97-AF65-F5344CB8AC3E}">
        <p14:creationId xmlns:p14="http://schemas.microsoft.com/office/powerpoint/2010/main" val="155984688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3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13_1">
            <a:extLst xmlns:a="http://schemas.openxmlformats.org/drawingml/2006/main">
              <a:ext uri="{FF2B5EF4-FFF2-40B4-BE49-F238E27FC236}">
                <a16:creationId xmlns:a16="http://schemas.microsoft.com/office/drawing/2014/main" id="{5AB3473A-099D-4037-8CDF-0BBA192F4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150" b="1">
                <a:solidFill>
                  <a:srgbClr val="143747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43747"/>
                </a:solidFill>
                <a:latin typeface="Malgun Gothic"/>
                <a:ea typeface="Malgun Gothic"/>
                <a:cs typeface="Malgun Gothic"/>
              </a:rPr>
              <a:t>같은 사업원장을 목적별 문서로 변환</a:t>
            </a:r>
          </a:p>
        </p:txBody>
      </p:sp>
      <p:sp>
        <p:nvSpPr>
          <p:cNvPr id="2" name="s13_2">
            <a:extLst xmlns:a="http://schemas.openxmlformats.org/drawingml/2006/main">
              <a:ext uri="{FF2B5EF4-FFF2-40B4-BE49-F238E27FC236}">
                <a16:creationId xmlns:a16="http://schemas.microsoft.com/office/drawing/2014/main" id="{D7A4A157-0B20-4724-BD99-520074160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4D626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D626B"/>
                </a:solidFill>
                <a:latin typeface="Malgun Gothic"/>
                <a:ea typeface="Malgun Gothic"/>
                <a:cs typeface="Malgun Gothic"/>
              </a:rPr>
              <a:t>필드와 근거를 재사용하고 승인된 고정 양식에 맞춰 초안을 구성한다.</a:t>
            </a:r>
          </a:p>
        </p:txBody>
      </p:sp>
      <p:sp>
        <p:nvSpPr>
          <p:cNvPr id="3" name="s13_3">
            <a:extLst xmlns:a="http://schemas.openxmlformats.org/drawingml/2006/main">
              <a:ext uri="{FF2B5EF4-FFF2-40B4-BE49-F238E27FC236}">
                <a16:creationId xmlns:a16="http://schemas.microsoft.com/office/drawing/2014/main" id="{97660C86-F5EF-4EB3-93CE-AF15D9B0D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09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4D626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4D626B"/>
                </a:solidFill>
                <a:latin typeface="Malgun Gothic"/>
                <a:ea typeface="Malgun Gothic"/>
                <a:cs typeface="Malgun Gothic"/>
              </a:rPr>
              <a:t>P23 기획 제안 v1.3 · 2026.09.15</a:t>
            </a:r>
          </a:p>
        </p:txBody>
      </p:sp>
      <p:sp>
        <p:nvSpPr>
          <p:cNvPr id="4" name="s13_4">
            <a:extLst xmlns:a="http://schemas.openxmlformats.org/drawingml/2006/main">
              <a:ext uri="{FF2B5EF4-FFF2-40B4-BE49-F238E27FC236}">
                <a16:creationId xmlns:a16="http://schemas.microsoft.com/office/drawing/2014/main" id="{5881103F-3F50-4CAA-8006-C4390890B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3912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500" b="1">
                <a:solidFill>
                  <a:srgbClr val="066F6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66F64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  <p:sp>
        <p:nvSpPr>
          <p:cNvPr id="5" name="s13_5">
            <a:extLst xmlns:a="http://schemas.openxmlformats.org/drawingml/2006/main">
              <a:ext uri="{FF2B5EF4-FFF2-40B4-BE49-F238E27FC236}">
                <a16:creationId xmlns:a16="http://schemas.microsoft.com/office/drawing/2014/main" id="{98D5F189-5F8D-45B5-808D-12381EB23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2266950"/>
            <a:ext cx="2838450" cy="3067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747"/>
          </a:solidFill>
          <a:ln xmlns:a="http://schemas.openxmlformats.org/drawingml/2006/main" w="0">
            <a:noFill/>
          </a:ln>
        </p:spPr>
      </p:sp>
      <p:sp>
        <p:nvSpPr>
          <p:cNvPr id="6" name="s13_6">
            <a:extLst xmlns:a="http://schemas.openxmlformats.org/drawingml/2006/main">
              <a:ext uri="{FF2B5EF4-FFF2-40B4-BE49-F238E27FC236}">
                <a16:creationId xmlns:a16="http://schemas.microsoft.com/office/drawing/2014/main" id="{E29865FE-B0F4-473B-B8F3-B2C684E8C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505075"/>
            <a:ext cx="23907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P-001 사업원장</a:t>
            </a:r>
          </a:p>
        </p:txBody>
      </p:sp>
      <p:sp>
        <p:nvSpPr>
          <p:cNvPr id="7" name="s13_7">
            <a:extLst xmlns:a="http://schemas.openxmlformats.org/drawingml/2006/main">
              <a:ext uri="{FF2B5EF4-FFF2-40B4-BE49-F238E27FC236}">
                <a16:creationId xmlns:a16="http://schemas.microsoft.com/office/drawing/2014/main" id="{107E08A9-E153-405F-BAC5-7B8CDD884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67075"/>
            <a:ext cx="237172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예약 탐색 불편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상태·동선 개선 후보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범위·성과·비용 가정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근거와 검토 버전</a:t>
            </a:r>
          </a:p>
        </p:txBody>
      </p:sp>
      <p:sp>
        <p:nvSpPr>
          <p:cNvPr id="8" name="s13_8">
            <a:extLst xmlns:a="http://schemas.openxmlformats.org/drawingml/2006/main">
              <a:ext uri="{FF2B5EF4-FFF2-40B4-BE49-F238E27FC236}">
                <a16:creationId xmlns:a16="http://schemas.microsoft.com/office/drawing/2014/main" id="{7B30CE55-EE11-498B-A9F8-8BDB6B319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90925" y="3686175"/>
            <a:ext cx="3619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66F64"/>
          </a:solidFill>
          <a:ln xmlns:a="http://schemas.openxmlformats.org/drawingml/2006/main" w="0">
            <a:noFill/>
          </a:ln>
        </p:spPr>
      </p:sp>
      <p:graphicFrame>
        <p:nvGraphicFramePr>
          <p:cNvPr id="25" name=""/>
          <p:cNvGraphicFramePr/>
          <p:nvPr/>
        </p:nvGraphicFramePr>
        <p:xfrm>
          <a:off xmlns:a="http://schemas.openxmlformats.org/drawingml/2006/main" x="4314825" y="2200275"/>
          <a:ext xmlns:a="http://schemas.openxmlformats.org/drawingml/2006/main" cx="7267575" cy="32099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57525"/>
                <a:gridCol w="4210050"/>
              </a:tblGrid>
              <a:tr h="641985"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</a:t>
                      </a:r>
                    </a:p>
                  </a:txBody>
                  <a:tcPr marL="91440" marR="91440" marT="45720" marB="45720" anchor="ctr">
                    <a:solidFill>
                      <a:srgbClr val="143747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반영할 내용</a:t>
                      </a:r>
                    </a:p>
                  </a:txBody>
                  <a:tcPr marL="91440" marR="91440" marT="45720" marB="45720" anchor="ctr">
                    <a:solidFill>
                      <a:srgbClr val="143747"/>
                    </a:solidFill>
                  </a:tcPr>
                </a:tc>
              </a:tr>
              <a:tr h="641985"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0">
                          <a:solidFill>
                            <a:srgbClr val="19374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F01 문제·정책 검토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0">
                          <a:solidFill>
                            <a:srgbClr val="19374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현상 · 근거 · 가설 · 대안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41985"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0">
                          <a:solidFill>
                            <a:srgbClr val="19374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F02 예산 설명 / F03 목록</a:t>
                      </a:r>
                    </a:p>
                  </a:txBody>
                  <a:tcPr marL="91440" marR="91440" marT="45720" marB="45720" anchor="ctr">
                    <a:solidFill>
                      <a:srgbClr val="EDF3F0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0">
                          <a:solidFill>
                            <a:srgbClr val="19374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범위 · 연차 · 산식 · 재원</a:t>
                      </a:r>
                    </a:p>
                  </a:txBody>
                  <a:tcPr marL="91440" marR="91440" marT="45720" marB="45720" anchor="ctr">
                    <a:solidFill>
                      <a:srgbClr val="EDF3F0"/>
                    </a:solidFill>
                  </a:tcPr>
                </a:tc>
              </a:tr>
              <a:tr h="641985"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0">
                          <a:solidFill>
                            <a:srgbClr val="19374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F04 발주기관 RFP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0">
                          <a:solidFill>
                            <a:srgbClr val="19374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요구사항 · 데이터 · 검수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41985"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0">
                          <a:solidFill>
                            <a:srgbClr val="19374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F05 공고 인계 / F06 보완</a:t>
                      </a:r>
                    </a:p>
                  </a:txBody>
                  <a:tcPr marL="91440" marR="91440" marT="45720" marB="45720" anchor="ctr">
                    <a:solidFill>
                      <a:srgbClr val="EDF3F0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0">
                          <a:solidFill>
                            <a:srgbClr val="19374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공개 필드 · 질의 · 답변 근거</a:t>
                      </a:r>
                    </a:p>
                  </a:txBody>
                  <a:tcPr marL="91440" marR="91440" marT="45720" marB="45720" anchor="ctr">
                    <a:solidFill>
                      <a:srgbClr val="EDF3F0"/>
                    </a:solidFill>
                  </a:tcPr>
                </a:tc>
              </a:tr>
            </a:tbl>
          </a:graphicData>
        </a:graphic>
      </p:graphicFrame>
      <p:sp>
        <p:nvSpPr>
          <p:cNvPr id="10" name="s13_10">
            <a:extLst xmlns:a="http://schemas.openxmlformats.org/drawingml/2006/main">
              <a:ext uri="{FF2B5EF4-FFF2-40B4-BE49-F238E27FC236}">
                <a16:creationId xmlns:a16="http://schemas.microsoft.com/office/drawing/2014/main" id="{1EB90CA2-ADFC-4B92-B374-BCE388A4E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952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066F64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66F64"/>
                </a:solidFill>
                <a:latin typeface="Malgun Gothic"/>
                <a:ea typeface="Malgun Gothic"/>
                <a:cs typeface="Malgun Gothic"/>
              </a:rPr>
              <a:t>양식 프로필</a:t>
            </a:r>
          </a:p>
        </p:txBody>
      </p:sp>
      <p:sp>
        <p:nvSpPr>
          <p:cNvPr id="11" name="s13_11">
            <a:extLst xmlns:a="http://schemas.openxmlformats.org/drawingml/2006/main">
              <a:ext uri="{FF2B5EF4-FFF2-40B4-BE49-F238E27FC236}">
                <a16:creationId xmlns:a16="http://schemas.microsoft.com/office/drawing/2014/main" id="{F151A8A4-52F3-405F-B8B8-FBCBC1689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5781675"/>
            <a:ext cx="171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066F64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66F64"/>
                </a:solidFill>
                <a:latin typeface="Malgun Gothic"/>
                <a:ea typeface="Malgun Gothic"/>
                <a:cs typeface="Malgun Gothic"/>
              </a:rPr>
              <a:t>필드 매핑</a:t>
            </a:r>
          </a:p>
        </p:txBody>
      </p:sp>
      <p:sp>
        <p:nvSpPr>
          <p:cNvPr id="12" name="s13_12">
            <a:extLst xmlns:a="http://schemas.openxmlformats.org/drawingml/2006/main">
              <a:ext uri="{FF2B5EF4-FFF2-40B4-BE49-F238E27FC236}">
                <a16:creationId xmlns:a16="http://schemas.microsoft.com/office/drawing/2014/main" id="{AF71C41A-0AC9-450B-87F7-2294A099F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5781675"/>
            <a:ext cx="228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066F64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66F64"/>
                </a:solidFill>
                <a:latin typeface="Malgun Gothic"/>
                <a:ea typeface="Malgun Gothic"/>
                <a:cs typeface="Malgun Gothic"/>
              </a:rPr>
              <a:t>필수값·산식 검사</a:t>
            </a:r>
          </a:p>
        </p:txBody>
      </p:sp>
      <p:sp>
        <p:nvSpPr>
          <p:cNvPr id="13" name="s13_13">
            <a:extLst xmlns:a="http://schemas.openxmlformats.org/drawingml/2006/main">
              <a:ext uri="{FF2B5EF4-FFF2-40B4-BE49-F238E27FC236}">
                <a16:creationId xmlns:a16="http://schemas.microsoft.com/office/drawing/2014/main" id="{DF6A7CD5-B12A-40CD-85C5-95F9D7C6C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5781675"/>
            <a:ext cx="2647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066F64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66F64"/>
                </a:solidFill>
                <a:latin typeface="Malgun Gothic"/>
                <a:ea typeface="Malgun Gothic"/>
                <a:cs typeface="Malgun Gothic"/>
              </a:rPr>
              <a:t>출력·렌더 검토</a:t>
            </a:r>
          </a:p>
        </p:txBody>
      </p:sp>
      <p:sp>
        <p:nvSpPr>
          <p:cNvPr id="14" name="s13_14">
            <a:extLst xmlns:a="http://schemas.openxmlformats.org/drawingml/2006/main">
              <a:ext uri="{FF2B5EF4-FFF2-40B4-BE49-F238E27FC236}">
                <a16:creationId xmlns:a16="http://schemas.microsoft.com/office/drawing/2014/main" id="{1C6272CB-A49E-4F37-8B78-169788E19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95550" y="5867400"/>
            <a:ext cx="257175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66F64"/>
          </a:solidFill>
          <a:ln xmlns:a="http://schemas.openxmlformats.org/drawingml/2006/main" w="0">
            <a:noFill/>
          </a:ln>
        </p:spPr>
      </p:sp>
      <p:sp>
        <p:nvSpPr>
          <p:cNvPr id="15" name="s13_15">
            <a:extLst xmlns:a="http://schemas.openxmlformats.org/drawingml/2006/main">
              <a:ext uri="{FF2B5EF4-FFF2-40B4-BE49-F238E27FC236}">
                <a16:creationId xmlns:a16="http://schemas.microsoft.com/office/drawing/2014/main" id="{C886AD01-17E5-4860-AC77-2AE715B53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91075" y="5867400"/>
            <a:ext cx="257175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66F64"/>
          </a:solidFill>
          <a:ln xmlns:a="http://schemas.openxmlformats.org/drawingml/2006/main" w="0">
            <a:noFill/>
          </a:ln>
        </p:spPr>
      </p:sp>
      <p:sp>
        <p:nvSpPr>
          <p:cNvPr id="16" name="s13_16">
            <a:extLst xmlns:a="http://schemas.openxmlformats.org/drawingml/2006/main">
              <a:ext uri="{FF2B5EF4-FFF2-40B4-BE49-F238E27FC236}">
                <a16:creationId xmlns:a16="http://schemas.microsoft.com/office/drawing/2014/main" id="{DB9EEF63-E7DC-41D6-8427-166BCACDC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67700" y="5867400"/>
            <a:ext cx="257175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66F64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90705022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3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14_1">
            <a:extLst xmlns:a="http://schemas.openxmlformats.org/drawingml/2006/main">
              <a:ext uri="{FF2B5EF4-FFF2-40B4-BE49-F238E27FC236}">
                <a16:creationId xmlns:a16="http://schemas.microsoft.com/office/drawing/2014/main" id="{E12893A7-D650-4D36-9F0E-3A594BD25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150" b="1">
                <a:solidFill>
                  <a:srgbClr val="143747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43747"/>
                </a:solidFill>
                <a:latin typeface="Malgun Gothic"/>
                <a:ea typeface="Malgun Gothic"/>
                <a:cs typeface="Malgun Gothic"/>
              </a:rPr>
              <a:t>예산 경로와 공식 처리 상태</a:t>
            </a:r>
          </a:p>
        </p:txBody>
      </p:sp>
      <p:sp>
        <p:nvSpPr>
          <p:cNvPr id="2" name="s14_2">
            <a:extLst xmlns:a="http://schemas.openxmlformats.org/drawingml/2006/main">
              <a:ext uri="{FF2B5EF4-FFF2-40B4-BE49-F238E27FC236}">
                <a16:creationId xmlns:a16="http://schemas.microsoft.com/office/drawing/2014/main" id="{E9563ED1-DE9E-4655-97FB-B5B73601D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4D626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D626B"/>
                </a:solidFill>
                <a:latin typeface="Malgun Gothic"/>
                <a:ea typeface="Malgun Gothic"/>
                <a:cs typeface="Malgun Gothic"/>
              </a:rPr>
              <a:t>재원에 따라 제출 경로를 설정하고 확인된 심의 결과를 원장에 반영한다.</a:t>
            </a:r>
          </a:p>
        </p:txBody>
      </p:sp>
      <p:sp>
        <p:nvSpPr>
          <p:cNvPr id="3" name="s14_3">
            <a:extLst xmlns:a="http://schemas.openxmlformats.org/drawingml/2006/main">
              <a:ext uri="{FF2B5EF4-FFF2-40B4-BE49-F238E27FC236}">
                <a16:creationId xmlns:a16="http://schemas.microsoft.com/office/drawing/2014/main" id="{CF2A7DB5-D942-40BE-8394-CDC8E328D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09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4D626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4D626B"/>
                </a:solidFill>
                <a:latin typeface="Malgun Gothic"/>
                <a:ea typeface="Malgun Gothic"/>
                <a:cs typeface="Malgun Gothic"/>
              </a:rPr>
              <a:t>P23 기획 제안 v1.3 · 2026.09.15</a:t>
            </a:r>
          </a:p>
        </p:txBody>
      </p:sp>
      <p:sp>
        <p:nvSpPr>
          <p:cNvPr id="4" name="s14_4">
            <a:extLst xmlns:a="http://schemas.openxmlformats.org/drawingml/2006/main">
              <a:ext uri="{FF2B5EF4-FFF2-40B4-BE49-F238E27FC236}">
                <a16:creationId xmlns:a16="http://schemas.microsoft.com/office/drawing/2014/main" id="{52FE5B8D-E016-47E0-95A3-2AC23439B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3912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500" b="1">
                <a:solidFill>
                  <a:srgbClr val="066F6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66F64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  <p:sp>
        <p:nvSpPr>
          <p:cNvPr id="5" name="s14_5">
            <a:extLst xmlns:a="http://schemas.openxmlformats.org/drawingml/2006/main">
              <a:ext uri="{FF2B5EF4-FFF2-40B4-BE49-F238E27FC236}">
                <a16:creationId xmlns:a16="http://schemas.microsoft.com/office/drawing/2014/main" id="{944D0C38-8557-4A38-8AF6-01B74D51B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2819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50" b="1">
                <a:solidFill>
                  <a:srgbClr val="066F6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066F64"/>
                </a:solidFill>
                <a:latin typeface="Malgun Gothic"/>
                <a:ea typeface="Malgun Gothic"/>
                <a:cs typeface="Malgun Gothic"/>
              </a:rPr>
              <a:t>TS 자체예산</a:t>
            </a:r>
          </a:p>
        </p:txBody>
      </p:sp>
      <p:sp>
        <p:nvSpPr>
          <p:cNvPr id="6" name="s14_6">
            <a:extLst xmlns:a="http://schemas.openxmlformats.org/drawingml/2006/main">
              <a:ext uri="{FF2B5EF4-FFF2-40B4-BE49-F238E27FC236}">
                <a16:creationId xmlns:a16="http://schemas.microsoft.com/office/drawing/2014/main" id="{2E08B7B4-3A1B-45E2-9E0D-A7605C219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29146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193744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93744"/>
                </a:solidFill>
                <a:latin typeface="Malgun Gothic"/>
                <a:ea typeface="Malgun Gothic"/>
                <a:cs typeface="Malgun Gothic"/>
              </a:rPr>
              <a:t>내부 사업·예산 검토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193744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93744"/>
                </a:solidFill>
                <a:latin typeface="Malgun Gothic"/>
                <a:ea typeface="Malgun Gothic"/>
                <a:cs typeface="Malgun Gothic"/>
              </a:rPr>
              <a:t>기관의 전결 절차 확인</a:t>
            </a:r>
          </a:p>
        </p:txBody>
      </p:sp>
      <p:sp>
        <p:nvSpPr>
          <p:cNvPr id="7" name="s14_7">
            <a:extLst xmlns:a="http://schemas.openxmlformats.org/drawingml/2006/main">
              <a:ext uri="{FF2B5EF4-FFF2-40B4-BE49-F238E27FC236}">
                <a16:creationId xmlns:a16="http://schemas.microsoft.com/office/drawing/2014/main" id="{98FAAFAC-99BB-4604-AA8A-0DC04D958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33600"/>
            <a:ext cx="3200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50" b="1">
                <a:solidFill>
                  <a:srgbClr val="066F6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066F64"/>
                </a:solidFill>
                <a:latin typeface="Malgun Gothic"/>
                <a:ea typeface="Malgun Gothic"/>
                <a:cs typeface="Malgun Gothic"/>
              </a:rPr>
              <a:t>정부예산 연계</a:t>
            </a:r>
          </a:p>
        </p:txBody>
      </p:sp>
      <p:sp>
        <p:nvSpPr>
          <p:cNvPr id="8" name="s14_8">
            <a:extLst xmlns:a="http://schemas.openxmlformats.org/drawingml/2006/main">
              <a:ext uri="{FF2B5EF4-FFF2-40B4-BE49-F238E27FC236}">
                <a16:creationId xmlns:a16="http://schemas.microsoft.com/office/drawing/2014/main" id="{61AAAE05-CF6F-42A3-9544-36994E5AE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47975"/>
            <a:ext cx="32766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193744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93744"/>
                </a:solidFill>
                <a:latin typeface="Malgun Gothic"/>
                <a:ea typeface="Malgun Gothic"/>
                <a:cs typeface="Malgun Gothic"/>
              </a:rPr>
              <a:t>소관 부처 경로 확인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193744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93744"/>
                </a:solidFill>
                <a:latin typeface="Malgun Gothic"/>
                <a:ea typeface="Malgun Gothic"/>
                <a:cs typeface="Malgun Gothic"/>
              </a:rPr>
              <a:t>연도별 중앙 예산 양식 적용</a:t>
            </a:r>
          </a:p>
        </p:txBody>
      </p:sp>
      <p:sp>
        <p:nvSpPr>
          <p:cNvPr id="9" name="s14_9">
            <a:extLst xmlns:a="http://schemas.openxmlformats.org/drawingml/2006/main">
              <a:ext uri="{FF2B5EF4-FFF2-40B4-BE49-F238E27FC236}">
                <a16:creationId xmlns:a16="http://schemas.microsoft.com/office/drawing/2014/main" id="{18E5BEFF-B316-4F72-BB4C-B6F04B23E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2133600"/>
            <a:ext cx="31337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50" b="1">
                <a:solidFill>
                  <a:srgbClr val="066F6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066F64"/>
                </a:solidFill>
                <a:latin typeface="Malgun Gothic"/>
                <a:ea typeface="Malgun Gothic"/>
                <a:cs typeface="Malgun Gothic"/>
              </a:rPr>
              <a:t>기타 재원</a:t>
            </a:r>
          </a:p>
        </p:txBody>
      </p:sp>
      <p:sp>
        <p:nvSpPr>
          <p:cNvPr id="10" name="s14_10">
            <a:extLst xmlns:a="http://schemas.openxmlformats.org/drawingml/2006/main">
              <a:ext uri="{FF2B5EF4-FFF2-40B4-BE49-F238E27FC236}">
                <a16:creationId xmlns:a16="http://schemas.microsoft.com/office/drawing/2014/main" id="{0051B289-0551-4FB1-AE41-93B6D69A4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2847975"/>
            <a:ext cx="31337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193744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93744"/>
                </a:solidFill>
                <a:latin typeface="Malgun Gothic"/>
                <a:ea typeface="Malgun Gothic"/>
                <a:cs typeface="Malgun Gothic"/>
              </a:rPr>
              <a:t>위탁·기금·협약 조건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193744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93744"/>
                </a:solidFill>
                <a:latin typeface="Malgun Gothic"/>
                <a:ea typeface="Malgun Gothic"/>
                <a:cs typeface="Malgun Gothic"/>
              </a:rPr>
              <a:t>소관 제출 절차 확인</a:t>
            </a:r>
          </a:p>
        </p:txBody>
      </p:sp>
      <p:sp>
        <p:nvSpPr>
          <p:cNvPr id="11" name="s14_11">
            <a:extLst xmlns:a="http://schemas.openxmlformats.org/drawingml/2006/main">
              <a:ext uri="{FF2B5EF4-FFF2-40B4-BE49-F238E27FC236}">
                <a16:creationId xmlns:a16="http://schemas.microsoft.com/office/drawing/2014/main" id="{EE9108A6-C32F-4198-A899-B17C70339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BD5D2"/>
            </a:solidFill>
          </a:ln>
        </p:spPr>
      </p:sp>
      <p:sp>
        <p:nvSpPr>
          <p:cNvPr id="12" name="s14_12">
            <a:extLst xmlns:a="http://schemas.openxmlformats.org/drawingml/2006/main">
              <a:ext uri="{FF2B5EF4-FFF2-40B4-BE49-F238E27FC236}">
                <a16:creationId xmlns:a16="http://schemas.microsoft.com/office/drawing/2014/main" id="{481D5D81-7759-4721-9E9B-6B1B71314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4762500"/>
            <a:ext cx="2371725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EEA"/>
          </a:solidFill>
          <a:ln xmlns:a="http://schemas.openxmlformats.org/drawingml/2006/main" w="0">
            <a:noFill/>
          </a:ln>
        </p:spPr>
      </p:sp>
      <p:sp>
        <p:nvSpPr>
          <p:cNvPr id="13" name="s14_13">
            <a:extLst xmlns:a="http://schemas.openxmlformats.org/drawingml/2006/main">
              <a:ext uri="{FF2B5EF4-FFF2-40B4-BE49-F238E27FC236}">
                <a16:creationId xmlns:a16="http://schemas.microsoft.com/office/drawing/2014/main" id="{8323ADD4-42BC-46EC-A9ED-A92920D38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14900"/>
            <a:ext cx="20288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14374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3747"/>
                </a:solidFill>
                <a:latin typeface="Malgun Gothic"/>
                <a:ea typeface="Malgun Gothic"/>
                <a:cs typeface="Malgun Gothic"/>
              </a:rPr>
              <a:t>요구안 작성</a:t>
            </a:r>
          </a:p>
        </p:txBody>
      </p:sp>
      <p:sp>
        <p:nvSpPr>
          <p:cNvPr id="14" name="s14_14">
            <a:extLst xmlns:a="http://schemas.openxmlformats.org/drawingml/2006/main">
              <a:ext uri="{FF2B5EF4-FFF2-40B4-BE49-F238E27FC236}">
                <a16:creationId xmlns:a16="http://schemas.microsoft.com/office/drawing/2014/main" id="{0A071124-2E83-4FCC-B3DA-DC7A7CBAC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76575" y="5000625"/>
            <a:ext cx="276225" cy="1619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66F64"/>
          </a:solidFill>
          <a:ln xmlns:a="http://schemas.openxmlformats.org/drawingml/2006/main" w="0">
            <a:noFill/>
          </a:ln>
        </p:spPr>
      </p:sp>
      <p:sp>
        <p:nvSpPr>
          <p:cNvPr id="15" name="s14_15">
            <a:extLst xmlns:a="http://schemas.openxmlformats.org/drawingml/2006/main">
              <a:ext uri="{FF2B5EF4-FFF2-40B4-BE49-F238E27FC236}">
                <a16:creationId xmlns:a16="http://schemas.microsoft.com/office/drawing/2014/main" id="{BD47A95B-D4EA-4E48-A172-EEECA4EA3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76625" y="4762500"/>
            <a:ext cx="2371725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EEA"/>
          </a:solidFill>
          <a:ln xmlns:a="http://schemas.openxmlformats.org/drawingml/2006/main" w="0">
            <a:noFill/>
          </a:ln>
        </p:spPr>
      </p:sp>
      <p:sp>
        <p:nvSpPr>
          <p:cNvPr id="16" name="s14_16">
            <a:extLst xmlns:a="http://schemas.openxmlformats.org/drawingml/2006/main">
              <a:ext uri="{FF2B5EF4-FFF2-40B4-BE49-F238E27FC236}">
                <a16:creationId xmlns:a16="http://schemas.microsoft.com/office/drawing/2014/main" id="{4C5BC359-D0F4-4465-B011-97A8E3B5B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4914900"/>
            <a:ext cx="20288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14374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3747"/>
                </a:solidFill>
                <a:latin typeface="Malgun Gothic"/>
                <a:ea typeface="Malgun Gothic"/>
                <a:cs typeface="Malgun Gothic"/>
              </a:rPr>
              <a:t>심의·질의 보완</a:t>
            </a:r>
          </a:p>
        </p:txBody>
      </p:sp>
      <p:sp>
        <p:nvSpPr>
          <p:cNvPr id="17" name="s14_17">
            <a:extLst xmlns:a="http://schemas.openxmlformats.org/drawingml/2006/main">
              <a:ext uri="{FF2B5EF4-FFF2-40B4-BE49-F238E27FC236}">
                <a16:creationId xmlns:a16="http://schemas.microsoft.com/office/drawing/2014/main" id="{D13E2127-CFD6-44A4-8236-183838091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43600" y="5000625"/>
            <a:ext cx="276225" cy="1619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66F64"/>
          </a:solidFill>
          <a:ln xmlns:a="http://schemas.openxmlformats.org/drawingml/2006/main" w="0">
            <a:noFill/>
          </a:ln>
        </p:spPr>
      </p:sp>
      <p:sp>
        <p:nvSpPr>
          <p:cNvPr id="18" name="s14_18">
            <a:extLst xmlns:a="http://schemas.openxmlformats.org/drawingml/2006/main">
              <a:ext uri="{FF2B5EF4-FFF2-40B4-BE49-F238E27FC236}">
                <a16:creationId xmlns:a16="http://schemas.microsoft.com/office/drawing/2014/main" id="{06FB9824-C788-4722-8CA2-C2B5FEAFA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43650" y="4762500"/>
            <a:ext cx="2371725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EEA"/>
          </a:solidFill>
          <a:ln xmlns:a="http://schemas.openxmlformats.org/drawingml/2006/main" w="0">
            <a:noFill/>
          </a:ln>
        </p:spPr>
      </p:sp>
      <p:sp>
        <p:nvSpPr>
          <p:cNvPr id="19" name="s14_19">
            <a:extLst xmlns:a="http://schemas.openxmlformats.org/drawingml/2006/main">
              <a:ext uri="{FF2B5EF4-FFF2-40B4-BE49-F238E27FC236}">
                <a16:creationId xmlns:a16="http://schemas.microsoft.com/office/drawing/2014/main" id="{7507FDFE-9B85-49C1-AABA-4E848A0F7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914900"/>
            <a:ext cx="20288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14374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3747"/>
                </a:solidFill>
                <a:latin typeface="Malgun Gothic"/>
                <a:ea typeface="Malgun Gothic"/>
                <a:cs typeface="Malgun Gothic"/>
              </a:rPr>
              <a:t>결과·범위 확인</a:t>
            </a:r>
          </a:p>
        </p:txBody>
      </p:sp>
      <p:sp>
        <p:nvSpPr>
          <p:cNvPr id="20" name="s14_20">
            <a:extLst xmlns:a="http://schemas.openxmlformats.org/drawingml/2006/main">
              <a:ext uri="{FF2B5EF4-FFF2-40B4-BE49-F238E27FC236}">
                <a16:creationId xmlns:a16="http://schemas.microsoft.com/office/drawing/2014/main" id="{331CE2EB-FB8F-4F3C-8502-2CE085A15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10625" y="5000625"/>
            <a:ext cx="276225" cy="1619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66F64"/>
          </a:solidFill>
          <a:ln xmlns:a="http://schemas.openxmlformats.org/drawingml/2006/main" w="0">
            <a:noFill/>
          </a:ln>
        </p:spPr>
      </p:sp>
      <p:sp>
        <p:nvSpPr>
          <p:cNvPr id="21" name="s14_21">
            <a:extLst xmlns:a="http://schemas.openxmlformats.org/drawingml/2006/main">
              <a:ext uri="{FF2B5EF4-FFF2-40B4-BE49-F238E27FC236}">
                <a16:creationId xmlns:a16="http://schemas.microsoft.com/office/drawing/2014/main" id="{A72C24D5-00DB-44B0-A2F2-2A2FA1147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10675" y="4762500"/>
            <a:ext cx="2371725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EEA"/>
          </a:solidFill>
          <a:ln xmlns:a="http://schemas.openxmlformats.org/drawingml/2006/main" w="0">
            <a:noFill/>
          </a:ln>
        </p:spPr>
      </p:sp>
      <p:sp>
        <p:nvSpPr>
          <p:cNvPr id="22" name="s14_22">
            <a:extLst xmlns:a="http://schemas.openxmlformats.org/drawingml/2006/main">
              <a:ext uri="{FF2B5EF4-FFF2-40B4-BE49-F238E27FC236}">
                <a16:creationId xmlns:a16="http://schemas.microsoft.com/office/drawing/2014/main" id="{284B36AC-BB2F-49A6-8413-AB9911EAC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914900"/>
            <a:ext cx="20288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14374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3747"/>
                </a:solidFill>
                <a:latin typeface="Malgun Gothic"/>
                <a:ea typeface="Malgun Gothic"/>
                <a:cs typeface="Malgun Gothic"/>
              </a:rPr>
              <a:t>발주 준비</a:t>
            </a:r>
          </a:p>
        </p:txBody>
      </p:sp>
      <p:sp>
        <p:nvSpPr>
          <p:cNvPr id="23" name="s14_23">
            <a:extLst xmlns:a="http://schemas.openxmlformats.org/drawingml/2006/main">
              <a:ext uri="{FF2B5EF4-FFF2-40B4-BE49-F238E27FC236}">
                <a16:creationId xmlns:a16="http://schemas.microsoft.com/office/drawing/2014/main" id="{6EA08983-1144-488F-8C64-E47E3FB79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A44F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A44F2C"/>
                </a:solidFill>
                <a:latin typeface="Malgun Gothic"/>
                <a:ea typeface="Malgun Gothic"/>
                <a:cs typeface="Malgun Gothic"/>
              </a:rPr>
              <a:t>기관의 공식 승인 증빙과 내부 작업 상태를 별도 관리</a:t>
            </a:r>
          </a:p>
        </p:txBody>
      </p:sp>
    </p:spTree>
    <p:extLst>
      <p:ext uri="{BB962C8B-B14F-4D97-AF65-F5344CB8AC3E}">
        <p14:creationId xmlns:p14="http://schemas.microsoft.com/office/powerpoint/2010/main" val="197546425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3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15_1">
            <a:extLst xmlns:a="http://schemas.openxmlformats.org/drawingml/2006/main">
              <a:ext uri="{FF2B5EF4-FFF2-40B4-BE49-F238E27FC236}">
                <a16:creationId xmlns:a16="http://schemas.microsoft.com/office/drawing/2014/main" id="{8D761244-B418-4538-8296-EFA371B32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150" b="1">
                <a:solidFill>
                  <a:srgbClr val="143747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43747"/>
                </a:solidFill>
                <a:latin typeface="Malgun Gothic"/>
                <a:ea typeface="Malgun Gothic"/>
                <a:cs typeface="Malgun Gothic"/>
              </a:rPr>
              <a:t>사업범위를 RFP의 검수 조건으로 연결</a:t>
            </a:r>
          </a:p>
        </p:txBody>
      </p:sp>
      <p:sp>
        <p:nvSpPr>
          <p:cNvPr id="2" name="s15_2">
            <a:extLst xmlns:a="http://schemas.openxmlformats.org/drawingml/2006/main">
              <a:ext uri="{FF2B5EF4-FFF2-40B4-BE49-F238E27FC236}">
                <a16:creationId xmlns:a16="http://schemas.microsoft.com/office/drawing/2014/main" id="{553DFDA8-86C5-492C-8F23-E1C97CFA6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4D626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D626B"/>
                </a:solidFill>
                <a:latin typeface="Malgun Gothic"/>
                <a:ea typeface="Malgun Gothic"/>
                <a:cs typeface="Malgun Gothic"/>
              </a:rPr>
              <a:t>발주기관이 필요한 결과를 확인할 수 있도록 요구사항을 구체화한다.</a:t>
            </a:r>
          </a:p>
        </p:txBody>
      </p:sp>
      <p:sp>
        <p:nvSpPr>
          <p:cNvPr id="3" name="s15_3">
            <a:extLst xmlns:a="http://schemas.openxmlformats.org/drawingml/2006/main">
              <a:ext uri="{FF2B5EF4-FFF2-40B4-BE49-F238E27FC236}">
                <a16:creationId xmlns:a16="http://schemas.microsoft.com/office/drawing/2014/main" id="{2E369238-B1ED-4FFE-91E4-C75656FED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09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4D626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4D626B"/>
                </a:solidFill>
                <a:latin typeface="Malgun Gothic"/>
                <a:ea typeface="Malgun Gothic"/>
                <a:cs typeface="Malgun Gothic"/>
              </a:rPr>
              <a:t>아래 요구는 자동차검사 예약 개선사업의 설명용 예시 · P23 자체 개발 요구와 구분</a:t>
            </a:r>
          </a:p>
        </p:txBody>
      </p:sp>
      <p:sp>
        <p:nvSpPr>
          <p:cNvPr id="4" name="s15_4">
            <a:extLst xmlns:a="http://schemas.openxmlformats.org/drawingml/2006/main">
              <a:ext uri="{FF2B5EF4-FFF2-40B4-BE49-F238E27FC236}">
                <a16:creationId xmlns:a16="http://schemas.microsoft.com/office/drawing/2014/main" id="{45F0ECBB-D6E8-4AC0-ACA9-242D086E4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3912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500" b="1">
                <a:solidFill>
                  <a:srgbClr val="066F6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66F64"/>
                </a:solidFill>
                <a:latin typeface="Malgun Gothic"/>
                <a:ea typeface="Malgun Gothic"/>
                <a:cs typeface="Malgun Gothic"/>
              </a:rPr>
              <a:t>15</a:t>
            </a:r>
          </a:p>
        </p:txBody>
      </p:sp>
      <p:sp>
        <p:nvSpPr>
          <p:cNvPr id="5" name="s15_5">
            <a:extLst xmlns:a="http://schemas.openxmlformats.org/drawingml/2006/main">
              <a:ext uri="{FF2B5EF4-FFF2-40B4-BE49-F238E27FC236}">
                <a16:creationId xmlns:a16="http://schemas.microsoft.com/office/drawing/2014/main" id="{BFE2CA2D-3E54-4980-B726-D47E6B1FD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2914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50" b="1">
                <a:solidFill>
                  <a:srgbClr val="066F6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066F64"/>
                </a:solidFill>
                <a:latin typeface="Malgun Gothic"/>
                <a:ea typeface="Malgun Gothic"/>
                <a:cs typeface="Malgun Gothic"/>
              </a:rPr>
              <a:t>선택한 사업 목표</a:t>
            </a:r>
          </a:p>
        </p:txBody>
      </p:sp>
      <p:sp>
        <p:nvSpPr>
          <p:cNvPr id="6" name="s15_6">
            <a:extLst xmlns:a="http://schemas.openxmlformats.org/drawingml/2006/main">
              <a:ext uri="{FF2B5EF4-FFF2-40B4-BE49-F238E27FC236}">
                <a16:creationId xmlns:a16="http://schemas.microsoft.com/office/drawing/2014/main" id="{3537167B-0BB5-4405-9D90-0E43AC9D5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2952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0">
                <a:solidFill>
                  <a:srgbClr val="193744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93744"/>
                </a:solidFill>
                <a:latin typeface="Malgun Gothic"/>
                <a:ea typeface="Malgun Gothic"/>
                <a:cs typeface="Malgun Gothic"/>
              </a:rPr>
              <a:t>가능한 일정을 찾을 때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100" b="0">
                <a:solidFill>
                  <a:srgbClr val="193744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93744"/>
                </a:solidFill>
                <a:latin typeface="Malgun Gothic"/>
                <a:ea typeface="Malgun Gothic"/>
                <a:cs typeface="Malgun Gothic"/>
              </a:rPr>
              <a:t>반복 탐색 부담 완화</a:t>
            </a:r>
          </a:p>
        </p:txBody>
      </p:sp>
      <p:sp>
        <p:nvSpPr>
          <p:cNvPr id="7" name="s15_7">
            <a:extLst xmlns:a="http://schemas.openxmlformats.org/drawingml/2006/main">
              <a:ext uri="{FF2B5EF4-FFF2-40B4-BE49-F238E27FC236}">
                <a16:creationId xmlns:a16="http://schemas.microsoft.com/office/drawing/2014/main" id="{3FB4068E-D462-4792-9F45-98C991E81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76650" y="3152775"/>
            <a:ext cx="3810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66F64"/>
          </a:solidFill>
          <a:ln xmlns:a="http://schemas.openxmlformats.org/drawingml/2006/main" w="0">
            <a:noFill/>
          </a:ln>
        </p:spPr>
      </p:sp>
      <p:sp>
        <p:nvSpPr>
          <p:cNvPr id="8" name="s15_8">
            <a:extLst xmlns:a="http://schemas.openxmlformats.org/drawingml/2006/main">
              <a:ext uri="{FF2B5EF4-FFF2-40B4-BE49-F238E27FC236}">
                <a16:creationId xmlns:a16="http://schemas.microsoft.com/office/drawing/2014/main" id="{F3A9DB19-ABF7-4D06-BCD7-5ABE3D3A5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10075" y="2076450"/>
            <a:ext cx="7172325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2"/>
            </a:solidFill>
          </a:ln>
        </p:spPr>
      </p:sp>
      <p:sp>
        <p:nvSpPr>
          <p:cNvPr id="9" name="s15_9">
            <a:extLst xmlns:a="http://schemas.openxmlformats.org/drawingml/2006/main">
              <a:ext uri="{FF2B5EF4-FFF2-40B4-BE49-F238E27FC236}">
                <a16:creationId xmlns:a16="http://schemas.microsoft.com/office/drawing/2014/main" id="{04CC2008-17E4-4986-8C03-CDDE7FBAA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324100"/>
            <a:ext cx="65055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1">
                <a:solidFill>
                  <a:srgbClr val="143747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43747"/>
                </a:solidFill>
                <a:latin typeface="Malgun Gothic"/>
                <a:ea typeface="Malgun Gothic"/>
                <a:cs typeface="Malgun Gothic"/>
              </a:rPr>
              <a:t>예시 요구 REQ-예약-01</a:t>
            </a:r>
          </a:p>
        </p:txBody>
      </p:sp>
      <p:sp>
        <p:nvSpPr>
          <p:cNvPr id="10" name="s15_10">
            <a:extLst xmlns:a="http://schemas.openxmlformats.org/drawingml/2006/main">
              <a:ext uri="{FF2B5EF4-FFF2-40B4-BE49-F238E27FC236}">
                <a16:creationId xmlns:a16="http://schemas.microsoft.com/office/drawing/2014/main" id="{D55E60E2-3D6C-4E99-944A-CB73344DA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009900"/>
            <a:ext cx="12477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066F64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066F64"/>
                </a:solidFill>
                <a:latin typeface="Malgun Gothic"/>
                <a:ea typeface="Malgun Gothic"/>
                <a:cs typeface="Malgun Gothic"/>
              </a:rPr>
              <a:t>입력</a:t>
            </a:r>
          </a:p>
        </p:txBody>
      </p:sp>
      <p:sp>
        <p:nvSpPr>
          <p:cNvPr id="11" name="s15_11">
            <a:extLst xmlns:a="http://schemas.openxmlformats.org/drawingml/2006/main">
              <a:ext uri="{FF2B5EF4-FFF2-40B4-BE49-F238E27FC236}">
                <a16:creationId xmlns:a16="http://schemas.microsoft.com/office/drawing/2014/main" id="{01010C89-FEF4-4046-B362-BE5D15F5D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009900"/>
            <a:ext cx="5295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193744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93744"/>
                </a:solidFill>
                <a:latin typeface="Malgun Gothic"/>
                <a:ea typeface="Malgun Gothic"/>
                <a:cs typeface="Malgun Gothic"/>
              </a:rPr>
              <a:t>희망 날짜 · 검사 대상 · 지역 조건</a:t>
            </a:r>
          </a:p>
        </p:txBody>
      </p:sp>
      <p:sp>
        <p:nvSpPr>
          <p:cNvPr id="12" name="s15_12">
            <a:extLst xmlns:a="http://schemas.openxmlformats.org/drawingml/2006/main">
              <a:ext uri="{FF2B5EF4-FFF2-40B4-BE49-F238E27FC236}">
                <a16:creationId xmlns:a16="http://schemas.microsoft.com/office/drawing/2014/main" id="{F7E2AA2D-E335-4D2E-A75A-AEE964BA2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590925"/>
            <a:ext cx="12477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066F64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066F64"/>
                </a:solidFill>
                <a:latin typeface="Malgun Gothic"/>
                <a:ea typeface="Malgun Gothic"/>
                <a:cs typeface="Malgun Gothic"/>
              </a:rPr>
              <a:t>동작</a:t>
            </a:r>
          </a:p>
        </p:txBody>
      </p:sp>
      <p:sp>
        <p:nvSpPr>
          <p:cNvPr id="13" name="s15_13">
            <a:extLst xmlns:a="http://schemas.openxmlformats.org/drawingml/2006/main">
              <a:ext uri="{FF2B5EF4-FFF2-40B4-BE49-F238E27FC236}">
                <a16:creationId xmlns:a16="http://schemas.microsoft.com/office/drawing/2014/main" id="{0DA4C613-7E81-48DF-B34C-7CBF9343C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590925"/>
            <a:ext cx="5295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193744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93744"/>
                </a:solidFill>
                <a:latin typeface="Malgun Gothic"/>
                <a:ea typeface="Malgun Gothic"/>
                <a:cs typeface="Malgun Gothic"/>
              </a:rPr>
              <a:t>예약 가능 상태와 대안을 함께 표시</a:t>
            </a:r>
          </a:p>
        </p:txBody>
      </p:sp>
      <p:sp>
        <p:nvSpPr>
          <p:cNvPr id="14" name="s15_14">
            <a:extLst xmlns:a="http://schemas.openxmlformats.org/drawingml/2006/main">
              <a:ext uri="{FF2B5EF4-FFF2-40B4-BE49-F238E27FC236}">
                <a16:creationId xmlns:a16="http://schemas.microsoft.com/office/drawing/2014/main" id="{73497235-A68A-4315-B395-628E6D984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171950"/>
            <a:ext cx="12477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066F64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066F64"/>
                </a:solidFill>
                <a:latin typeface="Malgun Gothic"/>
                <a:ea typeface="Malgun Gothic"/>
                <a:cs typeface="Malgun Gothic"/>
              </a:rPr>
              <a:t>예외</a:t>
            </a:r>
          </a:p>
        </p:txBody>
      </p:sp>
      <p:sp>
        <p:nvSpPr>
          <p:cNvPr id="15" name="s15_15">
            <a:extLst xmlns:a="http://schemas.openxmlformats.org/drawingml/2006/main">
              <a:ext uri="{FF2B5EF4-FFF2-40B4-BE49-F238E27FC236}">
                <a16:creationId xmlns:a16="http://schemas.microsoft.com/office/drawing/2014/main" id="{1CE565A9-8CC9-4181-8D19-1273FE262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171950"/>
            <a:ext cx="5295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193744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93744"/>
                </a:solidFill>
                <a:latin typeface="Malgun Gothic"/>
                <a:ea typeface="Malgun Gothic"/>
                <a:cs typeface="Malgun Gothic"/>
              </a:rPr>
              <a:t>마감·조회 실패를 구분하고 조건 유지</a:t>
            </a:r>
          </a:p>
        </p:txBody>
      </p:sp>
      <p:sp>
        <p:nvSpPr>
          <p:cNvPr id="16" name="s15_16">
            <a:extLst xmlns:a="http://schemas.openxmlformats.org/drawingml/2006/main">
              <a:ext uri="{FF2B5EF4-FFF2-40B4-BE49-F238E27FC236}">
                <a16:creationId xmlns:a16="http://schemas.microsoft.com/office/drawing/2014/main" id="{D7527B66-C407-4E74-8558-BF67865D4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914900"/>
            <a:ext cx="12477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066F64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066F64"/>
                </a:solidFill>
                <a:latin typeface="Malgun Gothic"/>
                <a:ea typeface="Malgun Gothic"/>
                <a:cs typeface="Malgun Gothic"/>
              </a:rPr>
              <a:t>검수</a:t>
            </a:r>
          </a:p>
        </p:txBody>
      </p:sp>
      <p:sp>
        <p:nvSpPr>
          <p:cNvPr id="17" name="s15_17">
            <a:extLst xmlns:a="http://schemas.openxmlformats.org/drawingml/2006/main">
              <a:ext uri="{FF2B5EF4-FFF2-40B4-BE49-F238E27FC236}">
                <a16:creationId xmlns:a16="http://schemas.microsoft.com/office/drawing/2014/main" id="{756208F1-E091-48AC-AAB9-B07349FA9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876800"/>
            <a:ext cx="52959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193744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93744"/>
                </a:solidFill>
                <a:latin typeface="Malgun Gothic"/>
                <a:ea typeface="Malgun Gothic"/>
                <a:cs typeface="Malgun Gothic"/>
              </a:rPr>
              <a:t>주어진 슬롯 자료와 표시 결과 일치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193744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93744"/>
                </a:solidFill>
                <a:latin typeface="Malgun Gothic"/>
                <a:ea typeface="Malgun Gothic"/>
                <a:cs typeface="Malgun Gothic"/>
              </a:rPr>
              <a:t>날짜 변경 후 이전 조건 유지 확인</a:t>
            </a:r>
          </a:p>
        </p:txBody>
      </p:sp>
      <p:sp>
        <p:nvSpPr>
          <p:cNvPr id="18" name="s15_18">
            <a:extLst xmlns:a="http://schemas.openxmlformats.org/drawingml/2006/main">
              <a:ext uri="{FF2B5EF4-FFF2-40B4-BE49-F238E27FC236}">
                <a16:creationId xmlns:a16="http://schemas.microsoft.com/office/drawing/2014/main" id="{BA8D0993-4E72-4CFE-B42E-458E9D238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29125"/>
            <a:ext cx="2905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066F64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066F64"/>
                </a:solidFill>
                <a:latin typeface="Malgun Gothic"/>
                <a:ea typeface="Malgun Gothic"/>
                <a:cs typeface="Malgun Gothic"/>
              </a:rPr>
              <a:t>RFP 초안</a:t>
            </a:r>
          </a:p>
        </p:txBody>
      </p:sp>
      <p:sp>
        <p:nvSpPr>
          <p:cNvPr id="19" name="s15_19">
            <a:extLst xmlns:a="http://schemas.openxmlformats.org/drawingml/2006/main">
              <a:ext uri="{FF2B5EF4-FFF2-40B4-BE49-F238E27FC236}">
                <a16:creationId xmlns:a16="http://schemas.microsoft.com/office/drawing/2014/main" id="{C5456C52-40EF-4B21-8FB9-2ABF3C912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943475"/>
            <a:ext cx="309562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193744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93744"/>
                </a:solidFill>
                <a:latin typeface="Malgun Gothic"/>
                <a:ea typeface="Malgun Gothic"/>
                <a:cs typeface="Malgun Gothic"/>
              </a:rPr>
              <a:t>사업 목적·범위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193744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93744"/>
                </a:solidFill>
                <a:latin typeface="Malgun Gothic"/>
                <a:ea typeface="Malgun Gothic"/>
                <a:cs typeface="Malgun Gothic"/>
              </a:rPr>
              <a:t>데이터·권한·일정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193744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93744"/>
                </a:solidFill>
                <a:latin typeface="Malgun Gothic"/>
                <a:ea typeface="Malgun Gothic"/>
                <a:cs typeface="Malgun Gothic"/>
              </a:rPr>
              <a:t>인수할 결과와 시험</a:t>
            </a:r>
          </a:p>
        </p:txBody>
      </p:sp>
    </p:spTree>
    <p:extLst>
      <p:ext uri="{BB962C8B-B14F-4D97-AF65-F5344CB8AC3E}">
        <p14:creationId xmlns:p14="http://schemas.microsoft.com/office/powerpoint/2010/main" val="112694835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3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16_1">
            <a:extLst xmlns:a="http://schemas.openxmlformats.org/drawingml/2006/main">
              <a:ext uri="{FF2B5EF4-FFF2-40B4-BE49-F238E27FC236}">
                <a16:creationId xmlns:a16="http://schemas.microsoft.com/office/drawing/2014/main" id="{972EA4C0-D02C-4C9B-88AE-7A79E9D67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150" b="1">
                <a:solidFill>
                  <a:srgbClr val="143747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43747"/>
                </a:solidFill>
                <a:latin typeface="Malgun Gothic"/>
                <a:ea typeface="Malgun Gothic"/>
                <a:cs typeface="Malgun Gothic"/>
              </a:rPr>
              <a:t>변경이 생기면 관련 문서를 다시 검토한다</a:t>
            </a:r>
          </a:p>
        </p:txBody>
      </p:sp>
      <p:sp>
        <p:nvSpPr>
          <p:cNvPr id="2" name="s16_2">
            <a:extLst xmlns:a="http://schemas.openxmlformats.org/drawingml/2006/main">
              <a:ext uri="{FF2B5EF4-FFF2-40B4-BE49-F238E27FC236}">
                <a16:creationId xmlns:a16="http://schemas.microsoft.com/office/drawing/2014/main" id="{60094A66-E3C0-4471-82C7-EA64D2478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4D626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D626B"/>
                </a:solidFill>
                <a:latin typeface="Malgun Gothic"/>
                <a:ea typeface="Malgun Gothic"/>
                <a:cs typeface="Malgun Gothic"/>
              </a:rPr>
              <a:t>원문 정정·예산 감액·범위 변경의 영향을 추적하고 이전 판단을 보존한다.</a:t>
            </a:r>
          </a:p>
        </p:txBody>
      </p:sp>
      <p:sp>
        <p:nvSpPr>
          <p:cNvPr id="3" name="s16_3">
            <a:extLst xmlns:a="http://schemas.openxmlformats.org/drawingml/2006/main">
              <a:ext uri="{FF2B5EF4-FFF2-40B4-BE49-F238E27FC236}">
                <a16:creationId xmlns:a16="http://schemas.microsoft.com/office/drawing/2014/main" id="{20432E81-98F8-4FE4-BD9C-CCEE4739A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09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4D626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4D626B"/>
                </a:solidFill>
                <a:latin typeface="Malgun Gothic"/>
                <a:ea typeface="Malgun Gothic"/>
                <a:cs typeface="Malgun Gothic"/>
              </a:rPr>
              <a:t>P23 기획 제안 v1.3 · 2026.09.15</a:t>
            </a:r>
          </a:p>
        </p:txBody>
      </p:sp>
      <p:sp>
        <p:nvSpPr>
          <p:cNvPr id="4" name="s16_4">
            <a:extLst xmlns:a="http://schemas.openxmlformats.org/drawingml/2006/main">
              <a:ext uri="{FF2B5EF4-FFF2-40B4-BE49-F238E27FC236}">
                <a16:creationId xmlns:a16="http://schemas.microsoft.com/office/drawing/2014/main" id="{322266F2-4D22-4F38-A6E4-9C3824101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3912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500" b="1">
                <a:solidFill>
                  <a:srgbClr val="066F6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66F64"/>
                </a:solidFill>
                <a:latin typeface="Malgun Gothic"/>
                <a:ea typeface="Malgun Gothic"/>
                <a:cs typeface="Malgun Gothic"/>
              </a:rPr>
              <a:t>16</a:t>
            </a:r>
          </a:p>
        </p:txBody>
      </p:sp>
      <p:sp>
        <p:nvSpPr>
          <p:cNvPr id="5" name="s16_5">
            <a:extLst xmlns:a="http://schemas.openxmlformats.org/drawingml/2006/main">
              <a:ext uri="{FF2B5EF4-FFF2-40B4-BE49-F238E27FC236}">
                <a16:creationId xmlns:a16="http://schemas.microsoft.com/office/drawing/2014/main" id="{ADE677D6-86F5-410D-A585-BA98BDD6E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2286000"/>
            <a:ext cx="2762250" cy="1343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9DD"/>
          </a:solidFill>
          <a:ln xmlns:a="http://schemas.openxmlformats.org/drawingml/2006/main" w="0">
            <a:noFill/>
          </a:ln>
        </p:spPr>
      </p:sp>
      <p:sp>
        <p:nvSpPr>
          <p:cNvPr id="6" name="s16_6">
            <a:extLst xmlns:a="http://schemas.openxmlformats.org/drawingml/2006/main">
              <a:ext uri="{FF2B5EF4-FFF2-40B4-BE49-F238E27FC236}">
                <a16:creationId xmlns:a16="http://schemas.microsoft.com/office/drawing/2014/main" id="{418C15C2-FEFD-4942-A18D-53C395EA8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2419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14374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3747"/>
                </a:solidFill>
                <a:latin typeface="Malgun Gothic"/>
                <a:ea typeface="Malgun Gothic"/>
                <a:cs typeface="Malgun Gothic"/>
              </a:rPr>
              <a:t>변경 발생</a:t>
            </a:r>
          </a:p>
        </p:txBody>
      </p:sp>
      <p:sp>
        <p:nvSpPr>
          <p:cNvPr id="7" name="s16_7">
            <a:extLst xmlns:a="http://schemas.openxmlformats.org/drawingml/2006/main">
              <a:ext uri="{FF2B5EF4-FFF2-40B4-BE49-F238E27FC236}">
                <a16:creationId xmlns:a16="http://schemas.microsoft.com/office/drawing/2014/main" id="{2311F540-848D-4BD3-AEBA-8B306B344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00350"/>
            <a:ext cx="24193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4D626B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4D626B"/>
                </a:solidFill>
                <a:latin typeface="Malgun Gothic"/>
                <a:ea typeface="Malgun Gothic"/>
                <a:cs typeface="Malgun Gothic"/>
              </a:rPr>
              <a:t>근거 철회 또는 감액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4D626B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4D626B"/>
                </a:solidFill>
                <a:latin typeface="Malgun Gothic"/>
                <a:ea typeface="Malgun Gothic"/>
                <a:cs typeface="Malgun Gothic"/>
              </a:rPr>
              <a:t>변경 사유·발생 시각</a:t>
            </a:r>
          </a:p>
        </p:txBody>
      </p:sp>
      <p:sp>
        <p:nvSpPr>
          <p:cNvPr id="8" name="s16_8">
            <a:extLst xmlns:a="http://schemas.openxmlformats.org/drawingml/2006/main">
              <a:ext uri="{FF2B5EF4-FFF2-40B4-BE49-F238E27FC236}">
                <a16:creationId xmlns:a16="http://schemas.microsoft.com/office/drawing/2014/main" id="{142E3350-BD9B-4E71-A09F-5D0E73536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86150" y="2819400"/>
            <a:ext cx="39052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66F64"/>
          </a:solidFill>
          <a:ln xmlns:a="http://schemas.openxmlformats.org/drawingml/2006/main" w="0">
            <a:noFill/>
          </a:ln>
        </p:spPr>
      </p:sp>
      <p:sp>
        <p:nvSpPr>
          <p:cNvPr id="9" name="s16_9">
            <a:extLst xmlns:a="http://schemas.openxmlformats.org/drawingml/2006/main">
              <a:ext uri="{FF2B5EF4-FFF2-40B4-BE49-F238E27FC236}">
                <a16:creationId xmlns:a16="http://schemas.microsoft.com/office/drawing/2014/main" id="{A8635D1B-606B-4208-A028-554DE2B24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19550" y="2286000"/>
            <a:ext cx="3448050" cy="1343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EEA"/>
          </a:solidFill>
          <a:ln xmlns:a="http://schemas.openxmlformats.org/drawingml/2006/main" w="0">
            <a:noFill/>
          </a:ln>
        </p:spPr>
      </p:sp>
      <p:sp>
        <p:nvSpPr>
          <p:cNvPr id="10" name="s16_10">
            <a:extLst xmlns:a="http://schemas.openxmlformats.org/drawingml/2006/main">
              <a:ext uri="{FF2B5EF4-FFF2-40B4-BE49-F238E27FC236}">
                <a16:creationId xmlns:a16="http://schemas.microsoft.com/office/drawing/2014/main" id="{CB551499-4A58-4581-9F2B-12CC73F34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438400"/>
            <a:ext cx="3105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14374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3747"/>
                </a:solidFill>
                <a:latin typeface="Malgun Gothic"/>
                <a:ea typeface="Malgun Gothic"/>
                <a:cs typeface="Malgun Gothic"/>
              </a:rPr>
              <a:t>영향 식별·재검토 표시</a:t>
            </a:r>
          </a:p>
        </p:txBody>
      </p:sp>
      <p:sp>
        <p:nvSpPr>
          <p:cNvPr id="11" name="s16_11">
            <a:extLst xmlns:a="http://schemas.openxmlformats.org/drawingml/2006/main">
              <a:ext uri="{FF2B5EF4-FFF2-40B4-BE49-F238E27FC236}">
                <a16:creationId xmlns:a16="http://schemas.microsoft.com/office/drawing/2014/main" id="{FD968BBF-099D-4DE1-B6E1-A67CEAD33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800350"/>
            <a:ext cx="31051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4D626B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4D626B"/>
                </a:solidFill>
                <a:latin typeface="Malgun Gothic"/>
                <a:ea typeface="Malgun Gothic"/>
                <a:cs typeface="Malgun Gothic"/>
              </a:rPr>
              <a:t>연결 문서의 재검토 상태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4D626B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4D626B"/>
                </a:solidFill>
                <a:latin typeface="Malgun Gothic"/>
                <a:ea typeface="Malgun Gothic"/>
                <a:cs typeface="Malgun Gothic"/>
              </a:rPr>
              <a:t>범위·산식·일정·검수 확인</a:t>
            </a:r>
          </a:p>
        </p:txBody>
      </p:sp>
      <p:sp>
        <p:nvSpPr>
          <p:cNvPr id="12" name="s16_12">
            <a:extLst xmlns:a="http://schemas.openxmlformats.org/drawingml/2006/main">
              <a:ext uri="{FF2B5EF4-FFF2-40B4-BE49-F238E27FC236}">
                <a16:creationId xmlns:a16="http://schemas.microsoft.com/office/drawing/2014/main" id="{0CE6A30A-9333-46D4-9FD6-267250FBA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81900" y="2819400"/>
            <a:ext cx="39052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66F64"/>
          </a:solidFill>
          <a:ln xmlns:a="http://schemas.openxmlformats.org/drawingml/2006/main" w="0">
            <a:noFill/>
          </a:ln>
        </p:spPr>
      </p:sp>
      <p:sp>
        <p:nvSpPr>
          <p:cNvPr id="13" name="s16_13">
            <a:extLst xmlns:a="http://schemas.openxmlformats.org/drawingml/2006/main">
              <a:ext uri="{FF2B5EF4-FFF2-40B4-BE49-F238E27FC236}">
                <a16:creationId xmlns:a16="http://schemas.microsoft.com/office/drawing/2014/main" id="{15EC5D4D-DF10-4F6E-8190-E423E89AF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15300" y="2286000"/>
            <a:ext cx="3467100" cy="1343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EEA"/>
          </a:solidFill>
          <a:ln xmlns:a="http://schemas.openxmlformats.org/drawingml/2006/main" w="0">
            <a:noFill/>
          </a:ln>
        </p:spPr>
      </p:sp>
      <p:sp>
        <p:nvSpPr>
          <p:cNvPr id="14" name="s16_14">
            <a:extLst xmlns:a="http://schemas.openxmlformats.org/drawingml/2006/main">
              <a:ext uri="{FF2B5EF4-FFF2-40B4-BE49-F238E27FC236}">
                <a16:creationId xmlns:a16="http://schemas.microsoft.com/office/drawing/2014/main" id="{844AA500-A494-4C9B-BE5E-C68AC3952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38400"/>
            <a:ext cx="3124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14374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3747"/>
                </a:solidFill>
                <a:latin typeface="Malgun Gothic"/>
                <a:ea typeface="Malgun Gothic"/>
                <a:cs typeface="Malgun Gothic"/>
              </a:rPr>
              <a:t>담당자 재검토</a:t>
            </a:r>
          </a:p>
        </p:txBody>
      </p:sp>
      <p:sp>
        <p:nvSpPr>
          <p:cNvPr id="15" name="s16_15">
            <a:extLst xmlns:a="http://schemas.openxmlformats.org/drawingml/2006/main">
              <a:ext uri="{FF2B5EF4-FFF2-40B4-BE49-F238E27FC236}">
                <a16:creationId xmlns:a16="http://schemas.microsoft.com/office/drawing/2014/main" id="{BFF484C2-22AE-4F6D-8286-DB1C755D0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00350"/>
            <a:ext cx="31242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4D626B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4D626B"/>
                </a:solidFill>
                <a:latin typeface="Malgun Gothic"/>
                <a:ea typeface="Malgun Gothic"/>
                <a:cs typeface="Malgun Gothic"/>
              </a:rPr>
              <a:t>수정안·유지 사유 검토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4D626B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4D626B"/>
                </a:solidFill>
                <a:latin typeface="Malgun Gothic"/>
                <a:ea typeface="Malgun Gothic"/>
                <a:cs typeface="Malgun Gothic"/>
              </a:rPr>
              <a:t>새 사업 버전 확정</a:t>
            </a:r>
          </a:p>
        </p:txBody>
      </p:sp>
      <p:sp>
        <p:nvSpPr>
          <p:cNvPr id="16" name="s16_16">
            <a:extLst xmlns:a="http://schemas.openxmlformats.org/drawingml/2006/main">
              <a:ext uri="{FF2B5EF4-FFF2-40B4-BE49-F238E27FC236}">
                <a16:creationId xmlns:a16="http://schemas.microsoft.com/office/drawing/2014/main" id="{12B4491F-4D2C-4AAA-9C48-A0BE737C9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629025"/>
            <a:ext cx="0" cy="504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66F64"/>
            </a:solidFill>
          </a:ln>
        </p:spPr>
      </p:sp>
      <p:sp>
        <p:nvSpPr>
          <p:cNvPr id="17" name="s16_17">
            <a:extLst xmlns:a="http://schemas.openxmlformats.org/drawingml/2006/main">
              <a:ext uri="{FF2B5EF4-FFF2-40B4-BE49-F238E27FC236}">
                <a16:creationId xmlns:a16="http://schemas.microsoft.com/office/drawing/2014/main" id="{BD3B9D08-F725-4EBE-9342-63A3A5B3A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391650" y="4038600"/>
            <a:ext cx="2286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66F64"/>
          </a:solidFill>
          <a:ln xmlns:a="http://schemas.openxmlformats.org/drawingml/2006/main" w="0">
            <a:noFill/>
          </a:ln>
        </p:spPr>
      </p:sp>
      <p:sp>
        <p:nvSpPr>
          <p:cNvPr id="18" name="s16_18">
            <a:extLst xmlns:a="http://schemas.openxmlformats.org/drawingml/2006/main">
              <a:ext uri="{FF2B5EF4-FFF2-40B4-BE49-F238E27FC236}">
                <a16:creationId xmlns:a16="http://schemas.microsoft.com/office/drawing/2014/main" id="{D47DFD70-BBD2-4F9C-B50E-573FE2EEF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19550" y="4419600"/>
            <a:ext cx="75628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747"/>
          </a:solidFill>
          <a:ln xmlns:a="http://schemas.openxmlformats.org/drawingml/2006/main" w="0">
            <a:noFill/>
          </a:ln>
        </p:spPr>
      </p:sp>
      <p:sp>
        <p:nvSpPr>
          <p:cNvPr id="19" name="s16_19">
            <a:extLst xmlns:a="http://schemas.openxmlformats.org/drawingml/2006/main">
              <a:ext uri="{FF2B5EF4-FFF2-40B4-BE49-F238E27FC236}">
                <a16:creationId xmlns:a16="http://schemas.microsoft.com/office/drawing/2014/main" id="{EA3E6E56-DBA5-441E-872C-3594D3687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648200"/>
            <a:ext cx="71151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담당자 확인 후 영향 문서의 새 버전 생성·인계</a:t>
            </a:r>
          </a:p>
        </p:txBody>
      </p:sp>
      <p:sp>
        <p:nvSpPr>
          <p:cNvPr id="20" name="s16_20">
            <a:extLst xmlns:a="http://schemas.openxmlformats.org/drawingml/2006/main">
              <a:ext uri="{FF2B5EF4-FFF2-40B4-BE49-F238E27FC236}">
                <a16:creationId xmlns:a16="http://schemas.microsoft.com/office/drawing/2014/main" id="{879971C8-9C16-400D-AFCA-B7F0EB3D0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5086350"/>
            <a:ext cx="71151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이전 승인본 보존 / 새 버전 비교 / 담당자 확인 후 인계</a:t>
            </a:r>
          </a:p>
        </p:txBody>
      </p:sp>
      <p:sp>
        <p:nvSpPr>
          <p:cNvPr id="21" name="s16_21">
            <a:extLst xmlns:a="http://schemas.openxmlformats.org/drawingml/2006/main">
              <a:ext uri="{FF2B5EF4-FFF2-40B4-BE49-F238E27FC236}">
                <a16:creationId xmlns:a16="http://schemas.microsoft.com/office/drawing/2014/main" id="{6D8CC717-5F1B-40F8-A5A1-4CCFE8DDF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43425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A44F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A44F2C"/>
                </a:solidFill>
                <a:latin typeface="Malgun Gothic"/>
                <a:ea typeface="Malgun Gothic"/>
                <a:cs typeface="Malgun Gothic"/>
              </a:rPr>
              <a:t>예시</a:t>
            </a:r>
          </a:p>
        </p:txBody>
      </p:sp>
      <p:sp>
        <p:nvSpPr>
          <p:cNvPr id="22" name="s16_22">
            <a:extLst xmlns:a="http://schemas.openxmlformats.org/drawingml/2006/main">
              <a:ext uri="{FF2B5EF4-FFF2-40B4-BE49-F238E27FC236}">
                <a16:creationId xmlns:a16="http://schemas.microsoft.com/office/drawing/2014/main" id="{29092F35-F224-42B8-8B4E-07216FF4B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38725"/>
            <a:ext cx="3114675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193744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93744"/>
                </a:solidFill>
                <a:latin typeface="Malgun Gothic"/>
                <a:ea typeface="Malgun Gothic"/>
                <a:cs typeface="Malgun Gothic"/>
              </a:rPr>
              <a:t>감액 시 금액만 바꾸지 않고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193744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93744"/>
                </a:solidFill>
                <a:latin typeface="Malgun Gothic"/>
                <a:ea typeface="Malgun Gothic"/>
                <a:cs typeface="Malgun Gothic"/>
              </a:rPr>
              <a:t>범위·일정·검수를 함께 조정</a:t>
            </a:r>
          </a:p>
        </p:txBody>
      </p:sp>
    </p:spTree>
    <p:extLst>
      <p:ext uri="{BB962C8B-B14F-4D97-AF65-F5344CB8AC3E}">
        <p14:creationId xmlns:p14="http://schemas.microsoft.com/office/powerpoint/2010/main" val="118153676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3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17_1">
            <a:extLst xmlns:a="http://schemas.openxmlformats.org/drawingml/2006/main">
              <a:ext uri="{FF2B5EF4-FFF2-40B4-BE49-F238E27FC236}">
                <a16:creationId xmlns:a16="http://schemas.microsoft.com/office/drawing/2014/main" id="{23036C44-47F4-4B43-B8FA-C31B35157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150" b="1">
                <a:solidFill>
                  <a:srgbClr val="143747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43747"/>
                </a:solidFill>
                <a:latin typeface="Malgun Gothic"/>
                <a:ea typeface="Malgun Gothic"/>
                <a:cs typeface="Malgun Gothic"/>
              </a:rPr>
              <a:t>CCK의 수행 범위와 도입 순서</a:t>
            </a:r>
          </a:p>
        </p:txBody>
      </p:sp>
      <p:sp>
        <p:nvSpPr>
          <p:cNvPr id="2" name="s17_2">
            <a:extLst xmlns:a="http://schemas.openxmlformats.org/drawingml/2006/main">
              <a:ext uri="{FF2B5EF4-FFF2-40B4-BE49-F238E27FC236}">
                <a16:creationId xmlns:a16="http://schemas.microsoft.com/office/drawing/2014/main" id="{9AC6A0D4-1518-41F4-BF03-082ECB8E3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4D626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D626B"/>
                </a:solidFill>
                <a:latin typeface="Malgun Gothic"/>
                <a:ea typeface="Malgun Gothic"/>
                <a:cs typeface="Malgun Gothic"/>
              </a:rPr>
              <a:t>기존 자산의 재사용 가능성을 확인하고 추가 SI와 검증 범위를 계약한다.</a:t>
            </a:r>
          </a:p>
        </p:txBody>
      </p:sp>
      <p:sp>
        <p:nvSpPr>
          <p:cNvPr id="3" name="s17_3">
            <a:extLst xmlns:a="http://schemas.openxmlformats.org/drawingml/2006/main">
              <a:ext uri="{FF2B5EF4-FFF2-40B4-BE49-F238E27FC236}">
                <a16:creationId xmlns:a16="http://schemas.microsoft.com/office/drawing/2014/main" id="{C17A278B-46E5-4E6C-A942-FE1848288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09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4D626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4D626B"/>
                </a:solidFill>
                <a:latin typeface="Malgun Gothic"/>
                <a:ea typeface="Malgun Gothic"/>
                <a:cs typeface="Malgun Gothic"/>
              </a:rPr>
              <a:t>P23 기획 제안 v1.3 · 2026.09.15</a:t>
            </a:r>
          </a:p>
        </p:txBody>
      </p:sp>
      <p:sp>
        <p:nvSpPr>
          <p:cNvPr id="4" name="s17_4">
            <a:extLst xmlns:a="http://schemas.openxmlformats.org/drawingml/2006/main">
              <a:ext uri="{FF2B5EF4-FFF2-40B4-BE49-F238E27FC236}">
                <a16:creationId xmlns:a16="http://schemas.microsoft.com/office/drawing/2014/main" id="{D4101246-B9A5-4F1F-A5FF-7C129B8AD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3912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500" b="1">
                <a:solidFill>
                  <a:srgbClr val="066F6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66F64"/>
                </a:solidFill>
                <a:latin typeface="Malgun Gothic"/>
                <a:ea typeface="Malgun Gothic"/>
                <a:cs typeface="Malgun Gothic"/>
              </a:rPr>
              <a:t>17</a:t>
            </a:r>
          </a:p>
        </p:txBody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609600" y="2028825"/>
          <a:ext xmlns:a="http://schemas.openxmlformats.org/drawingml/2006/main" cx="10972800" cy="25812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71675"/>
                <a:gridCol w="5581650"/>
                <a:gridCol w="3419475"/>
              </a:tblGrid>
              <a:tr h="645319"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구분</a:t>
                      </a:r>
                    </a:p>
                  </a:txBody>
                  <a:tcPr marL="91440" marR="91440" marT="45720" marB="45720" anchor="ctr">
                    <a:solidFill>
                      <a:srgbClr val="143747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범위</a:t>
                      </a:r>
                    </a:p>
                  </a:txBody>
                  <a:tcPr marL="91440" marR="91440" marT="45720" marB="45720" anchor="ctr">
                    <a:solidFill>
                      <a:srgbClr val="143747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착수 판단</a:t>
                      </a:r>
                    </a:p>
                  </a:txBody>
                  <a:tcPr marL="91440" marR="91440" marT="45720" marB="45720" anchor="ctr">
                    <a:solidFill>
                      <a:srgbClr val="143747"/>
                    </a:solidFill>
                  </a:tcPr>
                </a:tc>
              </a:tr>
              <a:tr h="645319"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19374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재사용 후보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19374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NOA · 로컬 LLM · RAG 계열 자산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19374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실제 버전·API·이용권 확인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45319"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19374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추가 SI</a:t>
                      </a:r>
                    </a:p>
                  </a:txBody>
                  <a:tcPr marL="91440" marR="91440" marT="45720" marB="45720" anchor="ctr">
                    <a:solidFill>
                      <a:srgbClr val="EDF3F0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19374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사업원장 · 검토 상태 · 양식 어댑터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19374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예산 규칙 · 변경 영향 · 인계 화면</a:t>
                      </a:r>
                    </a:p>
                  </a:txBody>
                  <a:tcPr marL="91440" marR="91440" marT="45720" marB="45720" anchor="ctr">
                    <a:solidFill>
                      <a:srgbClr val="EDF3F0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19374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기능별 납품·시험 기준 정의</a:t>
                      </a:r>
                    </a:p>
                  </a:txBody>
                  <a:tcPr marL="91440" marR="91440" marT="45720" marB="45720" anchor="ctr">
                    <a:solidFill>
                      <a:srgbClr val="EDF3F0"/>
                    </a:solidFill>
                  </a:tcPr>
                </a:tc>
              </a:tr>
              <a:tr h="645319"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19374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선행 검증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19374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기존 서버 여력 · 접근 연계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19374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고정 HWPX 렌더 · 운영 조건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19374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한계에 맞춰 동시성·범위 조정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17_6">
            <a:extLst xmlns:a="http://schemas.openxmlformats.org/drawingml/2006/main">
              <a:ext uri="{FF2B5EF4-FFF2-40B4-BE49-F238E27FC236}">
                <a16:creationId xmlns:a16="http://schemas.microsoft.com/office/drawing/2014/main" id="{15E070DB-AF01-462A-BC87-79EF987B4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33975"/>
            <a:ext cx="2047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066F64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066F64"/>
                </a:solidFill>
                <a:latin typeface="Malgun Gothic"/>
                <a:ea typeface="Malgun Gothic"/>
                <a:cs typeface="Malgun Gothic"/>
              </a:rPr>
              <a:t>1–2주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066F64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066F64"/>
                </a:solidFill>
                <a:latin typeface="Malgun Gothic"/>
                <a:ea typeface="Malgun Gothic"/>
                <a:cs typeface="Malgun Gothic"/>
              </a:rPr>
              <a:t>양식·기반 확인</a:t>
            </a:r>
          </a:p>
        </p:txBody>
      </p:sp>
      <p:sp>
        <p:nvSpPr>
          <p:cNvPr id="7" name="s17_7">
            <a:extLst xmlns:a="http://schemas.openxmlformats.org/drawingml/2006/main">
              <a:ext uri="{FF2B5EF4-FFF2-40B4-BE49-F238E27FC236}">
                <a16:creationId xmlns:a16="http://schemas.microsoft.com/office/drawing/2014/main" id="{5FBFEFF9-7C68-4750-97F4-485F52E32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81275" y="5429250"/>
            <a:ext cx="2095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66F64"/>
          </a:solidFill>
          <a:ln xmlns:a="http://schemas.openxmlformats.org/drawingml/2006/main" w="0">
            <a:noFill/>
          </a:ln>
        </p:spPr>
      </p:sp>
      <p:sp>
        <p:nvSpPr>
          <p:cNvPr id="8" name="s17_8">
            <a:extLst xmlns:a="http://schemas.openxmlformats.org/drawingml/2006/main">
              <a:ext uri="{FF2B5EF4-FFF2-40B4-BE49-F238E27FC236}">
                <a16:creationId xmlns:a16="http://schemas.microsoft.com/office/drawing/2014/main" id="{CEFD5361-D5A1-45F5-B1CA-5A9263A4D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133975"/>
            <a:ext cx="2047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066F64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066F64"/>
                </a:solidFill>
                <a:latin typeface="Malgun Gothic"/>
                <a:ea typeface="Malgun Gothic"/>
                <a:cs typeface="Malgun Gothic"/>
              </a:rPr>
              <a:t>3–6주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066F64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066F64"/>
                </a:solidFill>
                <a:latin typeface="Malgun Gothic"/>
                <a:ea typeface="Malgun Gothic"/>
                <a:cs typeface="Malgun Gothic"/>
              </a:rPr>
              <a:t>근거·원장 구성</a:t>
            </a:r>
          </a:p>
        </p:txBody>
      </p:sp>
      <p:sp>
        <p:nvSpPr>
          <p:cNvPr id="9" name="s17_9">
            <a:extLst xmlns:a="http://schemas.openxmlformats.org/drawingml/2006/main">
              <a:ext uri="{FF2B5EF4-FFF2-40B4-BE49-F238E27FC236}">
                <a16:creationId xmlns:a16="http://schemas.microsoft.com/office/drawing/2014/main" id="{3F3728B6-7F01-434A-879E-7573D28C4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29175" y="5429250"/>
            <a:ext cx="2095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66F64"/>
          </a:solidFill>
          <a:ln xmlns:a="http://schemas.openxmlformats.org/drawingml/2006/main" w="0">
            <a:noFill/>
          </a:ln>
        </p:spPr>
      </p:sp>
      <p:sp>
        <p:nvSpPr>
          <p:cNvPr id="10" name="s17_10">
            <a:extLst xmlns:a="http://schemas.openxmlformats.org/drawingml/2006/main">
              <a:ext uri="{FF2B5EF4-FFF2-40B4-BE49-F238E27FC236}">
                <a16:creationId xmlns:a16="http://schemas.microsoft.com/office/drawing/2014/main" id="{C7204293-1BE0-4D3B-B7AB-C59800EA1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133975"/>
            <a:ext cx="2047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066F64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066F64"/>
                </a:solidFill>
                <a:latin typeface="Malgun Gothic"/>
                <a:ea typeface="Malgun Gothic"/>
                <a:cs typeface="Malgun Gothic"/>
              </a:rPr>
              <a:t>7–10주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066F64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066F64"/>
                </a:solidFill>
                <a:latin typeface="Malgun Gothic"/>
                <a:ea typeface="Malgun Gothic"/>
                <a:cs typeface="Malgun Gothic"/>
              </a:rPr>
              <a:t>계산·문서·변경</a:t>
            </a:r>
          </a:p>
        </p:txBody>
      </p:sp>
      <p:sp>
        <p:nvSpPr>
          <p:cNvPr id="11" name="s17_11">
            <a:extLst xmlns:a="http://schemas.openxmlformats.org/drawingml/2006/main">
              <a:ext uri="{FF2B5EF4-FFF2-40B4-BE49-F238E27FC236}">
                <a16:creationId xmlns:a16="http://schemas.microsoft.com/office/drawing/2014/main" id="{E935E778-B7FE-4C13-A772-B70C371CC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77075" y="5429250"/>
            <a:ext cx="2095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66F64"/>
          </a:solidFill>
          <a:ln xmlns:a="http://schemas.openxmlformats.org/drawingml/2006/main" w="0">
            <a:noFill/>
          </a:ln>
        </p:spPr>
      </p:sp>
      <p:sp>
        <p:nvSpPr>
          <p:cNvPr id="12" name="s17_12">
            <a:extLst xmlns:a="http://schemas.openxmlformats.org/drawingml/2006/main">
              <a:ext uri="{FF2B5EF4-FFF2-40B4-BE49-F238E27FC236}">
                <a16:creationId xmlns:a16="http://schemas.microsoft.com/office/drawing/2014/main" id="{21ACE2AC-F503-4926-B864-B06EBC393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133975"/>
            <a:ext cx="2047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066F64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066F64"/>
                </a:solidFill>
                <a:latin typeface="Malgun Gothic"/>
                <a:ea typeface="Malgun Gothic"/>
                <a:cs typeface="Malgun Gothic"/>
              </a:rPr>
              <a:t>11–14주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066F64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066F64"/>
                </a:solidFill>
                <a:latin typeface="Malgun Gothic"/>
                <a:ea typeface="Malgun Gothic"/>
                <a:cs typeface="Malgun Gothic"/>
              </a:rPr>
              <a:t>양식·권한 검수</a:t>
            </a:r>
          </a:p>
        </p:txBody>
      </p:sp>
      <p:sp>
        <p:nvSpPr>
          <p:cNvPr id="13" name="s17_13">
            <a:extLst xmlns:a="http://schemas.openxmlformats.org/drawingml/2006/main">
              <a:ext uri="{FF2B5EF4-FFF2-40B4-BE49-F238E27FC236}">
                <a16:creationId xmlns:a16="http://schemas.microsoft.com/office/drawing/2014/main" id="{0CF22946-B8F2-49B1-B887-0E08A9326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24975" y="5429250"/>
            <a:ext cx="2095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66F64"/>
          </a:solidFill>
          <a:ln xmlns:a="http://schemas.openxmlformats.org/drawingml/2006/main" w="0">
            <a:noFill/>
          </a:ln>
        </p:spPr>
      </p:sp>
      <p:sp>
        <p:nvSpPr>
          <p:cNvPr id="14" name="s17_14">
            <a:extLst xmlns:a="http://schemas.openxmlformats.org/drawingml/2006/main">
              <a:ext uri="{FF2B5EF4-FFF2-40B4-BE49-F238E27FC236}">
                <a16:creationId xmlns:a16="http://schemas.microsoft.com/office/drawing/2014/main" id="{795F55FE-1698-498E-BD2A-D88F9A1D9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5133975"/>
            <a:ext cx="2047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066F64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066F64"/>
                </a:solidFill>
                <a:latin typeface="Malgun Gothic"/>
                <a:ea typeface="Malgun Gothic"/>
                <a:cs typeface="Malgun Gothic"/>
              </a:rPr>
              <a:t>15–16주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066F64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066F64"/>
                </a:solidFill>
                <a:latin typeface="Malgun Gothic"/>
                <a:ea typeface="Malgun Gothic"/>
                <a:cs typeface="Malgun Gothic"/>
              </a:rPr>
              <a:t>시범·교육·인수</a:t>
            </a:r>
          </a:p>
        </p:txBody>
      </p:sp>
    </p:spTree>
    <p:extLst>
      <p:ext uri="{BB962C8B-B14F-4D97-AF65-F5344CB8AC3E}">
        <p14:creationId xmlns:p14="http://schemas.microsoft.com/office/powerpoint/2010/main" val="42218623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3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18_1">
            <a:extLst xmlns:a="http://schemas.openxmlformats.org/drawingml/2006/main">
              <a:ext uri="{FF2B5EF4-FFF2-40B4-BE49-F238E27FC236}">
                <a16:creationId xmlns:a16="http://schemas.microsoft.com/office/drawing/2014/main" id="{35A9D641-583C-4876-9C32-9A78E7DD1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150" b="1">
                <a:solidFill>
                  <a:srgbClr val="143747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43747"/>
                </a:solidFill>
                <a:latin typeface="Malgun Gothic"/>
                <a:ea typeface="Malgun Gothic"/>
                <a:cs typeface="Malgun Gothic"/>
              </a:rPr>
              <a:t>P23 플랫폼 개발비의 조건별 산정</a:t>
            </a:r>
          </a:p>
        </p:txBody>
      </p:sp>
      <p:sp>
        <p:nvSpPr>
          <p:cNvPr id="2" name="s18_2">
            <a:extLst xmlns:a="http://schemas.openxmlformats.org/drawingml/2006/main">
              <a:ext uri="{FF2B5EF4-FFF2-40B4-BE49-F238E27FC236}">
                <a16:creationId xmlns:a16="http://schemas.microsoft.com/office/drawing/2014/main" id="{EB446D8C-DD2E-46B9-9D59-D53DA867B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4D626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D626B"/>
                </a:solidFill>
                <a:latin typeface="Malgun Gothic"/>
                <a:ea typeface="Malgun Gothic"/>
                <a:cs typeface="Malgun Gothic"/>
              </a:rPr>
              <a:t>VAT 포함 기획 추정 · 현재 구축 상태 미확인 · 신규 인프라 투자 0원</a:t>
            </a:r>
          </a:p>
        </p:txBody>
      </p:sp>
      <p:sp>
        <p:nvSpPr>
          <p:cNvPr id="3" name="s18_3">
            <a:extLst xmlns:a="http://schemas.openxmlformats.org/drawingml/2006/main">
              <a:ext uri="{FF2B5EF4-FFF2-40B4-BE49-F238E27FC236}">
                <a16:creationId xmlns:a16="http://schemas.microsoft.com/office/drawing/2014/main" id="{DE5098A5-F686-406A-9535-F6D2F5B2E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09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4D626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4D626B"/>
                </a:solidFill>
                <a:latin typeface="Malgun Gothic"/>
                <a:ea typeface="Malgun Gothic"/>
                <a:cs typeface="Malgun Gothic"/>
              </a:rPr>
              <a:t>P23 기획 제안 v1.3 · 2026.09.15</a:t>
            </a:r>
          </a:p>
        </p:txBody>
      </p:sp>
      <p:sp>
        <p:nvSpPr>
          <p:cNvPr id="4" name="s18_4">
            <a:extLst xmlns:a="http://schemas.openxmlformats.org/drawingml/2006/main">
              <a:ext uri="{FF2B5EF4-FFF2-40B4-BE49-F238E27FC236}">
                <a16:creationId xmlns:a16="http://schemas.microsoft.com/office/drawing/2014/main" id="{EDB0833F-510A-40E6-8FC9-E98467A51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3912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500" b="1">
                <a:solidFill>
                  <a:srgbClr val="066F6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66F64"/>
                </a:solidFill>
                <a:latin typeface="Malgun Gothic"/>
                <a:ea typeface="Malgun Gothic"/>
                <a:cs typeface="Malgun Gothic"/>
              </a:rPr>
              <a:t>18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09600" y="2066925"/>
          <a:ext xmlns:a="http://schemas.openxmlformats.org/drawingml/2006/main" cx="10972800" cy="26765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334000"/>
                <a:gridCol w="1876425"/>
                <a:gridCol w="1876425"/>
                <a:gridCol w="1885950"/>
              </a:tblGrid>
              <a:tr h="669131"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도입 전제</a:t>
                      </a:r>
                    </a:p>
                  </a:txBody>
                  <a:tcPr marL="91440" marR="91440" marT="45720" marB="45720" anchor="ctr">
                    <a:solidFill>
                      <a:srgbClr val="143747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낮음</a:t>
                      </a:r>
                    </a:p>
                  </a:txBody>
                  <a:tcPr marL="91440" marR="91440" marT="45720" marB="45720" anchor="ctr">
                    <a:solidFill>
                      <a:srgbClr val="143747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중간</a:t>
                      </a:r>
                    </a:p>
                  </a:txBody>
                  <a:tcPr marL="91440" marR="91440" marT="45720" marB="45720" anchor="ctr">
                    <a:solidFill>
                      <a:srgbClr val="143747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높음</a:t>
                      </a:r>
                    </a:p>
                  </a:txBody>
                  <a:tcPr marL="91440" marR="91440" marT="45720" marB="45720" anchor="ctr">
                    <a:solidFill>
                      <a:srgbClr val="143747"/>
                    </a:solidFill>
                  </a:tcPr>
                </a:tc>
              </a:tr>
              <a:tr h="669131"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9374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기존 P23 기능 구현 완료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9374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예산·양식·발주 확장분만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9374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0.68억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9374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0.91억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9374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1.15억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9131"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9374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공통 기반만 준비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9374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P23 기능과 확장분 추가</a:t>
                      </a:r>
                    </a:p>
                  </a:txBody>
                  <a:tcPr marL="91440" marR="91440" marT="45720" marB="45720" anchor="ctr">
                    <a:solidFill>
                      <a:srgbClr val="EDF3F0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9374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1.27억</a:t>
                      </a:r>
                    </a:p>
                  </a:txBody>
                  <a:tcPr marL="91440" marR="91440" marT="45720" marB="45720" anchor="ctr">
                    <a:solidFill>
                      <a:srgbClr val="EDF3F0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9374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1.69억</a:t>
                      </a:r>
                    </a:p>
                  </a:txBody>
                  <a:tcPr marL="91440" marR="91440" marT="45720" marB="45720" anchor="ctr">
                    <a:solidFill>
                      <a:srgbClr val="EDF3F0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9374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2.12억</a:t>
                      </a:r>
                    </a:p>
                  </a:txBody>
                  <a:tcPr marL="91440" marR="91440" marT="45720" marB="45720" anchor="ctr">
                    <a:solidFill>
                      <a:srgbClr val="EDF3F0"/>
                    </a:solidFill>
                  </a:tcPr>
                </a:tc>
              </a:tr>
              <a:tr h="669131"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9374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P23 신규 도입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9374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기본·공통·확장분 포함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9374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1.65억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9374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2.20억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9374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2.76억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18_6">
            <a:extLst xmlns:a="http://schemas.openxmlformats.org/drawingml/2006/main">
              <a:ext uri="{FF2B5EF4-FFF2-40B4-BE49-F238E27FC236}">
                <a16:creationId xmlns:a16="http://schemas.microsoft.com/office/drawing/2014/main" id="{1FC032C1-A43B-4584-8C9B-4EC643501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05400"/>
            <a:ext cx="2676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066F64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66F64"/>
                </a:solidFill>
                <a:latin typeface="Malgun Gothic"/>
                <a:ea typeface="Malgun Gothic"/>
                <a:cs typeface="Malgun Gothic"/>
              </a:rPr>
              <a:t>확장분 공수</a:t>
            </a:r>
          </a:p>
        </p:txBody>
      </p:sp>
      <p:sp>
        <p:nvSpPr>
          <p:cNvPr id="7" name="s18_7">
            <a:extLst xmlns:a="http://schemas.openxmlformats.org/drawingml/2006/main">
              <a:ext uri="{FF2B5EF4-FFF2-40B4-BE49-F238E27FC236}">
                <a16:creationId xmlns:a16="http://schemas.microsoft.com/office/drawing/2014/main" id="{1B54ED7A-4FD8-4856-9840-1AEA5AFA3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28956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193744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93744"/>
                </a:solidFill>
                <a:latin typeface="Malgun Gothic"/>
                <a:ea typeface="Malgun Gothic"/>
                <a:cs typeface="Malgun Gothic"/>
              </a:rPr>
              <a:t>54–92 인일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193744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93744"/>
                </a:solidFill>
                <a:latin typeface="Malgun Gothic"/>
                <a:ea typeface="Malgun Gothic"/>
                <a:cs typeface="Malgun Gothic"/>
              </a:rPr>
              <a:t>중간 가정 73 인일</a:t>
            </a:r>
          </a:p>
        </p:txBody>
      </p:sp>
      <p:sp>
        <p:nvSpPr>
          <p:cNvPr id="8" name="s18_8">
            <a:extLst xmlns:a="http://schemas.openxmlformats.org/drawingml/2006/main">
              <a:ext uri="{FF2B5EF4-FFF2-40B4-BE49-F238E27FC236}">
                <a16:creationId xmlns:a16="http://schemas.microsoft.com/office/drawing/2014/main" id="{56F10D70-D370-4444-B6A6-AFEA666E1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105400"/>
            <a:ext cx="37147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066F64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66F64"/>
                </a:solidFill>
                <a:latin typeface="Malgun Gothic"/>
                <a:ea typeface="Malgun Gothic"/>
                <a:cs typeface="Malgun Gothic"/>
              </a:rPr>
              <a:t>동일 기능은 1회 산정</a:t>
            </a:r>
          </a:p>
        </p:txBody>
      </p:sp>
      <p:sp>
        <p:nvSpPr>
          <p:cNvPr id="9" name="s18_9">
            <a:extLst xmlns:a="http://schemas.openxmlformats.org/drawingml/2006/main">
              <a:ext uri="{FF2B5EF4-FFF2-40B4-BE49-F238E27FC236}">
                <a16:creationId xmlns:a16="http://schemas.microsoft.com/office/drawing/2014/main" id="{699EF3D4-773E-4DE3-B508-B57619B0B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572125"/>
            <a:ext cx="368617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193744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93744"/>
                </a:solidFill>
                <a:latin typeface="Malgun Gothic"/>
                <a:ea typeface="Malgun Gothic"/>
                <a:cs typeface="Malgun Gothic"/>
              </a:rPr>
              <a:t>기구축 납품분과 공통 비용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193744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93744"/>
                </a:solidFill>
                <a:latin typeface="Malgun Gothic"/>
                <a:ea typeface="Malgun Gothic"/>
                <a:cs typeface="Malgun Gothic"/>
              </a:rPr>
              <a:t>중복 합산 방지</a:t>
            </a:r>
          </a:p>
        </p:txBody>
      </p:sp>
      <p:sp>
        <p:nvSpPr>
          <p:cNvPr id="10" name="s18_10">
            <a:extLst xmlns:a="http://schemas.openxmlformats.org/drawingml/2006/main">
              <a:ext uri="{FF2B5EF4-FFF2-40B4-BE49-F238E27FC236}">
                <a16:creationId xmlns:a16="http://schemas.microsoft.com/office/drawing/2014/main" id="{05F24DD6-5DC5-4294-A39C-AB7AA8260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105400"/>
            <a:ext cx="26193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A44F2C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A44F2C"/>
                </a:solidFill>
                <a:latin typeface="Malgun Gothic"/>
                <a:ea typeface="Malgun Gothic"/>
                <a:cs typeface="Malgun Gothic"/>
              </a:rPr>
              <a:t>별도 확인</a:t>
            </a:r>
          </a:p>
        </p:txBody>
      </p:sp>
      <p:sp>
        <p:nvSpPr>
          <p:cNvPr id="11" name="s18_11">
            <a:extLst xmlns:a="http://schemas.openxmlformats.org/drawingml/2006/main">
              <a:ext uri="{FF2B5EF4-FFF2-40B4-BE49-F238E27FC236}">
                <a16:creationId xmlns:a16="http://schemas.microsoft.com/office/drawing/2014/main" id="{588CFB48-54FD-44B2-9E33-E266BEC08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572125"/>
            <a:ext cx="26384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193744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93744"/>
                </a:solidFill>
                <a:latin typeface="Malgun Gothic"/>
                <a:ea typeface="Malgun Gothic"/>
                <a:cs typeface="Malgun Gothic"/>
              </a:rPr>
              <a:t>이용권 · 운영유지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193744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93744"/>
                </a:solidFill>
                <a:latin typeface="Malgun Gothic"/>
                <a:ea typeface="Malgun Gothic"/>
                <a:cs typeface="Malgun Gothic"/>
              </a:rPr>
              <a:t>연도별 서식 개정</a:t>
            </a:r>
          </a:p>
        </p:txBody>
      </p:sp>
    </p:spTree>
    <p:extLst>
      <p:ext uri="{BB962C8B-B14F-4D97-AF65-F5344CB8AC3E}">
        <p14:creationId xmlns:p14="http://schemas.microsoft.com/office/powerpoint/2010/main" val="70539825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3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19_1">
            <a:extLst xmlns:a="http://schemas.openxmlformats.org/drawingml/2006/main">
              <a:ext uri="{FF2B5EF4-FFF2-40B4-BE49-F238E27FC236}">
                <a16:creationId xmlns:a16="http://schemas.microsoft.com/office/drawing/2014/main" id="{C8CDD74B-4670-4481-985F-8BABCC912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150" b="1">
                <a:solidFill>
                  <a:srgbClr val="143747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43747"/>
                </a:solidFill>
                <a:latin typeface="Malgun Gothic"/>
                <a:ea typeface="Malgun Gothic"/>
                <a:cs typeface="Malgun Gothic"/>
              </a:rPr>
              <a:t>검증 기준과 국민 성과의 연결</a:t>
            </a:r>
          </a:p>
        </p:txBody>
      </p:sp>
      <p:sp>
        <p:nvSpPr>
          <p:cNvPr id="2" name="s19_2">
            <a:extLst xmlns:a="http://schemas.openxmlformats.org/drawingml/2006/main">
              <a:ext uri="{FF2B5EF4-FFF2-40B4-BE49-F238E27FC236}">
                <a16:creationId xmlns:a16="http://schemas.microsoft.com/office/drawing/2014/main" id="{6BC373B5-A336-41B6-8FFE-C7A6BE241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4D626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D626B"/>
                </a:solidFill>
                <a:latin typeface="Malgun Gothic"/>
                <a:ea typeface="Malgun Gothic"/>
                <a:cs typeface="Malgun Gothic"/>
              </a:rPr>
              <a:t>시범 기능을 검증한 뒤 실제 사업의 개선 결과를 별도로 측정한다.</a:t>
            </a:r>
          </a:p>
        </p:txBody>
      </p:sp>
      <p:sp>
        <p:nvSpPr>
          <p:cNvPr id="3" name="s19_3">
            <a:extLst xmlns:a="http://schemas.openxmlformats.org/drawingml/2006/main">
              <a:ext uri="{FF2B5EF4-FFF2-40B4-BE49-F238E27FC236}">
                <a16:creationId xmlns:a16="http://schemas.microsoft.com/office/drawing/2014/main" id="{FA8E1BF0-5692-4109-BDF1-5D879207E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09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4D626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4D626B"/>
                </a:solidFill>
                <a:latin typeface="Malgun Gothic"/>
                <a:ea typeface="Malgun Gothic"/>
                <a:cs typeface="Malgun Gothic"/>
              </a:rPr>
              <a:t>P23 기획 제안 v1.3 · 2026.09.15</a:t>
            </a:r>
          </a:p>
        </p:txBody>
      </p:sp>
      <p:sp>
        <p:nvSpPr>
          <p:cNvPr id="4" name="s19_4">
            <a:extLst xmlns:a="http://schemas.openxmlformats.org/drawingml/2006/main">
              <a:ext uri="{FF2B5EF4-FFF2-40B4-BE49-F238E27FC236}">
                <a16:creationId xmlns:a16="http://schemas.microsoft.com/office/drawing/2014/main" id="{C2208688-3877-4D3D-B479-1F0BF1CA9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3912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500" b="1">
                <a:solidFill>
                  <a:srgbClr val="066F6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66F64"/>
                </a:solidFill>
                <a:latin typeface="Malgun Gothic"/>
                <a:ea typeface="Malgun Gothic"/>
                <a:cs typeface="Malgun Gothic"/>
              </a:rPr>
              <a:t>19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2028825"/>
          <a:ext xmlns:a="http://schemas.openxmlformats.org/drawingml/2006/main" cx="10972800" cy="3352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57450"/>
                <a:gridCol w="4467225"/>
                <a:gridCol w="4048125"/>
              </a:tblGrid>
              <a:tr h="558800"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6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검증 대상</a:t>
                      </a:r>
                    </a:p>
                  </a:txBody>
                  <a:tcPr marL="91440" marR="91440" marT="45720" marB="45720" anchor="ctr">
                    <a:solidFill>
                      <a:srgbClr val="143747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6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시범 인수 기준 제안</a:t>
                      </a:r>
                    </a:p>
                  </a:txBody>
                  <a:tcPr marL="91440" marR="91440" marT="45720" marB="45720" anchor="ctr">
                    <a:solidFill>
                      <a:srgbClr val="143747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6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방법·책임</a:t>
                      </a:r>
                    </a:p>
                  </a:txBody>
                  <a:tcPr marL="91440" marR="91440" marT="45720" marB="45720" anchor="ctr">
                    <a:solidFill>
                      <a:srgbClr val="143747"/>
                    </a:solidFill>
                  </a:tcPr>
                </a:tc>
              </a:tr>
              <a:tr h="558800"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650" b="0">
                          <a:solidFill>
                            <a:srgbClr val="19374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근거·문서 추적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650" b="0">
                          <a:solidFill>
                            <a:srgbClr val="19374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필수 주장·원장·문서 버전 연결 100%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650" b="0">
                          <a:solidFill>
                            <a:srgbClr val="19374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합의한 검증 묶음 전수 / QA·업무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650" b="0">
                          <a:solidFill>
                            <a:srgbClr val="19374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금액·필수값</a:t>
                      </a:r>
                    </a:p>
                  </a:txBody>
                  <a:tcPr marL="91440" marR="91440" marT="45720" marB="45720" anchor="ctr">
                    <a:solidFill>
                      <a:srgbClr val="EDF3F0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650" b="0">
                          <a:solidFill>
                            <a:srgbClr val="19374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합의 산식의 재계산 일치 100%</a:t>
                      </a:r>
                    </a:p>
                  </a:txBody>
                  <a:tcPr marL="91440" marR="91440" marT="45720" marB="45720" anchor="ctr">
                    <a:solidFill>
                      <a:srgbClr val="EDF3F0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650" b="0">
                          <a:solidFill>
                            <a:srgbClr val="19374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정상·누락·감액 사례 / 예산·QA</a:t>
                      </a:r>
                    </a:p>
                  </a:txBody>
                  <a:tcPr marL="91440" marR="91440" marT="45720" marB="45720" anchor="ctr">
                    <a:solidFill>
                      <a:srgbClr val="EDF3F0"/>
                    </a:solidFill>
                  </a:tcPr>
                </a:tc>
              </a:tr>
              <a:tr h="558800"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650" b="0">
                          <a:solidFill>
                            <a:srgbClr val="19374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권한·공개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650" b="0">
                          <a:solidFill>
                            <a:srgbClr val="19374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권한 밖 접근·공개 허용 0건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650" b="0">
                          <a:solidFill>
                            <a:srgbClr val="19374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역할별·내부본/공개본 시험 / 보안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650" b="0">
                          <a:solidFill>
                            <a:srgbClr val="19374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양식·변경</a:t>
                      </a:r>
                    </a:p>
                  </a:txBody>
                  <a:tcPr marL="91440" marR="91440" marT="45720" marB="45720" anchor="ctr">
                    <a:solidFill>
                      <a:srgbClr val="EDF3F0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650" b="0">
                          <a:solidFill>
                            <a:srgbClr val="19374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고정 2종 내용·표·쪽 나눔 검수 통과</a:t>
                      </a:r>
                    </a:p>
                  </a:txBody>
                  <a:tcPr marL="91440" marR="91440" marT="45720" marB="45720" anchor="ctr">
                    <a:solidFill>
                      <a:srgbClr val="EDF3F0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650" b="0">
                          <a:solidFill>
                            <a:srgbClr val="19374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실제 출력·변경 전후 / 업무·QA</a:t>
                      </a:r>
                    </a:p>
                  </a:txBody>
                  <a:tcPr marL="91440" marR="91440" marT="45720" marB="45720" anchor="ctr">
                    <a:solidFill>
                      <a:srgbClr val="EDF3F0"/>
                    </a:solidFill>
                  </a:tcPr>
                </a:tc>
              </a:tr>
              <a:tr h="558800"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650" b="0">
                          <a:solidFill>
                            <a:srgbClr val="19374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사용성과 국민 성과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650" b="0">
                          <a:solidFill>
                            <a:srgbClr val="19374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기준선 측정 후 목표 합의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650" b="0">
                          <a:solidFill>
                            <a:srgbClr val="19374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기획시간·누락 / 개별사업 불편·위험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19_6">
            <a:extLst xmlns:a="http://schemas.openxmlformats.org/drawingml/2006/main">
              <a:ext uri="{FF2B5EF4-FFF2-40B4-BE49-F238E27FC236}">
                <a16:creationId xmlns:a16="http://schemas.microsoft.com/office/drawing/2014/main" id="{80EEAF17-A017-4E1C-BEB8-75C6063CA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34050"/>
            <a:ext cx="2266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A44F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A44F2C"/>
                </a:solidFill>
                <a:latin typeface="Malgun Gothic"/>
                <a:ea typeface="Malgun Gothic"/>
                <a:cs typeface="Malgun Gothic"/>
              </a:rPr>
              <a:t>미실행 상태</a:t>
            </a:r>
          </a:p>
        </p:txBody>
      </p:sp>
      <p:sp>
        <p:nvSpPr>
          <p:cNvPr id="7" name="s19_7">
            <a:extLst xmlns:a="http://schemas.openxmlformats.org/drawingml/2006/main">
              <a:ext uri="{FF2B5EF4-FFF2-40B4-BE49-F238E27FC236}">
                <a16:creationId xmlns:a16="http://schemas.microsoft.com/office/drawing/2014/main" id="{9528F8CE-3747-4937-BBAA-DBA290561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5610225"/>
            <a:ext cx="82962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14374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43747"/>
                </a:solidFill>
                <a:latin typeface="Malgun Gothic"/>
                <a:ea typeface="Malgun Gothic"/>
                <a:cs typeface="Malgun Gothic"/>
              </a:rPr>
              <a:t>위 항목은 제품 인수시험의 설계 기준이다.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14374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43747"/>
                </a:solidFill>
                <a:latin typeface="Malgun Gothic"/>
                <a:ea typeface="Malgun Gothic"/>
                <a:cs typeface="Malgun Gothic"/>
              </a:rPr>
              <a:t>실제 TS 사용자·데이터·서버 기반 성능 시험은 착수 후 수행한다.</a:t>
            </a:r>
          </a:p>
        </p:txBody>
      </p:sp>
    </p:spTree>
    <p:extLst>
      <p:ext uri="{BB962C8B-B14F-4D97-AF65-F5344CB8AC3E}">
        <p14:creationId xmlns:p14="http://schemas.microsoft.com/office/powerpoint/2010/main" val="38446317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3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20_1">
            <a:extLst xmlns:a="http://schemas.openxmlformats.org/drawingml/2006/main">
              <a:ext uri="{FF2B5EF4-FFF2-40B4-BE49-F238E27FC236}">
                <a16:creationId xmlns:a16="http://schemas.microsoft.com/office/drawing/2014/main" id="{3CE1F344-4023-4E68-B109-6B003DF72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150" b="1">
                <a:solidFill>
                  <a:srgbClr val="143747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43747"/>
                </a:solidFill>
                <a:latin typeface="Malgun Gothic"/>
                <a:ea typeface="Malgun Gothic"/>
                <a:cs typeface="Malgun Gothic"/>
              </a:rPr>
              <a:t>초기 도입 범위와 확장 조건</a:t>
            </a:r>
          </a:p>
        </p:txBody>
      </p:sp>
      <p:sp>
        <p:nvSpPr>
          <p:cNvPr id="2" name="s20_2">
            <a:extLst xmlns:a="http://schemas.openxmlformats.org/drawingml/2006/main">
              <a:ext uri="{FF2B5EF4-FFF2-40B4-BE49-F238E27FC236}">
                <a16:creationId xmlns:a16="http://schemas.microsoft.com/office/drawing/2014/main" id="{C568217A-E3B0-4788-B71A-038861660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4D626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D626B"/>
                </a:solidFill>
                <a:latin typeface="Malgun Gothic"/>
                <a:ea typeface="Malgun Gothic"/>
                <a:cs typeface="Malgun Gothic"/>
              </a:rPr>
              <a:t>작은 의제에서 자료·판단·문서의 연결을 확인하고 다른 TS 업무로 확장한다.</a:t>
            </a:r>
          </a:p>
        </p:txBody>
      </p:sp>
      <p:sp>
        <p:nvSpPr>
          <p:cNvPr id="3" name="s20_3">
            <a:extLst xmlns:a="http://schemas.openxmlformats.org/drawingml/2006/main">
              <a:ext uri="{FF2B5EF4-FFF2-40B4-BE49-F238E27FC236}">
                <a16:creationId xmlns:a16="http://schemas.microsoft.com/office/drawing/2014/main" id="{B480A09F-4E1E-4926-9C3E-FE23FA84B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09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4D626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4D626B"/>
                </a:solidFill>
                <a:latin typeface="Malgun Gothic"/>
                <a:ea typeface="Malgun Gothic"/>
                <a:cs typeface="Malgun Gothic"/>
              </a:rPr>
              <a:t>P23 기획 제안 v1.3 · 2026.09.15</a:t>
            </a:r>
          </a:p>
        </p:txBody>
      </p:sp>
      <p:sp>
        <p:nvSpPr>
          <p:cNvPr id="4" name="s20_4">
            <a:extLst xmlns:a="http://schemas.openxmlformats.org/drawingml/2006/main">
              <a:ext uri="{FF2B5EF4-FFF2-40B4-BE49-F238E27FC236}">
                <a16:creationId xmlns:a16="http://schemas.microsoft.com/office/drawing/2014/main" id="{4AA3DDE8-5AEA-417B-9940-7EE761C25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3912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500" b="1">
                <a:solidFill>
                  <a:srgbClr val="066F6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66F64"/>
                </a:solidFill>
                <a:latin typeface="Malgun Gothic"/>
                <a:ea typeface="Malgun Gothic"/>
                <a:cs typeface="Malgun Gothic"/>
              </a:rPr>
              <a:t>20</a:t>
            </a:r>
          </a:p>
        </p:txBody>
      </p:sp>
      <p:sp>
        <p:nvSpPr>
          <p:cNvPr id="5" name="s20_5">
            <a:extLst xmlns:a="http://schemas.openxmlformats.org/drawingml/2006/main">
              <a:ext uri="{FF2B5EF4-FFF2-40B4-BE49-F238E27FC236}">
                <a16:creationId xmlns:a16="http://schemas.microsoft.com/office/drawing/2014/main" id="{C25375A8-B75F-4AB1-BAC1-D0C4A5807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5048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550" b="1">
                <a:solidFill>
                  <a:srgbClr val="066F64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066F64"/>
                </a:solidFill>
                <a:latin typeface="Malgun Gothic"/>
                <a:ea typeface="Malgun Gothic"/>
                <a:cs typeface="Malgun Gothic"/>
              </a:rPr>
              <a:t>시범 범위</a:t>
            </a:r>
          </a:p>
        </p:txBody>
      </p:sp>
      <p:sp>
        <p:nvSpPr>
          <p:cNvPr id="6" name="s20_6">
            <a:extLst xmlns:a="http://schemas.openxmlformats.org/drawingml/2006/main">
              <a:ext uri="{FF2B5EF4-FFF2-40B4-BE49-F238E27FC236}">
                <a16:creationId xmlns:a16="http://schemas.microsoft.com/office/drawing/2014/main" id="{9C1C42D1-3D18-45BA-A831-02DEBC18C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5600700" cy="1895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0">
                <a:solidFill>
                  <a:srgbClr val="193744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193744"/>
                </a:solidFill>
                <a:latin typeface="Malgun Gothic"/>
                <a:ea typeface="Malgun Gothic"/>
                <a:cs typeface="Malgun Gothic"/>
              </a:rPr>
              <a:t>의제 1개 · 시범부서 2개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175" b="0">
                <a:solidFill>
                  <a:srgbClr val="193744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193744"/>
                </a:solidFill>
                <a:latin typeface="Malgun Gothic"/>
                <a:ea typeface="Malgun Gothic"/>
                <a:cs typeface="Malgun Gothic"/>
              </a:rPr>
              <a:t>허용 원천 유형 4개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175" b="0">
                <a:solidFill>
                  <a:srgbClr val="193744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193744"/>
                </a:solidFill>
                <a:latin typeface="Malgun Gothic"/>
                <a:ea typeface="Malgun Gothic"/>
                <a:cs typeface="Malgun Gothic"/>
              </a:rPr>
              <a:t>HTML·MD 6종 · 고정 HWPX 2종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175" b="0">
                <a:solidFill>
                  <a:srgbClr val="193744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193744"/>
                </a:solidFill>
                <a:latin typeface="Malgun Gothic"/>
                <a:ea typeface="Malgun Gothic"/>
                <a:cs typeface="Malgun Gothic"/>
              </a:rPr>
              <a:t>예산 경로 2종 · 기존 로컬 환경</a:t>
            </a:r>
          </a:p>
        </p:txBody>
      </p:sp>
      <p:sp>
        <p:nvSpPr>
          <p:cNvPr id="7" name="s20_7">
            <a:extLst xmlns:a="http://schemas.openxmlformats.org/drawingml/2006/main">
              <a:ext uri="{FF2B5EF4-FFF2-40B4-BE49-F238E27FC236}">
                <a16:creationId xmlns:a16="http://schemas.microsoft.com/office/drawing/2014/main" id="{9644BB8C-8E9C-4EC3-A3C5-91890F82D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133600"/>
            <a:ext cx="0" cy="369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BD5D2"/>
            </a:solidFill>
          </a:ln>
        </p:spPr>
      </p:sp>
      <p:sp>
        <p:nvSpPr>
          <p:cNvPr id="8" name="s20_8">
            <a:extLst xmlns:a="http://schemas.openxmlformats.org/drawingml/2006/main">
              <a:ext uri="{FF2B5EF4-FFF2-40B4-BE49-F238E27FC236}">
                <a16:creationId xmlns:a16="http://schemas.microsoft.com/office/drawing/2014/main" id="{F340CDCB-8503-4DD3-A359-E5B01E31C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190750"/>
            <a:ext cx="46005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550" b="1">
                <a:solidFill>
                  <a:srgbClr val="066F64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066F64"/>
                </a:solidFill>
                <a:latin typeface="Malgun Gothic"/>
                <a:ea typeface="Malgun Gothic"/>
                <a:cs typeface="Malgun Gothic"/>
              </a:rPr>
              <a:t>착수 전에 정할 사항</a:t>
            </a:r>
          </a:p>
        </p:txBody>
      </p:sp>
      <p:sp>
        <p:nvSpPr>
          <p:cNvPr id="9" name="s20_9">
            <a:extLst xmlns:a="http://schemas.openxmlformats.org/drawingml/2006/main">
              <a:ext uri="{FF2B5EF4-FFF2-40B4-BE49-F238E27FC236}">
                <a16:creationId xmlns:a16="http://schemas.microsoft.com/office/drawing/2014/main" id="{C8A1B692-71D5-4FCF-A74A-3DF17FE7C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952750"/>
            <a:ext cx="4591050" cy="1895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0">
                <a:solidFill>
                  <a:srgbClr val="193744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193744"/>
                </a:solidFill>
                <a:latin typeface="Malgun Gothic"/>
                <a:ea typeface="Malgun Gothic"/>
                <a:cs typeface="Malgun Gothic"/>
              </a:rPr>
              <a:t>실제 담당자와 승인 경로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175" b="0">
                <a:solidFill>
                  <a:srgbClr val="193744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193744"/>
                </a:solidFill>
                <a:latin typeface="Malgun Gothic"/>
                <a:ea typeface="Malgun Gothic"/>
                <a:cs typeface="Malgun Gothic"/>
              </a:rPr>
              <a:t>자료 제공·접근·이용 권한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175" b="0">
                <a:solidFill>
                  <a:srgbClr val="193744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193744"/>
                </a:solidFill>
                <a:latin typeface="Malgun Gothic"/>
                <a:ea typeface="Malgun Gothic"/>
                <a:cs typeface="Malgun Gothic"/>
              </a:rPr>
              <a:t>NOA 연계와 서버 처리 여력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175" b="0">
                <a:solidFill>
                  <a:srgbClr val="193744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193744"/>
                </a:solidFill>
                <a:latin typeface="Malgun Gothic"/>
                <a:ea typeface="Malgun Gothic"/>
                <a:cs typeface="Malgun Gothic"/>
              </a:rPr>
              <a:t>고정 양식·기구축 범위·운영비</a:t>
            </a:r>
          </a:p>
        </p:txBody>
      </p:sp>
      <p:sp>
        <p:nvSpPr>
          <p:cNvPr id="10" name="s20_10">
            <a:extLst xmlns:a="http://schemas.openxmlformats.org/drawingml/2006/main">
              <a:ext uri="{FF2B5EF4-FFF2-40B4-BE49-F238E27FC236}">
                <a16:creationId xmlns:a16="http://schemas.microsoft.com/office/drawing/2014/main" id="{7725C179-4294-45E0-8D6C-9E0EA47E6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5305425"/>
            <a:ext cx="1097280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747"/>
          </a:solidFill>
          <a:ln xmlns:a="http://schemas.openxmlformats.org/drawingml/2006/main" w="0">
            <a:noFill/>
          </a:ln>
        </p:spPr>
      </p:sp>
      <p:sp>
        <p:nvSpPr>
          <p:cNvPr id="11" name="s20_11">
            <a:extLst xmlns:a="http://schemas.openxmlformats.org/drawingml/2006/main">
              <a:ext uri="{FF2B5EF4-FFF2-40B4-BE49-F238E27FC236}">
                <a16:creationId xmlns:a16="http://schemas.microsoft.com/office/drawing/2014/main" id="{ABA6117B-BAC7-4B2F-A183-A3F84B8BE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24500"/>
            <a:ext cx="1051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확장 단위: 기관·업무별 소관, 자료, 양식, 검토 규칙의 설정</a:t>
            </a:r>
          </a:p>
        </p:txBody>
      </p:sp>
    </p:spTree>
    <p:extLst>
      <p:ext uri="{BB962C8B-B14F-4D97-AF65-F5344CB8AC3E}">
        <p14:creationId xmlns:p14="http://schemas.microsoft.com/office/powerpoint/2010/main" val="188377615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2026-09-15T08:13:14.5420000Z</dcterms:created>
  <dcterms:modified xsi:type="dcterms:W3CDTF">2026-09-15T08:13:14.5420000Z</dcterms:modified>
</coreProperties>
</file>